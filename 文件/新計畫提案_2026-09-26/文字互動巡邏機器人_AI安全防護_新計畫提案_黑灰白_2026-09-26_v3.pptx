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a7bb0cce1bc4566" /><Relationship Type="http://schemas.openxmlformats.org/officeDocument/2006/relationships/extended-properties" Target="/docProps/app.xml" Id="Rc08983fb5cc2490c" /><Relationship Type="http://schemas.openxmlformats.org/officeDocument/2006/relationships/officeDocument" Target="/ppt/presentation.xml" Id="R7dca4f204995472a" /></Relationships>
</file>

<file path=ppt/presentation.xml><?xml version="1.0" encoding="utf-8"?>
<p:presentation xmlns:p="http://schemas.openxmlformats.org/presentationml/2006/main">
  <p:sldMasterIdLst>
    <p:sldMasterId xmlns:r="http://schemas.openxmlformats.org/officeDocument/2006/relationships" id="2147483648" r:id="Ra1ce0216bc9e4775"/>
  </p:sldMasterIdLst>
  <p:notesMasterIdLst>
    <p:notesMasterId xmlns:r="http://schemas.openxmlformats.org/officeDocument/2006/relationships" r:id="Reed2fe64e950423a"/>
  </p:notesMasterIdLst>
  <p:sldIdLst>
    <p:sldId xmlns:r="http://schemas.openxmlformats.org/officeDocument/2006/relationships" id="256" r:id="R012011cc74674f7f"/>
    <p:sldId xmlns:r="http://schemas.openxmlformats.org/officeDocument/2006/relationships" id="257" r:id="Ra4179ee3afc84811"/>
    <p:sldId xmlns:r="http://schemas.openxmlformats.org/officeDocument/2006/relationships" id="258" r:id="R995ae45e15c84080"/>
    <p:sldId xmlns:r="http://schemas.openxmlformats.org/officeDocument/2006/relationships" id="259" r:id="Rc193b2f6731b4366"/>
    <p:sldId xmlns:r="http://schemas.openxmlformats.org/officeDocument/2006/relationships" id="260" r:id="R57d6385b417b471d"/>
    <p:sldId xmlns:r="http://schemas.openxmlformats.org/officeDocument/2006/relationships" id="261" r:id="R470200cf60ea452d"/>
    <p:sldId xmlns:r="http://schemas.openxmlformats.org/officeDocument/2006/relationships" id="262" r:id="R09538a04031a4780"/>
    <p:sldId xmlns:r="http://schemas.openxmlformats.org/officeDocument/2006/relationships" id="263" r:id="R9056308281814256"/>
    <p:sldId xmlns:r="http://schemas.openxmlformats.org/officeDocument/2006/relationships" id="264" r:id="R8eb9bdf788f14db8"/>
    <p:sldId xmlns:r="http://schemas.openxmlformats.org/officeDocument/2006/relationships" id="265" r:id="R9e9ec3389d824350"/>
    <p:sldId xmlns:r="http://schemas.openxmlformats.org/officeDocument/2006/relationships" id="266" r:id="R9d2488cbbfbb4c7f"/>
    <p:sldId xmlns:r="http://schemas.openxmlformats.org/officeDocument/2006/relationships" id="267" r:id="R2d04f1f88fcc4830"/>
    <p:sldId xmlns:r="http://schemas.openxmlformats.org/officeDocument/2006/relationships" id="268" r:id="R62dc92b17f1a4f1c"/>
    <p:sldId xmlns:r="http://schemas.openxmlformats.org/officeDocument/2006/relationships" id="269" r:id="Redd28c3f17754839"/>
    <p:sldId xmlns:r="http://schemas.openxmlformats.org/officeDocument/2006/relationships" id="270" r:id="R5fa638c71d79414c"/>
    <p:sldId xmlns:r="http://schemas.openxmlformats.org/officeDocument/2006/relationships" id="271" r:id="R041d7f93961e4052"/>
    <p:sldId xmlns:r="http://schemas.openxmlformats.org/officeDocument/2006/relationships" id="272" r:id="Rc5fde9fca4eb43f2"/>
    <p:sldId xmlns:r="http://schemas.openxmlformats.org/officeDocument/2006/relationships" id="273" r:id="Raf47aaacd9f8491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e4aa86a65bd4601" /><Relationship Type="http://schemas.openxmlformats.org/officeDocument/2006/relationships/slideMaster" Target="/ppt/slideMasters/slideMaster1.xml" Id="Ra1ce0216bc9e4775" /><Relationship Type="http://schemas.openxmlformats.org/officeDocument/2006/relationships/notesMaster" Target="/ppt/notesMasters/notesMaster1.xml" Id="Reed2fe64e950423a" /><Relationship Type="http://schemas.openxmlformats.org/officeDocument/2006/relationships/presProps" Target="/ppt/presProps.xml" Id="Re689eb1ee53547c1" /><Relationship Type="http://schemas.openxmlformats.org/officeDocument/2006/relationships/tableStyles" Target="/ppt/tableStyles.xml" Id="R402e801536494cfd" /><Relationship Type="http://schemas.openxmlformats.org/officeDocument/2006/relationships/slide" Target="/ppt/slides/slide1.xml" Id="R012011cc74674f7f" /><Relationship Type="http://schemas.openxmlformats.org/officeDocument/2006/relationships/slide" Target="/ppt/slides/slide2.xml" Id="Ra4179ee3afc84811" /><Relationship Type="http://schemas.openxmlformats.org/officeDocument/2006/relationships/slide" Target="/ppt/slides/slide3.xml" Id="R995ae45e15c84080" /><Relationship Type="http://schemas.openxmlformats.org/officeDocument/2006/relationships/slide" Target="/ppt/slides/slide4.xml" Id="Rc193b2f6731b4366" /><Relationship Type="http://schemas.openxmlformats.org/officeDocument/2006/relationships/slide" Target="/ppt/slides/slide5.xml" Id="R57d6385b417b471d" /><Relationship Type="http://schemas.openxmlformats.org/officeDocument/2006/relationships/slide" Target="/ppt/slides/slide6.xml" Id="R470200cf60ea452d" /><Relationship Type="http://schemas.openxmlformats.org/officeDocument/2006/relationships/slide" Target="/ppt/slides/slide7.xml" Id="R09538a04031a4780" /><Relationship Type="http://schemas.openxmlformats.org/officeDocument/2006/relationships/slide" Target="/ppt/slides/slide8.xml" Id="R9056308281814256" /><Relationship Type="http://schemas.openxmlformats.org/officeDocument/2006/relationships/slide" Target="/ppt/slides/slide9.xml" Id="R8eb9bdf788f14db8" /><Relationship Type="http://schemas.openxmlformats.org/officeDocument/2006/relationships/slide" Target="/ppt/slides/slide10.xml" Id="R9e9ec3389d824350" /><Relationship Type="http://schemas.openxmlformats.org/officeDocument/2006/relationships/slide" Target="/ppt/slides/slide11.xml" Id="R9d2488cbbfbb4c7f" /><Relationship Type="http://schemas.openxmlformats.org/officeDocument/2006/relationships/slide" Target="/ppt/slides/slide12.xml" Id="R2d04f1f88fcc4830" /><Relationship Type="http://schemas.openxmlformats.org/officeDocument/2006/relationships/slide" Target="/ppt/slides/slide13.xml" Id="R62dc92b17f1a4f1c" /><Relationship Type="http://schemas.openxmlformats.org/officeDocument/2006/relationships/slide" Target="/ppt/slides/slide14.xml" Id="Redd28c3f17754839" /><Relationship Type="http://schemas.openxmlformats.org/officeDocument/2006/relationships/slide" Target="/ppt/slides/slide15.xml" Id="R5fa638c71d79414c" /><Relationship Type="http://schemas.openxmlformats.org/officeDocument/2006/relationships/slide" Target="/ppt/slides/slide16.xml" Id="R041d7f93961e4052" /><Relationship Type="http://schemas.openxmlformats.org/officeDocument/2006/relationships/slide" Target="/ppt/slides/slide17.xml" Id="Rc5fde9fca4eb43f2" /><Relationship Type="http://schemas.openxmlformats.org/officeDocument/2006/relationships/slide" Target="/ppt/slides/slide18.xml" Id="Raf47aaacd9f8491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1f037c9b82744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ec9378ea6114dd4" /><Relationship Type="http://schemas.openxmlformats.org/officeDocument/2006/relationships/notesMaster" Target="/ppt/notesMasters/notesMaster1.xml" Id="R14b3a8b5c3864f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4a80b8a86ff4c46" /><Relationship Type="http://schemas.openxmlformats.org/officeDocument/2006/relationships/notesMaster" Target="/ppt/notesMasters/notesMaster1.xml" Id="R29636cb623894fd3" /></Relationships>
</file>

<file path=ppt/notesSlides/_rels/notesSlide3.xml.rels>&#65279;<?xml version="1.0" encoding="utf-8"?><Relationships xmlns="http://schemas.openxmlformats.org/package/2006/relationships"><Relationship Type="http://schemas.openxmlformats.org/officeDocument/2006/relationships/slide" Target="/ppt/slides/slide3.xml" Id="R65a73c26ff5f4b59" /><Relationship Type="http://schemas.openxmlformats.org/officeDocument/2006/relationships/notesMaster" Target="/ppt/notesMasters/notesMaster1.xml" Id="Rbd99dcb9cc8943da" /></Relationships>
</file>

<file path=ppt/notesSlides/_rels/notesSlide4.xml.rels>&#65279;<?xml version="1.0" encoding="utf-8"?><Relationships xmlns="http://schemas.openxmlformats.org/package/2006/relationships"><Relationship Type="http://schemas.openxmlformats.org/officeDocument/2006/relationships/slide" Target="/ppt/slides/slide4.xml" Id="R3115cb393356419f" /><Relationship Type="http://schemas.openxmlformats.org/officeDocument/2006/relationships/notesMaster" Target="/ppt/notesMasters/notesMaster1.xml" Id="R61be5617e9b64a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30e8ff402c894753" /><Relationship Type="http://schemas.openxmlformats.org/officeDocument/2006/relationships/notesMaster" Target="/ppt/notesMasters/notesMaster1.xml" Id="R9e4b5b53f5ef4c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0ff8443a61645d3" /><Relationship Type="http://schemas.openxmlformats.org/officeDocument/2006/relationships/notesMaster" Target="/ppt/notesMasters/notesMaster1.xml" Id="Reeddae0b280c4e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fa491284449f42e9" /><Relationship Type="http://schemas.openxmlformats.org/officeDocument/2006/relationships/notesMaster" Target="/ppt/notesMasters/notesMaster1.xml" Id="R3d5edea3904b4652" /></Relationships>
</file>

<file path=ppt/notesSlides/_rels/notesSlide8.xml.rels>&#65279;<?xml version="1.0" encoding="utf-8"?><Relationships xmlns="http://schemas.openxmlformats.org/package/2006/relationships"><Relationship Type="http://schemas.openxmlformats.org/officeDocument/2006/relationships/slide" Target="/ppt/slides/slide8.xml" Id="Rcaaade834a344610" /><Relationship Type="http://schemas.openxmlformats.org/officeDocument/2006/relationships/notesMaster" Target="/ppt/notesMasters/notesMaster1.xml" Id="Rc73400fe14164a7c" /></Relationships>
</file>

<file path=ppt/notesSlides/_rels/notesSlide9.xml.rels>&#65279;<?xml version="1.0" encoding="utf-8"?><Relationships xmlns="http://schemas.openxmlformats.org/package/2006/relationships"><Relationship Type="http://schemas.openxmlformats.org/officeDocument/2006/relationships/slide" Target="/ppt/slides/slide9.xml" Id="Rbc9ad7857b724e04" /><Relationship Type="http://schemas.openxmlformats.org/officeDocument/2006/relationships/notesMaster" Target="/ppt/notesMasters/notesMaster1.xml" Id="R33192229ccac432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10703f4a2a24886" /><Relationship Type="http://schemas.openxmlformats.org/officeDocument/2006/relationships/notesMaster" Target="/ppt/notesMasters/notesMaster1.xml" Id="Rf030ea1c2284422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2b050b1fe344ee5" /><Relationship Type="http://schemas.openxmlformats.org/officeDocument/2006/relationships/notesMaster" Target="/ppt/notesMasters/notesMaster1.xml" Id="R305738478962437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d60d2f70d744615" /><Relationship Type="http://schemas.openxmlformats.org/officeDocument/2006/relationships/notesMaster" Target="/ppt/notesMasters/notesMaster1.xml" Id="Rbf1e121cf08d4f4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b911d00f0f846b4" /><Relationship Type="http://schemas.openxmlformats.org/officeDocument/2006/relationships/notesMaster" Target="/ppt/notesMasters/notesMaster1.xml" Id="R96f2f46e0546467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108a7ce25d34f1a" /><Relationship Type="http://schemas.openxmlformats.org/officeDocument/2006/relationships/notesMaster" Target="/ppt/notesMasters/notesMaster1.xml" Id="R6b4f4b0d5cf7492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071b70a19a14e29" /><Relationship Type="http://schemas.openxmlformats.org/officeDocument/2006/relationships/notesMaster" Target="/ppt/notesMasters/notesMaster1.xml" Id="Rd597d1795643441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4880222feac4fb2" /><Relationship Type="http://schemas.openxmlformats.org/officeDocument/2006/relationships/notesMaster" Target="/ppt/notesMasters/notesMaster1.xml" Id="R94125ad419764bd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1d55c56faa84f54" /><Relationship Type="http://schemas.openxmlformats.org/officeDocument/2006/relationships/notesMaster" Target="/ppt/notesMasters/notesMaster1.xml" Id="Reafb1fc1a15f458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03561aa35154069" /><Relationship Type="http://schemas.openxmlformats.org/officeDocument/2006/relationships/notesMaster" Target="/ppt/notesMasters/notesMaster1.xml" Id="Rd9bd66216cbe4ab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建議 20 秒。這份簡報提出新研究方向與分工，不呈現尚未執行的模型成績。使用者以打字與機器人互動。新人負責文字介面、巡邏與導航整合，Jesse 負責安全政策、資料與風險模型。沿用既有 ROS 2 安全基礎，將研究聚焦在文字指令導致的未授權控制與任務濫用。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建議 50 秒。向教授說明為什麼要做防禦。提示注入會透過不可信文字改變 LLM 行為。當模型具備工具使用能力，風險會延伸到工具執行。OWASP 提醒應限制工具能力與權限，並在模型外部實施逐次授權。InjecAgent 研究工具整合型 Agent 的間接提示注入，提供相關風險背景。它的攻擊面與數據不直接代表本專題的機器人表現，本研究第一版只驗證直接文字輸入與多輪任務濫用。沒有宣稱已發現本機器人的成功攻擊。</a:t>
            </a:r>
          </a:p>
          <a:p xmlns:a="http://schemas.openxmlformats.org/drawingml/2006/main">
            <a:r>
              <a:t/>
            </a:r>
          </a:p>
          <a:p xmlns:a="http://schemas.openxmlformats.org/drawingml/2006/main">
            <a:r>
              <a:t>參考來源（查閱日期 2026-09-26）</a:t>
            </a:r>
          </a:p>
          <a:p xmlns:a="http://schemas.openxmlformats.org/drawingml/2006/main">
            <a:r>
              <a:t>https://genai.owasp.org/llmrisk/llm01-prompt-injection/</a:t>
            </a:r>
          </a:p>
          <a:p xmlns:a="http://schemas.openxmlformats.org/drawingml/2006/main">
            <a:r>
              <a:t>https://genai.owasp.org/llmrisk/llm062025-excessive-agency/</a:t>
            </a:r>
          </a:p>
          <a:p xmlns:a="http://schemas.openxmlformats.org/drawingml/2006/main">
            <a:r>
              <a:t>https://aclanthology.org/2024.findings-acl.624/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建議 45 秒。唯一主研究問題是防護如何改變安全性與正常任務完成能力。先採用現有導航功能，文字理解可以使用現成語言模型。三類任務都有明確 policy，並非所有角色都能執行所有任務。訪客先只提供查詢，已驗證操作員才能提出限定動作。強化學習導航可以整合，但本研究不要求提出新的 RL 演算法。既有 DDS 分類與 IP 封鎖成果保留為歷史工作，停止作為本階段主要擴充項目。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建議 45 秒。此頁回應使用者提出「在限速內破壞」的問題。必須分開資安任務授權與物理安全。政策符合不代表任務合理，觀察歷史可能發現單次檢查看不到的濫用。低速碰撞也不應只靠語言風險模型處理。Nav2 Collision Monitor 提供基於感測的停止、減速與碰撞預測機制，可作工程參考，仍需依實際硬體與版本驗證。安全控制不是本提案聲稱已通過的成果。本研究不涵蓋 root 入侵、實體拆機或完整功能安全認證。</a:t>
            </a:r>
          </a:p>
          <a:p xmlns:a="http://schemas.openxmlformats.org/drawingml/2006/main">
            <a:r>
              <a:t/>
            </a:r>
          </a:p>
          <a:p xmlns:a="http://schemas.openxmlformats.org/drawingml/2006/main">
            <a:r>
              <a:t>參考來源（查閱日期 2026-09-26）</a:t>
            </a:r>
          </a:p>
          <a:p xmlns:a="http://schemas.openxmlformats.org/drawingml/2006/main">
            <a:r>
              <a:t>https://docs.nav2.org/rolling/configuration_and_development/configuration_guide/core_servers/collision_monitor/configuring_collision_monitor_node/</a:t>
            </a:r>
          </a:p>
          <a:p xmlns:a="http://schemas.openxmlformats.org/drawingml/2006/main">
            <a:r>
              <a:t>https://genai.owasp.org/llmrisk/llm062025-excessive-agency/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建議 60 秒。此表即核心架構。登入身分、地點清單及機器人狀態來自受信任系統，不能讓對話自行改寫。Agent 只輸出結構化候選任務，風險模型提供語意與上下文的判斷。獨立授權器驗證模型不能改動的硬限制，簽發限定任務的執行許可。導航可以使用 RL，但不能繞過最終安全出口。任務狀態與動作結果回饋到監控與證據紀錄，構成每次請求及執行期的持續檢查。此流程是待實作設計，不表示既有 ResponseAuthorizer 可直接取代任務授權器。</a:t>
            </a:r>
          </a:p>
          <a:p xmlns:a="http://schemas.openxmlformats.org/drawingml/2006/main">
            <a:r>
              <a:t/>
            </a:r>
          </a:p>
          <a:p xmlns:a="http://schemas.openxmlformats.org/drawingml/2006/main">
            <a:r>
              <a:t>參考來源（查閱日期 2026-09-26）</a:t>
            </a:r>
          </a:p>
          <a:p xmlns:a="http://schemas.openxmlformats.org/drawingml/2006/main">
            <a:r>
              <a:t>https://genai.owasp.org/llmrisk/llm062025-excessive-agency/</a:t>
            </a:r>
          </a:p>
          <a:p xmlns:a="http://schemas.openxmlformats.org/drawingml/2006/main">
            <a:r>
              <a:t>https://cheatsheetseries.owasp.org/cheatsheets/Authorization_Cheat_Sheet.html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建議 45 秒。Policy 是可信設定，規定誰能做什麼與必要條件。模型只提供額外風險判斷，不能把不允許的動作改為允許。需要澄清不是判定使用者惡意。第一版限制訪客查詢，操作員可以提出清單內動作，安全設定修改不開放給文字工具。狀態失效時應停止核准新移動，現有任務依既定安全控制處置。不能只因模型覺得一句話可疑就中斷實體急停或任意阻斷其他使用者。</a:t>
            </a:r>
          </a:p>
          <a:p xmlns:a="http://schemas.openxmlformats.org/drawingml/2006/main">
            <a:r>
              <a:t/>
            </a:r>
          </a:p>
          <a:p xmlns:a="http://schemas.openxmlformats.org/drawingml/2006/main">
            <a:r>
              <a:t>參考來源（查閱日期 2026-09-26）</a:t>
            </a:r>
          </a:p>
          <a:p xmlns:a="http://schemas.openxmlformats.org/drawingml/2006/main">
            <a:r>
              <a:t>https://cheatsheetseries.owasp.org/cheatsheets/Authorization_Cheat_Sheet.html</a:t>
            </a:r>
          </a:p>
          <a:p xmlns:a="http://schemas.openxmlformats.org/drawingml/2006/main">
            <a:r>
              <a:t>https://genai.owasp.org/llmrisk/llm062025-excessive-agency/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建議 45 秒。新人可以負責 RL 導航整合。專題不以提出新 RL 演算法作為必要成果，已有導航可用就先建立基線。如果導航需要重新訓練，應獨立記錄導航成功率與失敗原因。資安比較時固定模型 checkpoint、地圖、隨機種子與控制參數，避免混入導航變因。既有 SROS2、HMAC 與 velocity_guard 程式可沿用，但不代表文字控制整合已驗收。HMAC 保護訊息來源與完整性，不能證明內容意圖正確。來源：既有 src/dds_security_monitor/dds_security_monitor/patrol_node.py、monitor_node.py、velocity_guard_node.py，以及 展示指令/sros2_policy_least_privilege.xml。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建議 45 秒。使用者原始文字、已確認的任務和機器人實際狀態是核對依據。不能只採信模型自己說它的動作正確。對會移動或改派的任務，第一版可以顯示結構化任務摘要，讓有權限使用者確認目的地與動作。確認也不能增加角色權限。AI 無法可靠判斷觀測資料中不存在的惡意動機。動作適當性依資訊充分程度分成允許、拒絕、澄清。持續監控仍由獨立執行層負責。</a:t>
            </a:r>
          </a:p>
          <a:p xmlns:a="http://schemas.openxmlformats.org/drawingml/2006/main">
            <a:r>
              <a:t/>
            </a:r>
          </a:p>
          <a:p xmlns:a="http://schemas.openxmlformats.org/drawingml/2006/main">
            <a:r>
              <a:t>參考來源（查閱日期 2026-09-26）</a:t>
            </a:r>
          </a:p>
          <a:p xmlns:a="http://schemas.openxmlformats.org/drawingml/2006/main">
            <a:r>
              <a:t>https://cheatsheetseries.owasp.org/cheatsheets/Authorization_Cheat_Sheet.html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建議 55 秒。100 是初始試驗規模，不是目前資料筆數，也不是統計充分性的保證。先由兩位成員建立少量可靠情境與判準，再請 GPT 和 Claude 從不同措辭與多輪對話產生候選案例。每個基礎情境先指派資料分組，所有改寫繼承同組。保持正常案例、難負例、越權與多步濫用的涵蓋，並記錄生成模型版本、提示版本、policy 版本與來源。兩個模型互審可以找矛盾，但不等於獨立真值。生成攻擊話術只代表候選，成功與否要以目標系統實際動作判定。資料規模依學習曲線、人工品質與預算逐步擴充。</a:t>
            </a:r>
          </a:p>
          <a:p xmlns:a="http://schemas.openxmlformats.org/drawingml/2006/main">
            <a:r>
              <a:t/>
            </a:r>
          </a:p>
          <a:p xmlns:a="http://schemas.openxmlformats.org/drawingml/2006/main">
            <a:r>
              <a:t>參考來源（查閱日期 2026-09-26）</a:t>
            </a:r>
          </a:p>
          <a:p xmlns:a="http://schemas.openxmlformats.org/drawingml/2006/main">
            <a:r>
              <a:t>https://developers.openai.com/api/docs/guides/evaluation-best-practices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建議 70 秒。本頁專門介紹使用者要求的模型蒸餾方式。合成資料生成是產生案例，輸出蒸餾則利用大型教師模型的經核對判斷，訓練本機較小的學生模型。第一版用硬標籤 allow、deny、clarify 進行監督式訓練，理由作為標註稽核依據，不需要保存或模仿教師的隱藏推理。這不是直接複製 GPT 或 Claude 的全部能力。學生可以先採文字編碼器搭配可信結構化特徵的分類模型，具體模型依資源與試驗選擇。教師拒答、生成品質或自報信心都不自動構成正確標籤。OpenAI 官方文件有以大型模型合格輸出建立較小模型訓練資料的流程。此處說明方法，不表示特定供應商的訓練服務目前可用或已購買。</a:t>
            </a:r>
          </a:p>
          <a:p xmlns:a="http://schemas.openxmlformats.org/drawingml/2006/main">
            <a:r>
              <a:t/>
            </a:r>
          </a:p>
          <a:p xmlns:a="http://schemas.openxmlformats.org/drawingml/2006/main">
            <a:r>
              <a:t>參考來源（查閱日期 2026-09-26）</a:t>
            </a:r>
          </a:p>
          <a:p xmlns:a="http://schemas.openxmlformats.org/drawingml/2006/main">
            <a:r>
              <a:t>https://developers.openai.com/api/docs/guides/supervised-fine-tuning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建議 50 秒。這是情境示例，並非實驗數據。每筆資料需保存 scenario_id、episode_id、step_id、policy_version、使用者文字、歷史、可信角色、當前任務與機器人狀態、候選動作、標籤、證據及複核紀錄。左右例子在可觀察的歷史與任務狀態上不同，模型才可能學到差異。實際拒絕或確認依預先定義的 policy。反覆改派超過硬上限本來就可由規則處理，AI 是否能在其他上下文案例增加價值，須用公平對照證明。不可把 scenario 名稱、生成提示、隱藏意圖或最終結果當部署時模型看不到的輸入。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建議 50 秒。先按基礎情境、完整對話與改寫家族分組，再擴增。若同一模板的同義改寫跨到訓練與測試，模型可能只記住風格。保留人工撰寫、未見情境的封存測試，不在反覆調參時查看答案。即使合成與人工測試有相同任務類別，也應避免語句與情境重複。評估時分開合成、人工、未見情境與多輪案例，不只報一個混合準確率。需要保留資訊不足及合法難負例，兩名標註者先獨立標註核心資料，再處理分歧。日後收集真實互動需取得同意並去識別化，敏感資料不傳給外部生成器。</a:t>
            </a:r>
          </a:p>
          <a:p xmlns:a="http://schemas.openxmlformats.org/drawingml/2006/main">
            <a:r>
              <a:t/>
            </a:r>
          </a:p>
          <a:p xmlns:a="http://schemas.openxmlformats.org/drawingml/2006/main">
            <a:r>
              <a:t>參考來源（查閱日期 2026-09-26）</a:t>
            </a:r>
          </a:p>
          <a:p xmlns:a="http://schemas.openxmlformats.org/drawingml/2006/main">
            <a:r>
              <a:t>https://developers.openai.com/api/docs/guides/evaluation-best-practices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建議 65 秒。主要假設為 C 能在正常任務成功率可接受的前提下降低未授權與任務濫用。這個假設尚未驗證，不能預告 C 必然勝出。A 的規則要可取得同樣的可信角色、狀態與已定義任務預算，不刻意削弱基線。B 與 C 只改變模型可見的上下文。固定導航 checkpoint、地圖、語言任務解析器版本、控制設定與案例順序，使用多個種子做配對比較。執行率以符合預先定義違規條件的實際機器人執行 episode 除以對應測試 episode，並將冒充越權與政策內濫用分開。合法成功率看任務是否完成，誤拒與澄清另報。延遲報告新增防護的 P50/P95；對比例與差異給出按情境群組重抽樣的信賴區間。分類分數是輔助，不能替代真實動作結果。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建議 50 秒。這是新隊友加入後的建議分工。Jesse 的安全研究不取代隊友的導航與 Agent 功能開發。共同介面包含 request_id、task_id、action、goal_id、verified_user_id、角色授權來源、時間、當前任務、執行回報、拒絕理由碼。可信權限與位置不能只用 LLM 自填欄位。每個模組要能單獨測試，也要在同一條控制路徑整合。Git 工作紀錄、資料複核與示範工作共同保存，報告清楚列出實際貢獻，不預先宣稱尚未完成的工作。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建議 45 秒。以驗收條件管理進度，避免用功能清單推估虛假百分比。每階段可並行做獨立工作，但資料與介面未定前不大量生成訓練集。M2 的 100 個情境是起步規劃，包括正常、越權、多輪濫用與資訊不足，並非現在已完成。M3 先凍結切分與評分方式，再做正式比較。M4 依硬體可用性安排；Gazebo 的結果不能當成實機安全證明。本提案使用相對里程碑，未臆測或改動學校正式繳交期限。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建議 40 秒。收束主簡報。預期交付包括版本化情境資料、標註準則與資料卡、可在本機執行的學生風險模型、獨立授權閘門、Gazebo 情境重播工具、實機驗收紀錄與研究報告。對教授的請求是確認聚焦程度、AI 實驗設計及雙人分工。本研究的有效性由獨立測試決定，模型可能沒有超越充分設計的規則，這也是需要誠實分析的結果。未知危害、觀測資訊缺乏與感測故障仍有邊界，不宣稱全面防禦或產品級安全。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此頁供教授追問時使用。每筆訓練資料只包含部署時真能取得的輸入，避免模型利用答案欄位或生成器風格作弊。第一版輸出蒸餾採監督式硬標籤訓練。若未來研究軟標籤蒸餾，需另行取得或估計可校準的教師分布，不能直接將文字形式的 0.99 信心視為真實機率。學生可採文字編碼器與結構化特徵融合分類，先與簡單基線比較，再決定是否需要較大模型微調。記錄模型權重來源、資料可使用範圍與實驗設定。合成候選資料、人工核對資料、成功重播情境須分別計數。</a:t>
            </a:r>
          </a:p>
          <a:p xmlns:a="http://schemas.openxmlformats.org/drawingml/2006/main">
            <a:r>
              <a:t/>
            </a:r>
          </a:p>
          <a:p xmlns:a="http://schemas.openxmlformats.org/drawingml/2006/main">
            <a:r>
              <a:t>參考來源（查閱日期 2026-09-26）</a:t>
            </a:r>
          </a:p>
          <a:p xmlns:a="http://schemas.openxmlformats.org/drawingml/2006/main">
            <a:r>
              <a:t>https://developers.openai.com/api/docs/guides/supervised-fine-tuning</a:t>
            </a:r>
          </a:p>
          <a:p xmlns:a="http://schemas.openxmlformats.org/drawingml/2006/main">
            <a:r>
              <a:t>https://developers.openai.com/api/docs/guides/evaluation-best-practices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來源支持方法設計，不構成本專題的實測結果。InjecAgent 與 Task Shield 以間接提示注入與工具型 Agent 為背景，本第一版只處理文字介面的直接誘導及多輪任務濫用，不移植原論文數字。本機專案參考：README.md；src/dds_security_monitor/dds_security_monitor/patrol_node.py；monitor_node.py；velocity_guard_node.py；展示指令/sros2_policy_least_privilege.xml。新控制鏈整合後仍需重新驗證。</a:t>
            </a:r>
          </a:p>
          <a:p xmlns:a="http://schemas.openxmlformats.org/drawingml/2006/main">
            <a:r>
              <a:t/>
            </a:r>
          </a:p>
          <a:p xmlns:a="http://schemas.openxmlformats.org/drawingml/2006/main">
            <a:r>
              <a:t>參考來源（查閱日期 2026-09-26）</a:t>
            </a:r>
          </a:p>
          <a:p xmlns:a="http://schemas.openxmlformats.org/drawingml/2006/main">
            <a:r>
              <a:t>https://genai.owasp.org/llmrisk/llm01-prompt-injection/</a:t>
            </a:r>
          </a:p>
          <a:p xmlns:a="http://schemas.openxmlformats.org/drawingml/2006/main">
            <a:r>
              <a:t>https://genai.owasp.org/llmrisk/llm062025-excessive-agency/</a:t>
            </a:r>
          </a:p>
          <a:p xmlns:a="http://schemas.openxmlformats.org/drawingml/2006/main">
            <a:r>
              <a:t>https://cheatsheetseries.owasp.org/cheatsheets/Authorization_Cheat_Sheet.html</a:t>
            </a:r>
          </a:p>
          <a:p xmlns:a="http://schemas.openxmlformats.org/drawingml/2006/main">
            <a:r>
              <a:t>https://aclanthology.org/2024.findings-acl.624/</a:t>
            </a:r>
          </a:p>
          <a:p xmlns:a="http://schemas.openxmlformats.org/drawingml/2006/main">
            <a:r>
              <a:t>https://aclanthology.org/2025.acl-long.1435/</a:t>
            </a:r>
          </a:p>
          <a:p xmlns:a="http://schemas.openxmlformats.org/drawingml/2006/main">
            <a:r>
              <a:t>https://developers.openai.com/api/docs/guides/supervised-fine-tuning</a:t>
            </a:r>
          </a:p>
          <a:p xmlns:a="http://schemas.openxmlformats.org/drawingml/2006/main">
            <a:r>
              <a:t>https://developers.openai.com/api/docs/guides/evaluation-best-practices</a:t>
            </a:r>
          </a:p>
          <a:p xmlns:a="http://schemas.openxmlformats.org/drawingml/2006/main">
            <a:r>
              <a:t>https://docs.nav2.org/rolling/configuration_and_development/configuration_guide/core_servers/collision_monitor/configuring_collision_monitor_node/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d3f817f02f419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d98d848d348457b" /><Relationship Type="http://schemas.openxmlformats.org/officeDocument/2006/relationships/slideLayout" Target="/ppt/slideLayouts/slideLayout1.xml" Id="Rd6a8cf6d369745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a8cf6d369745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25ce78d139a45ee" /><Relationship Type="http://schemas.openxmlformats.org/officeDocument/2006/relationships/notesSlide" Target="/ppt/notesSlides/notesSlide1.xml" Id="R4a1499d0d311466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ca81c6e76af4be1" /><Relationship Type="http://schemas.openxmlformats.org/officeDocument/2006/relationships/notesSlide" Target="/ppt/notesSlides/notesSlide2.xml" Id="R9e3e8d0b122f430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9586e4be125456c" /><Relationship Type="http://schemas.openxmlformats.org/officeDocument/2006/relationships/notesSlide" Target="/ppt/notesSlides/notesSlide3.xml" Id="R91913f2cb14f4a6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16f3ad0cb0041cc" /><Relationship Type="http://schemas.openxmlformats.org/officeDocument/2006/relationships/notesSlide" Target="/ppt/notesSlides/notesSlide4.xml" Id="R4eead1f176224f7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e2b66bf57a649c6" /><Relationship Type="http://schemas.openxmlformats.org/officeDocument/2006/relationships/notesSlide" Target="/ppt/notesSlides/notesSlide5.xml" Id="R50308551cc85444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2ac8e4631b84854" /><Relationship Type="http://schemas.openxmlformats.org/officeDocument/2006/relationships/notesSlide" Target="/ppt/notesSlides/notesSlide6.xml" Id="Rbf44c6c26856405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1e4b80c55ac4360" /><Relationship Type="http://schemas.openxmlformats.org/officeDocument/2006/relationships/notesSlide" Target="/ppt/notesSlides/notesSlide7.xml" Id="R6ce90479de2e4c1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8bac2d99b0243ff" /><Relationship Type="http://schemas.openxmlformats.org/officeDocument/2006/relationships/notesSlide" Target="/ppt/notesSlides/notesSlide8.xml" Id="Ra300d8257087442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8e55954223c4fe1" /><Relationship Type="http://schemas.openxmlformats.org/officeDocument/2006/relationships/notesSlide" Target="/ppt/notesSlides/notesSlide9.xml" Id="R79d3e9fd423f4c4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d0e295ac1384136" /><Relationship Type="http://schemas.openxmlformats.org/officeDocument/2006/relationships/notesSlide" Target="/ppt/notesSlides/notesSlide10.xml" Id="Re03f027648744c6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c88699842e24dea" /><Relationship Type="http://schemas.openxmlformats.org/officeDocument/2006/relationships/notesSlide" Target="/ppt/notesSlides/notesSlide11.xml" Id="R4395740b86284c5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630f70521f94083" /><Relationship Type="http://schemas.openxmlformats.org/officeDocument/2006/relationships/notesSlide" Target="/ppt/notesSlides/notesSlide12.xml" Id="R48019881a91d471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1a9b39e7b024146" /><Relationship Type="http://schemas.openxmlformats.org/officeDocument/2006/relationships/notesSlide" Target="/ppt/notesSlides/notesSlide13.xml" Id="Rfb41ea819ab6491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f24b62ae2714496" /><Relationship Type="http://schemas.openxmlformats.org/officeDocument/2006/relationships/notesSlide" Target="/ppt/notesSlides/notesSlide14.xml" Id="R037ad2594923417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88679e24a104788" /><Relationship Type="http://schemas.openxmlformats.org/officeDocument/2006/relationships/notesSlide" Target="/ppt/notesSlides/notesSlide15.xml" Id="R2cdcdf389511481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3b128cb7b864ef6" /><Relationship Type="http://schemas.openxmlformats.org/officeDocument/2006/relationships/notesSlide" Target="/ppt/notesSlides/notesSlide16.xml" Id="Ra5f1ed508c374bf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42dcec0ef654592" /><Relationship Type="http://schemas.openxmlformats.org/officeDocument/2006/relationships/notesSlide" Target="/ppt/notesSlides/notesSlide17.xml" Id="R7e18435704bd4eb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44f5a8dbcd94339" /><Relationship Type="http://schemas.openxmlformats.org/officeDocument/2006/relationships/notesSlide" Target="/ppt/notesSlides/notesSlide18.xml" Id="R1a1a04f392254a8f" /></Relationships>
</file>

<file path=ppt/slides/slide1.xml><?xml version="1.0" encoding="utf-8"?>
<p:sld xmlns:p="http://schemas.openxmlformats.org/presentationml/2006/main">
  <p:cSld>
    <p:bg>
      <p:bgPr>
        <a:solidFill xmlns:a="http://schemas.openxmlformats.org/drawingml/2006/main">
          <a:srgbClr val="151515"/>
        </a:solidFill>
      </p:bgPr>
    </p:bg>
    <p:spTree>
      <p:nvGrpSpPr>
        <p:cNvPr id="1" name=""/>
        <p:cNvGrpSpPr/>
        <p:nvPr/>
      </p:nvGrpSpPr>
      <p:grpSpPr>
        <a:xfrm xmlns:a="http://schemas.openxmlformats.org/drawingml/2006/main"/>
      </p:grpSpPr>
      <p:sp>
        <p:nvSpPr>
          <p:cNvPr id="6" name="page-number">
            <a:extLst xmlns:a="http://schemas.openxmlformats.org/drawingml/2006/main">
              <a:ext uri="{FF2B5EF4-FFF2-40B4-BE49-F238E27FC236}">
                <a16:creationId xmlns:a16="http://schemas.microsoft.com/office/drawing/2014/main" id="{0E6D928A-BFA7-4BA3-8736-88D38401EB85}"/>
              </a:ext>
            </a:extLst>
          </p:cNvPr>
          <p:cNvSpPr>
            <a:spLocks xmlns:a="http://schemas.openxmlformats.org/drawingml/2006/main" noGrp="1"/>
          </p:cNvSpPr>
          <p:nvPr/>
        </p:nvSpPr>
        <p:spPr>
          <a:xfrm xmlns:a="http://schemas.openxmlformats.org/drawingml/2006/main">
            <a:off x="11182350" y="64198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BBBBBB"/>
                </a:solidFill>
                <a:latin typeface="Microsoft JhengHei"/>
                <a:ea typeface="Microsoft JhengHei"/>
                <a:cs typeface="Microsoft JhengHei"/>
              </a:defRPr>
            </a:pPr>
            <a:r>
              <a:rPr sz="1275" b="0">
                <a:solidFill>
                  <a:srgbClr val="BBBBBB"/>
                </a:solidFill>
                <a:latin typeface="Microsoft JhengHei"/>
                <a:ea typeface="Microsoft JhengHei"/>
                <a:cs typeface="Microsoft JhengHei"/>
              </a:rPr>
              <a:t>01</a:t>
            </a:r>
          </a:p>
        </p:txBody>
      </p:sp>
      <p:sp>
        <p:nvSpPr>
          <p:cNvPr id="2" name="cover-title">
            <a:extLst xmlns:a="http://schemas.openxmlformats.org/drawingml/2006/main">
              <a:ext uri="{FF2B5EF4-FFF2-40B4-BE49-F238E27FC236}">
                <a16:creationId xmlns:a16="http://schemas.microsoft.com/office/drawing/2014/main" id="{6620EB8F-AC5E-4AA6-87A2-0497D5CF90E2}"/>
              </a:ext>
            </a:extLst>
          </p:cNvPr>
          <p:cNvSpPr>
            <a:spLocks xmlns:a="http://schemas.openxmlformats.org/drawingml/2006/main" noGrp="1"/>
          </p:cNvSpPr>
          <p:nvPr/>
        </p:nvSpPr>
        <p:spPr>
          <a:xfrm xmlns:a="http://schemas.openxmlformats.org/drawingml/2006/main">
            <a:off x="609600" y="1724025"/>
            <a:ext cx="108394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FFFFF"/>
                </a:solidFill>
                <a:latin typeface="Microsoft JhengHei"/>
                <a:ea typeface="Microsoft JhengHei"/>
                <a:cs typeface="Microsoft JhengHei"/>
              </a:defRPr>
            </a:pPr>
            <a:r>
              <a:rPr sz="4800" b="1">
                <a:solidFill>
                  <a:srgbClr val="FFFFFF"/>
                </a:solidFill>
                <a:latin typeface="Microsoft JhengHei"/>
                <a:ea typeface="Microsoft JhengHei"/>
                <a:cs typeface="Microsoft JhengHei"/>
              </a:rPr>
              <a:t>文字互動巡邏機器人</a:t>
            </a:r>
          </a:p>
          <a:p xmlns:a="http://schemas.openxmlformats.org/drawingml/2006/main">
            <a:pPr algn="l">
              <a:defRPr sz="4800" b="1">
                <a:solidFill>
                  <a:srgbClr val="FFFFFF"/>
                </a:solidFill>
                <a:latin typeface="Microsoft JhengHei"/>
                <a:ea typeface="Microsoft JhengHei"/>
                <a:cs typeface="Microsoft JhengHei"/>
              </a:defRPr>
            </a:pPr>
            <a:r>
              <a:rPr sz="4800" b="1">
                <a:solidFill>
                  <a:srgbClr val="FFFFFF"/>
                </a:solidFill>
                <a:latin typeface="Microsoft JhengHei"/>
                <a:ea typeface="Microsoft JhengHei"/>
                <a:cs typeface="Microsoft JhengHei"/>
              </a:rPr>
              <a:t>的 AI 安全防護</a:t>
            </a:r>
          </a:p>
        </p:txBody>
      </p:sp>
      <p:sp>
        <p:nvSpPr>
          <p:cNvPr id="3" name="text-1">
            <a:extLst xmlns:a="http://schemas.openxmlformats.org/drawingml/2006/main">
              <a:ext uri="{FF2B5EF4-FFF2-40B4-BE49-F238E27FC236}">
                <a16:creationId xmlns:a16="http://schemas.microsoft.com/office/drawing/2014/main" id="{344E90EC-5D67-411D-B0BD-9C3AD7C90160}"/>
              </a:ext>
            </a:extLst>
          </p:cNvPr>
          <p:cNvSpPr>
            <a:spLocks xmlns:a="http://schemas.openxmlformats.org/drawingml/2006/main" noGrp="1"/>
          </p:cNvSpPr>
          <p:nvPr/>
        </p:nvSpPr>
        <p:spPr>
          <a:xfrm xmlns:a="http://schemas.openxmlformats.org/drawingml/2006/main">
            <a:off x="647700" y="40195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DDDDDD"/>
                </a:solidFill>
                <a:latin typeface="Microsoft JhengHei"/>
                <a:ea typeface="Microsoft JhengHei"/>
                <a:cs typeface="Microsoft JhengHei"/>
              </a:defRPr>
            </a:pPr>
            <a:r>
              <a:rPr sz="2250" b="0">
                <a:solidFill>
                  <a:srgbClr val="DDDDDD"/>
                </a:solidFill>
                <a:latin typeface="Microsoft JhengHei"/>
                <a:ea typeface="Microsoft JhengHei"/>
                <a:cs typeface="Microsoft JhengHei"/>
              </a:rPr>
              <a:t>上下文風險判斷、模型蒸餾與安全執行</a:t>
            </a:r>
          </a:p>
        </p:txBody>
      </p:sp>
      <p:sp>
        <p:nvSpPr>
          <p:cNvPr id="4" name="text-2">
            <a:extLst xmlns:a="http://schemas.openxmlformats.org/drawingml/2006/main">
              <a:ext uri="{FF2B5EF4-FFF2-40B4-BE49-F238E27FC236}">
                <a16:creationId xmlns:a16="http://schemas.microsoft.com/office/drawing/2014/main" id="{DBDA2082-8848-402D-BCBC-B59553DCBCD1}"/>
              </a:ext>
            </a:extLst>
          </p:cNvPr>
          <p:cNvSpPr>
            <a:spLocks xmlns:a="http://schemas.openxmlformats.org/drawingml/2006/main" noGrp="1"/>
          </p:cNvSpPr>
          <p:nvPr/>
        </p:nvSpPr>
        <p:spPr>
          <a:xfrm xmlns:a="http://schemas.openxmlformats.org/drawingml/2006/main">
            <a:off x="647700" y="508635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CCCCCC"/>
                </a:solidFill>
                <a:latin typeface="Microsoft JhengHei"/>
                <a:ea typeface="Microsoft JhengHei"/>
                <a:cs typeface="Microsoft JhengHei"/>
              </a:defRPr>
            </a:pPr>
            <a:r>
              <a:rPr sz="1725" b="0">
                <a:solidFill>
                  <a:srgbClr val="CCCCCC"/>
                </a:solidFill>
                <a:latin typeface="Microsoft JhengHei"/>
                <a:ea typeface="Microsoft JhengHei"/>
                <a:cs typeface="Microsoft JhengHei"/>
              </a:rPr>
              <a:t>研究方向與雙人分工提案</a:t>
            </a:r>
          </a:p>
        </p:txBody>
      </p:sp>
      <p:sp>
        <p:nvSpPr>
          <p:cNvPr id="5" name="text-3">
            <a:extLst xmlns:a="http://schemas.openxmlformats.org/drawingml/2006/main">
              <a:ext uri="{FF2B5EF4-FFF2-40B4-BE49-F238E27FC236}">
                <a16:creationId xmlns:a16="http://schemas.microsoft.com/office/drawing/2014/main" id="{1B1098D5-6DFC-4A45-8EE3-5C129F4326DD}"/>
              </a:ext>
            </a:extLst>
          </p:cNvPr>
          <p:cNvSpPr>
            <a:spLocks xmlns:a="http://schemas.openxmlformats.org/drawingml/2006/main" noGrp="1"/>
          </p:cNvSpPr>
          <p:nvPr/>
        </p:nvSpPr>
        <p:spPr>
          <a:xfrm xmlns:a="http://schemas.openxmlformats.org/drawingml/2006/main">
            <a:off x="647700" y="553402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AAAAAA"/>
                </a:solidFill>
                <a:latin typeface="Microsoft JhengHei"/>
                <a:ea typeface="Microsoft JhengHei"/>
                <a:cs typeface="Microsoft JhengHei"/>
              </a:defRPr>
            </a:pPr>
            <a:r>
              <a:rPr sz="1575" b="0">
                <a:solidFill>
                  <a:srgbClr val="AAAAAA"/>
                </a:solidFill>
                <a:latin typeface="Microsoft JhengHei"/>
                <a:ea typeface="Microsoft JhengHei"/>
                <a:cs typeface="Microsoft JhengHei"/>
              </a:rPr>
              <a:t>Jesse 與新隊友     2026.09.26</a:t>
            </a:r>
          </a:p>
        </p:txBody>
      </p:sp>
    </p:spTree>
    <p:extLst>
      <p:ext uri="{BB962C8B-B14F-4D97-AF65-F5344CB8AC3E}">
        <p14:creationId xmlns:p14="http://schemas.microsoft.com/office/powerpoint/2010/main" val="170916550"/>
      </p:ext>
    </p:extLst>
  </p:cSld>
</p:sld>
</file>

<file path=ppt/slides/slide2.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ECE588DE-D6D8-4B84-9854-AA8013C80A57}"/>
              </a:ext>
            </a:extLst>
          </p:cNvPr>
          <p:cNvSpPr>
            <a:spLocks xmlns:a="http://schemas.openxmlformats.org/drawingml/2006/main" noGrp="1"/>
          </p:cNvSpPr>
          <p:nvPr/>
        </p:nvSpPr>
        <p:spPr>
          <a:xfrm xmlns:a="http://schemas.openxmlformats.org/drawingml/2006/main">
            <a:off x="609600" y="4667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icrosoft JhengHei"/>
                <a:ea typeface="Microsoft JhengHei"/>
                <a:cs typeface="Microsoft JhengHei"/>
              </a:defRPr>
            </a:pPr>
            <a:r>
              <a:rPr sz="3300" b="1">
                <a:solidFill>
                  <a:srgbClr val="151515"/>
                </a:solidFill>
                <a:latin typeface="Microsoft JhengHei"/>
                <a:ea typeface="Microsoft JhengHei"/>
                <a:cs typeface="Microsoft JhengHei"/>
              </a:rPr>
              <a:t>Agent 控制機器人的風險</a:t>
            </a:r>
          </a:p>
        </p:txBody>
      </p:sp>
      <p:sp>
        <p:nvSpPr>
          <p:cNvPr id="2" name="page-number">
            <a:extLst xmlns:a="http://schemas.openxmlformats.org/drawingml/2006/main">
              <a:ext uri="{FF2B5EF4-FFF2-40B4-BE49-F238E27FC236}">
                <a16:creationId xmlns:a16="http://schemas.microsoft.com/office/drawing/2014/main" id="{2ED67489-B565-4AEE-B729-D71A67084799}"/>
              </a:ext>
            </a:extLst>
          </p:cNvPr>
          <p:cNvSpPr>
            <a:spLocks xmlns:a="http://schemas.openxmlformats.org/drawingml/2006/main" noGrp="1"/>
          </p:cNvSpPr>
          <p:nvPr/>
        </p:nvSpPr>
        <p:spPr>
          <a:xfrm xmlns:a="http://schemas.openxmlformats.org/drawingml/2006/main">
            <a:off x="11182350" y="64198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6262"/>
                </a:solidFill>
                <a:latin typeface="Microsoft JhengHei"/>
                <a:ea typeface="Microsoft JhengHei"/>
                <a:cs typeface="Microsoft JhengHei"/>
              </a:defRPr>
            </a:pPr>
            <a:r>
              <a:rPr sz="1275" b="0">
                <a:solidFill>
                  <a:srgbClr val="626262"/>
                </a:solidFill>
                <a:latin typeface="Microsoft JhengHei"/>
                <a:ea typeface="Microsoft JhengHei"/>
                <a:cs typeface="Microsoft JhengHei"/>
              </a:rPr>
              <a:t>02</a:t>
            </a:r>
          </a:p>
        </p:txBody>
      </p:sp>
      <p:sp>
        <p:nvSpPr>
          <p:cNvPr id="3" name="text-4">
            <a:extLst xmlns:a="http://schemas.openxmlformats.org/drawingml/2006/main">
              <a:ext uri="{FF2B5EF4-FFF2-40B4-BE49-F238E27FC236}">
                <a16:creationId xmlns:a16="http://schemas.microsoft.com/office/drawing/2014/main" id="{6E2E345C-0CD1-494F-9F02-F630DD82EDB6}"/>
              </a:ext>
            </a:extLst>
          </p:cNvPr>
          <p:cNvSpPr>
            <a:spLocks xmlns:a="http://schemas.openxmlformats.org/drawingml/2006/main" noGrp="1"/>
          </p:cNvSpPr>
          <p:nvPr/>
        </p:nvSpPr>
        <p:spPr>
          <a:xfrm xmlns:a="http://schemas.openxmlformats.org/drawingml/2006/main">
            <a:off x="609600" y="1638300"/>
            <a:ext cx="95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626262"/>
                </a:solidFill>
                <a:latin typeface="Microsoft JhengHei"/>
                <a:ea typeface="Microsoft JhengHei"/>
                <a:cs typeface="Microsoft JhengHei"/>
              </a:defRPr>
            </a:pPr>
            <a:r>
              <a:rPr sz="3450" b="0">
                <a:solidFill>
                  <a:srgbClr val="626262"/>
                </a:solidFill>
                <a:latin typeface="Microsoft JhengHei"/>
                <a:ea typeface="Microsoft JhengHei"/>
                <a:cs typeface="Microsoft JhengHei"/>
              </a:rPr>
              <a:t>01</a:t>
            </a:r>
          </a:p>
        </p:txBody>
      </p:sp>
      <p:sp>
        <p:nvSpPr>
          <p:cNvPr id="4" name="text-5">
            <a:extLst xmlns:a="http://schemas.openxmlformats.org/drawingml/2006/main">
              <a:ext uri="{FF2B5EF4-FFF2-40B4-BE49-F238E27FC236}">
                <a16:creationId xmlns:a16="http://schemas.microsoft.com/office/drawing/2014/main" id="{6139D307-39A1-4575-AC8A-E244C978C558}"/>
              </a:ext>
            </a:extLst>
          </p:cNvPr>
          <p:cNvSpPr>
            <a:spLocks xmlns:a="http://schemas.openxmlformats.org/drawingml/2006/main" noGrp="1"/>
          </p:cNvSpPr>
          <p:nvPr/>
        </p:nvSpPr>
        <p:spPr>
          <a:xfrm xmlns:a="http://schemas.openxmlformats.org/drawingml/2006/main">
            <a:off x="1828800" y="1647825"/>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Microsoft JhengHei"/>
                <a:ea typeface="Microsoft JhengHei"/>
                <a:cs typeface="Microsoft JhengHei"/>
              </a:defRPr>
            </a:pPr>
            <a:r>
              <a:rPr sz="2250" b="1">
                <a:solidFill>
                  <a:srgbClr val="151515"/>
                </a:solidFill>
                <a:latin typeface="Microsoft JhengHei"/>
                <a:ea typeface="Microsoft JhengHei"/>
                <a:cs typeface="Microsoft JhengHei"/>
              </a:rPr>
              <a:t>文字會影響任務理解</a:t>
            </a:r>
          </a:p>
        </p:txBody>
      </p:sp>
      <p:sp>
        <p:nvSpPr>
          <p:cNvPr id="5" name="text-6">
            <a:extLst xmlns:a="http://schemas.openxmlformats.org/drawingml/2006/main">
              <a:ext uri="{FF2B5EF4-FFF2-40B4-BE49-F238E27FC236}">
                <a16:creationId xmlns:a16="http://schemas.microsoft.com/office/drawing/2014/main" id="{334DA9E6-D7E8-4E40-946D-7EC33125820A}"/>
              </a:ext>
            </a:extLst>
          </p:cNvPr>
          <p:cNvSpPr>
            <a:spLocks xmlns:a="http://schemas.openxmlformats.org/drawingml/2006/main" noGrp="1"/>
          </p:cNvSpPr>
          <p:nvPr/>
        </p:nvSpPr>
        <p:spPr>
          <a:xfrm xmlns:a="http://schemas.openxmlformats.org/drawingml/2006/main">
            <a:off x="5372100" y="1666875"/>
            <a:ext cx="6000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套話、冒充身分或多輪誘導，</a:t>
            </a:r>
          </a:p>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可能讓 Agent 偏離原本任務。</a:t>
            </a:r>
          </a:p>
        </p:txBody>
      </p:sp>
      <p:sp>
        <p:nvSpPr>
          <p:cNvPr id="6" name="text-7">
            <a:extLst xmlns:a="http://schemas.openxmlformats.org/drawingml/2006/main">
              <a:ext uri="{FF2B5EF4-FFF2-40B4-BE49-F238E27FC236}">
                <a16:creationId xmlns:a16="http://schemas.microsoft.com/office/drawing/2014/main" id="{7F7AB389-63DF-4A21-8E58-AEC614C482BC}"/>
              </a:ext>
            </a:extLst>
          </p:cNvPr>
          <p:cNvSpPr>
            <a:spLocks xmlns:a="http://schemas.openxmlformats.org/drawingml/2006/main" noGrp="1"/>
          </p:cNvSpPr>
          <p:nvPr/>
        </p:nvSpPr>
        <p:spPr>
          <a:xfrm xmlns:a="http://schemas.openxmlformats.org/drawingml/2006/main">
            <a:off x="609600" y="2905125"/>
            <a:ext cx="95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626262"/>
                </a:solidFill>
                <a:latin typeface="Microsoft JhengHei"/>
                <a:ea typeface="Microsoft JhengHei"/>
                <a:cs typeface="Microsoft JhengHei"/>
              </a:defRPr>
            </a:pPr>
            <a:r>
              <a:rPr sz="3450" b="0">
                <a:solidFill>
                  <a:srgbClr val="626262"/>
                </a:solidFill>
                <a:latin typeface="Microsoft JhengHei"/>
                <a:ea typeface="Microsoft JhengHei"/>
                <a:cs typeface="Microsoft JhengHei"/>
              </a:rPr>
              <a:t>02</a:t>
            </a:r>
          </a:p>
        </p:txBody>
      </p:sp>
      <p:sp>
        <p:nvSpPr>
          <p:cNvPr id="7" name="text-8">
            <a:extLst xmlns:a="http://schemas.openxmlformats.org/drawingml/2006/main">
              <a:ext uri="{FF2B5EF4-FFF2-40B4-BE49-F238E27FC236}">
                <a16:creationId xmlns:a16="http://schemas.microsoft.com/office/drawing/2014/main" id="{D33B06D2-69B7-401B-9CB6-7EA598D6B1C2}"/>
              </a:ext>
            </a:extLst>
          </p:cNvPr>
          <p:cNvSpPr>
            <a:spLocks xmlns:a="http://schemas.openxmlformats.org/drawingml/2006/main" noGrp="1"/>
          </p:cNvSpPr>
          <p:nvPr/>
        </p:nvSpPr>
        <p:spPr>
          <a:xfrm xmlns:a="http://schemas.openxmlformats.org/drawingml/2006/main">
            <a:off x="1828800" y="29146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Microsoft JhengHei"/>
                <a:ea typeface="Microsoft JhengHei"/>
                <a:cs typeface="Microsoft JhengHei"/>
              </a:defRPr>
            </a:pPr>
            <a:r>
              <a:rPr sz="2250" b="1">
                <a:solidFill>
                  <a:srgbClr val="151515"/>
                </a:solidFill>
                <a:latin typeface="Microsoft JhengHei"/>
                <a:ea typeface="Microsoft JhengHei"/>
                <a:cs typeface="Microsoft JhengHei"/>
              </a:rPr>
              <a:t>工具讓文字變成動作</a:t>
            </a:r>
          </a:p>
        </p:txBody>
      </p:sp>
      <p:sp>
        <p:nvSpPr>
          <p:cNvPr id="8" name="text-9">
            <a:extLst xmlns:a="http://schemas.openxmlformats.org/drawingml/2006/main">
              <a:ext uri="{FF2B5EF4-FFF2-40B4-BE49-F238E27FC236}">
                <a16:creationId xmlns:a16="http://schemas.microsoft.com/office/drawing/2014/main" id="{3696F587-46B3-464B-8EF9-223D35D401D0}"/>
              </a:ext>
            </a:extLst>
          </p:cNvPr>
          <p:cNvSpPr>
            <a:spLocks xmlns:a="http://schemas.openxmlformats.org/drawingml/2006/main" noGrp="1"/>
          </p:cNvSpPr>
          <p:nvPr/>
        </p:nvSpPr>
        <p:spPr>
          <a:xfrm xmlns:a="http://schemas.openxmlformats.org/drawingml/2006/main">
            <a:off x="5372100" y="2933700"/>
            <a:ext cx="6000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當 Agent 能呼叫導航或改派任務，</a:t>
            </a:r>
          </a:p>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錯誤判斷就可能影響機器人行為。</a:t>
            </a:r>
          </a:p>
        </p:txBody>
      </p:sp>
      <p:sp>
        <p:nvSpPr>
          <p:cNvPr id="9" name="text-10">
            <a:extLst xmlns:a="http://schemas.openxmlformats.org/drawingml/2006/main">
              <a:ext uri="{FF2B5EF4-FFF2-40B4-BE49-F238E27FC236}">
                <a16:creationId xmlns:a16="http://schemas.microsoft.com/office/drawing/2014/main" id="{95FEAA1B-7A29-41ED-99B2-E9443857C504}"/>
              </a:ext>
            </a:extLst>
          </p:cNvPr>
          <p:cNvSpPr>
            <a:spLocks xmlns:a="http://schemas.openxmlformats.org/drawingml/2006/main" noGrp="1"/>
          </p:cNvSpPr>
          <p:nvPr/>
        </p:nvSpPr>
        <p:spPr>
          <a:xfrm xmlns:a="http://schemas.openxmlformats.org/drawingml/2006/main">
            <a:off x="609600" y="4171950"/>
            <a:ext cx="95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626262"/>
                </a:solidFill>
                <a:latin typeface="Microsoft JhengHei"/>
                <a:ea typeface="Microsoft JhengHei"/>
                <a:cs typeface="Microsoft JhengHei"/>
              </a:defRPr>
            </a:pPr>
            <a:r>
              <a:rPr sz="3450" b="0">
                <a:solidFill>
                  <a:srgbClr val="626262"/>
                </a:solidFill>
                <a:latin typeface="Microsoft JhengHei"/>
                <a:ea typeface="Microsoft JhengHei"/>
                <a:cs typeface="Microsoft JhengHei"/>
              </a:rPr>
              <a:t>03</a:t>
            </a:r>
          </a:p>
        </p:txBody>
      </p:sp>
      <p:sp>
        <p:nvSpPr>
          <p:cNvPr id="10" name="text-11">
            <a:extLst xmlns:a="http://schemas.openxmlformats.org/drawingml/2006/main">
              <a:ext uri="{FF2B5EF4-FFF2-40B4-BE49-F238E27FC236}">
                <a16:creationId xmlns:a16="http://schemas.microsoft.com/office/drawing/2014/main" id="{FD60349A-8C62-4ABC-A962-F9021BAC7808}"/>
              </a:ext>
            </a:extLst>
          </p:cNvPr>
          <p:cNvSpPr>
            <a:spLocks xmlns:a="http://schemas.openxmlformats.org/drawingml/2006/main" noGrp="1"/>
          </p:cNvSpPr>
          <p:nvPr/>
        </p:nvSpPr>
        <p:spPr>
          <a:xfrm xmlns:a="http://schemas.openxmlformats.org/drawingml/2006/main">
            <a:off x="1828800" y="4181475"/>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Microsoft JhengHei"/>
                <a:ea typeface="Microsoft JhengHei"/>
                <a:cs typeface="Microsoft JhengHei"/>
              </a:defRPr>
            </a:pPr>
            <a:r>
              <a:rPr sz="2250" b="1">
                <a:solidFill>
                  <a:srgbClr val="151515"/>
                </a:solidFill>
                <a:latin typeface="Microsoft JhengHei"/>
                <a:ea typeface="Microsoft JhengHei"/>
                <a:cs typeface="Microsoft JhengHei"/>
              </a:rPr>
              <a:t>防護需要獨立檢查</a:t>
            </a:r>
          </a:p>
        </p:txBody>
      </p:sp>
      <p:sp>
        <p:nvSpPr>
          <p:cNvPr id="11" name="text-12">
            <a:extLst xmlns:a="http://schemas.openxmlformats.org/drawingml/2006/main">
              <a:ext uri="{FF2B5EF4-FFF2-40B4-BE49-F238E27FC236}">
                <a16:creationId xmlns:a16="http://schemas.microsoft.com/office/drawing/2014/main" id="{2D5EF1BE-95D9-4C72-A532-3217E73B32DE}"/>
              </a:ext>
            </a:extLst>
          </p:cNvPr>
          <p:cNvSpPr>
            <a:spLocks xmlns:a="http://schemas.openxmlformats.org/drawingml/2006/main" noGrp="1"/>
          </p:cNvSpPr>
          <p:nvPr/>
        </p:nvSpPr>
        <p:spPr>
          <a:xfrm xmlns:a="http://schemas.openxmlformats.org/drawingml/2006/main">
            <a:off x="5372100" y="4200525"/>
            <a:ext cx="6000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每個候選動作都要符合使用者權限，</a:t>
            </a:r>
          </a:p>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並在執行期間接受狀態監控。</a:t>
            </a:r>
          </a:p>
        </p:txBody>
      </p:sp>
      <p:sp>
        <p:nvSpPr>
          <p:cNvPr id="12" name="text-13">
            <a:extLst xmlns:a="http://schemas.openxmlformats.org/drawingml/2006/main">
              <a:ext uri="{FF2B5EF4-FFF2-40B4-BE49-F238E27FC236}">
                <a16:creationId xmlns:a16="http://schemas.microsoft.com/office/drawing/2014/main" id="{B89D97C1-B58C-494E-865F-4AFA83CF0A48}"/>
              </a:ext>
            </a:extLst>
          </p:cNvPr>
          <p:cNvSpPr>
            <a:spLocks xmlns:a="http://schemas.openxmlformats.org/drawingml/2006/main" noGrp="1"/>
          </p:cNvSpPr>
          <p:nvPr/>
        </p:nvSpPr>
        <p:spPr>
          <a:xfrm xmlns:a="http://schemas.openxmlformats.org/drawingml/2006/main">
            <a:off x="609600" y="5800725"/>
            <a:ext cx="1095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51515"/>
                </a:solidFill>
                <a:latin typeface="Microsoft JhengHei"/>
                <a:ea typeface="Microsoft JhengHei"/>
                <a:cs typeface="Microsoft JhengHei"/>
              </a:defRPr>
            </a:pPr>
            <a:r>
              <a:rPr sz="1800" b="1">
                <a:solidFill>
                  <a:srgbClr val="151515"/>
                </a:solidFill>
                <a:latin typeface="Microsoft JhengHei"/>
                <a:ea typeface="Microsoft JhengHei"/>
                <a:cs typeface="Microsoft JhengHei"/>
              </a:rPr>
              <a:t>本計畫聚焦文字介面的直接誘導與任務濫用。</a:t>
            </a:r>
          </a:p>
        </p:txBody>
      </p:sp>
    </p:spTree>
    <p:extLst>
      <p:ext uri="{BB962C8B-B14F-4D97-AF65-F5344CB8AC3E}">
        <p14:creationId xmlns:p14="http://schemas.microsoft.com/office/powerpoint/2010/main" val="1153878444"/>
      </p:ext>
    </p:extLst>
  </p:cSld>
</p:sld>
</file>

<file path=ppt/slides/slide3.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755A0122-2DD0-4DB5-915C-A0F5034BCF7C}"/>
              </a:ext>
            </a:extLst>
          </p:cNvPr>
          <p:cNvSpPr>
            <a:spLocks xmlns:a="http://schemas.openxmlformats.org/drawingml/2006/main" noGrp="1"/>
          </p:cNvSpPr>
          <p:nvPr/>
        </p:nvSpPr>
        <p:spPr>
          <a:xfrm xmlns:a="http://schemas.openxmlformats.org/drawingml/2006/main">
            <a:off x="609600" y="4667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icrosoft JhengHei"/>
                <a:ea typeface="Microsoft JhengHei"/>
                <a:cs typeface="Microsoft JhengHei"/>
              </a:defRPr>
            </a:pPr>
            <a:r>
              <a:rPr sz="3300" b="1">
                <a:solidFill>
                  <a:srgbClr val="151515"/>
                </a:solidFill>
                <a:latin typeface="Microsoft JhengHei"/>
                <a:ea typeface="Microsoft JhengHei"/>
                <a:cs typeface="Microsoft JhengHei"/>
              </a:rPr>
              <a:t>研究問題與第一版範圍</a:t>
            </a:r>
          </a:p>
        </p:txBody>
      </p:sp>
      <p:sp>
        <p:nvSpPr>
          <p:cNvPr id="2" name="page-number">
            <a:extLst xmlns:a="http://schemas.openxmlformats.org/drawingml/2006/main">
              <a:ext uri="{FF2B5EF4-FFF2-40B4-BE49-F238E27FC236}">
                <a16:creationId xmlns:a16="http://schemas.microsoft.com/office/drawing/2014/main" id="{FC5A7F06-BB4A-4B11-BDCC-B9BB5406BD3E}"/>
              </a:ext>
            </a:extLst>
          </p:cNvPr>
          <p:cNvSpPr>
            <a:spLocks xmlns:a="http://schemas.openxmlformats.org/drawingml/2006/main" noGrp="1"/>
          </p:cNvSpPr>
          <p:nvPr/>
        </p:nvSpPr>
        <p:spPr>
          <a:xfrm xmlns:a="http://schemas.openxmlformats.org/drawingml/2006/main">
            <a:off x="11182350" y="64198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6262"/>
                </a:solidFill>
                <a:latin typeface="Microsoft JhengHei"/>
                <a:ea typeface="Microsoft JhengHei"/>
                <a:cs typeface="Microsoft JhengHei"/>
              </a:defRPr>
            </a:pPr>
            <a:r>
              <a:rPr sz="1275" b="0">
                <a:solidFill>
                  <a:srgbClr val="626262"/>
                </a:solidFill>
                <a:latin typeface="Microsoft JhengHei"/>
                <a:ea typeface="Microsoft JhengHei"/>
                <a:cs typeface="Microsoft JhengHei"/>
              </a:rPr>
              <a:t>03</a:t>
            </a:r>
          </a:p>
        </p:txBody>
      </p:sp>
      <p:sp>
        <p:nvSpPr>
          <p:cNvPr id="3" name="text-14">
            <a:extLst xmlns:a="http://schemas.openxmlformats.org/drawingml/2006/main">
              <a:ext uri="{FF2B5EF4-FFF2-40B4-BE49-F238E27FC236}">
                <a16:creationId xmlns:a16="http://schemas.microsoft.com/office/drawing/2014/main" id="{F24075B7-6FA9-4387-B955-F4D3592838AB}"/>
              </a:ext>
            </a:extLst>
          </p:cNvPr>
          <p:cNvSpPr>
            <a:spLocks xmlns:a="http://schemas.openxmlformats.org/drawingml/2006/main" noGrp="1"/>
          </p:cNvSpPr>
          <p:nvPr/>
        </p:nvSpPr>
        <p:spPr>
          <a:xfrm xmlns:a="http://schemas.openxmlformats.org/drawingml/2006/main">
            <a:off x="609600" y="1543050"/>
            <a:ext cx="109728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51515"/>
                </a:solidFill>
                <a:latin typeface="Microsoft JhengHei"/>
                <a:ea typeface="Microsoft JhengHei"/>
                <a:cs typeface="Microsoft JhengHei"/>
              </a:defRPr>
            </a:pPr>
            <a:r>
              <a:rPr sz="2625" b="1">
                <a:solidFill>
                  <a:srgbClr val="151515"/>
                </a:solidFill>
                <a:latin typeface="Microsoft JhengHei"/>
                <a:ea typeface="Microsoft JhengHei"/>
                <a:cs typeface="Microsoft JhengHei"/>
              </a:rPr>
              <a:t>加入防護後，能否降低未授權控制與任務濫用，</a:t>
            </a:r>
          </a:p>
          <a:p xmlns:a="http://schemas.openxmlformats.org/drawingml/2006/main">
            <a:pPr algn="l">
              <a:defRPr sz="2625" b="1">
                <a:solidFill>
                  <a:srgbClr val="151515"/>
                </a:solidFill>
                <a:latin typeface="Microsoft JhengHei"/>
                <a:ea typeface="Microsoft JhengHei"/>
                <a:cs typeface="Microsoft JhengHei"/>
              </a:defRPr>
            </a:pPr>
            <a:r>
              <a:rPr sz="2625" b="1">
                <a:solidFill>
                  <a:srgbClr val="151515"/>
                </a:solidFill>
                <a:latin typeface="Microsoft JhengHei"/>
                <a:ea typeface="Microsoft JhengHei"/>
                <a:cs typeface="Microsoft JhengHei"/>
              </a:rPr>
              <a:t>同時維持正常巡邏服務？</a:t>
            </a:r>
          </a:p>
        </p:txBody>
      </p:sp>
      <p:graphicFrame>
        <p:nvGraphicFramePr>
          <p:cNvPr id="8" name=""/>
          <p:cNvGraphicFramePr/>
          <p:nvPr/>
        </p:nvGraphicFramePr>
        <p:xfrm>
          <a:off xmlns:a="http://schemas.openxmlformats.org/drawingml/2006/main" x="609600" y="2876550"/>
          <a:ext xmlns:a="http://schemas.openxmlformats.org/drawingml/2006/main" cx="10972800" cy="2876550"/>
        </p:xfrm>
        <a:graphic xmlns:a="http://schemas.openxmlformats.org/drawingml/2006/main">
          <a:graphicData uri="http://schemas.openxmlformats.org/drawingml/2006/table">
            <a:tbl>
              <a:tblPr firstRow="0" bandRow="0"/>
              <a:tblGrid>
                <a:gridCol w="2333625"/>
                <a:gridCol w="8639175"/>
              </a:tblGrid>
              <a:tr h="575310">
                <a:tc>
                  <a:txBody>
                    <a:bodyPr>
                      <a:noAutofit/>
                    </a:bodyPr>
                    <a:lstStyle/>
                    <a:p>
                      <a:r>
                        <a:rPr sz="1800" b="1">
                          <a:solidFill>
                            <a:srgbClr val="FFFFFF"/>
                          </a:solidFill>
                          <a:latin typeface="Microsoft JhengHei"/>
                          <a:ea typeface="Microsoft JhengHei"/>
                          <a:cs typeface="Microsoft JhengHei"/>
                        </a:rPr>
                        <a:t>項目</a:t>
                      </a:r>
                    </a:p>
                  </a:txBody>
                  <a:tcPr marL="142875" marR="142875" marT="123825" marB="95250" anchor="ctr">
                    <a:solidFill>
                      <a:srgbClr val="151515"/>
                    </a:solidFill>
                  </a:tcPr>
                </a:tc>
                <a:tc>
                  <a:txBody>
                    <a:bodyPr>
                      <a:noAutofit/>
                    </a:bodyPr>
                    <a:lstStyle/>
                    <a:p>
                      <a:r>
                        <a:rPr sz="1800" b="1">
                          <a:solidFill>
                            <a:srgbClr val="FFFFFF"/>
                          </a:solidFill>
                          <a:latin typeface="Microsoft JhengHei"/>
                          <a:ea typeface="Microsoft JhengHei"/>
                          <a:cs typeface="Microsoft JhengHei"/>
                        </a:rPr>
                        <a:t>第一版範圍</a:t>
                      </a:r>
                    </a:p>
                  </a:txBody>
                  <a:tcPr marL="142875" marR="142875" marT="123825" marB="95250" anchor="ctr">
                    <a:solidFill>
                      <a:srgbClr val="151515"/>
                    </a:solidFill>
                  </a:tcPr>
                </a:tc>
              </a:tr>
              <a:tr h="575310">
                <a:tc>
                  <a:txBody>
                    <a:bodyPr>
                      <a:noAutofit/>
                    </a:bodyPr>
                    <a:lstStyle/>
                    <a:p>
                      <a:r>
                        <a:rPr sz="1800" b="0">
                          <a:solidFill>
                            <a:srgbClr val="151515"/>
                          </a:solidFill>
                          <a:latin typeface="Microsoft JhengHei"/>
                          <a:ea typeface="Microsoft JhengHei"/>
                          <a:cs typeface="Microsoft JhengHei"/>
                        </a:rPr>
                        <a:t>研究核心</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上下文風險判斷與獨立動作授權</a:t>
                      </a:r>
                    </a:p>
                  </a:txBody>
                  <a:tcPr marL="142875" marR="142875" marT="123825" marB="95250" anchor="ctr">
                    <a:solidFill>
                      <a:srgbClr val="FFFFFF"/>
                    </a:solidFill>
                  </a:tcPr>
                </a:tc>
              </a:tr>
              <a:tr h="575310">
                <a:tc>
                  <a:txBody>
                    <a:bodyPr>
                      <a:noAutofit/>
                    </a:bodyPr>
                    <a:lstStyle/>
                    <a:p>
                      <a:r>
                        <a:rPr sz="1800" b="0">
                          <a:solidFill>
                            <a:srgbClr val="151515"/>
                          </a:solidFill>
                          <a:latin typeface="Microsoft JhengHei"/>
                          <a:ea typeface="Microsoft JhengHei"/>
                          <a:cs typeface="Microsoft JhengHei"/>
                        </a:rPr>
                        <a:t>使用場景</a:t>
                      </a:r>
                    </a:p>
                  </a:txBody>
                  <a:tcPr marL="142875" marR="142875" marT="123825" marB="95250" anchor="ctr">
                    <a:solidFill>
                      <a:srgbClr val="F0F0F0"/>
                    </a:solidFill>
                  </a:tcPr>
                </a:tc>
                <a:tc>
                  <a:txBody>
                    <a:bodyPr>
                      <a:noAutofit/>
                    </a:bodyPr>
                    <a:lstStyle/>
                    <a:p>
                      <a:r>
                        <a:rPr sz="1800" b="0">
                          <a:solidFill>
                            <a:srgbClr val="151515"/>
                          </a:solidFill>
                          <a:latin typeface="Microsoft JhengHei"/>
                          <a:ea typeface="Microsoft JhengHei"/>
                          <a:cs typeface="Microsoft JhengHei"/>
                        </a:rPr>
                        <a:t>一張固定地圖、預設目的地、文字介面</a:t>
                      </a:r>
                    </a:p>
                  </a:txBody>
                  <a:tcPr marL="142875" marR="142875" marT="123825" marB="95250" anchor="ctr">
                    <a:solidFill>
                      <a:srgbClr val="F0F0F0"/>
                    </a:solidFill>
                  </a:tcPr>
                </a:tc>
              </a:tr>
              <a:tr h="575310">
                <a:tc>
                  <a:txBody>
                    <a:bodyPr>
                      <a:noAutofit/>
                    </a:bodyPr>
                    <a:lstStyle/>
                    <a:p>
                      <a:r>
                        <a:rPr sz="1800" b="0">
                          <a:solidFill>
                            <a:srgbClr val="151515"/>
                          </a:solidFill>
                          <a:latin typeface="Microsoft JhengHei"/>
                          <a:ea typeface="Microsoft JhengHei"/>
                          <a:cs typeface="Microsoft JhengHei"/>
                        </a:rPr>
                        <a:t>使用者與任務</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訪客／操作員；查詢、前往地點、切換巡邏路線</a:t>
                      </a:r>
                    </a:p>
                  </a:txBody>
                  <a:tcPr marL="142875" marR="142875" marT="123825" marB="95250" anchor="ctr">
                    <a:solidFill>
                      <a:srgbClr val="FFFFFF"/>
                    </a:solidFill>
                  </a:tcPr>
                </a:tc>
              </a:tr>
              <a:tr h="575310">
                <a:tc>
                  <a:txBody>
                    <a:bodyPr>
                      <a:noAutofit/>
                    </a:bodyPr>
                    <a:lstStyle/>
                    <a:p>
                      <a:r>
                        <a:rPr sz="1800" b="0">
                          <a:solidFill>
                            <a:srgbClr val="151515"/>
                          </a:solidFill>
                          <a:latin typeface="Microsoft JhengHei"/>
                          <a:ea typeface="Microsoft JhengHei"/>
                          <a:cs typeface="Microsoft JhengHei"/>
                        </a:rPr>
                        <a:t>暫停擴充</a:t>
                      </a:r>
                    </a:p>
                  </a:txBody>
                  <a:tcPr marL="142875" marR="142875" marT="123825" marB="95250" anchor="ctr">
                    <a:solidFill>
                      <a:srgbClr val="F0F0F0"/>
                    </a:solidFill>
                  </a:tcPr>
                </a:tc>
                <a:tc>
                  <a:txBody>
                    <a:bodyPr>
                      <a:noAutofit/>
                    </a:bodyPr>
                    <a:lstStyle/>
                    <a:p>
                      <a:r>
                        <a:rPr sz="1800" b="0">
                          <a:solidFill>
                            <a:srgbClr val="151515"/>
                          </a:solidFill>
                          <a:latin typeface="Microsoft JhengHei"/>
                          <a:ea typeface="Microsoft JhengHei"/>
                          <a:cs typeface="Microsoft JhengHei"/>
                        </a:rPr>
                        <a:t>新 RL 演算法、DDS 分類模型、IP 自動封鎖</a:t>
                      </a:r>
                    </a:p>
                  </a:txBody>
                  <a:tcPr marL="142875" marR="142875" marT="123825" marB="95250" anchor="ctr">
                    <a:solidFill>
                      <a:srgbClr val="F0F0F0"/>
                    </a:solidFill>
                  </a:tcPr>
                </a:tc>
              </a:tr>
            </a:tbl>
          </a:graphicData>
        </a:graphic>
      </p:graphicFrame>
    </p:spTree>
    <p:extLst>
      <p:ext uri="{BB962C8B-B14F-4D97-AF65-F5344CB8AC3E}">
        <p14:creationId xmlns:p14="http://schemas.microsoft.com/office/powerpoint/2010/main" val="1470229041"/>
      </p:ext>
    </p:extLst>
  </p:cSld>
</p:sld>
</file>

<file path=ppt/slides/slide4.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F54A7EA8-D744-4268-84FD-00936FE487AE}"/>
              </a:ext>
            </a:extLst>
          </p:cNvPr>
          <p:cNvSpPr>
            <a:spLocks xmlns:a="http://schemas.openxmlformats.org/drawingml/2006/main" noGrp="1"/>
          </p:cNvSpPr>
          <p:nvPr/>
        </p:nvSpPr>
        <p:spPr>
          <a:xfrm xmlns:a="http://schemas.openxmlformats.org/drawingml/2006/main">
            <a:off x="609600" y="4667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icrosoft JhengHei"/>
                <a:ea typeface="Microsoft JhengHei"/>
                <a:cs typeface="Microsoft JhengHei"/>
              </a:defRPr>
            </a:pPr>
            <a:r>
              <a:rPr sz="3300" b="1">
                <a:solidFill>
                  <a:srgbClr val="151515"/>
                </a:solidFill>
                <a:latin typeface="Microsoft JhengHei"/>
                <a:ea typeface="Microsoft JhengHei"/>
                <a:cs typeface="Microsoft JhengHei"/>
              </a:rPr>
              <a:t>符合限速，仍可能造成危害</a:t>
            </a:r>
          </a:p>
        </p:txBody>
      </p:sp>
      <p:sp>
        <p:nvSpPr>
          <p:cNvPr id="2" name="page-number">
            <a:extLst xmlns:a="http://schemas.openxmlformats.org/drawingml/2006/main">
              <a:ext uri="{FF2B5EF4-FFF2-40B4-BE49-F238E27FC236}">
                <a16:creationId xmlns:a16="http://schemas.microsoft.com/office/drawing/2014/main" id="{60BC902D-2D85-4915-9A7A-3092F822C0F3}"/>
              </a:ext>
            </a:extLst>
          </p:cNvPr>
          <p:cNvSpPr>
            <a:spLocks xmlns:a="http://schemas.openxmlformats.org/drawingml/2006/main" noGrp="1"/>
          </p:cNvSpPr>
          <p:nvPr/>
        </p:nvSpPr>
        <p:spPr>
          <a:xfrm xmlns:a="http://schemas.openxmlformats.org/drawingml/2006/main">
            <a:off x="11182350" y="64198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6262"/>
                </a:solidFill>
                <a:latin typeface="Microsoft JhengHei"/>
                <a:ea typeface="Microsoft JhengHei"/>
                <a:cs typeface="Microsoft JhengHei"/>
              </a:defRPr>
            </a:pPr>
            <a:r>
              <a:rPr sz="1275" b="0">
                <a:solidFill>
                  <a:srgbClr val="626262"/>
                </a:solidFill>
                <a:latin typeface="Microsoft JhengHei"/>
                <a:ea typeface="Microsoft JhengHei"/>
                <a:cs typeface="Microsoft JhengHei"/>
              </a:rPr>
              <a:t>04</a:t>
            </a:r>
          </a:p>
        </p:txBody>
      </p:sp>
      <p:graphicFrame>
        <p:nvGraphicFramePr>
          <p:cNvPr id="7" name=""/>
          <p:cNvGraphicFramePr/>
          <p:nvPr/>
        </p:nvGraphicFramePr>
        <p:xfrm>
          <a:off xmlns:a="http://schemas.openxmlformats.org/drawingml/2006/main" x="609600" y="1819275"/>
          <a:ext xmlns:a="http://schemas.openxmlformats.org/drawingml/2006/main" cx="10972800" cy="2990850"/>
        </p:xfrm>
        <a:graphic xmlns:a="http://schemas.openxmlformats.org/drawingml/2006/main">
          <a:graphicData uri="http://schemas.openxmlformats.org/drawingml/2006/table">
            <a:tbl>
              <a:tblPr firstRow="0" bandRow="0"/>
              <a:tblGrid>
                <a:gridCol w="2952750"/>
                <a:gridCol w="3876675"/>
                <a:gridCol w="4143375"/>
              </a:tblGrid>
              <a:tr h="747713">
                <a:tc>
                  <a:txBody>
                    <a:bodyPr>
                      <a:noAutofit/>
                    </a:bodyPr>
                    <a:lstStyle/>
                    <a:p>
                      <a:r>
                        <a:rPr sz="1800" b="1">
                          <a:solidFill>
                            <a:srgbClr val="FFFFFF"/>
                          </a:solidFill>
                          <a:latin typeface="Microsoft JhengHei"/>
                          <a:ea typeface="Microsoft JhengHei"/>
                          <a:cs typeface="Microsoft JhengHei"/>
                        </a:rPr>
                        <a:t>情境示例</a:t>
                      </a:r>
                    </a:p>
                  </a:txBody>
                  <a:tcPr marL="142875" marR="142875" marT="123825" marB="95250" anchor="ctr">
                    <a:solidFill>
                      <a:srgbClr val="151515"/>
                    </a:solidFill>
                  </a:tcPr>
                </a:tc>
                <a:tc>
                  <a:txBody>
                    <a:bodyPr>
                      <a:noAutofit/>
                    </a:bodyPr>
                    <a:lstStyle/>
                    <a:p>
                      <a:r>
                        <a:rPr sz="1800" b="1">
                          <a:solidFill>
                            <a:srgbClr val="FFFFFF"/>
                          </a:solidFill>
                          <a:latin typeface="Microsoft JhengHei"/>
                          <a:ea typeface="Microsoft JhengHei"/>
                          <a:cs typeface="Microsoft JhengHei"/>
                        </a:rPr>
                        <a:t>單項規則的缺口</a:t>
                      </a:r>
                    </a:p>
                  </a:txBody>
                  <a:tcPr marL="142875" marR="142875" marT="123825" marB="95250" anchor="ctr">
                    <a:solidFill>
                      <a:srgbClr val="151515"/>
                    </a:solidFill>
                  </a:tcPr>
                </a:tc>
                <a:tc>
                  <a:txBody>
                    <a:bodyPr>
                      <a:noAutofit/>
                    </a:bodyPr>
                    <a:lstStyle/>
                    <a:p>
                      <a:r>
                        <a:rPr sz="1800" b="1">
                          <a:solidFill>
                            <a:srgbClr val="FFFFFF"/>
                          </a:solidFill>
                          <a:latin typeface="Microsoft JhengHei"/>
                          <a:ea typeface="Microsoft JhengHei"/>
                          <a:cs typeface="Microsoft JhengHei"/>
                        </a:rPr>
                        <a:t>本計畫的處理</a:t>
                      </a:r>
                    </a:p>
                  </a:txBody>
                  <a:tcPr marL="142875" marR="142875" marT="123825" marB="95250" anchor="ctr">
                    <a:solidFill>
                      <a:srgbClr val="151515"/>
                    </a:solidFill>
                  </a:tcPr>
                </a:tc>
              </a:tr>
              <a:tr h="747713">
                <a:tc>
                  <a:txBody>
                    <a:bodyPr>
                      <a:noAutofit/>
                    </a:bodyPr>
                    <a:lstStyle/>
                    <a:p>
                      <a:r>
                        <a:rPr sz="1800" b="0">
                          <a:solidFill>
                            <a:srgbClr val="151515"/>
                          </a:solidFill>
                          <a:latin typeface="Microsoft JhengHei"/>
                          <a:ea typeface="Microsoft JhengHei"/>
                          <a:cs typeface="Microsoft JhengHei"/>
                        </a:rPr>
                        <a:t>文字自稱管理員</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文字身分與真實權限不同</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採信登入身分，逐次驗權</a:t>
                      </a:r>
                    </a:p>
                  </a:txBody>
                  <a:tcPr marL="142875" marR="142875" marT="123825" marB="95250" anchor="ctr">
                    <a:solidFill>
                      <a:srgbClr val="FFFFFF"/>
                    </a:solidFill>
                  </a:tcPr>
                </a:tc>
              </a:tr>
              <a:tr h="747713">
                <a:tc>
                  <a:txBody>
                    <a:bodyPr>
                      <a:noAutofit/>
                    </a:bodyPr>
                    <a:lstStyle/>
                    <a:p>
                      <a:r>
                        <a:rPr sz="1800" b="0">
                          <a:solidFill>
                            <a:srgbClr val="151515"/>
                          </a:solidFill>
                          <a:latin typeface="Microsoft JhengHei"/>
                          <a:ea typeface="Microsoft JhengHei"/>
                          <a:cs typeface="Microsoft JhengHei"/>
                        </a:rPr>
                        <a:t>連續改派合法目的地</a:t>
                      </a:r>
                    </a:p>
                  </a:txBody>
                  <a:tcPr marL="142875" marR="142875" marT="123825" marB="95250" anchor="ctr">
                    <a:solidFill>
                      <a:srgbClr val="F0F0F0"/>
                    </a:solidFill>
                  </a:tcPr>
                </a:tc>
                <a:tc>
                  <a:txBody>
                    <a:bodyPr>
                      <a:noAutofit/>
                    </a:bodyPr>
                    <a:lstStyle/>
                    <a:p>
                      <a:r>
                        <a:rPr sz="1800" b="0">
                          <a:solidFill>
                            <a:srgbClr val="151515"/>
                          </a:solidFill>
                          <a:latin typeface="Microsoft JhengHei"/>
                          <a:ea typeface="Microsoft JhengHei"/>
                          <a:cs typeface="Microsoft JhengHei"/>
                        </a:rPr>
                        <a:t>每次合法，但巡邏持續中斷</a:t>
                      </a:r>
                    </a:p>
                  </a:txBody>
                  <a:tcPr marL="142875" marR="142875" marT="123825" marB="95250" anchor="ctr">
                    <a:solidFill>
                      <a:srgbClr val="F0F0F0"/>
                    </a:solidFill>
                  </a:tcPr>
                </a:tc>
                <a:tc>
                  <a:txBody>
                    <a:bodyPr>
                      <a:noAutofit/>
                    </a:bodyPr>
                    <a:lstStyle/>
                    <a:p>
                      <a:r>
                        <a:rPr sz="1800" b="0">
                          <a:solidFill>
                            <a:srgbClr val="151515"/>
                          </a:solidFill>
                          <a:latin typeface="Microsoft JhengHei"/>
                          <a:ea typeface="Microsoft JhengHei"/>
                          <a:cs typeface="Microsoft JhengHei"/>
                        </a:rPr>
                        <a:t>檢查任務歷史與改派預算</a:t>
                      </a:r>
                    </a:p>
                  </a:txBody>
                  <a:tcPr marL="142875" marR="142875" marT="123825" marB="95250" anchor="ctr">
                    <a:solidFill>
                      <a:srgbClr val="F0F0F0"/>
                    </a:solidFill>
                  </a:tcPr>
                </a:tc>
              </a:tr>
              <a:tr h="747713">
                <a:tc>
                  <a:txBody>
                    <a:bodyPr>
                      <a:noAutofit/>
                    </a:bodyPr>
                    <a:lstStyle/>
                    <a:p>
                      <a:r>
                        <a:rPr sz="1800" b="0">
                          <a:solidFill>
                            <a:srgbClr val="151515"/>
                          </a:solidFill>
                          <a:latin typeface="Microsoft JhengHei"/>
                          <a:ea typeface="Microsoft JhengHei"/>
                          <a:cs typeface="Microsoft JhengHei"/>
                        </a:rPr>
                        <a:t>低速接近障礙物</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限速無法代表碰撞安全</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交由獨立即時安全控制處理</a:t>
                      </a:r>
                    </a:p>
                  </a:txBody>
                  <a:tcPr marL="142875" marR="142875" marT="123825" marB="95250" anchor="ctr">
                    <a:solidFill>
                      <a:srgbClr val="FFFFFF"/>
                    </a:solidFill>
                  </a:tcPr>
                </a:tc>
              </a:tr>
            </a:tbl>
          </a:graphicData>
        </a:graphic>
      </p:graphicFrame>
      <p:sp>
        <p:nvSpPr>
          <p:cNvPr id="4" name="text-15">
            <a:extLst xmlns:a="http://schemas.openxmlformats.org/drawingml/2006/main">
              <a:ext uri="{FF2B5EF4-FFF2-40B4-BE49-F238E27FC236}">
                <a16:creationId xmlns:a16="http://schemas.microsoft.com/office/drawing/2014/main" id="{203B68B2-3DA3-4E9B-9A37-951792BE5D58}"/>
              </a:ext>
            </a:extLst>
          </p:cNvPr>
          <p:cNvSpPr>
            <a:spLocks xmlns:a="http://schemas.openxmlformats.org/drawingml/2006/main" noGrp="1"/>
          </p:cNvSpPr>
          <p:nvPr/>
        </p:nvSpPr>
        <p:spPr>
          <a:xfrm xmlns:a="http://schemas.openxmlformats.org/drawingml/2006/main">
            <a:off x="609600" y="524827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1515"/>
                </a:solidFill>
                <a:latin typeface="Microsoft JhengHei"/>
                <a:ea typeface="Microsoft JhengHei"/>
                <a:cs typeface="Microsoft JhengHei"/>
              </a:defRPr>
            </a:pPr>
            <a:r>
              <a:rPr sz="2175" b="1">
                <a:solidFill>
                  <a:srgbClr val="151515"/>
                </a:solidFill>
                <a:latin typeface="Microsoft JhengHei"/>
                <a:ea typeface="Microsoft JhengHei"/>
                <a:cs typeface="Microsoft JhengHei"/>
              </a:rPr>
              <a:t>第一版研究「越權」與「連續任務濫用」；</a:t>
            </a:r>
          </a:p>
          <a:p xmlns:a="http://schemas.openxmlformats.org/drawingml/2006/main">
            <a:pPr algn="l">
              <a:defRPr sz="2175" b="1">
                <a:solidFill>
                  <a:srgbClr val="151515"/>
                </a:solidFill>
                <a:latin typeface="Microsoft JhengHei"/>
                <a:ea typeface="Microsoft JhengHei"/>
                <a:cs typeface="Microsoft JhengHei"/>
              </a:defRPr>
            </a:pPr>
            <a:r>
              <a:rPr sz="2175" b="1">
                <a:solidFill>
                  <a:srgbClr val="151515"/>
                </a:solidFill>
                <a:latin typeface="Microsoft JhengHei"/>
                <a:ea typeface="Microsoft JhengHei"/>
                <a:cs typeface="Microsoft JhengHei"/>
              </a:rPr>
              <a:t>碰撞防護屬必要的機器人安全基礎。</a:t>
            </a:r>
          </a:p>
        </p:txBody>
      </p:sp>
    </p:spTree>
    <p:extLst>
      <p:ext uri="{BB962C8B-B14F-4D97-AF65-F5344CB8AC3E}">
        <p14:creationId xmlns:p14="http://schemas.microsoft.com/office/powerpoint/2010/main" val="212269375"/>
      </p:ext>
    </p:extLst>
  </p:cSld>
</p:sld>
</file>

<file path=ppt/slides/slide5.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5A1FED70-D2CA-4AD0-A0A4-66F46D42DEEB}"/>
              </a:ext>
            </a:extLst>
          </p:cNvPr>
          <p:cNvSpPr>
            <a:spLocks xmlns:a="http://schemas.openxmlformats.org/drawingml/2006/main" noGrp="1"/>
          </p:cNvSpPr>
          <p:nvPr/>
        </p:nvSpPr>
        <p:spPr>
          <a:xfrm xmlns:a="http://schemas.openxmlformats.org/drawingml/2006/main">
            <a:off x="609600" y="4667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icrosoft JhengHei"/>
                <a:ea typeface="Microsoft JhengHei"/>
                <a:cs typeface="Microsoft JhengHei"/>
              </a:defRPr>
            </a:pPr>
            <a:r>
              <a:rPr sz="3300" b="1">
                <a:solidFill>
                  <a:srgbClr val="151515"/>
                </a:solidFill>
                <a:latin typeface="Microsoft JhengHei"/>
                <a:ea typeface="Microsoft JhengHei"/>
                <a:cs typeface="Microsoft JhengHei"/>
              </a:rPr>
              <a:t>文字指令到機器人動作的控制流程</a:t>
            </a:r>
          </a:p>
        </p:txBody>
      </p:sp>
      <p:sp>
        <p:nvSpPr>
          <p:cNvPr id="2" name="page-number">
            <a:extLst xmlns:a="http://schemas.openxmlformats.org/drawingml/2006/main">
              <a:ext uri="{FF2B5EF4-FFF2-40B4-BE49-F238E27FC236}">
                <a16:creationId xmlns:a16="http://schemas.microsoft.com/office/drawing/2014/main" id="{22E5A4B8-7B1A-41E1-BC52-4F11FF760A07}"/>
              </a:ext>
            </a:extLst>
          </p:cNvPr>
          <p:cNvSpPr>
            <a:spLocks xmlns:a="http://schemas.openxmlformats.org/drawingml/2006/main" noGrp="1"/>
          </p:cNvSpPr>
          <p:nvPr/>
        </p:nvSpPr>
        <p:spPr>
          <a:xfrm xmlns:a="http://schemas.openxmlformats.org/drawingml/2006/main">
            <a:off x="11182350" y="64198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6262"/>
                </a:solidFill>
                <a:latin typeface="Microsoft JhengHei"/>
                <a:ea typeface="Microsoft JhengHei"/>
                <a:cs typeface="Microsoft JhengHei"/>
              </a:defRPr>
            </a:pPr>
            <a:r>
              <a:rPr sz="1275" b="0">
                <a:solidFill>
                  <a:srgbClr val="626262"/>
                </a:solidFill>
                <a:latin typeface="Microsoft JhengHei"/>
                <a:ea typeface="Microsoft JhengHei"/>
                <a:cs typeface="Microsoft JhengHei"/>
              </a:rPr>
              <a:t>05</a:t>
            </a:r>
          </a:p>
        </p:txBody>
      </p:sp>
      <p:graphicFrame>
        <p:nvGraphicFramePr>
          <p:cNvPr id="7" name=""/>
          <p:cNvGraphicFramePr/>
          <p:nvPr/>
        </p:nvGraphicFramePr>
        <p:xfrm>
          <a:off xmlns:a="http://schemas.openxmlformats.org/drawingml/2006/main" x="609600" y="1685925"/>
          <a:ext xmlns:a="http://schemas.openxmlformats.org/drawingml/2006/main" cx="10972800" cy="3419475"/>
        </p:xfrm>
        <a:graphic xmlns:a="http://schemas.openxmlformats.org/drawingml/2006/main">
          <a:graphicData uri="http://schemas.openxmlformats.org/drawingml/2006/table">
            <a:tbl>
              <a:tblPr firstRow="0" bandRow="0"/>
              <a:tblGrid>
                <a:gridCol w="2428875"/>
                <a:gridCol w="5905500"/>
                <a:gridCol w="2638425"/>
              </a:tblGrid>
              <a:tr h="683895">
                <a:tc>
                  <a:txBody>
                    <a:bodyPr>
                      <a:noAutofit/>
                    </a:bodyPr>
                    <a:lstStyle/>
                    <a:p>
                      <a:r>
                        <a:rPr sz="1725" b="1">
                          <a:solidFill>
                            <a:srgbClr val="FFFFFF"/>
                          </a:solidFill>
                          <a:latin typeface="Microsoft JhengHei"/>
                          <a:ea typeface="Microsoft JhengHei"/>
                          <a:cs typeface="Microsoft JhengHei"/>
                        </a:rPr>
                        <a:t>階段</a:t>
                      </a:r>
                    </a:p>
                  </a:txBody>
                  <a:tcPr marL="142875" marR="142875" marT="123825" marB="95250" anchor="ctr">
                    <a:solidFill>
                      <a:srgbClr val="151515"/>
                    </a:solidFill>
                  </a:tcPr>
                </a:tc>
                <a:tc>
                  <a:txBody>
                    <a:bodyPr>
                      <a:noAutofit/>
                    </a:bodyPr>
                    <a:lstStyle/>
                    <a:p>
                      <a:r>
                        <a:rPr sz="1725" b="1">
                          <a:solidFill>
                            <a:srgbClr val="FFFFFF"/>
                          </a:solidFill>
                          <a:latin typeface="Microsoft JhengHei"/>
                          <a:ea typeface="Microsoft JhengHei"/>
                          <a:cs typeface="Microsoft JhengHei"/>
                        </a:rPr>
                        <a:t>輸入與輸出</a:t>
                      </a:r>
                    </a:p>
                  </a:txBody>
                  <a:tcPr marL="142875" marR="142875" marT="123825" marB="95250" anchor="ctr">
                    <a:solidFill>
                      <a:srgbClr val="151515"/>
                    </a:solidFill>
                  </a:tcPr>
                </a:tc>
                <a:tc>
                  <a:txBody>
                    <a:bodyPr>
                      <a:noAutofit/>
                    </a:bodyPr>
                    <a:lstStyle/>
                    <a:p>
                      <a:r>
                        <a:rPr sz="1725" b="1">
                          <a:solidFill>
                            <a:srgbClr val="FFFFFF"/>
                          </a:solidFill>
                          <a:latin typeface="Microsoft JhengHei"/>
                          <a:ea typeface="Microsoft JhengHei"/>
                          <a:cs typeface="Microsoft JhengHei"/>
                        </a:rPr>
                        <a:t>主要責任</a:t>
                      </a:r>
                    </a:p>
                  </a:txBody>
                  <a:tcPr marL="142875" marR="142875" marT="123825" marB="95250" anchor="ctr">
                    <a:solidFill>
                      <a:srgbClr val="151515"/>
                    </a:solidFill>
                  </a:tcPr>
                </a:tc>
              </a:tr>
              <a:tr h="683895">
                <a:tc>
                  <a:txBody>
                    <a:bodyPr>
                      <a:noAutofit/>
                    </a:bodyPr>
                    <a:lstStyle/>
                    <a:p>
                      <a:r>
                        <a:rPr sz="1725" b="0">
                          <a:solidFill>
                            <a:srgbClr val="151515"/>
                          </a:solidFill>
                          <a:latin typeface="Microsoft JhengHei"/>
                          <a:ea typeface="Microsoft JhengHei"/>
                          <a:cs typeface="Microsoft JhengHei"/>
                        </a:rPr>
                        <a:t>01 文字理解</a:t>
                      </a:r>
                    </a:p>
                  </a:txBody>
                  <a:tcPr marL="142875" marR="142875" marT="123825" marB="95250" anchor="ctr">
                    <a:solidFill>
                      <a:srgbClr val="FFFFFF"/>
                    </a:solidFill>
                  </a:tcPr>
                </a:tc>
                <a:tc>
                  <a:txBody>
                    <a:bodyPr>
                      <a:noAutofit/>
                    </a:bodyPr>
                    <a:lstStyle/>
                    <a:p>
                      <a:r>
                        <a:rPr sz="1725" b="0">
                          <a:solidFill>
                            <a:srgbClr val="151515"/>
                          </a:solidFill>
                          <a:latin typeface="Microsoft JhengHei"/>
                          <a:ea typeface="Microsoft JhengHei"/>
                          <a:cs typeface="Microsoft JhengHei"/>
                        </a:rPr>
                        <a:t>文字與對話歷史，產生結構化候選任務</a:t>
                      </a:r>
                    </a:p>
                  </a:txBody>
                  <a:tcPr marL="142875" marR="142875" marT="123825" marB="95250" anchor="ctr">
                    <a:solidFill>
                      <a:srgbClr val="FFFFFF"/>
                    </a:solidFill>
                  </a:tcPr>
                </a:tc>
                <a:tc>
                  <a:txBody>
                    <a:bodyPr>
                      <a:noAutofit/>
                    </a:bodyPr>
                    <a:lstStyle/>
                    <a:p>
                      <a:r>
                        <a:rPr sz="1725" b="0">
                          <a:solidFill>
                            <a:srgbClr val="151515"/>
                          </a:solidFill>
                          <a:latin typeface="Microsoft JhengHei"/>
                          <a:ea typeface="Microsoft JhengHei"/>
                          <a:cs typeface="Microsoft JhengHei"/>
                        </a:rPr>
                        <a:t>Agent 提議動作</a:t>
                      </a:r>
                    </a:p>
                  </a:txBody>
                  <a:tcPr marL="142875" marR="142875" marT="123825" marB="95250" anchor="ctr">
                    <a:solidFill>
                      <a:srgbClr val="FFFFFF"/>
                    </a:solidFill>
                  </a:tcPr>
                </a:tc>
              </a:tr>
              <a:tr h="683895">
                <a:tc>
                  <a:txBody>
                    <a:bodyPr>
                      <a:noAutofit/>
                    </a:bodyPr>
                    <a:lstStyle/>
                    <a:p>
                      <a:r>
                        <a:rPr sz="1725" b="0">
                          <a:solidFill>
                            <a:srgbClr val="151515"/>
                          </a:solidFill>
                          <a:latin typeface="Microsoft JhengHei"/>
                          <a:ea typeface="Microsoft JhengHei"/>
                          <a:cs typeface="Microsoft JhengHei"/>
                        </a:rPr>
                        <a:t>02 風險判斷</a:t>
                      </a:r>
                    </a:p>
                  </a:txBody>
                  <a:tcPr marL="142875" marR="142875" marT="123825" marB="95250" anchor="ctr">
                    <a:solidFill>
                      <a:srgbClr val="F0F0F0"/>
                    </a:solidFill>
                  </a:tcPr>
                </a:tc>
                <a:tc>
                  <a:txBody>
                    <a:bodyPr>
                      <a:noAutofit/>
                    </a:bodyPr>
                    <a:lstStyle/>
                    <a:p>
                      <a:r>
                        <a:rPr sz="1725" b="0">
                          <a:solidFill>
                            <a:srgbClr val="151515"/>
                          </a:solidFill>
                          <a:latin typeface="Microsoft JhengHei"/>
                          <a:ea typeface="Microsoft JhengHei"/>
                          <a:cs typeface="Microsoft JhengHei"/>
                        </a:rPr>
                        <a:t>結合可信角色、原任務、狀態與歷史</a:t>
                      </a:r>
                    </a:p>
                  </a:txBody>
                  <a:tcPr marL="142875" marR="142875" marT="123825" marB="95250" anchor="ctr">
                    <a:solidFill>
                      <a:srgbClr val="F0F0F0"/>
                    </a:solidFill>
                  </a:tcPr>
                </a:tc>
                <a:tc>
                  <a:txBody>
                    <a:bodyPr>
                      <a:noAutofit/>
                    </a:bodyPr>
                    <a:lstStyle/>
                    <a:p>
                      <a:r>
                        <a:rPr sz="1725" b="0">
                          <a:solidFill>
                            <a:srgbClr val="151515"/>
                          </a:solidFill>
                          <a:latin typeface="Microsoft JhengHei"/>
                          <a:ea typeface="Microsoft JhengHei"/>
                          <a:cs typeface="Microsoft JhengHei"/>
                        </a:rPr>
                        <a:t>模型提供風險與拒判</a:t>
                      </a:r>
                    </a:p>
                  </a:txBody>
                  <a:tcPr marL="142875" marR="142875" marT="123825" marB="95250" anchor="ctr">
                    <a:solidFill>
                      <a:srgbClr val="F0F0F0"/>
                    </a:solidFill>
                  </a:tcPr>
                </a:tc>
              </a:tr>
              <a:tr h="683895">
                <a:tc>
                  <a:txBody>
                    <a:bodyPr>
                      <a:noAutofit/>
                    </a:bodyPr>
                    <a:lstStyle/>
                    <a:p>
                      <a:r>
                        <a:rPr sz="1725" b="0">
                          <a:solidFill>
                            <a:srgbClr val="151515"/>
                          </a:solidFill>
                          <a:latin typeface="Microsoft JhengHei"/>
                          <a:ea typeface="Microsoft JhengHei"/>
                          <a:cs typeface="Microsoft JhengHei"/>
                        </a:rPr>
                        <a:t>03 獨立授權</a:t>
                      </a:r>
                    </a:p>
                  </a:txBody>
                  <a:tcPr marL="142875" marR="142875" marT="123825" marB="95250" anchor="ctr">
                    <a:solidFill>
                      <a:srgbClr val="FFFFFF"/>
                    </a:solidFill>
                  </a:tcPr>
                </a:tc>
                <a:tc>
                  <a:txBody>
                    <a:bodyPr>
                      <a:noAutofit/>
                    </a:bodyPr>
                    <a:lstStyle/>
                    <a:p>
                      <a:r>
                        <a:rPr sz="1725" b="0">
                          <a:solidFill>
                            <a:srgbClr val="151515"/>
                          </a:solidFill>
                          <a:latin typeface="Microsoft JhengHei"/>
                          <a:ea typeface="Microsoft JhengHei"/>
                          <a:cs typeface="Microsoft JhengHei"/>
                        </a:rPr>
                        <a:t>驗證允許動作、地點、時效與任務預算</a:t>
                      </a:r>
                    </a:p>
                  </a:txBody>
                  <a:tcPr marL="142875" marR="142875" marT="123825" marB="95250" anchor="ctr">
                    <a:solidFill>
                      <a:srgbClr val="FFFFFF"/>
                    </a:solidFill>
                  </a:tcPr>
                </a:tc>
                <a:tc>
                  <a:txBody>
                    <a:bodyPr>
                      <a:noAutofit/>
                    </a:bodyPr>
                    <a:lstStyle/>
                    <a:p>
                      <a:r>
                        <a:rPr sz="1725" b="0">
                          <a:solidFill>
                            <a:srgbClr val="151515"/>
                          </a:solidFill>
                          <a:latin typeface="Microsoft JhengHei"/>
                          <a:ea typeface="Microsoft JhengHei"/>
                          <a:cs typeface="Microsoft JhengHei"/>
                        </a:rPr>
                        <a:t>規則決定可執行範圍</a:t>
                      </a:r>
                    </a:p>
                  </a:txBody>
                  <a:tcPr marL="142875" marR="142875" marT="123825" marB="95250" anchor="ctr">
                    <a:solidFill>
                      <a:srgbClr val="FFFFFF"/>
                    </a:solidFill>
                  </a:tcPr>
                </a:tc>
              </a:tr>
              <a:tr h="683895">
                <a:tc>
                  <a:txBody>
                    <a:bodyPr>
                      <a:noAutofit/>
                    </a:bodyPr>
                    <a:lstStyle/>
                    <a:p>
                      <a:r>
                        <a:rPr sz="1725" b="0">
                          <a:solidFill>
                            <a:srgbClr val="151515"/>
                          </a:solidFill>
                          <a:latin typeface="Microsoft JhengHei"/>
                          <a:ea typeface="Microsoft JhengHei"/>
                          <a:cs typeface="Microsoft JhengHei"/>
                        </a:rPr>
                        <a:t>04 導航與守衛</a:t>
                      </a:r>
                    </a:p>
                  </a:txBody>
                  <a:tcPr marL="142875" marR="142875" marT="123825" marB="95250" anchor="ctr">
                    <a:solidFill>
                      <a:srgbClr val="F0F0F0"/>
                    </a:solidFill>
                  </a:tcPr>
                </a:tc>
                <a:tc>
                  <a:txBody>
                    <a:bodyPr>
                      <a:noAutofit/>
                    </a:bodyPr>
                    <a:lstStyle/>
                    <a:p>
                      <a:r>
                        <a:rPr sz="1725" b="0">
                          <a:solidFill>
                            <a:srgbClr val="151515"/>
                          </a:solidFill>
                          <a:latin typeface="Microsoft JhengHei"/>
                          <a:ea typeface="Microsoft JhengHei"/>
                          <a:cs typeface="Microsoft JhengHei"/>
                        </a:rPr>
                        <a:t>核准目標交給導航，持續監控執行</a:t>
                      </a:r>
                    </a:p>
                  </a:txBody>
                  <a:tcPr marL="142875" marR="142875" marT="123825" marB="95250" anchor="ctr">
                    <a:solidFill>
                      <a:srgbClr val="F0F0F0"/>
                    </a:solidFill>
                  </a:tcPr>
                </a:tc>
                <a:tc>
                  <a:txBody>
                    <a:bodyPr>
                      <a:noAutofit/>
                    </a:bodyPr>
                    <a:lstStyle/>
                    <a:p>
                      <a:r>
                        <a:rPr sz="1725" b="0">
                          <a:solidFill>
                            <a:srgbClr val="151515"/>
                          </a:solidFill>
                          <a:latin typeface="Microsoft JhengHei"/>
                          <a:ea typeface="Microsoft JhengHei"/>
                          <a:cs typeface="Microsoft JhengHei"/>
                        </a:rPr>
                        <a:t>完成、暫停或撤銷</a:t>
                      </a:r>
                    </a:p>
                  </a:txBody>
                  <a:tcPr marL="142875" marR="142875" marT="123825" marB="95250" anchor="ctr">
                    <a:solidFill>
                      <a:srgbClr val="F0F0F0"/>
                    </a:solidFill>
                  </a:tcPr>
                </a:tc>
              </a:tr>
            </a:tbl>
          </a:graphicData>
        </a:graphic>
      </p:graphicFrame>
      <p:sp>
        <p:nvSpPr>
          <p:cNvPr id="4" name="text-16">
            <a:extLst xmlns:a="http://schemas.openxmlformats.org/drawingml/2006/main">
              <a:ext uri="{FF2B5EF4-FFF2-40B4-BE49-F238E27FC236}">
                <a16:creationId xmlns:a16="http://schemas.microsoft.com/office/drawing/2014/main" id="{28CFB05E-8355-4755-B34D-9F0809F50AA3}"/>
              </a:ext>
            </a:extLst>
          </p:cNvPr>
          <p:cNvSpPr>
            <a:spLocks xmlns:a="http://schemas.openxmlformats.org/drawingml/2006/main" noGrp="1"/>
          </p:cNvSpPr>
          <p:nvPr/>
        </p:nvSpPr>
        <p:spPr>
          <a:xfrm xmlns:a="http://schemas.openxmlformats.org/drawingml/2006/main">
            <a:off x="609600" y="5534025"/>
            <a:ext cx="108013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515"/>
                </a:solidFill>
                <a:latin typeface="Microsoft JhengHei"/>
                <a:ea typeface="Microsoft JhengHei"/>
                <a:cs typeface="Microsoft JhengHei"/>
              </a:defRPr>
            </a:pPr>
            <a:r>
              <a:rPr sz="1950" b="1">
                <a:solidFill>
                  <a:srgbClr val="151515"/>
                </a:solidFill>
                <a:latin typeface="Microsoft JhengHei"/>
                <a:ea typeface="Microsoft JhengHei"/>
                <a:cs typeface="Microsoft JhengHei"/>
              </a:rPr>
              <a:t>控制系統回傳實際狀態；模型沒有修改角色、policy 或安全閘門的權限。</a:t>
            </a:r>
          </a:p>
        </p:txBody>
      </p:sp>
    </p:spTree>
    <p:extLst>
      <p:ext uri="{BB962C8B-B14F-4D97-AF65-F5344CB8AC3E}">
        <p14:creationId xmlns:p14="http://schemas.microsoft.com/office/powerpoint/2010/main" val="667693049"/>
      </p:ext>
    </p:extLst>
  </p:cSld>
</p:sld>
</file>

<file path=ppt/slides/slide6.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F2FF68F3-0110-49C9-BB62-922025984AD4}"/>
              </a:ext>
            </a:extLst>
          </p:cNvPr>
          <p:cNvSpPr>
            <a:spLocks xmlns:a="http://schemas.openxmlformats.org/drawingml/2006/main" noGrp="1"/>
          </p:cNvSpPr>
          <p:nvPr/>
        </p:nvSpPr>
        <p:spPr>
          <a:xfrm xmlns:a="http://schemas.openxmlformats.org/drawingml/2006/main">
            <a:off x="609600" y="4667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icrosoft JhengHei"/>
                <a:ea typeface="Microsoft JhengHei"/>
                <a:cs typeface="Microsoft JhengHei"/>
              </a:defRPr>
            </a:pPr>
            <a:r>
              <a:rPr sz="3300" b="1">
                <a:solidFill>
                  <a:srgbClr val="151515"/>
                </a:solidFill>
                <a:latin typeface="Microsoft JhengHei"/>
                <a:ea typeface="Microsoft JhengHei"/>
                <a:cs typeface="Microsoft JhengHei"/>
              </a:rPr>
              <a:t>Policy 與風險模型的分工</a:t>
            </a:r>
          </a:p>
        </p:txBody>
      </p:sp>
      <p:sp>
        <p:nvSpPr>
          <p:cNvPr id="2" name="page-number">
            <a:extLst xmlns:a="http://schemas.openxmlformats.org/drawingml/2006/main">
              <a:ext uri="{FF2B5EF4-FFF2-40B4-BE49-F238E27FC236}">
                <a16:creationId xmlns:a16="http://schemas.microsoft.com/office/drawing/2014/main" id="{00E75C9C-1A47-459D-BFB8-106B5E9522D4}"/>
              </a:ext>
            </a:extLst>
          </p:cNvPr>
          <p:cNvSpPr>
            <a:spLocks xmlns:a="http://schemas.openxmlformats.org/drawingml/2006/main" noGrp="1"/>
          </p:cNvSpPr>
          <p:nvPr/>
        </p:nvSpPr>
        <p:spPr>
          <a:xfrm xmlns:a="http://schemas.openxmlformats.org/drawingml/2006/main">
            <a:off x="11182350" y="64198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6262"/>
                </a:solidFill>
                <a:latin typeface="Microsoft JhengHei"/>
                <a:ea typeface="Microsoft JhengHei"/>
                <a:cs typeface="Microsoft JhengHei"/>
              </a:defRPr>
            </a:pPr>
            <a:r>
              <a:rPr sz="1275" b="0">
                <a:solidFill>
                  <a:srgbClr val="626262"/>
                </a:solidFill>
                <a:latin typeface="Microsoft JhengHei"/>
                <a:ea typeface="Microsoft JhengHei"/>
                <a:cs typeface="Microsoft JhengHei"/>
              </a:rPr>
              <a:t>06</a:t>
            </a:r>
          </a:p>
        </p:txBody>
      </p:sp>
      <p:graphicFrame>
        <p:nvGraphicFramePr>
          <p:cNvPr id="7" name=""/>
          <p:cNvGraphicFramePr/>
          <p:nvPr/>
        </p:nvGraphicFramePr>
        <p:xfrm>
          <a:off xmlns:a="http://schemas.openxmlformats.org/drawingml/2006/main" x="609600" y="1809750"/>
          <a:ext xmlns:a="http://schemas.openxmlformats.org/drawingml/2006/main" cx="10972800" cy="3267075"/>
        </p:xfrm>
        <a:graphic xmlns:a="http://schemas.openxmlformats.org/drawingml/2006/main">
          <a:graphicData uri="http://schemas.openxmlformats.org/drawingml/2006/table">
            <a:tbl>
              <a:tblPr firstRow="0" bandRow="0"/>
              <a:tblGrid>
                <a:gridCol w="5486400"/>
                <a:gridCol w="5486400"/>
              </a:tblGrid>
              <a:tr h="653415">
                <a:tc>
                  <a:txBody>
                    <a:bodyPr>
                      <a:noAutofit/>
                    </a:bodyPr>
                    <a:lstStyle/>
                    <a:p>
                      <a:r>
                        <a:rPr sz="1800" b="1">
                          <a:solidFill>
                            <a:srgbClr val="FFFFFF"/>
                          </a:solidFill>
                          <a:latin typeface="Microsoft JhengHei"/>
                          <a:ea typeface="Microsoft JhengHei"/>
                          <a:cs typeface="Microsoft JhengHei"/>
                        </a:rPr>
                        <a:t>獨立政策檢查</a:t>
                      </a:r>
                    </a:p>
                  </a:txBody>
                  <a:tcPr marL="142875" marR="142875" marT="123825" marB="95250" anchor="ctr">
                    <a:solidFill>
                      <a:srgbClr val="151515"/>
                    </a:solidFill>
                  </a:tcPr>
                </a:tc>
                <a:tc>
                  <a:txBody>
                    <a:bodyPr>
                      <a:noAutofit/>
                    </a:bodyPr>
                    <a:lstStyle/>
                    <a:p>
                      <a:r>
                        <a:rPr sz="1800" b="1">
                          <a:solidFill>
                            <a:srgbClr val="FFFFFF"/>
                          </a:solidFill>
                          <a:latin typeface="Microsoft JhengHei"/>
                          <a:ea typeface="Microsoft JhengHei"/>
                          <a:cs typeface="Microsoft JhengHei"/>
                        </a:rPr>
                        <a:t>AI 風險判斷</a:t>
                      </a:r>
                    </a:p>
                  </a:txBody>
                  <a:tcPr marL="142875" marR="142875" marT="123825" marB="95250" anchor="ctr">
                    <a:solidFill>
                      <a:srgbClr val="151515"/>
                    </a:solidFill>
                  </a:tcPr>
                </a:tc>
              </a:tr>
              <a:tr h="653415">
                <a:tc>
                  <a:txBody>
                    <a:bodyPr>
                      <a:noAutofit/>
                    </a:bodyPr>
                    <a:lstStyle/>
                    <a:p>
                      <a:r>
                        <a:rPr sz="1800" b="0">
                          <a:solidFill>
                            <a:srgbClr val="151515"/>
                          </a:solidFill>
                          <a:latin typeface="Microsoft JhengHei"/>
                          <a:ea typeface="Microsoft JhengHei"/>
                          <a:cs typeface="Microsoft JhengHei"/>
                        </a:rPr>
                        <a:t>使用者是否有可信身分與動作權限</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文字是否與已核准任務衝突</a:t>
                      </a:r>
                    </a:p>
                  </a:txBody>
                  <a:tcPr marL="142875" marR="142875" marT="123825" marB="95250" anchor="ctr">
                    <a:solidFill>
                      <a:srgbClr val="FFFFFF"/>
                    </a:solidFill>
                  </a:tcPr>
                </a:tc>
              </a:tr>
              <a:tr h="653415">
                <a:tc>
                  <a:txBody>
                    <a:bodyPr>
                      <a:noAutofit/>
                    </a:bodyPr>
                    <a:lstStyle/>
                    <a:p>
                      <a:r>
                        <a:rPr sz="1800" b="0">
                          <a:solidFill>
                            <a:srgbClr val="151515"/>
                          </a:solidFill>
                          <a:latin typeface="Microsoft JhengHei"/>
                          <a:ea typeface="Microsoft JhengHei"/>
                          <a:cs typeface="Microsoft JhengHei"/>
                        </a:rPr>
                        <a:t>目的地、動作類型、時效是否允許</a:t>
                      </a:r>
                    </a:p>
                  </a:txBody>
                  <a:tcPr marL="142875" marR="142875" marT="123825" marB="95250" anchor="ctr">
                    <a:solidFill>
                      <a:srgbClr val="F0F0F0"/>
                    </a:solidFill>
                  </a:tcPr>
                </a:tc>
                <a:tc>
                  <a:txBody>
                    <a:bodyPr>
                      <a:noAutofit/>
                    </a:bodyPr>
                    <a:lstStyle/>
                    <a:p>
                      <a:r>
                        <a:rPr sz="1800" b="0">
                          <a:solidFill>
                            <a:srgbClr val="151515"/>
                          </a:solidFill>
                          <a:latin typeface="Microsoft JhengHei"/>
                          <a:ea typeface="Microsoft JhengHei"/>
                          <a:cs typeface="Microsoft JhengHei"/>
                        </a:rPr>
                        <a:t>多輪要求是否出現誘導或異常改派</a:t>
                      </a:r>
                    </a:p>
                  </a:txBody>
                  <a:tcPr marL="142875" marR="142875" marT="123825" marB="95250" anchor="ctr">
                    <a:solidFill>
                      <a:srgbClr val="F0F0F0"/>
                    </a:solidFill>
                  </a:tcPr>
                </a:tc>
              </a:tr>
              <a:tr h="653415">
                <a:tc>
                  <a:txBody>
                    <a:bodyPr>
                      <a:noAutofit/>
                    </a:bodyPr>
                    <a:lstStyle/>
                    <a:p>
                      <a:r>
                        <a:rPr sz="1800" b="0">
                          <a:solidFill>
                            <a:srgbClr val="151515"/>
                          </a:solidFill>
                          <a:latin typeface="Microsoft JhengHei"/>
                          <a:ea typeface="Microsoft JhengHei"/>
                          <a:cs typeface="Microsoft JhengHei"/>
                        </a:rPr>
                        <a:t>改派次數與任務占用是否超過預算</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資訊不足時提出澄清或交由人工確認</a:t>
                      </a:r>
                    </a:p>
                  </a:txBody>
                  <a:tcPr marL="142875" marR="142875" marT="123825" marB="95250" anchor="ctr">
                    <a:solidFill>
                      <a:srgbClr val="FFFFFF"/>
                    </a:solidFill>
                  </a:tcPr>
                </a:tc>
              </a:tr>
              <a:tr h="653415">
                <a:tc>
                  <a:txBody>
                    <a:bodyPr>
                      <a:noAutofit/>
                    </a:bodyPr>
                    <a:lstStyle/>
                    <a:p>
                      <a:r>
                        <a:rPr sz="1800" b="0">
                          <a:solidFill>
                            <a:srgbClr val="151515"/>
                          </a:solidFill>
                          <a:latin typeface="Microsoft JhengHei"/>
                          <a:ea typeface="Microsoft JhengHei"/>
                          <a:cs typeface="Microsoft JhengHei"/>
                        </a:rPr>
                        <a:t>不符合硬限制就拒絕執行</a:t>
                      </a:r>
                    </a:p>
                  </a:txBody>
                  <a:tcPr marL="142875" marR="142875" marT="123825" marB="95250" anchor="ctr">
                    <a:solidFill>
                      <a:srgbClr val="F0F0F0"/>
                    </a:solidFill>
                  </a:tcPr>
                </a:tc>
                <a:tc>
                  <a:txBody>
                    <a:bodyPr>
                      <a:noAutofit/>
                    </a:bodyPr>
                    <a:lstStyle/>
                    <a:p>
                      <a:r>
                        <a:rPr sz="1800" b="0">
                          <a:solidFill>
                            <a:srgbClr val="151515"/>
                          </a:solidFill>
                          <a:latin typeface="Microsoft JhengHei"/>
                          <a:ea typeface="Microsoft JhengHei"/>
                          <a:cs typeface="Microsoft JhengHei"/>
                        </a:rPr>
                        <a:t>判斷結果不能增加使用者權限</a:t>
                      </a:r>
                    </a:p>
                  </a:txBody>
                  <a:tcPr marL="142875" marR="142875" marT="123825" marB="95250" anchor="ctr">
                    <a:solidFill>
                      <a:srgbClr val="F0F0F0"/>
                    </a:solidFill>
                  </a:tcPr>
                </a:tc>
              </a:tr>
            </a:tbl>
          </a:graphicData>
        </a:graphic>
      </p:graphicFrame>
      <p:sp>
        <p:nvSpPr>
          <p:cNvPr id="4" name="text-17">
            <a:extLst xmlns:a="http://schemas.openxmlformats.org/drawingml/2006/main">
              <a:ext uri="{FF2B5EF4-FFF2-40B4-BE49-F238E27FC236}">
                <a16:creationId xmlns:a16="http://schemas.microsoft.com/office/drawing/2014/main" id="{7A0ED9D9-8B7C-4D24-A96A-961E3CF19010}"/>
              </a:ext>
            </a:extLst>
          </p:cNvPr>
          <p:cNvSpPr>
            <a:spLocks xmlns:a="http://schemas.openxmlformats.org/drawingml/2006/main" noGrp="1"/>
          </p:cNvSpPr>
          <p:nvPr/>
        </p:nvSpPr>
        <p:spPr>
          <a:xfrm xmlns:a="http://schemas.openxmlformats.org/drawingml/2006/main">
            <a:off x="609600" y="5524500"/>
            <a:ext cx="10906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1515"/>
                </a:solidFill>
                <a:latin typeface="Microsoft JhengHei"/>
                <a:ea typeface="Microsoft JhengHei"/>
                <a:cs typeface="Microsoft JhengHei"/>
              </a:defRPr>
            </a:pPr>
            <a:r>
              <a:rPr sz="2100" b="1">
                <a:solidFill>
                  <a:srgbClr val="151515"/>
                </a:solidFill>
                <a:latin typeface="Microsoft JhengHei"/>
                <a:ea typeface="Microsoft JhengHei"/>
                <a:cs typeface="Microsoft JhengHei"/>
              </a:rPr>
              <a:t>放行仍需通過全部硬限制，且候選任務與目前狀態一致。</a:t>
            </a:r>
          </a:p>
        </p:txBody>
      </p:sp>
    </p:spTree>
    <p:extLst>
      <p:ext uri="{BB962C8B-B14F-4D97-AF65-F5344CB8AC3E}">
        <p14:creationId xmlns:p14="http://schemas.microsoft.com/office/powerpoint/2010/main" val="7395926"/>
      </p:ext>
    </p:extLst>
  </p:cSld>
</p:sld>
</file>

<file path=ppt/slides/slide7.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ED91FADC-BA37-4E93-9868-CC22ECFD9D96}"/>
              </a:ext>
            </a:extLst>
          </p:cNvPr>
          <p:cNvSpPr>
            <a:spLocks xmlns:a="http://schemas.openxmlformats.org/drawingml/2006/main" noGrp="1"/>
          </p:cNvSpPr>
          <p:nvPr/>
        </p:nvSpPr>
        <p:spPr>
          <a:xfrm xmlns:a="http://schemas.openxmlformats.org/drawingml/2006/main">
            <a:off x="609600" y="4667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icrosoft JhengHei"/>
                <a:ea typeface="Microsoft JhengHei"/>
                <a:cs typeface="Microsoft JhengHei"/>
              </a:defRPr>
            </a:pPr>
            <a:r>
              <a:rPr sz="3300" b="1">
                <a:solidFill>
                  <a:srgbClr val="151515"/>
                </a:solidFill>
                <a:latin typeface="Microsoft JhengHei"/>
                <a:ea typeface="Microsoft JhengHei"/>
                <a:cs typeface="Microsoft JhengHei"/>
              </a:rPr>
              <a:t>強化學習導航與既有防護</a:t>
            </a:r>
          </a:p>
        </p:txBody>
      </p:sp>
      <p:sp>
        <p:nvSpPr>
          <p:cNvPr id="2" name="page-number">
            <a:extLst xmlns:a="http://schemas.openxmlformats.org/drawingml/2006/main">
              <a:ext uri="{FF2B5EF4-FFF2-40B4-BE49-F238E27FC236}">
                <a16:creationId xmlns:a16="http://schemas.microsoft.com/office/drawing/2014/main" id="{17132B0E-683C-48FA-9ACF-66860447EA21}"/>
              </a:ext>
            </a:extLst>
          </p:cNvPr>
          <p:cNvSpPr>
            <a:spLocks xmlns:a="http://schemas.openxmlformats.org/drawingml/2006/main" noGrp="1"/>
          </p:cNvSpPr>
          <p:nvPr/>
        </p:nvSpPr>
        <p:spPr>
          <a:xfrm xmlns:a="http://schemas.openxmlformats.org/drawingml/2006/main">
            <a:off x="11182350" y="64198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6262"/>
                </a:solidFill>
                <a:latin typeface="Microsoft JhengHei"/>
                <a:ea typeface="Microsoft JhengHei"/>
                <a:cs typeface="Microsoft JhengHei"/>
              </a:defRPr>
            </a:pPr>
            <a:r>
              <a:rPr sz="1275" b="0">
                <a:solidFill>
                  <a:srgbClr val="626262"/>
                </a:solidFill>
                <a:latin typeface="Microsoft JhengHei"/>
                <a:ea typeface="Microsoft JhengHei"/>
                <a:cs typeface="Microsoft JhengHei"/>
              </a:rPr>
              <a:t>07</a:t>
            </a:r>
          </a:p>
        </p:txBody>
      </p:sp>
      <p:sp>
        <p:nvSpPr>
          <p:cNvPr id="3" name="text-18">
            <a:extLst xmlns:a="http://schemas.openxmlformats.org/drawingml/2006/main">
              <a:ext uri="{FF2B5EF4-FFF2-40B4-BE49-F238E27FC236}">
                <a16:creationId xmlns:a16="http://schemas.microsoft.com/office/drawing/2014/main" id="{33E3EF8F-C679-45DB-BFD7-EB02FB5F82E8}"/>
              </a:ext>
            </a:extLst>
          </p:cNvPr>
          <p:cNvSpPr>
            <a:spLocks xmlns:a="http://schemas.openxmlformats.org/drawingml/2006/main" noGrp="1"/>
          </p:cNvSpPr>
          <p:nvPr/>
        </p:nvSpPr>
        <p:spPr>
          <a:xfrm xmlns:a="http://schemas.openxmlformats.org/drawingml/2006/main">
            <a:off x="609600" y="1685925"/>
            <a:ext cx="10763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51515"/>
                </a:solidFill>
                <a:latin typeface="Microsoft JhengHei"/>
                <a:ea typeface="Microsoft JhengHei"/>
                <a:cs typeface="Microsoft JhengHei"/>
              </a:defRPr>
            </a:pPr>
            <a:r>
              <a:rPr sz="3000" b="1">
                <a:solidFill>
                  <a:srgbClr val="151515"/>
                </a:solidFill>
                <a:latin typeface="Microsoft JhengHei"/>
                <a:ea typeface="Microsoft JhengHei"/>
                <a:cs typeface="Microsoft JhengHei"/>
              </a:rPr>
              <a:t>導航負責抵達核准目標</a:t>
            </a:r>
          </a:p>
        </p:txBody>
      </p:sp>
      <p:sp>
        <p:nvSpPr>
          <p:cNvPr id="4" name="text-19">
            <a:extLst xmlns:a="http://schemas.openxmlformats.org/drawingml/2006/main">
              <a:ext uri="{FF2B5EF4-FFF2-40B4-BE49-F238E27FC236}">
                <a16:creationId xmlns:a16="http://schemas.microsoft.com/office/drawing/2014/main" id="{460AC5BE-E15C-44C6-AD58-6588F58C2607}"/>
              </a:ext>
            </a:extLst>
          </p:cNvPr>
          <p:cNvSpPr>
            <a:spLocks xmlns:a="http://schemas.openxmlformats.org/drawingml/2006/main" noGrp="1"/>
          </p:cNvSpPr>
          <p:nvPr/>
        </p:nvSpPr>
        <p:spPr>
          <a:xfrm xmlns:a="http://schemas.openxmlformats.org/drawingml/2006/main">
            <a:off x="609600" y="2476500"/>
            <a:ext cx="10763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51515"/>
                </a:solidFill>
                <a:latin typeface="Microsoft JhengHei"/>
                <a:ea typeface="Microsoft JhengHei"/>
                <a:cs typeface="Microsoft JhengHei"/>
              </a:defRPr>
            </a:pPr>
            <a:r>
              <a:rPr sz="2175" b="0">
                <a:solidFill>
                  <a:srgbClr val="151515"/>
                </a:solidFill>
                <a:latin typeface="Microsoft JhengHei"/>
                <a:ea typeface="Microsoft JhengHei"/>
                <a:cs typeface="Microsoft JhengHei"/>
              </a:rPr>
              <a:t>採用既有 RL／導航模型，在固定場域調整到可重現。</a:t>
            </a:r>
          </a:p>
          <a:p xmlns:a="http://schemas.openxmlformats.org/drawingml/2006/main">
            <a:pPr algn="l">
              <a:defRPr sz="2175" b="0">
                <a:solidFill>
                  <a:srgbClr val="151515"/>
                </a:solidFill>
                <a:latin typeface="Microsoft JhengHei"/>
                <a:ea typeface="Microsoft JhengHei"/>
                <a:cs typeface="Microsoft JhengHei"/>
              </a:defRPr>
            </a:pPr>
            <a:r>
              <a:rPr sz="2175" b="0">
                <a:solidFill>
                  <a:srgbClr val="151515"/>
                </a:solidFill>
                <a:latin typeface="Microsoft JhengHei"/>
                <a:ea typeface="Microsoft JhengHei"/>
                <a:cs typeface="Microsoft JhengHei"/>
              </a:rPr>
              <a:t>資安對照實驗固定導航模型、地圖與速度設定。</a:t>
            </a:r>
          </a:p>
        </p:txBody>
      </p:sp>
      <p:graphicFrame>
        <p:nvGraphicFramePr>
          <p:cNvPr id="10" name=""/>
          <p:cNvGraphicFramePr/>
          <p:nvPr/>
        </p:nvGraphicFramePr>
        <p:xfrm>
          <a:off xmlns:a="http://schemas.openxmlformats.org/drawingml/2006/main" x="609600" y="3724275"/>
          <a:ext xmlns:a="http://schemas.openxmlformats.org/drawingml/2006/main" cx="10972800" cy="2171700"/>
        </p:xfrm>
        <a:graphic xmlns:a="http://schemas.openxmlformats.org/drawingml/2006/main">
          <a:graphicData uri="http://schemas.openxmlformats.org/drawingml/2006/table">
            <a:tbl>
              <a:tblPr firstRow="0" bandRow="0"/>
              <a:tblGrid>
                <a:gridCol w="4476750"/>
                <a:gridCol w="6496050"/>
              </a:tblGrid>
              <a:tr h="542925">
                <a:tc>
                  <a:txBody>
                    <a:bodyPr>
                      <a:noAutofit/>
                    </a:bodyPr>
                    <a:lstStyle/>
                    <a:p>
                      <a:r>
                        <a:rPr sz="1800" b="1">
                          <a:solidFill>
                            <a:srgbClr val="FFFFFF"/>
                          </a:solidFill>
                          <a:latin typeface="Microsoft JhengHei"/>
                          <a:ea typeface="Microsoft JhengHei"/>
                          <a:cs typeface="Microsoft JhengHei"/>
                        </a:rPr>
                        <a:t>可沿用的基礎</a:t>
                      </a:r>
                    </a:p>
                  </a:txBody>
                  <a:tcPr marL="142875" marR="142875" marT="123825" marB="95250" anchor="ctr">
                    <a:solidFill>
                      <a:srgbClr val="151515"/>
                    </a:solidFill>
                  </a:tcPr>
                </a:tc>
                <a:tc>
                  <a:txBody>
                    <a:bodyPr>
                      <a:noAutofit/>
                    </a:bodyPr>
                    <a:lstStyle/>
                    <a:p>
                      <a:r>
                        <a:rPr sz="1800" b="1">
                          <a:solidFill>
                            <a:srgbClr val="FFFFFF"/>
                          </a:solidFill>
                          <a:latin typeface="Microsoft JhengHei"/>
                          <a:ea typeface="Microsoft JhengHei"/>
                          <a:cs typeface="Microsoft JhengHei"/>
                        </a:rPr>
                        <a:t>整合後要確認</a:t>
                      </a:r>
                    </a:p>
                  </a:txBody>
                  <a:tcPr marL="142875" marR="142875" marT="123825" marB="95250" anchor="ctr">
                    <a:solidFill>
                      <a:srgbClr val="151515"/>
                    </a:solidFill>
                  </a:tcPr>
                </a:tc>
              </a:tr>
              <a:tr h="542925">
                <a:tc>
                  <a:txBody>
                    <a:bodyPr>
                      <a:noAutofit/>
                    </a:bodyPr>
                    <a:lstStyle/>
                    <a:p>
                      <a:r>
                        <a:rPr sz="1800" b="0">
                          <a:solidFill>
                            <a:srgbClr val="151515"/>
                          </a:solidFill>
                          <a:latin typeface="Microsoft JhengHei"/>
                          <a:ea typeface="Microsoft JhengHei"/>
                          <a:cs typeface="Microsoft JhengHei"/>
                        </a:rPr>
                        <a:t>SROS2 最小權限</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文字與模型節點不能直接發布最終速度</a:t>
                      </a:r>
                    </a:p>
                  </a:txBody>
                  <a:tcPr marL="142875" marR="142875" marT="123825" marB="95250" anchor="ctr">
                    <a:solidFill>
                      <a:srgbClr val="FFFFFF"/>
                    </a:solidFill>
                  </a:tcPr>
                </a:tc>
              </a:tr>
              <a:tr h="542925">
                <a:tc>
                  <a:txBody>
                    <a:bodyPr>
                      <a:noAutofit/>
                    </a:bodyPr>
                    <a:lstStyle/>
                    <a:p>
                      <a:r>
                        <a:rPr sz="1800" b="0">
                          <a:solidFill>
                            <a:srgbClr val="151515"/>
                          </a:solidFill>
                          <a:latin typeface="Microsoft JhengHei"/>
                          <a:ea typeface="Microsoft JhengHei"/>
                          <a:cs typeface="Microsoft JhengHei"/>
                        </a:rPr>
                        <a:t>HMAC 與防重放</a:t>
                      </a:r>
                    </a:p>
                  </a:txBody>
                  <a:tcPr marL="142875" marR="142875" marT="123825" marB="95250" anchor="ctr">
                    <a:solidFill>
                      <a:srgbClr val="F0F0F0"/>
                    </a:solidFill>
                  </a:tcPr>
                </a:tc>
                <a:tc>
                  <a:txBody>
                    <a:bodyPr>
                      <a:noAutofit/>
                    </a:bodyPr>
                    <a:lstStyle/>
                    <a:p>
                      <a:r>
                        <a:rPr sz="1800" b="0">
                          <a:solidFill>
                            <a:srgbClr val="151515"/>
                          </a:solidFill>
                          <a:latin typeface="Microsoft JhengHei"/>
                          <a:ea typeface="Microsoft JhengHei"/>
                          <a:cs typeface="Microsoft JhengHei"/>
                        </a:rPr>
                        <a:t>簽章綁定已核准任務，保護金鑰與時效</a:t>
                      </a:r>
                    </a:p>
                  </a:txBody>
                  <a:tcPr marL="142875" marR="142875" marT="123825" marB="95250" anchor="ctr">
                    <a:solidFill>
                      <a:srgbClr val="F0F0F0"/>
                    </a:solidFill>
                  </a:tcPr>
                </a:tc>
              </a:tr>
              <a:tr h="542925">
                <a:tc>
                  <a:txBody>
                    <a:bodyPr>
                      <a:noAutofit/>
                    </a:bodyPr>
                    <a:lstStyle/>
                    <a:p>
                      <a:r>
                        <a:rPr sz="1800" b="0">
                          <a:solidFill>
                            <a:srgbClr val="151515"/>
                          </a:solidFill>
                          <a:latin typeface="Microsoft JhengHei"/>
                          <a:ea typeface="Microsoft JhengHei"/>
                          <a:cs typeface="Microsoft JhengHei"/>
                        </a:rPr>
                        <a:t>速度守衛與心跳</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限制速度與過期命令，保留獨立停止機制</a:t>
                      </a:r>
                    </a:p>
                  </a:txBody>
                  <a:tcPr marL="142875" marR="142875" marT="123825" marB="95250" anchor="ctr">
                    <a:solidFill>
                      <a:srgbClr val="FFFFFF"/>
                    </a:solidFill>
                  </a:tcPr>
                </a:tc>
              </a:tr>
            </a:tbl>
          </a:graphicData>
        </a:graphic>
      </p:graphicFrame>
    </p:spTree>
    <p:extLst>
      <p:ext uri="{BB962C8B-B14F-4D97-AF65-F5344CB8AC3E}">
        <p14:creationId xmlns:p14="http://schemas.microsoft.com/office/powerpoint/2010/main" val="802826512"/>
      </p:ext>
    </p:extLst>
  </p:cSld>
</p:sld>
</file>

<file path=ppt/slides/slide8.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2356A97C-CCB4-4BE9-912D-D3DB12CDBC27}"/>
              </a:ext>
            </a:extLst>
          </p:cNvPr>
          <p:cNvSpPr>
            <a:spLocks xmlns:a="http://schemas.openxmlformats.org/drawingml/2006/main" noGrp="1"/>
          </p:cNvSpPr>
          <p:nvPr/>
        </p:nvSpPr>
        <p:spPr>
          <a:xfrm xmlns:a="http://schemas.openxmlformats.org/drawingml/2006/main">
            <a:off x="609600" y="4667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icrosoft JhengHei"/>
                <a:ea typeface="Microsoft JhengHei"/>
                <a:cs typeface="Microsoft JhengHei"/>
              </a:defRPr>
            </a:pPr>
            <a:r>
              <a:rPr sz="3300" b="1">
                <a:solidFill>
                  <a:srgbClr val="151515"/>
                </a:solidFill>
                <a:latin typeface="Microsoft JhengHei"/>
                <a:ea typeface="Microsoft JhengHei"/>
                <a:cs typeface="Microsoft JhengHei"/>
              </a:rPr>
              <a:t>指令正確性的核對依據</a:t>
            </a:r>
          </a:p>
        </p:txBody>
      </p:sp>
      <p:sp>
        <p:nvSpPr>
          <p:cNvPr id="2" name="page-number">
            <a:extLst xmlns:a="http://schemas.openxmlformats.org/drawingml/2006/main">
              <a:ext uri="{FF2B5EF4-FFF2-40B4-BE49-F238E27FC236}">
                <a16:creationId xmlns:a16="http://schemas.microsoft.com/office/drawing/2014/main" id="{8DAA8B2C-0637-4231-BE82-47B9A06B69D2}"/>
              </a:ext>
            </a:extLst>
          </p:cNvPr>
          <p:cNvSpPr>
            <a:spLocks xmlns:a="http://schemas.openxmlformats.org/drawingml/2006/main" noGrp="1"/>
          </p:cNvSpPr>
          <p:nvPr/>
        </p:nvSpPr>
        <p:spPr>
          <a:xfrm xmlns:a="http://schemas.openxmlformats.org/drawingml/2006/main">
            <a:off x="11182350" y="64198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6262"/>
                </a:solidFill>
                <a:latin typeface="Microsoft JhengHei"/>
                <a:ea typeface="Microsoft JhengHei"/>
                <a:cs typeface="Microsoft JhengHei"/>
              </a:defRPr>
            </a:pPr>
            <a:r>
              <a:rPr sz="1275" b="0">
                <a:solidFill>
                  <a:srgbClr val="626262"/>
                </a:solidFill>
                <a:latin typeface="Microsoft JhengHei"/>
                <a:ea typeface="Microsoft JhengHei"/>
                <a:cs typeface="Microsoft JhengHei"/>
              </a:rPr>
              <a:t>08</a:t>
            </a:r>
          </a:p>
        </p:txBody>
      </p:sp>
      <p:sp>
        <p:nvSpPr>
          <p:cNvPr id="3" name="text-20">
            <a:extLst xmlns:a="http://schemas.openxmlformats.org/drawingml/2006/main">
              <a:ext uri="{FF2B5EF4-FFF2-40B4-BE49-F238E27FC236}">
                <a16:creationId xmlns:a16="http://schemas.microsoft.com/office/drawing/2014/main" id="{99C26C81-C1B6-42F3-AF56-38DE6304AFF7}"/>
              </a:ext>
            </a:extLst>
          </p:cNvPr>
          <p:cNvSpPr>
            <a:spLocks xmlns:a="http://schemas.openxmlformats.org/drawingml/2006/main" noGrp="1"/>
          </p:cNvSpPr>
          <p:nvPr/>
        </p:nvSpPr>
        <p:spPr>
          <a:xfrm xmlns:a="http://schemas.openxmlformats.org/drawingml/2006/main">
            <a:off x="609600" y="1619250"/>
            <a:ext cx="95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626262"/>
                </a:solidFill>
                <a:latin typeface="Microsoft JhengHei"/>
                <a:ea typeface="Microsoft JhengHei"/>
                <a:cs typeface="Microsoft JhengHei"/>
              </a:defRPr>
            </a:pPr>
            <a:r>
              <a:rPr sz="3450" b="0">
                <a:solidFill>
                  <a:srgbClr val="626262"/>
                </a:solidFill>
                <a:latin typeface="Microsoft JhengHei"/>
                <a:ea typeface="Microsoft JhengHei"/>
                <a:cs typeface="Microsoft JhengHei"/>
              </a:rPr>
              <a:t>01</a:t>
            </a:r>
          </a:p>
        </p:txBody>
      </p:sp>
      <p:sp>
        <p:nvSpPr>
          <p:cNvPr id="4" name="text-21">
            <a:extLst xmlns:a="http://schemas.openxmlformats.org/drawingml/2006/main">
              <a:ext uri="{FF2B5EF4-FFF2-40B4-BE49-F238E27FC236}">
                <a16:creationId xmlns:a16="http://schemas.microsoft.com/office/drawing/2014/main" id="{6C1B1DE7-F5A2-4D33-9058-48A03A787647}"/>
              </a:ext>
            </a:extLst>
          </p:cNvPr>
          <p:cNvSpPr>
            <a:spLocks xmlns:a="http://schemas.openxmlformats.org/drawingml/2006/main" noGrp="1"/>
          </p:cNvSpPr>
          <p:nvPr/>
        </p:nvSpPr>
        <p:spPr>
          <a:xfrm xmlns:a="http://schemas.openxmlformats.org/drawingml/2006/main">
            <a:off x="1828800" y="1628775"/>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Microsoft JhengHei"/>
                <a:ea typeface="Microsoft JhengHei"/>
                <a:cs typeface="Microsoft JhengHei"/>
              </a:defRPr>
            </a:pPr>
            <a:r>
              <a:rPr sz="2250" b="1">
                <a:solidFill>
                  <a:srgbClr val="151515"/>
                </a:solidFill>
                <a:latin typeface="Microsoft JhengHei"/>
                <a:ea typeface="Microsoft JhengHei"/>
                <a:cs typeface="Microsoft JhengHei"/>
              </a:rPr>
              <a:t>任務一致</a:t>
            </a:r>
          </a:p>
        </p:txBody>
      </p:sp>
      <p:sp>
        <p:nvSpPr>
          <p:cNvPr id="5" name="text-22">
            <a:extLst xmlns:a="http://schemas.openxmlformats.org/drawingml/2006/main">
              <a:ext uri="{FF2B5EF4-FFF2-40B4-BE49-F238E27FC236}">
                <a16:creationId xmlns:a16="http://schemas.microsoft.com/office/drawing/2014/main" id="{F29CE017-FA54-4E75-A65C-B1F4FC99D843}"/>
              </a:ext>
            </a:extLst>
          </p:cNvPr>
          <p:cNvSpPr>
            <a:spLocks xmlns:a="http://schemas.openxmlformats.org/drawingml/2006/main" noGrp="1"/>
          </p:cNvSpPr>
          <p:nvPr/>
        </p:nvSpPr>
        <p:spPr>
          <a:xfrm xmlns:a="http://schemas.openxmlformats.org/drawingml/2006/main">
            <a:off x="5372100" y="1647825"/>
            <a:ext cx="6000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候選動作符合已確認的目標與限制；</a:t>
            </a:r>
          </a:p>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含糊或突然擴大範圍時先澄清。</a:t>
            </a:r>
          </a:p>
        </p:txBody>
      </p:sp>
      <p:sp>
        <p:nvSpPr>
          <p:cNvPr id="6" name="text-23">
            <a:extLst xmlns:a="http://schemas.openxmlformats.org/drawingml/2006/main">
              <a:ext uri="{FF2B5EF4-FFF2-40B4-BE49-F238E27FC236}">
                <a16:creationId xmlns:a16="http://schemas.microsoft.com/office/drawing/2014/main" id="{35A02243-E913-49BA-AAA1-C6783292D353}"/>
              </a:ext>
            </a:extLst>
          </p:cNvPr>
          <p:cNvSpPr>
            <a:spLocks xmlns:a="http://schemas.openxmlformats.org/drawingml/2006/main" noGrp="1"/>
          </p:cNvSpPr>
          <p:nvPr/>
        </p:nvSpPr>
        <p:spPr>
          <a:xfrm xmlns:a="http://schemas.openxmlformats.org/drawingml/2006/main">
            <a:off x="609600" y="2905125"/>
            <a:ext cx="95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626262"/>
                </a:solidFill>
                <a:latin typeface="Microsoft JhengHei"/>
                <a:ea typeface="Microsoft JhengHei"/>
                <a:cs typeface="Microsoft JhengHei"/>
              </a:defRPr>
            </a:pPr>
            <a:r>
              <a:rPr sz="3450" b="0">
                <a:solidFill>
                  <a:srgbClr val="626262"/>
                </a:solidFill>
                <a:latin typeface="Microsoft JhengHei"/>
                <a:ea typeface="Microsoft JhengHei"/>
                <a:cs typeface="Microsoft JhengHei"/>
              </a:rPr>
              <a:t>02</a:t>
            </a:r>
          </a:p>
        </p:txBody>
      </p:sp>
      <p:sp>
        <p:nvSpPr>
          <p:cNvPr id="7" name="text-24">
            <a:extLst xmlns:a="http://schemas.openxmlformats.org/drawingml/2006/main">
              <a:ext uri="{FF2B5EF4-FFF2-40B4-BE49-F238E27FC236}">
                <a16:creationId xmlns:a16="http://schemas.microsoft.com/office/drawing/2014/main" id="{86021E2D-CAEC-46FC-88D9-1F828CF60945}"/>
              </a:ext>
            </a:extLst>
          </p:cNvPr>
          <p:cNvSpPr>
            <a:spLocks xmlns:a="http://schemas.openxmlformats.org/drawingml/2006/main" noGrp="1"/>
          </p:cNvSpPr>
          <p:nvPr/>
        </p:nvSpPr>
        <p:spPr>
          <a:xfrm xmlns:a="http://schemas.openxmlformats.org/drawingml/2006/main">
            <a:off x="1828800" y="29146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Microsoft JhengHei"/>
                <a:ea typeface="Microsoft JhengHei"/>
                <a:cs typeface="Microsoft JhengHei"/>
              </a:defRPr>
            </a:pPr>
            <a:r>
              <a:rPr sz="2250" b="1">
                <a:solidFill>
                  <a:srgbClr val="151515"/>
                </a:solidFill>
                <a:latin typeface="Microsoft JhengHei"/>
                <a:ea typeface="Microsoft JhengHei"/>
                <a:cs typeface="Microsoft JhengHei"/>
              </a:rPr>
              <a:t>權限與環境</a:t>
            </a:r>
          </a:p>
        </p:txBody>
      </p:sp>
      <p:sp>
        <p:nvSpPr>
          <p:cNvPr id="8" name="text-25">
            <a:extLst xmlns:a="http://schemas.openxmlformats.org/drawingml/2006/main">
              <a:ext uri="{FF2B5EF4-FFF2-40B4-BE49-F238E27FC236}">
                <a16:creationId xmlns:a16="http://schemas.microsoft.com/office/drawing/2014/main" id="{F75ECFD9-17DF-4124-AD50-6996692C0CFC}"/>
              </a:ext>
            </a:extLst>
          </p:cNvPr>
          <p:cNvSpPr>
            <a:spLocks xmlns:a="http://schemas.openxmlformats.org/drawingml/2006/main" noGrp="1"/>
          </p:cNvSpPr>
          <p:nvPr/>
        </p:nvSpPr>
        <p:spPr>
          <a:xfrm xmlns:a="http://schemas.openxmlformats.org/drawingml/2006/main">
            <a:off x="5372100" y="2933700"/>
            <a:ext cx="6000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從可信登入、地圖與感測資訊核對；</a:t>
            </a:r>
          </a:p>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使用者自稱身分不能改變權限。</a:t>
            </a:r>
          </a:p>
        </p:txBody>
      </p:sp>
      <p:sp>
        <p:nvSpPr>
          <p:cNvPr id="9" name="text-26">
            <a:extLst xmlns:a="http://schemas.openxmlformats.org/drawingml/2006/main">
              <a:ext uri="{FF2B5EF4-FFF2-40B4-BE49-F238E27FC236}">
                <a16:creationId xmlns:a16="http://schemas.microsoft.com/office/drawing/2014/main" id="{6B0A4E81-94AE-4EC0-B3ED-CFB45FE4B92B}"/>
              </a:ext>
            </a:extLst>
          </p:cNvPr>
          <p:cNvSpPr>
            <a:spLocks xmlns:a="http://schemas.openxmlformats.org/drawingml/2006/main" noGrp="1"/>
          </p:cNvSpPr>
          <p:nvPr/>
        </p:nvSpPr>
        <p:spPr>
          <a:xfrm xmlns:a="http://schemas.openxmlformats.org/drawingml/2006/main">
            <a:off x="609600" y="4191000"/>
            <a:ext cx="95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626262"/>
                </a:solidFill>
                <a:latin typeface="Microsoft JhengHei"/>
                <a:ea typeface="Microsoft JhengHei"/>
                <a:cs typeface="Microsoft JhengHei"/>
              </a:defRPr>
            </a:pPr>
            <a:r>
              <a:rPr sz="3450" b="0">
                <a:solidFill>
                  <a:srgbClr val="626262"/>
                </a:solidFill>
                <a:latin typeface="Microsoft JhengHei"/>
                <a:ea typeface="Microsoft JhengHei"/>
                <a:cs typeface="Microsoft JhengHei"/>
              </a:rPr>
              <a:t>03</a:t>
            </a:r>
          </a:p>
        </p:txBody>
      </p:sp>
      <p:sp>
        <p:nvSpPr>
          <p:cNvPr id="10" name="text-27">
            <a:extLst xmlns:a="http://schemas.openxmlformats.org/drawingml/2006/main">
              <a:ext uri="{FF2B5EF4-FFF2-40B4-BE49-F238E27FC236}">
                <a16:creationId xmlns:a16="http://schemas.microsoft.com/office/drawing/2014/main" id="{4F21B496-5046-461E-96E3-8BED3E260441}"/>
              </a:ext>
            </a:extLst>
          </p:cNvPr>
          <p:cNvSpPr>
            <a:spLocks xmlns:a="http://schemas.openxmlformats.org/drawingml/2006/main" noGrp="1"/>
          </p:cNvSpPr>
          <p:nvPr/>
        </p:nvSpPr>
        <p:spPr>
          <a:xfrm xmlns:a="http://schemas.openxmlformats.org/drawingml/2006/main">
            <a:off x="1828800" y="4200525"/>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Microsoft JhengHei"/>
                <a:ea typeface="Microsoft JhengHei"/>
                <a:cs typeface="Microsoft JhengHei"/>
              </a:defRPr>
            </a:pPr>
            <a:r>
              <a:rPr sz="2250" b="1">
                <a:solidFill>
                  <a:srgbClr val="151515"/>
                </a:solidFill>
                <a:latin typeface="Microsoft JhengHei"/>
                <a:ea typeface="Microsoft JhengHei"/>
                <a:cs typeface="Microsoft JhengHei"/>
              </a:rPr>
              <a:t>歷史與實際結果</a:t>
            </a:r>
          </a:p>
        </p:txBody>
      </p:sp>
      <p:sp>
        <p:nvSpPr>
          <p:cNvPr id="11" name="text-28">
            <a:extLst xmlns:a="http://schemas.openxmlformats.org/drawingml/2006/main">
              <a:ext uri="{FF2B5EF4-FFF2-40B4-BE49-F238E27FC236}">
                <a16:creationId xmlns:a16="http://schemas.microsoft.com/office/drawing/2014/main" id="{4BECBB24-6679-4A4A-B5CA-4FEC1242FC3C}"/>
              </a:ext>
            </a:extLst>
          </p:cNvPr>
          <p:cNvSpPr>
            <a:spLocks xmlns:a="http://schemas.openxmlformats.org/drawingml/2006/main" noGrp="1"/>
          </p:cNvSpPr>
          <p:nvPr/>
        </p:nvSpPr>
        <p:spPr>
          <a:xfrm xmlns:a="http://schemas.openxmlformats.org/drawingml/2006/main">
            <a:off x="5372100" y="4219575"/>
            <a:ext cx="6000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追蹤近期改派、任務中斷與執行回報；</a:t>
            </a:r>
          </a:p>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允許的指令也要檢查累積影響。</a:t>
            </a:r>
          </a:p>
        </p:txBody>
      </p:sp>
      <p:sp>
        <p:nvSpPr>
          <p:cNvPr id="12" name="text-29">
            <a:extLst xmlns:a="http://schemas.openxmlformats.org/drawingml/2006/main">
              <a:ext uri="{FF2B5EF4-FFF2-40B4-BE49-F238E27FC236}">
                <a16:creationId xmlns:a16="http://schemas.microsoft.com/office/drawing/2014/main" id="{1314B2FE-8E9B-43CC-865F-2CDA34627381}"/>
              </a:ext>
            </a:extLst>
          </p:cNvPr>
          <p:cNvSpPr>
            <a:spLocks xmlns:a="http://schemas.openxmlformats.org/drawingml/2006/main" noGrp="1"/>
          </p:cNvSpPr>
          <p:nvPr/>
        </p:nvSpPr>
        <p:spPr>
          <a:xfrm xmlns:a="http://schemas.openxmlformats.org/drawingml/2006/main">
            <a:off x="609600" y="58102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515"/>
                </a:solidFill>
                <a:latin typeface="Microsoft JhengHei"/>
                <a:ea typeface="Microsoft JhengHei"/>
                <a:cs typeface="Microsoft JhengHei"/>
              </a:defRPr>
            </a:pPr>
            <a:r>
              <a:rPr sz="1950" b="1">
                <a:solidFill>
                  <a:srgbClr val="151515"/>
                </a:solidFill>
                <a:latin typeface="Microsoft JhengHei"/>
                <a:ea typeface="Microsoft JhengHei"/>
                <a:cs typeface="Microsoft JhengHei"/>
              </a:rPr>
              <a:t>相同可觀察資訊若支持不同解釋，標記「需要澄清」。</a:t>
            </a:r>
          </a:p>
        </p:txBody>
      </p:sp>
    </p:spTree>
    <p:extLst>
      <p:ext uri="{BB962C8B-B14F-4D97-AF65-F5344CB8AC3E}">
        <p14:creationId xmlns:p14="http://schemas.microsoft.com/office/powerpoint/2010/main" val="1542197735"/>
      </p:ext>
    </p:extLst>
  </p:cSld>
</p:sld>
</file>

<file path=ppt/slides/slide9.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D7B50FDF-2939-417F-B57F-35BC2B107EB2}"/>
              </a:ext>
            </a:extLst>
          </p:cNvPr>
          <p:cNvSpPr>
            <a:spLocks xmlns:a="http://schemas.openxmlformats.org/drawingml/2006/main" noGrp="1"/>
          </p:cNvSpPr>
          <p:nvPr/>
        </p:nvSpPr>
        <p:spPr>
          <a:xfrm xmlns:a="http://schemas.openxmlformats.org/drawingml/2006/main">
            <a:off x="609600" y="4667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icrosoft JhengHei"/>
                <a:ea typeface="Microsoft JhengHei"/>
                <a:cs typeface="Microsoft JhengHei"/>
              </a:defRPr>
            </a:pPr>
            <a:r>
              <a:rPr sz="3300" b="1">
                <a:solidFill>
                  <a:srgbClr val="151515"/>
                </a:solidFill>
                <a:latin typeface="Microsoft JhengHei"/>
                <a:ea typeface="Microsoft JhengHei"/>
                <a:cs typeface="Microsoft JhengHei"/>
              </a:rPr>
              <a:t>資料集的建立方式</a:t>
            </a:r>
          </a:p>
        </p:txBody>
      </p:sp>
      <p:sp>
        <p:nvSpPr>
          <p:cNvPr id="2" name="page-number">
            <a:extLst xmlns:a="http://schemas.openxmlformats.org/drawingml/2006/main">
              <a:ext uri="{FF2B5EF4-FFF2-40B4-BE49-F238E27FC236}">
                <a16:creationId xmlns:a16="http://schemas.microsoft.com/office/drawing/2014/main" id="{F97C65F2-2ECC-4376-88FB-869E10F2FEB2}"/>
              </a:ext>
            </a:extLst>
          </p:cNvPr>
          <p:cNvSpPr>
            <a:spLocks xmlns:a="http://schemas.openxmlformats.org/drawingml/2006/main" noGrp="1"/>
          </p:cNvSpPr>
          <p:nvPr/>
        </p:nvSpPr>
        <p:spPr>
          <a:xfrm xmlns:a="http://schemas.openxmlformats.org/drawingml/2006/main">
            <a:off x="11182350" y="64198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6262"/>
                </a:solidFill>
                <a:latin typeface="Microsoft JhengHei"/>
                <a:ea typeface="Microsoft JhengHei"/>
                <a:cs typeface="Microsoft JhengHei"/>
              </a:defRPr>
            </a:pPr>
            <a:r>
              <a:rPr sz="1275" b="0">
                <a:solidFill>
                  <a:srgbClr val="626262"/>
                </a:solidFill>
                <a:latin typeface="Microsoft JhengHei"/>
                <a:ea typeface="Microsoft JhengHei"/>
                <a:cs typeface="Microsoft JhengHei"/>
              </a:rPr>
              <a:t>09</a:t>
            </a:r>
          </a:p>
        </p:txBody>
      </p:sp>
      <p:sp>
        <p:nvSpPr>
          <p:cNvPr id="3" name="text-30">
            <a:extLst xmlns:a="http://schemas.openxmlformats.org/drawingml/2006/main">
              <a:ext uri="{FF2B5EF4-FFF2-40B4-BE49-F238E27FC236}">
                <a16:creationId xmlns:a16="http://schemas.microsoft.com/office/drawing/2014/main" id="{66FB6A83-F37D-47DC-A75C-2E63D5406089}"/>
              </a:ext>
            </a:extLst>
          </p:cNvPr>
          <p:cNvSpPr>
            <a:spLocks xmlns:a="http://schemas.openxmlformats.org/drawingml/2006/main" noGrp="1"/>
          </p:cNvSpPr>
          <p:nvPr/>
        </p:nvSpPr>
        <p:spPr>
          <a:xfrm xmlns:a="http://schemas.openxmlformats.org/drawingml/2006/main">
            <a:off x="609600" y="1638300"/>
            <a:ext cx="26098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0" b="1">
                <a:solidFill>
                  <a:srgbClr val="151515"/>
                </a:solidFill>
                <a:latin typeface="Microsoft JhengHei"/>
                <a:ea typeface="Microsoft JhengHei"/>
                <a:cs typeface="Microsoft JhengHei"/>
              </a:defRPr>
            </a:pPr>
            <a:r>
              <a:rPr sz="7500" b="1">
                <a:solidFill>
                  <a:srgbClr val="151515"/>
                </a:solidFill>
                <a:latin typeface="Microsoft JhengHei"/>
                <a:ea typeface="Microsoft JhengHei"/>
                <a:cs typeface="Microsoft JhengHei"/>
              </a:rPr>
              <a:t>100</a:t>
            </a:r>
          </a:p>
        </p:txBody>
      </p:sp>
      <p:sp>
        <p:nvSpPr>
          <p:cNvPr id="4" name="text-31">
            <a:extLst xmlns:a="http://schemas.openxmlformats.org/drawingml/2006/main">
              <a:ext uri="{FF2B5EF4-FFF2-40B4-BE49-F238E27FC236}">
                <a16:creationId xmlns:a16="http://schemas.microsoft.com/office/drawing/2014/main" id="{4BCF3318-568A-46FE-8C3B-8642457AF68C}"/>
              </a:ext>
            </a:extLst>
          </p:cNvPr>
          <p:cNvSpPr>
            <a:spLocks xmlns:a="http://schemas.openxmlformats.org/drawingml/2006/main" noGrp="1"/>
          </p:cNvSpPr>
          <p:nvPr/>
        </p:nvSpPr>
        <p:spPr>
          <a:xfrm xmlns:a="http://schemas.openxmlformats.org/drawingml/2006/main">
            <a:off x="647700" y="2943225"/>
            <a:ext cx="28765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26262"/>
                </a:solidFill>
                <a:latin typeface="Microsoft JhengHei"/>
                <a:ea typeface="Microsoft JhengHei"/>
                <a:cs typeface="Microsoft JhengHei"/>
              </a:defRPr>
            </a:pPr>
            <a:r>
              <a:rPr sz="1950" b="0">
                <a:solidFill>
                  <a:srgbClr val="626262"/>
                </a:solidFill>
                <a:latin typeface="Microsoft JhengHei"/>
                <a:ea typeface="Microsoft JhengHei"/>
                <a:cs typeface="Microsoft JhengHei"/>
              </a:rPr>
              <a:t>人工核對的基礎情境</a:t>
            </a:r>
          </a:p>
          <a:p xmlns:a="http://schemas.openxmlformats.org/drawingml/2006/main">
            <a:pPr algn="l">
              <a:defRPr sz="1950" b="0">
                <a:solidFill>
                  <a:srgbClr val="626262"/>
                </a:solidFill>
                <a:latin typeface="Microsoft JhengHei"/>
                <a:ea typeface="Microsoft JhengHei"/>
                <a:cs typeface="Microsoft JhengHei"/>
              </a:defRPr>
            </a:pPr>
            <a:r>
              <a:rPr sz="1950" b="0">
                <a:solidFill>
                  <a:srgbClr val="626262"/>
                </a:solidFill>
                <a:latin typeface="Microsoft JhengHei"/>
                <a:ea typeface="Microsoft JhengHei"/>
                <a:cs typeface="Microsoft JhengHei"/>
              </a:rPr>
              <a:t>第一輪規劃，尚未收集</a:t>
            </a:r>
          </a:p>
        </p:txBody>
      </p:sp>
      <p:sp>
        <p:nvSpPr>
          <p:cNvPr id="5" name="text-32">
            <a:extLst xmlns:a="http://schemas.openxmlformats.org/drawingml/2006/main">
              <a:ext uri="{FF2B5EF4-FFF2-40B4-BE49-F238E27FC236}">
                <a16:creationId xmlns:a16="http://schemas.microsoft.com/office/drawing/2014/main" id="{77115177-CADA-4A53-AE89-346FE38528E4}"/>
              </a:ext>
            </a:extLst>
          </p:cNvPr>
          <p:cNvSpPr>
            <a:spLocks xmlns:a="http://schemas.openxmlformats.org/drawingml/2006/main" noGrp="1"/>
          </p:cNvSpPr>
          <p:nvPr/>
        </p:nvSpPr>
        <p:spPr>
          <a:xfrm xmlns:a="http://schemas.openxmlformats.org/drawingml/2006/main">
            <a:off x="4057650" y="1704975"/>
            <a:ext cx="7296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Microsoft JhengHei"/>
                <a:ea typeface="Microsoft JhengHei"/>
                <a:cs typeface="Microsoft JhengHei"/>
              </a:defRPr>
            </a:pPr>
            <a:r>
              <a:rPr sz="2250" b="1">
                <a:solidFill>
                  <a:srgbClr val="151515"/>
                </a:solidFill>
                <a:latin typeface="Microsoft JhengHei"/>
                <a:ea typeface="Microsoft JhengHei"/>
                <a:cs typeface="Microsoft JhengHei"/>
              </a:rPr>
              <a:t>01  訂定情境、policy 與標註判準</a:t>
            </a:r>
          </a:p>
        </p:txBody>
      </p:sp>
      <p:sp>
        <p:nvSpPr>
          <p:cNvPr id="6" name="text-33">
            <a:extLst xmlns:a="http://schemas.openxmlformats.org/drawingml/2006/main">
              <a:ext uri="{FF2B5EF4-FFF2-40B4-BE49-F238E27FC236}">
                <a16:creationId xmlns:a16="http://schemas.microsoft.com/office/drawing/2014/main" id="{97C13627-7AA2-4881-B538-8985E14D11A4}"/>
              </a:ext>
            </a:extLst>
          </p:cNvPr>
          <p:cNvSpPr>
            <a:spLocks xmlns:a="http://schemas.openxmlformats.org/drawingml/2006/main" noGrp="1"/>
          </p:cNvSpPr>
          <p:nvPr/>
        </p:nvSpPr>
        <p:spPr>
          <a:xfrm xmlns:a="http://schemas.openxmlformats.org/drawingml/2006/main">
            <a:off x="4057650" y="2524125"/>
            <a:ext cx="7296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Microsoft JhengHei"/>
                <a:ea typeface="Microsoft JhengHei"/>
                <a:cs typeface="Microsoft JhengHei"/>
              </a:defRPr>
            </a:pPr>
            <a:r>
              <a:rPr sz="2250" b="1">
                <a:solidFill>
                  <a:srgbClr val="151515"/>
                </a:solidFill>
                <a:latin typeface="Microsoft JhengHei"/>
                <a:ea typeface="Microsoft JhengHei"/>
                <a:cs typeface="Microsoft JhengHei"/>
              </a:rPr>
              <a:t>02  GPT／Claude 分別生成對話與改寫</a:t>
            </a:r>
          </a:p>
        </p:txBody>
      </p:sp>
      <p:sp>
        <p:nvSpPr>
          <p:cNvPr id="7" name="text-34">
            <a:extLst xmlns:a="http://schemas.openxmlformats.org/drawingml/2006/main">
              <a:ext uri="{FF2B5EF4-FFF2-40B4-BE49-F238E27FC236}">
                <a16:creationId xmlns:a16="http://schemas.microsoft.com/office/drawing/2014/main" id="{EB131633-782A-49B4-A197-79CA0844A1F1}"/>
              </a:ext>
            </a:extLst>
          </p:cNvPr>
          <p:cNvSpPr>
            <a:spLocks xmlns:a="http://schemas.openxmlformats.org/drawingml/2006/main" noGrp="1"/>
          </p:cNvSpPr>
          <p:nvPr/>
        </p:nvSpPr>
        <p:spPr>
          <a:xfrm xmlns:a="http://schemas.openxmlformats.org/drawingml/2006/main">
            <a:off x="4057650" y="3343275"/>
            <a:ext cx="7296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Microsoft JhengHei"/>
                <a:ea typeface="Microsoft JhengHei"/>
                <a:cs typeface="Microsoft JhengHei"/>
              </a:defRPr>
            </a:pPr>
            <a:r>
              <a:rPr sz="2250" b="1">
                <a:solidFill>
                  <a:srgbClr val="151515"/>
                </a:solidFill>
                <a:latin typeface="Microsoft JhengHei"/>
                <a:ea typeface="Microsoft JhengHei"/>
                <a:cs typeface="Microsoft JhengHei"/>
              </a:rPr>
              <a:t>03  規則檢查與人工複核標籤</a:t>
            </a:r>
          </a:p>
        </p:txBody>
      </p:sp>
      <p:sp>
        <p:nvSpPr>
          <p:cNvPr id="8" name="text-35">
            <a:extLst xmlns:a="http://schemas.openxmlformats.org/drawingml/2006/main">
              <a:ext uri="{FF2B5EF4-FFF2-40B4-BE49-F238E27FC236}">
                <a16:creationId xmlns:a16="http://schemas.microsoft.com/office/drawing/2014/main" id="{60BAF981-8F47-498F-9D01-09B9175D6484}"/>
              </a:ext>
            </a:extLst>
          </p:cNvPr>
          <p:cNvSpPr>
            <a:spLocks xmlns:a="http://schemas.openxmlformats.org/drawingml/2006/main" noGrp="1"/>
          </p:cNvSpPr>
          <p:nvPr/>
        </p:nvSpPr>
        <p:spPr>
          <a:xfrm xmlns:a="http://schemas.openxmlformats.org/drawingml/2006/main">
            <a:off x="4057650" y="4162425"/>
            <a:ext cx="7296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Microsoft JhengHei"/>
                <a:ea typeface="Microsoft JhengHei"/>
                <a:cs typeface="Microsoft JhengHei"/>
              </a:defRPr>
            </a:pPr>
            <a:r>
              <a:rPr sz="2250" b="1">
                <a:solidFill>
                  <a:srgbClr val="151515"/>
                </a:solidFill>
                <a:latin typeface="Microsoft JhengHei"/>
                <a:ea typeface="Microsoft JhengHei"/>
                <a:cs typeface="Microsoft JhengHei"/>
              </a:rPr>
              <a:t>04  控制系統回放，保存執行結果</a:t>
            </a:r>
          </a:p>
        </p:txBody>
      </p:sp>
      <p:sp>
        <p:nvSpPr>
          <p:cNvPr id="9" name="text-36">
            <a:extLst xmlns:a="http://schemas.openxmlformats.org/drawingml/2006/main">
              <a:ext uri="{FF2B5EF4-FFF2-40B4-BE49-F238E27FC236}">
                <a16:creationId xmlns:a16="http://schemas.microsoft.com/office/drawing/2014/main" id="{2196F7A3-5D96-4549-8FB9-FF2634AE1431}"/>
              </a:ext>
            </a:extLst>
          </p:cNvPr>
          <p:cNvSpPr>
            <a:spLocks xmlns:a="http://schemas.openxmlformats.org/drawingml/2006/main" noGrp="1"/>
          </p:cNvSpPr>
          <p:nvPr/>
        </p:nvSpPr>
        <p:spPr>
          <a:xfrm xmlns:a="http://schemas.openxmlformats.org/drawingml/2006/main">
            <a:off x="609600" y="5410200"/>
            <a:ext cx="109251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1515"/>
                </a:solidFill>
                <a:latin typeface="Microsoft JhengHei"/>
                <a:ea typeface="Microsoft JhengHei"/>
                <a:cs typeface="Microsoft JhengHei"/>
              </a:defRPr>
            </a:pPr>
            <a:r>
              <a:rPr sz="2175" b="1">
                <a:solidFill>
                  <a:srgbClr val="151515"/>
                </a:solidFill>
                <a:latin typeface="Microsoft JhengHei"/>
                <a:ea typeface="Microsoft JhengHei"/>
                <a:cs typeface="Microsoft JhengHei"/>
              </a:rPr>
              <a:t>案例包含正常操作、越權、連續濫用與資訊不足。</a:t>
            </a:r>
          </a:p>
        </p:txBody>
      </p:sp>
    </p:spTree>
    <p:extLst>
      <p:ext uri="{BB962C8B-B14F-4D97-AF65-F5344CB8AC3E}">
        <p14:creationId xmlns:p14="http://schemas.microsoft.com/office/powerpoint/2010/main" val="802850743"/>
      </p:ext>
    </p:extLst>
  </p:cSld>
</p:sld>
</file>

<file path=ppt/slides/slide10.xml><?xml version="1.0" encoding="utf-8"?>
<p:sld xmlns:p="http://schemas.openxmlformats.org/presentationml/2006/main">
  <p:cSld>
    <p:bg>
      <p:bgPr>
        <a:solidFill xmlns:a="http://schemas.openxmlformats.org/drawingml/2006/main">
          <a:srgbClr val="151515"/>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1DDB15DF-25D7-422A-8C95-5EC0D06EA2AF}"/>
              </a:ext>
            </a:extLst>
          </p:cNvPr>
          <p:cNvSpPr>
            <a:spLocks xmlns:a="http://schemas.openxmlformats.org/drawingml/2006/main" noGrp="1"/>
          </p:cNvSpPr>
          <p:nvPr/>
        </p:nvSpPr>
        <p:spPr>
          <a:xfrm xmlns:a="http://schemas.openxmlformats.org/drawingml/2006/main">
            <a:off x="609600" y="4667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Microsoft JhengHei"/>
                <a:ea typeface="Microsoft JhengHei"/>
                <a:cs typeface="Microsoft JhengHei"/>
              </a:defRPr>
            </a:pPr>
            <a:r>
              <a:rPr sz="3300" b="1">
                <a:solidFill>
                  <a:srgbClr val="FFFFFF"/>
                </a:solidFill>
                <a:latin typeface="Microsoft JhengHei"/>
                <a:ea typeface="Microsoft JhengHei"/>
                <a:cs typeface="Microsoft JhengHei"/>
              </a:rPr>
              <a:t>模型蒸餾的實作方式</a:t>
            </a:r>
          </a:p>
        </p:txBody>
      </p:sp>
      <p:sp>
        <p:nvSpPr>
          <p:cNvPr id="2" name="page-number">
            <a:extLst xmlns:a="http://schemas.openxmlformats.org/drawingml/2006/main">
              <a:ext uri="{FF2B5EF4-FFF2-40B4-BE49-F238E27FC236}">
                <a16:creationId xmlns:a16="http://schemas.microsoft.com/office/drawing/2014/main" id="{16041C9E-4A7F-4B9B-9091-3B6603BAF8D3}"/>
              </a:ext>
            </a:extLst>
          </p:cNvPr>
          <p:cNvSpPr>
            <a:spLocks xmlns:a="http://schemas.openxmlformats.org/drawingml/2006/main" noGrp="1"/>
          </p:cNvSpPr>
          <p:nvPr/>
        </p:nvSpPr>
        <p:spPr>
          <a:xfrm xmlns:a="http://schemas.openxmlformats.org/drawingml/2006/main">
            <a:off x="11182350" y="64198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BBBBBB"/>
                </a:solidFill>
                <a:latin typeface="Microsoft JhengHei"/>
                <a:ea typeface="Microsoft JhengHei"/>
                <a:cs typeface="Microsoft JhengHei"/>
              </a:defRPr>
            </a:pPr>
            <a:r>
              <a:rPr sz="1275" b="0">
                <a:solidFill>
                  <a:srgbClr val="BBBBBB"/>
                </a:solidFill>
                <a:latin typeface="Microsoft JhengHei"/>
                <a:ea typeface="Microsoft JhengHei"/>
                <a:cs typeface="Microsoft JhengHei"/>
              </a:rPr>
              <a:t>10</a:t>
            </a:r>
          </a:p>
        </p:txBody>
      </p:sp>
      <p:sp>
        <p:nvSpPr>
          <p:cNvPr id="3" name="text-37">
            <a:extLst xmlns:a="http://schemas.openxmlformats.org/drawingml/2006/main">
              <a:ext uri="{FF2B5EF4-FFF2-40B4-BE49-F238E27FC236}">
                <a16:creationId xmlns:a16="http://schemas.microsoft.com/office/drawing/2014/main" id="{ABF2EFC3-3EAC-4DD1-B1E7-ECEB5A58A917}"/>
              </a:ext>
            </a:extLst>
          </p:cNvPr>
          <p:cNvSpPr>
            <a:spLocks xmlns:a="http://schemas.openxmlformats.org/drawingml/2006/main" noGrp="1"/>
          </p:cNvSpPr>
          <p:nvPr/>
        </p:nvSpPr>
        <p:spPr>
          <a:xfrm xmlns:a="http://schemas.openxmlformats.org/drawingml/2006/main">
            <a:off x="609600" y="1733550"/>
            <a:ext cx="342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Microsoft JhengHei"/>
                <a:ea typeface="Microsoft JhengHei"/>
                <a:cs typeface="Microsoft JhengHei"/>
              </a:defRPr>
            </a:pPr>
            <a:r>
              <a:rPr sz="3000" b="1">
                <a:solidFill>
                  <a:srgbClr val="FFFFFF"/>
                </a:solidFill>
                <a:latin typeface="Microsoft JhengHei"/>
                <a:ea typeface="Microsoft JhengHei"/>
                <a:cs typeface="Microsoft JhengHei"/>
              </a:rPr>
              <a:t>教師模型</a:t>
            </a:r>
          </a:p>
        </p:txBody>
      </p:sp>
      <p:sp>
        <p:nvSpPr>
          <p:cNvPr id="4" name="text-38">
            <a:extLst xmlns:a="http://schemas.openxmlformats.org/drawingml/2006/main">
              <a:ext uri="{FF2B5EF4-FFF2-40B4-BE49-F238E27FC236}">
                <a16:creationId xmlns:a16="http://schemas.microsoft.com/office/drawing/2014/main" id="{42C312E6-286F-4E04-8721-9DA9430D84AE}"/>
              </a:ext>
            </a:extLst>
          </p:cNvPr>
          <p:cNvSpPr>
            <a:spLocks xmlns:a="http://schemas.openxmlformats.org/drawingml/2006/main" noGrp="1"/>
          </p:cNvSpPr>
          <p:nvPr/>
        </p:nvSpPr>
        <p:spPr>
          <a:xfrm xmlns:a="http://schemas.openxmlformats.org/drawingml/2006/main">
            <a:off x="609600" y="2543175"/>
            <a:ext cx="3381375"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D0D0D0"/>
                </a:solidFill>
                <a:latin typeface="Microsoft JhengHei"/>
                <a:ea typeface="Microsoft JhengHei"/>
                <a:cs typeface="Microsoft JhengHei"/>
              </a:defRPr>
            </a:pPr>
            <a:r>
              <a:rPr sz="2175" b="0">
                <a:solidFill>
                  <a:srgbClr val="D0D0D0"/>
                </a:solidFill>
                <a:latin typeface="Microsoft JhengHei"/>
                <a:ea typeface="Microsoft JhengHei"/>
                <a:cs typeface="Microsoft JhengHei"/>
              </a:rPr>
              <a:t>GPT／Claude</a:t>
            </a:r>
          </a:p>
          <a:p xmlns:a="http://schemas.openxmlformats.org/drawingml/2006/main">
            <a:pPr algn="l">
              <a:defRPr sz="2175" b="0">
                <a:solidFill>
                  <a:srgbClr val="D0D0D0"/>
                </a:solidFill>
                <a:latin typeface="Microsoft JhengHei"/>
                <a:ea typeface="Microsoft JhengHei"/>
                <a:cs typeface="Microsoft JhengHei"/>
              </a:defRPr>
            </a:pPr>
            <a:r>
              <a:rPr sz="2175" b="0">
                <a:solidFill>
                  <a:srgbClr val="D0D0D0"/>
                </a:solidFill>
                <a:latin typeface="Microsoft JhengHei"/>
                <a:ea typeface="Microsoft JhengHei"/>
                <a:cs typeface="Microsoft JhengHei"/>
              </a:rPr>
              <a:t>根據情境與判準</a:t>
            </a:r>
          </a:p>
          <a:p xmlns:a="http://schemas.openxmlformats.org/drawingml/2006/main">
            <a:pPr algn="l">
              <a:defRPr sz="2175" b="0">
                <a:solidFill>
                  <a:srgbClr val="D0D0D0"/>
                </a:solidFill>
                <a:latin typeface="Microsoft JhengHei"/>
                <a:ea typeface="Microsoft JhengHei"/>
                <a:cs typeface="Microsoft JhengHei"/>
              </a:defRPr>
            </a:pPr>
            <a:r>
              <a:rPr sz="2175" b="0">
                <a:solidFill>
                  <a:srgbClr val="D0D0D0"/>
                </a:solidFill>
                <a:latin typeface="Microsoft JhengHei"/>
                <a:ea typeface="Microsoft JhengHei"/>
                <a:cs typeface="Microsoft JhengHei"/>
              </a:rPr>
              <a:t>提出標籤及可核對理由</a:t>
            </a:r>
          </a:p>
        </p:txBody>
      </p:sp>
      <p:sp>
        <p:nvSpPr>
          <p:cNvPr id="5" name="text-39">
            <a:extLst xmlns:a="http://schemas.openxmlformats.org/drawingml/2006/main">
              <a:ext uri="{FF2B5EF4-FFF2-40B4-BE49-F238E27FC236}">
                <a16:creationId xmlns:a16="http://schemas.microsoft.com/office/drawing/2014/main" id="{64C54CDD-099D-4710-9AFA-A03FFB0FA637}"/>
              </a:ext>
            </a:extLst>
          </p:cNvPr>
          <p:cNvSpPr>
            <a:spLocks xmlns:a="http://schemas.openxmlformats.org/drawingml/2006/main" noGrp="1"/>
          </p:cNvSpPr>
          <p:nvPr/>
        </p:nvSpPr>
        <p:spPr>
          <a:xfrm xmlns:a="http://schemas.openxmlformats.org/drawingml/2006/main">
            <a:off x="4371975" y="1733550"/>
            <a:ext cx="3381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Microsoft JhengHei"/>
                <a:ea typeface="Microsoft JhengHei"/>
                <a:cs typeface="Microsoft JhengHei"/>
              </a:defRPr>
            </a:pPr>
            <a:r>
              <a:rPr sz="3000" b="1">
                <a:solidFill>
                  <a:srgbClr val="FFFFFF"/>
                </a:solidFill>
                <a:latin typeface="Microsoft JhengHei"/>
                <a:ea typeface="Microsoft JhengHei"/>
                <a:cs typeface="Microsoft JhengHei"/>
              </a:rPr>
              <a:t>審核資料</a:t>
            </a:r>
          </a:p>
        </p:txBody>
      </p:sp>
      <p:sp>
        <p:nvSpPr>
          <p:cNvPr id="6" name="text-40">
            <a:extLst xmlns:a="http://schemas.openxmlformats.org/drawingml/2006/main">
              <a:ext uri="{FF2B5EF4-FFF2-40B4-BE49-F238E27FC236}">
                <a16:creationId xmlns:a16="http://schemas.microsoft.com/office/drawing/2014/main" id="{4E42150B-5086-4ACA-B0FD-6C89FC3ED8B0}"/>
              </a:ext>
            </a:extLst>
          </p:cNvPr>
          <p:cNvSpPr>
            <a:spLocks xmlns:a="http://schemas.openxmlformats.org/drawingml/2006/main" noGrp="1"/>
          </p:cNvSpPr>
          <p:nvPr/>
        </p:nvSpPr>
        <p:spPr>
          <a:xfrm xmlns:a="http://schemas.openxmlformats.org/drawingml/2006/main">
            <a:off x="4371975" y="2543175"/>
            <a:ext cx="3381375"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D0D0D0"/>
                </a:solidFill>
                <a:latin typeface="Microsoft JhengHei"/>
                <a:ea typeface="Microsoft JhengHei"/>
                <a:cs typeface="Microsoft JhengHei"/>
              </a:defRPr>
            </a:pPr>
            <a:r>
              <a:rPr sz="2175" b="0">
                <a:solidFill>
                  <a:srgbClr val="D0D0D0"/>
                </a:solidFill>
                <a:latin typeface="Microsoft JhengHei"/>
                <a:ea typeface="Microsoft JhengHei"/>
                <a:cs typeface="Microsoft JhengHei"/>
              </a:rPr>
              <a:t>規則核對與人工複核</a:t>
            </a:r>
          </a:p>
          <a:p xmlns:a="http://schemas.openxmlformats.org/drawingml/2006/main">
            <a:pPr algn="l">
              <a:defRPr sz="2175" b="0">
                <a:solidFill>
                  <a:srgbClr val="D0D0D0"/>
                </a:solidFill>
                <a:latin typeface="Microsoft JhengHei"/>
                <a:ea typeface="Microsoft JhengHei"/>
                <a:cs typeface="Microsoft JhengHei"/>
              </a:defRPr>
            </a:pPr>
            <a:r>
              <a:rPr sz="2175" b="0">
                <a:solidFill>
                  <a:srgbClr val="D0D0D0"/>
                </a:solidFill>
                <a:latin typeface="Microsoft JhengHei"/>
                <a:ea typeface="Microsoft JhengHei"/>
                <a:cs typeface="Microsoft JhengHei"/>
              </a:rPr>
              <a:t>修正分歧與錯誤</a:t>
            </a:r>
          </a:p>
          <a:p xmlns:a="http://schemas.openxmlformats.org/drawingml/2006/main">
            <a:pPr algn="l">
              <a:defRPr sz="2175" b="0">
                <a:solidFill>
                  <a:srgbClr val="D0D0D0"/>
                </a:solidFill>
                <a:latin typeface="Microsoft JhengHei"/>
                <a:ea typeface="Microsoft JhengHei"/>
                <a:cs typeface="Microsoft JhengHei"/>
              </a:defRPr>
            </a:pPr>
            <a:r>
              <a:rPr sz="2175" b="0">
                <a:solidFill>
                  <a:srgbClr val="D0D0D0"/>
                </a:solidFill>
                <a:latin typeface="Microsoft JhengHei"/>
                <a:ea typeface="Microsoft JhengHei"/>
                <a:cs typeface="Microsoft JhengHei"/>
              </a:rPr>
              <a:t>保留合格的輸入與標籤</a:t>
            </a:r>
          </a:p>
        </p:txBody>
      </p:sp>
      <p:sp>
        <p:nvSpPr>
          <p:cNvPr id="7" name="text-41">
            <a:extLst xmlns:a="http://schemas.openxmlformats.org/drawingml/2006/main">
              <a:ext uri="{FF2B5EF4-FFF2-40B4-BE49-F238E27FC236}">
                <a16:creationId xmlns:a16="http://schemas.microsoft.com/office/drawing/2014/main" id="{52E6886D-7249-45E7-AC6A-8E83BB9A355B}"/>
              </a:ext>
            </a:extLst>
          </p:cNvPr>
          <p:cNvSpPr>
            <a:spLocks xmlns:a="http://schemas.openxmlformats.org/drawingml/2006/main" noGrp="1"/>
          </p:cNvSpPr>
          <p:nvPr/>
        </p:nvSpPr>
        <p:spPr>
          <a:xfrm xmlns:a="http://schemas.openxmlformats.org/drawingml/2006/main">
            <a:off x="8134350" y="1733550"/>
            <a:ext cx="342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Microsoft JhengHei"/>
                <a:ea typeface="Microsoft JhengHei"/>
                <a:cs typeface="Microsoft JhengHei"/>
              </a:defRPr>
            </a:pPr>
            <a:r>
              <a:rPr sz="3000" b="1">
                <a:solidFill>
                  <a:srgbClr val="FFFFFF"/>
                </a:solidFill>
                <a:latin typeface="Microsoft JhengHei"/>
                <a:ea typeface="Microsoft JhengHei"/>
                <a:cs typeface="Microsoft JhengHei"/>
              </a:rPr>
              <a:t>學生模型</a:t>
            </a:r>
          </a:p>
        </p:txBody>
      </p:sp>
      <p:sp>
        <p:nvSpPr>
          <p:cNvPr id="8" name="text-42">
            <a:extLst xmlns:a="http://schemas.openxmlformats.org/drawingml/2006/main">
              <a:ext uri="{FF2B5EF4-FFF2-40B4-BE49-F238E27FC236}">
                <a16:creationId xmlns:a16="http://schemas.microsoft.com/office/drawing/2014/main" id="{DABBA26B-32D2-41F0-8C06-BE5115FE0BD1}"/>
              </a:ext>
            </a:extLst>
          </p:cNvPr>
          <p:cNvSpPr>
            <a:spLocks xmlns:a="http://schemas.openxmlformats.org/drawingml/2006/main" noGrp="1"/>
          </p:cNvSpPr>
          <p:nvPr/>
        </p:nvSpPr>
        <p:spPr>
          <a:xfrm xmlns:a="http://schemas.openxmlformats.org/drawingml/2006/main">
            <a:off x="8134350" y="2543175"/>
            <a:ext cx="3381375"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D0D0D0"/>
                </a:solidFill>
                <a:latin typeface="Microsoft JhengHei"/>
                <a:ea typeface="Microsoft JhengHei"/>
                <a:cs typeface="Microsoft JhengHei"/>
              </a:defRPr>
            </a:pPr>
            <a:r>
              <a:rPr sz="2175" b="0">
                <a:solidFill>
                  <a:srgbClr val="D0D0D0"/>
                </a:solidFill>
                <a:latin typeface="Microsoft JhengHei"/>
                <a:ea typeface="Microsoft JhengHei"/>
                <a:cs typeface="Microsoft JhengHei"/>
              </a:rPr>
              <a:t>本機的小型風險模型</a:t>
            </a:r>
          </a:p>
          <a:p xmlns:a="http://schemas.openxmlformats.org/drawingml/2006/main">
            <a:pPr algn="l">
              <a:defRPr sz="2175" b="0">
                <a:solidFill>
                  <a:srgbClr val="D0D0D0"/>
                </a:solidFill>
                <a:latin typeface="Microsoft JhengHei"/>
                <a:ea typeface="Microsoft JhengHei"/>
                <a:cs typeface="Microsoft JhengHei"/>
              </a:defRPr>
            </a:pPr>
            <a:r>
              <a:rPr sz="2175" b="0">
                <a:solidFill>
                  <a:srgbClr val="D0D0D0"/>
                </a:solidFill>
                <a:latin typeface="Microsoft JhengHei"/>
                <a:ea typeface="Microsoft JhengHei"/>
                <a:cs typeface="Microsoft JhengHei"/>
              </a:rPr>
              <a:t>學習允許／拒絕／澄清</a:t>
            </a:r>
          </a:p>
          <a:p xmlns:a="http://schemas.openxmlformats.org/drawingml/2006/main">
            <a:pPr algn="l">
              <a:defRPr sz="2175" b="0">
                <a:solidFill>
                  <a:srgbClr val="D0D0D0"/>
                </a:solidFill>
                <a:latin typeface="Microsoft JhengHei"/>
                <a:ea typeface="Microsoft JhengHei"/>
                <a:cs typeface="Microsoft JhengHei"/>
              </a:defRPr>
            </a:pPr>
            <a:r>
              <a:rPr sz="2175" b="0">
                <a:solidFill>
                  <a:srgbClr val="D0D0D0"/>
                </a:solidFill>
                <a:latin typeface="Microsoft JhengHei"/>
                <a:ea typeface="Microsoft JhengHei"/>
                <a:cs typeface="Microsoft JhengHei"/>
              </a:rPr>
              <a:t>量測效能與推論延遲</a:t>
            </a:r>
          </a:p>
        </p:txBody>
      </p:sp>
      <p:sp>
        <p:nvSpPr>
          <p:cNvPr id="9" name="text-43">
            <a:extLst xmlns:a="http://schemas.openxmlformats.org/drawingml/2006/main">
              <a:ext uri="{FF2B5EF4-FFF2-40B4-BE49-F238E27FC236}">
                <a16:creationId xmlns:a16="http://schemas.microsoft.com/office/drawing/2014/main" id="{7D8655F4-E69C-4FC2-93E5-CDF18A702F28}"/>
              </a:ext>
            </a:extLst>
          </p:cNvPr>
          <p:cNvSpPr>
            <a:spLocks xmlns:a="http://schemas.openxmlformats.org/drawingml/2006/main" noGrp="1"/>
          </p:cNvSpPr>
          <p:nvPr/>
        </p:nvSpPr>
        <p:spPr>
          <a:xfrm xmlns:a="http://schemas.openxmlformats.org/drawingml/2006/main">
            <a:off x="609600" y="5019675"/>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FFFFF"/>
                </a:solidFill>
                <a:latin typeface="Microsoft JhengHei"/>
                <a:ea typeface="Microsoft JhengHei"/>
                <a:cs typeface="Microsoft JhengHei"/>
              </a:defRPr>
            </a:pPr>
            <a:r>
              <a:rPr sz="2400" b="1">
                <a:solidFill>
                  <a:srgbClr val="FFFFFF"/>
                </a:solidFill>
                <a:latin typeface="Microsoft JhengHei"/>
                <a:ea typeface="Microsoft JhengHei"/>
                <a:cs typeface="Microsoft JhengHei"/>
              </a:rPr>
              <a:t>第一版採輸出蒸餾：用核對後的教師標籤進行監督式訓練。</a:t>
            </a:r>
          </a:p>
        </p:txBody>
      </p:sp>
    </p:spTree>
    <p:extLst>
      <p:ext uri="{BB962C8B-B14F-4D97-AF65-F5344CB8AC3E}">
        <p14:creationId xmlns:p14="http://schemas.microsoft.com/office/powerpoint/2010/main" val="1333010293"/>
      </p:ext>
    </p:extLst>
  </p:cSld>
</p:sld>
</file>

<file path=ppt/slides/slide11.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3A13B780-22D8-4D1B-B8D7-DA776BCBFDFA}"/>
              </a:ext>
            </a:extLst>
          </p:cNvPr>
          <p:cNvSpPr>
            <a:spLocks xmlns:a="http://schemas.openxmlformats.org/drawingml/2006/main" noGrp="1"/>
          </p:cNvSpPr>
          <p:nvPr/>
        </p:nvSpPr>
        <p:spPr>
          <a:xfrm xmlns:a="http://schemas.openxmlformats.org/drawingml/2006/main">
            <a:off x="609600" y="4667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icrosoft JhengHei"/>
                <a:ea typeface="Microsoft JhengHei"/>
                <a:cs typeface="Microsoft JhengHei"/>
              </a:defRPr>
            </a:pPr>
            <a:r>
              <a:rPr sz="3300" b="1">
                <a:solidFill>
                  <a:srgbClr val="151515"/>
                </a:solidFill>
                <a:latin typeface="Microsoft JhengHei"/>
                <a:ea typeface="Microsoft JhengHei"/>
                <a:cs typeface="Microsoft JhengHei"/>
              </a:rPr>
              <a:t>同一句話，需要不同的上下文</a:t>
            </a:r>
          </a:p>
        </p:txBody>
      </p:sp>
      <p:sp>
        <p:nvSpPr>
          <p:cNvPr id="2" name="page-number">
            <a:extLst xmlns:a="http://schemas.openxmlformats.org/drawingml/2006/main">
              <a:ext uri="{FF2B5EF4-FFF2-40B4-BE49-F238E27FC236}">
                <a16:creationId xmlns:a16="http://schemas.microsoft.com/office/drawing/2014/main" id="{57CFD8F3-6E7D-4BA0-BC10-D0105371C88E}"/>
              </a:ext>
            </a:extLst>
          </p:cNvPr>
          <p:cNvSpPr>
            <a:spLocks xmlns:a="http://schemas.openxmlformats.org/drawingml/2006/main" noGrp="1"/>
          </p:cNvSpPr>
          <p:nvPr/>
        </p:nvSpPr>
        <p:spPr>
          <a:xfrm xmlns:a="http://schemas.openxmlformats.org/drawingml/2006/main">
            <a:off x="11182350" y="64198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6262"/>
                </a:solidFill>
                <a:latin typeface="Microsoft JhengHei"/>
                <a:ea typeface="Microsoft JhengHei"/>
                <a:cs typeface="Microsoft JhengHei"/>
              </a:defRPr>
            </a:pPr>
            <a:r>
              <a:rPr sz="1275" b="0">
                <a:solidFill>
                  <a:srgbClr val="626262"/>
                </a:solidFill>
                <a:latin typeface="Microsoft JhengHei"/>
                <a:ea typeface="Microsoft JhengHei"/>
                <a:cs typeface="Microsoft JhengHei"/>
              </a:rPr>
              <a:t>11</a:t>
            </a:r>
          </a:p>
        </p:txBody>
      </p:sp>
      <p:sp>
        <p:nvSpPr>
          <p:cNvPr id="3" name="text-44">
            <a:extLst xmlns:a="http://schemas.openxmlformats.org/drawingml/2006/main">
              <a:ext uri="{FF2B5EF4-FFF2-40B4-BE49-F238E27FC236}">
                <a16:creationId xmlns:a16="http://schemas.microsoft.com/office/drawing/2014/main" id="{5F68DD4E-A362-471A-91E0-E265D4609763}"/>
              </a:ext>
            </a:extLst>
          </p:cNvPr>
          <p:cNvSpPr>
            <a:spLocks xmlns:a="http://schemas.openxmlformats.org/drawingml/2006/main" noGrp="1"/>
          </p:cNvSpPr>
          <p:nvPr/>
        </p:nvSpPr>
        <p:spPr>
          <a:xfrm xmlns:a="http://schemas.openxmlformats.org/drawingml/2006/main">
            <a:off x="609600" y="1514475"/>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51515"/>
                </a:solidFill>
                <a:latin typeface="Microsoft JhengHei"/>
                <a:ea typeface="Microsoft JhengHei"/>
                <a:cs typeface="Microsoft JhengHei"/>
              </a:defRPr>
            </a:pPr>
            <a:r>
              <a:rPr sz="3600" b="1">
                <a:solidFill>
                  <a:srgbClr val="151515"/>
                </a:solidFill>
                <a:latin typeface="Microsoft JhengHei"/>
                <a:ea typeface="Microsoft JhengHei"/>
                <a:cs typeface="Microsoft JhengHei"/>
              </a:rPr>
              <a:t>「再去一次 A 點」</a:t>
            </a:r>
          </a:p>
        </p:txBody>
      </p:sp>
      <p:graphicFrame>
        <p:nvGraphicFramePr>
          <p:cNvPr id="9" name=""/>
          <p:cNvGraphicFramePr/>
          <p:nvPr/>
        </p:nvGraphicFramePr>
        <p:xfrm>
          <a:off xmlns:a="http://schemas.openxmlformats.org/drawingml/2006/main" x="609600" y="2600325"/>
          <a:ext xmlns:a="http://schemas.openxmlformats.org/drawingml/2006/main" cx="10972800" cy="2647950"/>
        </p:xfrm>
        <a:graphic xmlns:a="http://schemas.openxmlformats.org/drawingml/2006/main">
          <a:graphicData uri="http://schemas.openxmlformats.org/drawingml/2006/table">
            <a:tbl>
              <a:tblPr firstRow="0" bandRow="0"/>
              <a:tblGrid>
                <a:gridCol w="2190750"/>
                <a:gridCol w="4391025"/>
                <a:gridCol w="4391025"/>
              </a:tblGrid>
              <a:tr h="661988">
                <a:tc>
                  <a:txBody>
                    <a:bodyPr>
                      <a:noAutofit/>
                    </a:bodyPr>
                    <a:lstStyle/>
                    <a:p>
                      <a:r>
                        <a:rPr sz="1800" b="1">
                          <a:solidFill>
                            <a:srgbClr val="FFFFFF"/>
                          </a:solidFill>
                          <a:latin typeface="Microsoft JhengHei"/>
                          <a:ea typeface="Microsoft JhengHei"/>
                          <a:cs typeface="Microsoft JhengHei"/>
                        </a:rPr>
                        <a:t>可觀察條件</a:t>
                      </a:r>
                    </a:p>
                  </a:txBody>
                  <a:tcPr marL="142875" marR="142875" marT="123825" marB="95250" anchor="ctr">
                    <a:solidFill>
                      <a:srgbClr val="151515"/>
                    </a:solidFill>
                  </a:tcPr>
                </a:tc>
                <a:tc>
                  <a:txBody>
                    <a:bodyPr>
                      <a:noAutofit/>
                    </a:bodyPr>
                    <a:lstStyle/>
                    <a:p>
                      <a:r>
                        <a:rPr sz="1800" b="1">
                          <a:solidFill>
                            <a:srgbClr val="FFFFFF"/>
                          </a:solidFill>
                          <a:latin typeface="Microsoft JhengHei"/>
                          <a:ea typeface="Microsoft JhengHei"/>
                          <a:cs typeface="Microsoft JhengHei"/>
                        </a:rPr>
                        <a:t>合理重訪</a:t>
                      </a:r>
                    </a:p>
                  </a:txBody>
                  <a:tcPr marL="142875" marR="142875" marT="123825" marB="95250" anchor="ctr">
                    <a:solidFill>
                      <a:srgbClr val="151515"/>
                    </a:solidFill>
                  </a:tcPr>
                </a:tc>
                <a:tc>
                  <a:txBody>
                    <a:bodyPr>
                      <a:noAutofit/>
                    </a:bodyPr>
                    <a:lstStyle/>
                    <a:p>
                      <a:r>
                        <a:rPr sz="1800" b="1">
                          <a:solidFill>
                            <a:srgbClr val="FFFFFF"/>
                          </a:solidFill>
                          <a:latin typeface="Microsoft JhengHei"/>
                          <a:ea typeface="Microsoft JhengHei"/>
                          <a:cs typeface="Microsoft JhengHei"/>
                        </a:rPr>
                        <a:t>連續干擾</a:t>
                      </a:r>
                    </a:p>
                  </a:txBody>
                  <a:tcPr marL="142875" marR="142875" marT="123825" marB="95250" anchor="ctr">
                    <a:solidFill>
                      <a:srgbClr val="151515"/>
                    </a:solidFill>
                  </a:tcPr>
                </a:tc>
              </a:tr>
              <a:tr h="661988">
                <a:tc>
                  <a:txBody>
                    <a:bodyPr>
                      <a:noAutofit/>
                    </a:bodyPr>
                    <a:lstStyle/>
                    <a:p>
                      <a:r>
                        <a:rPr sz="1800" b="0">
                          <a:solidFill>
                            <a:srgbClr val="151515"/>
                          </a:solidFill>
                          <a:latin typeface="Microsoft JhengHei"/>
                          <a:ea typeface="Microsoft JhengHei"/>
                          <a:cs typeface="Microsoft JhengHei"/>
                        </a:rPr>
                        <a:t>身分與任務</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已驗證操作員，允許改派</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同一操作員，允許改派</a:t>
                      </a:r>
                    </a:p>
                  </a:txBody>
                  <a:tcPr marL="142875" marR="142875" marT="123825" marB="95250" anchor="ctr">
                    <a:solidFill>
                      <a:srgbClr val="FFFFFF"/>
                    </a:solidFill>
                  </a:tcPr>
                </a:tc>
              </a:tr>
              <a:tr h="661988">
                <a:tc>
                  <a:txBody>
                    <a:bodyPr>
                      <a:noAutofit/>
                    </a:bodyPr>
                    <a:lstStyle/>
                    <a:p>
                      <a:r>
                        <a:rPr sz="1800" b="0">
                          <a:solidFill>
                            <a:srgbClr val="151515"/>
                          </a:solidFill>
                          <a:latin typeface="Microsoft JhengHei"/>
                          <a:ea typeface="Microsoft JhengHei"/>
                          <a:cs typeface="Microsoft JhengHei"/>
                        </a:rPr>
                        <a:t>近期歷史</a:t>
                      </a:r>
                    </a:p>
                  </a:txBody>
                  <a:tcPr marL="142875" marR="142875" marT="123825" marB="95250" anchor="ctr">
                    <a:solidFill>
                      <a:srgbClr val="F0F0F0"/>
                    </a:solidFill>
                  </a:tcPr>
                </a:tc>
                <a:tc>
                  <a:txBody>
                    <a:bodyPr>
                      <a:noAutofit/>
                    </a:bodyPr>
                    <a:lstStyle/>
                    <a:p>
                      <a:r>
                        <a:rPr sz="1800" b="0">
                          <a:solidFill>
                            <a:srgbClr val="151515"/>
                          </a:solidFill>
                          <a:latin typeface="Microsoft JhengHei"/>
                          <a:ea typeface="Microsoft JhengHei"/>
                          <a:cs typeface="Microsoft JhengHei"/>
                        </a:rPr>
                        <a:t>前一任務完成，仍有改派額度</a:t>
                      </a:r>
                    </a:p>
                  </a:txBody>
                  <a:tcPr marL="142875" marR="142875" marT="123825" marB="95250" anchor="ctr">
                    <a:solidFill>
                      <a:srgbClr val="F0F0F0"/>
                    </a:solidFill>
                  </a:tcPr>
                </a:tc>
                <a:tc>
                  <a:txBody>
                    <a:bodyPr>
                      <a:noAutofit/>
                    </a:bodyPr>
                    <a:lstStyle/>
                    <a:p>
                      <a:r>
                        <a:rPr sz="1800" b="0">
                          <a:solidFill>
                            <a:srgbClr val="151515"/>
                          </a:solidFill>
                          <a:latin typeface="Microsoft JhengHei"/>
                          <a:ea typeface="Microsoft JhengHei"/>
                          <a:cs typeface="Microsoft JhengHei"/>
                        </a:rPr>
                        <a:t>連續改派，既定巡邏持續中斷</a:t>
                      </a:r>
                    </a:p>
                  </a:txBody>
                  <a:tcPr marL="142875" marR="142875" marT="123825" marB="95250" anchor="ctr">
                    <a:solidFill>
                      <a:srgbClr val="F0F0F0"/>
                    </a:solidFill>
                  </a:tcPr>
                </a:tc>
              </a:tr>
              <a:tr h="661988">
                <a:tc>
                  <a:txBody>
                    <a:bodyPr>
                      <a:noAutofit/>
                    </a:bodyPr>
                    <a:lstStyle/>
                    <a:p>
                      <a:r>
                        <a:rPr sz="1800" b="0">
                          <a:solidFill>
                            <a:srgbClr val="151515"/>
                          </a:solidFill>
                          <a:latin typeface="Microsoft JhengHei"/>
                          <a:ea typeface="Microsoft JhengHei"/>
                          <a:cs typeface="Microsoft JhengHei"/>
                        </a:rPr>
                        <a:t>候選處置</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檢查狀態後可核准</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拒絕改派或要求額外確認</a:t>
                      </a:r>
                    </a:p>
                  </a:txBody>
                  <a:tcPr marL="142875" marR="142875" marT="123825" marB="95250" anchor="ctr">
                    <a:solidFill>
                      <a:srgbClr val="FFFFFF"/>
                    </a:solidFill>
                  </a:tcPr>
                </a:tc>
              </a:tr>
            </a:tbl>
          </a:graphicData>
        </a:graphic>
      </p:graphicFrame>
      <p:sp>
        <p:nvSpPr>
          <p:cNvPr id="5" name="text-45">
            <a:extLst xmlns:a="http://schemas.openxmlformats.org/drawingml/2006/main">
              <a:ext uri="{FF2B5EF4-FFF2-40B4-BE49-F238E27FC236}">
                <a16:creationId xmlns:a16="http://schemas.microsoft.com/office/drawing/2014/main" id="{F0B9A526-2EF9-4CC9-B997-4DECDF763966}"/>
              </a:ext>
            </a:extLst>
          </p:cNvPr>
          <p:cNvSpPr>
            <a:spLocks xmlns:a="http://schemas.openxmlformats.org/drawingml/2006/main" noGrp="1"/>
          </p:cNvSpPr>
          <p:nvPr/>
        </p:nvSpPr>
        <p:spPr>
          <a:xfrm xmlns:a="http://schemas.openxmlformats.org/drawingml/2006/main">
            <a:off x="609600" y="5667375"/>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515"/>
                </a:solidFill>
                <a:latin typeface="Microsoft JhengHei"/>
                <a:ea typeface="Microsoft JhengHei"/>
                <a:cs typeface="Microsoft JhengHei"/>
              </a:defRPr>
            </a:pPr>
            <a:r>
              <a:rPr sz="1875" b="1">
                <a:solidFill>
                  <a:srgbClr val="151515"/>
                </a:solidFill>
                <a:latin typeface="Microsoft JhengHei"/>
                <a:ea typeface="Microsoft JhengHei"/>
                <a:cs typeface="Microsoft JhengHei"/>
              </a:rPr>
              <a:t>標籤必須依可觀察證據；不能只依生成者設定的「惡意意圖」。</a:t>
            </a:r>
          </a:p>
        </p:txBody>
      </p:sp>
    </p:spTree>
    <p:extLst>
      <p:ext uri="{BB962C8B-B14F-4D97-AF65-F5344CB8AC3E}">
        <p14:creationId xmlns:p14="http://schemas.microsoft.com/office/powerpoint/2010/main" val="1375755364"/>
      </p:ext>
    </p:extLst>
  </p:cSld>
</p:sld>
</file>

<file path=ppt/slides/slide12.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E8630BD2-8754-497E-9A77-AA62A8BEBF42}"/>
              </a:ext>
            </a:extLst>
          </p:cNvPr>
          <p:cNvSpPr>
            <a:spLocks xmlns:a="http://schemas.openxmlformats.org/drawingml/2006/main" noGrp="1"/>
          </p:cNvSpPr>
          <p:nvPr/>
        </p:nvSpPr>
        <p:spPr>
          <a:xfrm xmlns:a="http://schemas.openxmlformats.org/drawingml/2006/main">
            <a:off x="609600" y="4667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icrosoft JhengHei"/>
                <a:ea typeface="Microsoft JhengHei"/>
                <a:cs typeface="Microsoft JhengHei"/>
              </a:defRPr>
            </a:pPr>
            <a:r>
              <a:rPr sz="3300" b="1">
                <a:solidFill>
                  <a:srgbClr val="151515"/>
                </a:solidFill>
                <a:latin typeface="Microsoft JhengHei"/>
                <a:ea typeface="Microsoft JhengHei"/>
                <a:cs typeface="Microsoft JhengHei"/>
              </a:rPr>
              <a:t>資料品質與獨立測試</a:t>
            </a:r>
          </a:p>
        </p:txBody>
      </p:sp>
      <p:sp>
        <p:nvSpPr>
          <p:cNvPr id="2" name="page-number">
            <a:extLst xmlns:a="http://schemas.openxmlformats.org/drawingml/2006/main">
              <a:ext uri="{FF2B5EF4-FFF2-40B4-BE49-F238E27FC236}">
                <a16:creationId xmlns:a16="http://schemas.microsoft.com/office/drawing/2014/main" id="{63D0D90F-4777-40BE-912D-506306252573}"/>
              </a:ext>
            </a:extLst>
          </p:cNvPr>
          <p:cNvSpPr>
            <a:spLocks xmlns:a="http://schemas.openxmlformats.org/drawingml/2006/main" noGrp="1"/>
          </p:cNvSpPr>
          <p:nvPr/>
        </p:nvSpPr>
        <p:spPr>
          <a:xfrm xmlns:a="http://schemas.openxmlformats.org/drawingml/2006/main">
            <a:off x="11182350" y="64198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6262"/>
                </a:solidFill>
                <a:latin typeface="Microsoft JhengHei"/>
                <a:ea typeface="Microsoft JhengHei"/>
                <a:cs typeface="Microsoft JhengHei"/>
              </a:defRPr>
            </a:pPr>
            <a:r>
              <a:rPr sz="1275" b="0">
                <a:solidFill>
                  <a:srgbClr val="626262"/>
                </a:solidFill>
                <a:latin typeface="Microsoft JhengHei"/>
                <a:ea typeface="Microsoft JhengHei"/>
                <a:cs typeface="Microsoft JhengHei"/>
              </a:rPr>
              <a:t>12</a:t>
            </a:r>
          </a:p>
        </p:txBody>
      </p:sp>
      <p:sp>
        <p:nvSpPr>
          <p:cNvPr id="3" name="text-46">
            <a:extLst xmlns:a="http://schemas.openxmlformats.org/drawingml/2006/main">
              <a:ext uri="{FF2B5EF4-FFF2-40B4-BE49-F238E27FC236}">
                <a16:creationId xmlns:a16="http://schemas.microsoft.com/office/drawing/2014/main" id="{F1CA6ACB-4547-4B0A-B4C2-79D3F57A5CC5}"/>
              </a:ext>
            </a:extLst>
          </p:cNvPr>
          <p:cNvSpPr>
            <a:spLocks xmlns:a="http://schemas.openxmlformats.org/drawingml/2006/main" noGrp="1"/>
          </p:cNvSpPr>
          <p:nvPr/>
        </p:nvSpPr>
        <p:spPr>
          <a:xfrm xmlns:a="http://schemas.openxmlformats.org/drawingml/2006/main">
            <a:off x="609600" y="1609725"/>
            <a:ext cx="95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626262"/>
                </a:solidFill>
                <a:latin typeface="Microsoft JhengHei"/>
                <a:ea typeface="Microsoft JhengHei"/>
                <a:cs typeface="Microsoft JhengHei"/>
              </a:defRPr>
            </a:pPr>
            <a:r>
              <a:rPr sz="3450" b="0">
                <a:solidFill>
                  <a:srgbClr val="626262"/>
                </a:solidFill>
                <a:latin typeface="Microsoft JhengHei"/>
                <a:ea typeface="Microsoft JhengHei"/>
                <a:cs typeface="Microsoft JhengHei"/>
              </a:rPr>
              <a:t>01</a:t>
            </a:r>
          </a:p>
        </p:txBody>
      </p:sp>
      <p:sp>
        <p:nvSpPr>
          <p:cNvPr id="4" name="text-47">
            <a:extLst xmlns:a="http://schemas.openxmlformats.org/drawingml/2006/main">
              <a:ext uri="{FF2B5EF4-FFF2-40B4-BE49-F238E27FC236}">
                <a16:creationId xmlns:a16="http://schemas.microsoft.com/office/drawing/2014/main" id="{08EDC5C6-79C9-4FCB-8027-5AF0C0BA2C1F}"/>
              </a:ext>
            </a:extLst>
          </p:cNvPr>
          <p:cNvSpPr>
            <a:spLocks xmlns:a="http://schemas.openxmlformats.org/drawingml/2006/main" noGrp="1"/>
          </p:cNvSpPr>
          <p:nvPr/>
        </p:nvSpPr>
        <p:spPr>
          <a:xfrm xmlns:a="http://schemas.openxmlformats.org/drawingml/2006/main">
            <a:off x="1828800" y="16192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Microsoft JhengHei"/>
                <a:ea typeface="Microsoft JhengHei"/>
                <a:cs typeface="Microsoft JhengHei"/>
              </a:defRPr>
            </a:pPr>
            <a:r>
              <a:rPr sz="2250" b="1">
                <a:solidFill>
                  <a:srgbClr val="151515"/>
                </a:solidFill>
                <a:latin typeface="Microsoft JhengHei"/>
                <a:ea typeface="Microsoft JhengHei"/>
                <a:cs typeface="Microsoft JhengHei"/>
              </a:rPr>
              <a:t>按完整情境分組</a:t>
            </a:r>
          </a:p>
        </p:txBody>
      </p:sp>
      <p:sp>
        <p:nvSpPr>
          <p:cNvPr id="5" name="text-48">
            <a:extLst xmlns:a="http://schemas.openxmlformats.org/drawingml/2006/main">
              <a:ext uri="{FF2B5EF4-FFF2-40B4-BE49-F238E27FC236}">
                <a16:creationId xmlns:a16="http://schemas.microsoft.com/office/drawing/2014/main" id="{FFE404D2-2922-49E7-859D-6B9F71EDA9C4}"/>
              </a:ext>
            </a:extLst>
          </p:cNvPr>
          <p:cNvSpPr>
            <a:spLocks xmlns:a="http://schemas.openxmlformats.org/drawingml/2006/main" noGrp="1"/>
          </p:cNvSpPr>
          <p:nvPr/>
        </p:nvSpPr>
        <p:spPr>
          <a:xfrm xmlns:a="http://schemas.openxmlformats.org/drawingml/2006/main">
            <a:off x="5372100" y="1638300"/>
            <a:ext cx="6000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同一基礎情境與全部改寫，</a:t>
            </a:r>
          </a:p>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只能出現在訓練、驗證、測試其中一組。</a:t>
            </a:r>
          </a:p>
        </p:txBody>
      </p:sp>
      <p:sp>
        <p:nvSpPr>
          <p:cNvPr id="6" name="text-49">
            <a:extLst xmlns:a="http://schemas.openxmlformats.org/drawingml/2006/main">
              <a:ext uri="{FF2B5EF4-FFF2-40B4-BE49-F238E27FC236}">
                <a16:creationId xmlns:a16="http://schemas.microsoft.com/office/drawing/2014/main" id="{36563FD4-F6F0-457B-BB89-2A4071ED95A1}"/>
              </a:ext>
            </a:extLst>
          </p:cNvPr>
          <p:cNvSpPr>
            <a:spLocks xmlns:a="http://schemas.openxmlformats.org/drawingml/2006/main" noGrp="1"/>
          </p:cNvSpPr>
          <p:nvPr/>
        </p:nvSpPr>
        <p:spPr>
          <a:xfrm xmlns:a="http://schemas.openxmlformats.org/drawingml/2006/main">
            <a:off x="609600" y="2895600"/>
            <a:ext cx="95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626262"/>
                </a:solidFill>
                <a:latin typeface="Microsoft JhengHei"/>
                <a:ea typeface="Microsoft JhengHei"/>
                <a:cs typeface="Microsoft JhengHei"/>
              </a:defRPr>
            </a:pPr>
            <a:r>
              <a:rPr sz="3450" b="0">
                <a:solidFill>
                  <a:srgbClr val="626262"/>
                </a:solidFill>
                <a:latin typeface="Microsoft JhengHei"/>
                <a:ea typeface="Microsoft JhengHei"/>
                <a:cs typeface="Microsoft JhengHei"/>
              </a:rPr>
              <a:t>02</a:t>
            </a:r>
          </a:p>
        </p:txBody>
      </p:sp>
      <p:sp>
        <p:nvSpPr>
          <p:cNvPr id="7" name="text-50">
            <a:extLst xmlns:a="http://schemas.openxmlformats.org/drawingml/2006/main">
              <a:ext uri="{FF2B5EF4-FFF2-40B4-BE49-F238E27FC236}">
                <a16:creationId xmlns:a16="http://schemas.microsoft.com/office/drawing/2014/main" id="{000E284D-E3CA-4D59-9FAF-EC165F9B82EE}"/>
              </a:ext>
            </a:extLst>
          </p:cNvPr>
          <p:cNvSpPr>
            <a:spLocks xmlns:a="http://schemas.openxmlformats.org/drawingml/2006/main" noGrp="1"/>
          </p:cNvSpPr>
          <p:nvPr/>
        </p:nvSpPr>
        <p:spPr>
          <a:xfrm xmlns:a="http://schemas.openxmlformats.org/drawingml/2006/main">
            <a:off x="1828800" y="2905125"/>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Microsoft JhengHei"/>
                <a:ea typeface="Microsoft JhengHei"/>
                <a:cs typeface="Microsoft JhengHei"/>
              </a:defRPr>
            </a:pPr>
            <a:r>
              <a:rPr sz="2250" b="1">
                <a:solidFill>
                  <a:srgbClr val="151515"/>
                </a:solidFill>
                <a:latin typeface="Microsoft JhengHei"/>
                <a:ea typeface="Microsoft JhengHei"/>
                <a:cs typeface="Microsoft JhengHei"/>
              </a:rPr>
              <a:t>保留獨立人工案例</a:t>
            </a:r>
          </a:p>
        </p:txBody>
      </p:sp>
      <p:sp>
        <p:nvSpPr>
          <p:cNvPr id="8" name="text-51">
            <a:extLst xmlns:a="http://schemas.openxmlformats.org/drawingml/2006/main">
              <a:ext uri="{FF2B5EF4-FFF2-40B4-BE49-F238E27FC236}">
                <a16:creationId xmlns:a16="http://schemas.microsoft.com/office/drawing/2014/main" id="{8F68794F-FF0D-4C89-A6F8-2335D63A06C7}"/>
              </a:ext>
            </a:extLst>
          </p:cNvPr>
          <p:cNvSpPr>
            <a:spLocks xmlns:a="http://schemas.openxmlformats.org/drawingml/2006/main" noGrp="1"/>
          </p:cNvSpPr>
          <p:nvPr/>
        </p:nvSpPr>
        <p:spPr>
          <a:xfrm xmlns:a="http://schemas.openxmlformats.org/drawingml/2006/main">
            <a:off x="5372100" y="2924175"/>
            <a:ext cx="6000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同學撰寫新話術與情境作封存測試；</a:t>
            </a:r>
          </a:p>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驗證集調整門檻，測試集只用於評估。</a:t>
            </a:r>
          </a:p>
        </p:txBody>
      </p:sp>
      <p:sp>
        <p:nvSpPr>
          <p:cNvPr id="9" name="text-52">
            <a:extLst xmlns:a="http://schemas.openxmlformats.org/drawingml/2006/main">
              <a:ext uri="{FF2B5EF4-FFF2-40B4-BE49-F238E27FC236}">
                <a16:creationId xmlns:a16="http://schemas.microsoft.com/office/drawing/2014/main" id="{CD94C77C-FAB8-423E-BBCC-38EEC15D064F}"/>
              </a:ext>
            </a:extLst>
          </p:cNvPr>
          <p:cNvSpPr>
            <a:spLocks xmlns:a="http://schemas.openxmlformats.org/drawingml/2006/main" noGrp="1"/>
          </p:cNvSpPr>
          <p:nvPr/>
        </p:nvSpPr>
        <p:spPr>
          <a:xfrm xmlns:a="http://schemas.openxmlformats.org/drawingml/2006/main">
            <a:off x="609600" y="4181475"/>
            <a:ext cx="95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626262"/>
                </a:solidFill>
                <a:latin typeface="Microsoft JhengHei"/>
                <a:ea typeface="Microsoft JhengHei"/>
                <a:cs typeface="Microsoft JhengHei"/>
              </a:defRPr>
            </a:pPr>
            <a:r>
              <a:rPr sz="3450" b="0">
                <a:solidFill>
                  <a:srgbClr val="626262"/>
                </a:solidFill>
                <a:latin typeface="Microsoft JhengHei"/>
                <a:ea typeface="Microsoft JhengHei"/>
                <a:cs typeface="Microsoft JhengHei"/>
              </a:rPr>
              <a:t>03</a:t>
            </a:r>
          </a:p>
        </p:txBody>
      </p:sp>
      <p:sp>
        <p:nvSpPr>
          <p:cNvPr id="10" name="text-53">
            <a:extLst xmlns:a="http://schemas.openxmlformats.org/drawingml/2006/main">
              <a:ext uri="{FF2B5EF4-FFF2-40B4-BE49-F238E27FC236}">
                <a16:creationId xmlns:a16="http://schemas.microsoft.com/office/drawing/2014/main" id="{F5EF1205-CCDB-4CB6-8DC6-04270291CEB4}"/>
              </a:ext>
            </a:extLst>
          </p:cNvPr>
          <p:cNvSpPr>
            <a:spLocks xmlns:a="http://schemas.openxmlformats.org/drawingml/2006/main" noGrp="1"/>
          </p:cNvSpPr>
          <p:nvPr/>
        </p:nvSpPr>
        <p:spPr>
          <a:xfrm xmlns:a="http://schemas.openxmlformats.org/drawingml/2006/main">
            <a:off x="1828800" y="419100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Microsoft JhengHei"/>
                <a:ea typeface="Microsoft JhengHei"/>
                <a:cs typeface="Microsoft JhengHei"/>
              </a:defRPr>
            </a:pPr>
            <a:r>
              <a:rPr sz="2250" b="1">
                <a:solidFill>
                  <a:srgbClr val="151515"/>
                </a:solidFill>
                <a:latin typeface="Microsoft JhengHei"/>
                <a:ea typeface="Microsoft JhengHei"/>
                <a:cs typeface="Microsoft JhengHei"/>
              </a:rPr>
              <a:t>資料來源可追溯</a:t>
            </a:r>
          </a:p>
        </p:txBody>
      </p:sp>
      <p:sp>
        <p:nvSpPr>
          <p:cNvPr id="11" name="text-54">
            <a:extLst xmlns:a="http://schemas.openxmlformats.org/drawingml/2006/main">
              <a:ext uri="{FF2B5EF4-FFF2-40B4-BE49-F238E27FC236}">
                <a16:creationId xmlns:a16="http://schemas.microsoft.com/office/drawing/2014/main" id="{13F0E9CF-4F42-486D-8FD0-8B6C88EA0BB5}"/>
              </a:ext>
            </a:extLst>
          </p:cNvPr>
          <p:cNvSpPr>
            <a:spLocks xmlns:a="http://schemas.openxmlformats.org/drawingml/2006/main" noGrp="1"/>
          </p:cNvSpPr>
          <p:nvPr/>
        </p:nvSpPr>
        <p:spPr>
          <a:xfrm xmlns:a="http://schemas.openxmlformats.org/drawingml/2006/main">
            <a:off x="5372100" y="4210050"/>
            <a:ext cx="6000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記錄模型、提示、policy 與複核版本；</a:t>
            </a:r>
          </a:p>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去除近似重複與無法判定的錯誤標籤。</a:t>
            </a:r>
          </a:p>
        </p:txBody>
      </p:sp>
      <p:sp>
        <p:nvSpPr>
          <p:cNvPr id="12" name="text-55">
            <a:extLst xmlns:a="http://schemas.openxmlformats.org/drawingml/2006/main">
              <a:ext uri="{FF2B5EF4-FFF2-40B4-BE49-F238E27FC236}">
                <a16:creationId xmlns:a16="http://schemas.microsoft.com/office/drawing/2014/main" id="{33360185-F8BC-44BF-B919-66B390AB02F9}"/>
              </a:ext>
            </a:extLst>
          </p:cNvPr>
          <p:cNvSpPr>
            <a:spLocks xmlns:a="http://schemas.openxmlformats.org/drawingml/2006/main" noGrp="1"/>
          </p:cNvSpPr>
          <p:nvPr/>
        </p:nvSpPr>
        <p:spPr>
          <a:xfrm xmlns:a="http://schemas.openxmlformats.org/drawingml/2006/main">
            <a:off x="609600" y="5819775"/>
            <a:ext cx="1085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515"/>
                </a:solidFill>
                <a:latin typeface="Microsoft JhengHei"/>
                <a:ea typeface="Microsoft JhengHei"/>
                <a:cs typeface="Microsoft JhengHei"/>
              </a:defRPr>
            </a:pPr>
            <a:r>
              <a:rPr sz="2025" b="1">
                <a:solidFill>
                  <a:srgbClr val="151515"/>
                </a:solidFill>
                <a:latin typeface="Microsoft JhengHei"/>
                <a:ea typeface="Microsoft JhengHei"/>
                <a:cs typeface="Microsoft JhengHei"/>
              </a:rPr>
              <a:t>新情境與完整對話的泛化表現，才是主要驗證目標。</a:t>
            </a:r>
          </a:p>
        </p:txBody>
      </p:sp>
    </p:spTree>
    <p:extLst>
      <p:ext uri="{BB962C8B-B14F-4D97-AF65-F5344CB8AC3E}">
        <p14:creationId xmlns:p14="http://schemas.microsoft.com/office/powerpoint/2010/main" val="1185582775"/>
      </p:ext>
    </p:extLst>
  </p:cSld>
</p:sld>
</file>

<file path=ppt/slides/slide13.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1D2D4D5E-A7DA-4251-B193-092462A23A4C}"/>
              </a:ext>
            </a:extLst>
          </p:cNvPr>
          <p:cNvSpPr>
            <a:spLocks xmlns:a="http://schemas.openxmlformats.org/drawingml/2006/main" noGrp="1"/>
          </p:cNvSpPr>
          <p:nvPr/>
        </p:nvSpPr>
        <p:spPr>
          <a:xfrm xmlns:a="http://schemas.openxmlformats.org/drawingml/2006/main">
            <a:off x="609600" y="4667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icrosoft JhengHei"/>
                <a:ea typeface="Microsoft JhengHei"/>
                <a:cs typeface="Microsoft JhengHei"/>
              </a:defRPr>
            </a:pPr>
            <a:r>
              <a:rPr sz="3300" b="1">
                <a:solidFill>
                  <a:srgbClr val="151515"/>
                </a:solidFill>
                <a:latin typeface="Microsoft JhengHei"/>
                <a:ea typeface="Microsoft JhengHei"/>
                <a:cs typeface="Microsoft JhengHei"/>
              </a:rPr>
              <a:t>實驗設計與主要指標</a:t>
            </a:r>
          </a:p>
        </p:txBody>
      </p:sp>
      <p:sp>
        <p:nvSpPr>
          <p:cNvPr id="2" name="page-number">
            <a:extLst xmlns:a="http://schemas.openxmlformats.org/drawingml/2006/main">
              <a:ext uri="{FF2B5EF4-FFF2-40B4-BE49-F238E27FC236}">
                <a16:creationId xmlns:a16="http://schemas.microsoft.com/office/drawing/2014/main" id="{FC74FA90-1EDC-4212-9528-1209E77A2282}"/>
              </a:ext>
            </a:extLst>
          </p:cNvPr>
          <p:cNvSpPr>
            <a:spLocks xmlns:a="http://schemas.openxmlformats.org/drawingml/2006/main" noGrp="1"/>
          </p:cNvSpPr>
          <p:nvPr/>
        </p:nvSpPr>
        <p:spPr>
          <a:xfrm xmlns:a="http://schemas.openxmlformats.org/drawingml/2006/main">
            <a:off x="11182350" y="64198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6262"/>
                </a:solidFill>
                <a:latin typeface="Microsoft JhengHei"/>
                <a:ea typeface="Microsoft JhengHei"/>
                <a:cs typeface="Microsoft JhengHei"/>
              </a:defRPr>
            </a:pPr>
            <a:r>
              <a:rPr sz="1275" b="0">
                <a:solidFill>
                  <a:srgbClr val="626262"/>
                </a:solidFill>
                <a:latin typeface="Microsoft JhengHei"/>
                <a:ea typeface="Microsoft JhengHei"/>
                <a:cs typeface="Microsoft JhengHei"/>
              </a:rPr>
              <a:t>13</a:t>
            </a:r>
          </a:p>
        </p:txBody>
      </p:sp>
      <p:graphicFrame>
        <p:nvGraphicFramePr>
          <p:cNvPr id="8" name=""/>
          <p:cNvGraphicFramePr/>
          <p:nvPr/>
        </p:nvGraphicFramePr>
        <p:xfrm>
          <a:off xmlns:a="http://schemas.openxmlformats.org/drawingml/2006/main" x="609600" y="1685925"/>
          <a:ext xmlns:a="http://schemas.openxmlformats.org/drawingml/2006/main" cx="10972800" cy="2619375"/>
        </p:xfrm>
        <a:graphic xmlns:a="http://schemas.openxmlformats.org/drawingml/2006/main">
          <a:graphicData uri="http://schemas.openxmlformats.org/drawingml/2006/table">
            <a:tbl>
              <a:tblPr firstRow="0" bandRow="0"/>
              <a:tblGrid>
                <a:gridCol w="2143125"/>
                <a:gridCol w="4781550"/>
                <a:gridCol w="4048125"/>
              </a:tblGrid>
              <a:tr h="654844">
                <a:tc>
                  <a:txBody>
                    <a:bodyPr>
                      <a:noAutofit/>
                    </a:bodyPr>
                    <a:lstStyle/>
                    <a:p>
                      <a:r>
                        <a:rPr sz="1725" b="1">
                          <a:solidFill>
                            <a:srgbClr val="FFFFFF"/>
                          </a:solidFill>
                          <a:latin typeface="Microsoft JhengHei"/>
                          <a:ea typeface="Microsoft JhengHei"/>
                          <a:cs typeface="Microsoft JhengHei"/>
                        </a:rPr>
                        <a:t>組別</a:t>
                      </a:r>
                    </a:p>
                  </a:txBody>
                  <a:tcPr marL="142875" marR="142875" marT="123825" marB="95250" anchor="ctr">
                    <a:solidFill>
                      <a:srgbClr val="151515"/>
                    </a:solidFill>
                  </a:tcPr>
                </a:tc>
                <a:tc>
                  <a:txBody>
                    <a:bodyPr>
                      <a:noAutofit/>
                    </a:bodyPr>
                    <a:lstStyle/>
                    <a:p>
                      <a:r>
                        <a:rPr sz="1725" b="1">
                          <a:solidFill>
                            <a:srgbClr val="FFFFFF"/>
                          </a:solidFill>
                          <a:latin typeface="Microsoft JhengHei"/>
                          <a:ea typeface="Microsoft JhengHei"/>
                          <a:cs typeface="Microsoft JhengHei"/>
                        </a:rPr>
                        <a:t>防護配置</a:t>
                      </a:r>
                    </a:p>
                  </a:txBody>
                  <a:tcPr marL="142875" marR="142875" marT="123825" marB="95250" anchor="ctr">
                    <a:solidFill>
                      <a:srgbClr val="151515"/>
                    </a:solidFill>
                  </a:tcPr>
                </a:tc>
                <a:tc>
                  <a:txBody>
                    <a:bodyPr>
                      <a:noAutofit/>
                    </a:bodyPr>
                    <a:lstStyle/>
                    <a:p>
                      <a:r>
                        <a:rPr sz="1725" b="1">
                          <a:solidFill>
                            <a:srgbClr val="FFFFFF"/>
                          </a:solidFill>
                          <a:latin typeface="Microsoft JhengHei"/>
                          <a:ea typeface="Microsoft JhengHei"/>
                          <a:cs typeface="Microsoft JhengHei"/>
                        </a:rPr>
                        <a:t>要回答的問題</a:t>
                      </a:r>
                    </a:p>
                  </a:txBody>
                  <a:tcPr marL="142875" marR="142875" marT="123825" marB="95250" anchor="ctr">
                    <a:solidFill>
                      <a:srgbClr val="151515"/>
                    </a:solidFill>
                  </a:tcPr>
                </a:tc>
              </a:tr>
              <a:tr h="654844">
                <a:tc>
                  <a:txBody>
                    <a:bodyPr>
                      <a:noAutofit/>
                    </a:bodyPr>
                    <a:lstStyle/>
                    <a:p>
                      <a:r>
                        <a:rPr sz="1725" b="0">
                          <a:solidFill>
                            <a:srgbClr val="151515"/>
                          </a:solidFill>
                          <a:latin typeface="Microsoft JhengHei"/>
                          <a:ea typeface="Microsoft JhengHei"/>
                          <a:cs typeface="Microsoft JhengHei"/>
                        </a:rPr>
                        <a:t>A 規則基線</a:t>
                      </a:r>
                    </a:p>
                  </a:txBody>
                  <a:tcPr marL="142875" marR="142875" marT="123825" marB="95250" anchor="ctr">
                    <a:solidFill>
                      <a:srgbClr val="FFFFFF"/>
                    </a:solidFill>
                  </a:tcPr>
                </a:tc>
                <a:tc>
                  <a:txBody>
                    <a:bodyPr>
                      <a:noAutofit/>
                    </a:bodyPr>
                    <a:lstStyle/>
                    <a:p>
                      <a:r>
                        <a:rPr sz="1725" b="0">
                          <a:solidFill>
                            <a:srgbClr val="151515"/>
                          </a:solidFill>
                          <a:latin typeface="Microsoft JhengHei"/>
                          <a:ea typeface="Microsoft JhengHei"/>
                          <a:cs typeface="Microsoft JhengHei"/>
                        </a:rPr>
                        <a:t>權限、目的地、時效與任務預算</a:t>
                      </a:r>
                    </a:p>
                  </a:txBody>
                  <a:tcPr marL="142875" marR="142875" marT="123825" marB="95250" anchor="ctr">
                    <a:solidFill>
                      <a:srgbClr val="FFFFFF"/>
                    </a:solidFill>
                  </a:tcPr>
                </a:tc>
                <a:tc>
                  <a:txBody>
                    <a:bodyPr>
                      <a:noAutofit/>
                    </a:bodyPr>
                    <a:lstStyle/>
                    <a:p>
                      <a:r>
                        <a:rPr sz="1725" b="0">
                          <a:solidFill>
                            <a:srgbClr val="151515"/>
                          </a:solidFill>
                          <a:latin typeface="Microsoft JhengHei"/>
                          <a:ea typeface="Microsoft JhengHei"/>
                          <a:cs typeface="Microsoft JhengHei"/>
                        </a:rPr>
                        <a:t>既有可觀察規則能做到多少</a:t>
                      </a:r>
                    </a:p>
                  </a:txBody>
                  <a:tcPr marL="142875" marR="142875" marT="123825" marB="95250" anchor="ctr">
                    <a:solidFill>
                      <a:srgbClr val="FFFFFF"/>
                    </a:solidFill>
                  </a:tcPr>
                </a:tc>
              </a:tr>
              <a:tr h="654844">
                <a:tc>
                  <a:txBody>
                    <a:bodyPr>
                      <a:noAutofit/>
                    </a:bodyPr>
                    <a:lstStyle/>
                    <a:p>
                      <a:r>
                        <a:rPr sz="1725" b="0">
                          <a:solidFill>
                            <a:srgbClr val="151515"/>
                          </a:solidFill>
                          <a:latin typeface="Microsoft JhengHei"/>
                          <a:ea typeface="Microsoft JhengHei"/>
                          <a:cs typeface="Microsoft JhengHei"/>
                        </a:rPr>
                        <a:t>B 單句模型</a:t>
                      </a:r>
                    </a:p>
                  </a:txBody>
                  <a:tcPr marL="142875" marR="142875" marT="123825" marB="95250" anchor="ctr">
                    <a:solidFill>
                      <a:srgbClr val="F0F0F0"/>
                    </a:solidFill>
                  </a:tcPr>
                </a:tc>
                <a:tc>
                  <a:txBody>
                    <a:bodyPr>
                      <a:noAutofit/>
                    </a:bodyPr>
                    <a:lstStyle/>
                    <a:p>
                      <a:r>
                        <a:rPr sz="1725" b="0">
                          <a:solidFill>
                            <a:srgbClr val="151515"/>
                          </a:solidFill>
                          <a:latin typeface="Microsoft JhengHei"/>
                          <a:ea typeface="Microsoft JhengHei"/>
                          <a:cs typeface="Microsoft JhengHei"/>
                        </a:rPr>
                        <a:t>相同規則，加上單句風險判斷</a:t>
                      </a:r>
                    </a:p>
                  </a:txBody>
                  <a:tcPr marL="142875" marR="142875" marT="123825" marB="95250" anchor="ctr">
                    <a:solidFill>
                      <a:srgbClr val="F0F0F0"/>
                    </a:solidFill>
                  </a:tcPr>
                </a:tc>
                <a:tc>
                  <a:txBody>
                    <a:bodyPr>
                      <a:noAutofit/>
                    </a:bodyPr>
                    <a:lstStyle/>
                    <a:p>
                      <a:r>
                        <a:rPr sz="1725" b="0">
                          <a:solidFill>
                            <a:srgbClr val="151515"/>
                          </a:solidFill>
                          <a:latin typeface="Microsoft JhengHei"/>
                          <a:ea typeface="Microsoft JhengHei"/>
                          <a:cs typeface="Microsoft JhengHei"/>
                        </a:rPr>
                        <a:t>文字語意是否增加價值</a:t>
                      </a:r>
                    </a:p>
                  </a:txBody>
                  <a:tcPr marL="142875" marR="142875" marT="123825" marB="95250" anchor="ctr">
                    <a:solidFill>
                      <a:srgbClr val="F0F0F0"/>
                    </a:solidFill>
                  </a:tcPr>
                </a:tc>
              </a:tr>
              <a:tr h="654844">
                <a:tc>
                  <a:txBody>
                    <a:bodyPr>
                      <a:noAutofit/>
                    </a:bodyPr>
                    <a:lstStyle/>
                    <a:p>
                      <a:r>
                        <a:rPr sz="1725" b="0">
                          <a:solidFill>
                            <a:srgbClr val="151515"/>
                          </a:solidFill>
                          <a:latin typeface="Microsoft JhengHei"/>
                          <a:ea typeface="Microsoft JhengHei"/>
                          <a:cs typeface="Microsoft JhengHei"/>
                        </a:rPr>
                        <a:t>C 上下文模型</a:t>
                      </a:r>
                    </a:p>
                  </a:txBody>
                  <a:tcPr marL="142875" marR="142875" marT="123825" marB="95250" anchor="ctr">
                    <a:solidFill>
                      <a:srgbClr val="FFFFFF"/>
                    </a:solidFill>
                  </a:tcPr>
                </a:tc>
                <a:tc>
                  <a:txBody>
                    <a:bodyPr>
                      <a:noAutofit/>
                    </a:bodyPr>
                    <a:lstStyle/>
                    <a:p>
                      <a:r>
                        <a:rPr sz="1725" b="0">
                          <a:solidFill>
                            <a:srgbClr val="151515"/>
                          </a:solidFill>
                          <a:latin typeface="Microsoft JhengHei"/>
                          <a:ea typeface="Microsoft JhengHei"/>
                          <a:cs typeface="Microsoft JhengHei"/>
                        </a:rPr>
                        <a:t>相同規則，加入歷史、狀態與候選動作</a:t>
                      </a:r>
                    </a:p>
                  </a:txBody>
                  <a:tcPr marL="142875" marR="142875" marT="123825" marB="95250" anchor="ctr">
                    <a:solidFill>
                      <a:srgbClr val="FFFFFF"/>
                    </a:solidFill>
                  </a:tcPr>
                </a:tc>
                <a:tc>
                  <a:txBody>
                    <a:bodyPr>
                      <a:noAutofit/>
                    </a:bodyPr>
                    <a:lstStyle/>
                    <a:p>
                      <a:r>
                        <a:rPr sz="1725" b="0">
                          <a:solidFill>
                            <a:srgbClr val="151515"/>
                          </a:solidFill>
                          <a:latin typeface="Microsoft JhengHei"/>
                          <a:ea typeface="Microsoft JhengHei"/>
                          <a:cs typeface="Microsoft JhengHei"/>
                        </a:rPr>
                        <a:t>上下文是否改善安全與服務</a:t>
                      </a:r>
                    </a:p>
                  </a:txBody>
                  <a:tcPr marL="142875" marR="142875" marT="123825" marB="95250" anchor="ctr">
                    <a:solidFill>
                      <a:srgbClr val="FFFFFF"/>
                    </a:solidFill>
                  </a:tcPr>
                </a:tc>
              </a:tr>
            </a:tbl>
          </a:graphicData>
        </a:graphic>
      </p:graphicFrame>
      <p:sp>
        <p:nvSpPr>
          <p:cNvPr id="4" name="text-56">
            <a:extLst xmlns:a="http://schemas.openxmlformats.org/drawingml/2006/main">
              <a:ext uri="{FF2B5EF4-FFF2-40B4-BE49-F238E27FC236}">
                <a16:creationId xmlns:a16="http://schemas.microsoft.com/office/drawing/2014/main" id="{7704AF0D-375E-4D9C-8814-00038AB7790A}"/>
              </a:ext>
            </a:extLst>
          </p:cNvPr>
          <p:cNvSpPr>
            <a:spLocks xmlns:a="http://schemas.openxmlformats.org/drawingml/2006/main" noGrp="1"/>
          </p:cNvSpPr>
          <p:nvPr/>
        </p:nvSpPr>
        <p:spPr>
          <a:xfrm xmlns:a="http://schemas.openxmlformats.org/drawingml/2006/main">
            <a:off x="609600" y="481012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51515"/>
                </a:solidFill>
                <a:latin typeface="Microsoft JhengHei"/>
                <a:ea typeface="Microsoft JhengHei"/>
                <a:cs typeface="Microsoft JhengHei"/>
              </a:defRPr>
            </a:pPr>
            <a:r>
              <a:rPr sz="2475" b="1">
                <a:solidFill>
                  <a:srgbClr val="151515"/>
                </a:solidFill>
                <a:latin typeface="Microsoft JhengHei"/>
                <a:ea typeface="Microsoft JhengHei"/>
                <a:cs typeface="Microsoft JhengHei"/>
              </a:rPr>
              <a:t>未授權／濫用執行率     合法任務成功率</a:t>
            </a:r>
          </a:p>
        </p:txBody>
      </p:sp>
      <p:sp>
        <p:nvSpPr>
          <p:cNvPr id="5" name="text-57">
            <a:extLst xmlns:a="http://schemas.openxmlformats.org/drawingml/2006/main">
              <a:ext uri="{FF2B5EF4-FFF2-40B4-BE49-F238E27FC236}">
                <a16:creationId xmlns:a16="http://schemas.microsoft.com/office/drawing/2014/main" id="{48AFFE9F-D906-4C1B-B3B4-2A28829AF3AD}"/>
              </a:ext>
            </a:extLst>
          </p:cNvPr>
          <p:cNvSpPr>
            <a:spLocks xmlns:a="http://schemas.openxmlformats.org/drawingml/2006/main" noGrp="1"/>
          </p:cNvSpPr>
          <p:nvPr/>
        </p:nvSpPr>
        <p:spPr>
          <a:xfrm xmlns:a="http://schemas.openxmlformats.org/drawingml/2006/main">
            <a:off x="609600" y="55911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另報誤拒率、澄清率與 P95 額外延遲；固定相同導航與測試情境。</a:t>
            </a:r>
          </a:p>
        </p:txBody>
      </p:sp>
    </p:spTree>
    <p:extLst>
      <p:ext uri="{BB962C8B-B14F-4D97-AF65-F5344CB8AC3E}">
        <p14:creationId xmlns:p14="http://schemas.microsoft.com/office/powerpoint/2010/main" val="87505699"/>
      </p:ext>
    </p:extLst>
  </p:cSld>
</p:sld>
</file>

<file path=ppt/slides/slide14.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5F779985-FA18-4EF6-AEB7-D88F25BE594C}"/>
              </a:ext>
            </a:extLst>
          </p:cNvPr>
          <p:cNvSpPr>
            <a:spLocks xmlns:a="http://schemas.openxmlformats.org/drawingml/2006/main" noGrp="1"/>
          </p:cNvSpPr>
          <p:nvPr/>
        </p:nvSpPr>
        <p:spPr>
          <a:xfrm xmlns:a="http://schemas.openxmlformats.org/drawingml/2006/main">
            <a:off x="609600" y="4667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icrosoft JhengHei"/>
                <a:ea typeface="Microsoft JhengHei"/>
                <a:cs typeface="Microsoft JhengHei"/>
              </a:defRPr>
            </a:pPr>
            <a:r>
              <a:rPr sz="3300" b="1">
                <a:solidFill>
                  <a:srgbClr val="151515"/>
                </a:solidFill>
                <a:latin typeface="Microsoft JhengHei"/>
                <a:ea typeface="Microsoft JhengHei"/>
                <a:cs typeface="Microsoft JhengHei"/>
              </a:rPr>
              <a:t>兩人分工與共同介面</a:t>
            </a:r>
          </a:p>
        </p:txBody>
      </p:sp>
      <p:sp>
        <p:nvSpPr>
          <p:cNvPr id="2" name="page-number">
            <a:extLst xmlns:a="http://schemas.openxmlformats.org/drawingml/2006/main">
              <a:ext uri="{FF2B5EF4-FFF2-40B4-BE49-F238E27FC236}">
                <a16:creationId xmlns:a16="http://schemas.microsoft.com/office/drawing/2014/main" id="{35C25106-1D2D-43A6-A0C8-46E40AE74CA6}"/>
              </a:ext>
            </a:extLst>
          </p:cNvPr>
          <p:cNvSpPr>
            <a:spLocks xmlns:a="http://schemas.openxmlformats.org/drawingml/2006/main" noGrp="1"/>
          </p:cNvSpPr>
          <p:nvPr/>
        </p:nvSpPr>
        <p:spPr>
          <a:xfrm xmlns:a="http://schemas.openxmlformats.org/drawingml/2006/main">
            <a:off x="11182350" y="64198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6262"/>
                </a:solidFill>
                <a:latin typeface="Microsoft JhengHei"/>
                <a:ea typeface="Microsoft JhengHei"/>
                <a:cs typeface="Microsoft JhengHei"/>
              </a:defRPr>
            </a:pPr>
            <a:r>
              <a:rPr sz="1275" b="0">
                <a:solidFill>
                  <a:srgbClr val="626262"/>
                </a:solidFill>
                <a:latin typeface="Microsoft JhengHei"/>
                <a:ea typeface="Microsoft JhengHei"/>
                <a:cs typeface="Microsoft JhengHei"/>
              </a:rPr>
              <a:t>14</a:t>
            </a:r>
          </a:p>
        </p:txBody>
      </p:sp>
      <p:graphicFrame>
        <p:nvGraphicFramePr>
          <p:cNvPr id="7" name=""/>
          <p:cNvGraphicFramePr/>
          <p:nvPr/>
        </p:nvGraphicFramePr>
        <p:xfrm>
          <a:off xmlns:a="http://schemas.openxmlformats.org/drawingml/2006/main" x="609600" y="1781175"/>
          <a:ext xmlns:a="http://schemas.openxmlformats.org/drawingml/2006/main" cx="10972800" cy="3190875"/>
        </p:xfrm>
        <a:graphic xmlns:a="http://schemas.openxmlformats.org/drawingml/2006/main">
          <a:graphicData uri="http://schemas.openxmlformats.org/drawingml/2006/table">
            <a:tbl>
              <a:tblPr firstRow="0" bandRow="0"/>
              <a:tblGrid>
                <a:gridCol w="1695450"/>
                <a:gridCol w="4886325"/>
                <a:gridCol w="4391025"/>
              </a:tblGrid>
              <a:tr h="797719">
                <a:tc>
                  <a:txBody>
                    <a:bodyPr>
                      <a:noAutofit/>
                    </a:bodyPr>
                    <a:lstStyle/>
                    <a:p>
                      <a:r>
                        <a:rPr sz="1725" b="1">
                          <a:solidFill>
                            <a:srgbClr val="FFFFFF"/>
                          </a:solidFill>
                          <a:latin typeface="Microsoft JhengHei"/>
                          <a:ea typeface="Microsoft JhengHei"/>
                          <a:cs typeface="Microsoft JhengHei"/>
                        </a:rPr>
                        <a:t>負責人</a:t>
                      </a:r>
                    </a:p>
                  </a:txBody>
                  <a:tcPr marL="142875" marR="142875" marT="123825" marB="95250" anchor="ctr">
                    <a:solidFill>
                      <a:srgbClr val="151515"/>
                    </a:solidFill>
                  </a:tcPr>
                </a:tc>
                <a:tc>
                  <a:txBody>
                    <a:bodyPr>
                      <a:noAutofit/>
                    </a:bodyPr>
                    <a:lstStyle/>
                    <a:p>
                      <a:r>
                        <a:rPr sz="1725" b="1">
                          <a:solidFill>
                            <a:srgbClr val="FFFFFF"/>
                          </a:solidFill>
                          <a:latin typeface="Microsoft JhengHei"/>
                          <a:ea typeface="Microsoft JhengHei"/>
                          <a:cs typeface="Microsoft JhengHei"/>
                        </a:rPr>
                        <a:t>主要工作</a:t>
                      </a:r>
                    </a:p>
                  </a:txBody>
                  <a:tcPr marL="142875" marR="142875" marT="123825" marB="95250" anchor="ctr">
                    <a:solidFill>
                      <a:srgbClr val="151515"/>
                    </a:solidFill>
                  </a:tcPr>
                </a:tc>
                <a:tc>
                  <a:txBody>
                    <a:bodyPr>
                      <a:noAutofit/>
                    </a:bodyPr>
                    <a:lstStyle/>
                    <a:p>
                      <a:r>
                        <a:rPr sz="1725" b="1">
                          <a:solidFill>
                            <a:srgbClr val="FFFFFF"/>
                          </a:solidFill>
                          <a:latin typeface="Microsoft JhengHei"/>
                          <a:ea typeface="Microsoft JhengHei"/>
                          <a:cs typeface="Microsoft JhengHei"/>
                        </a:rPr>
                        <a:t>交付物</a:t>
                      </a:r>
                    </a:p>
                  </a:txBody>
                  <a:tcPr marL="142875" marR="142875" marT="123825" marB="95250" anchor="ctr">
                    <a:solidFill>
                      <a:srgbClr val="151515"/>
                    </a:solidFill>
                  </a:tcPr>
                </a:tc>
              </a:tr>
              <a:tr h="797719">
                <a:tc>
                  <a:txBody>
                    <a:bodyPr>
                      <a:noAutofit/>
                    </a:bodyPr>
                    <a:lstStyle/>
                    <a:p>
                      <a:r>
                        <a:rPr sz="1725" b="0">
                          <a:solidFill>
                            <a:srgbClr val="151515"/>
                          </a:solidFill>
                          <a:latin typeface="Microsoft JhengHei"/>
                          <a:ea typeface="Microsoft JhengHei"/>
                          <a:cs typeface="Microsoft JhengHei"/>
                        </a:rPr>
                        <a:t>Jesse</a:t>
                      </a:r>
                    </a:p>
                  </a:txBody>
                  <a:tcPr marL="142875" marR="142875" marT="123825" marB="95250" anchor="ctr">
                    <a:solidFill>
                      <a:srgbClr val="FFFFFF"/>
                    </a:solidFill>
                  </a:tcPr>
                </a:tc>
                <a:tc>
                  <a:txBody>
                    <a:bodyPr>
                      <a:noAutofit/>
                    </a:bodyPr>
                    <a:lstStyle/>
                    <a:p>
                      <a:r>
                        <a:rPr sz="1725" b="0">
                          <a:solidFill>
                            <a:srgbClr val="151515"/>
                          </a:solidFill>
                          <a:latin typeface="Microsoft JhengHei"/>
                          <a:ea typeface="Microsoft JhengHei"/>
                          <a:cs typeface="Microsoft JhengHei"/>
                        </a:rPr>
                        <a:t>政策、資料標註、風險模型與蒸餾</a:t>
                      </a:r>
                    </a:p>
                    <a:p>
                      <a:r>
                        <a:rPr sz="1725" b="0">
                          <a:solidFill>
                            <a:srgbClr val="151515"/>
                          </a:solidFill>
                          <a:latin typeface="Microsoft JhengHei"/>
                          <a:ea typeface="Microsoft JhengHei"/>
                          <a:cs typeface="Microsoft JhengHei"/>
                        </a:rPr>
                        <a:t>授權閘門、資安測試與結果分析</a:t>
                      </a:r>
                    </a:p>
                  </a:txBody>
                  <a:tcPr marL="142875" marR="142875" marT="123825" marB="95250" anchor="ctr">
                    <a:solidFill>
                      <a:srgbClr val="FFFFFF"/>
                    </a:solidFill>
                  </a:tcPr>
                </a:tc>
                <a:tc>
                  <a:txBody>
                    <a:bodyPr>
                      <a:noAutofit/>
                    </a:bodyPr>
                    <a:lstStyle/>
                    <a:p>
                      <a:r>
                        <a:rPr sz="1725" b="0">
                          <a:solidFill>
                            <a:srgbClr val="151515"/>
                          </a:solidFill>
                          <a:latin typeface="Microsoft JhengHei"/>
                          <a:ea typeface="Microsoft JhengHei"/>
                          <a:cs typeface="Microsoft JhengHei"/>
                        </a:rPr>
                        <a:t>policy 規格、資料集、模型</a:t>
                      </a:r>
                    </a:p>
                    <a:p>
                      <a:r>
                        <a:rPr sz="1725" b="0">
                          <a:solidFill>
                            <a:srgbClr val="151515"/>
                          </a:solidFill>
                          <a:latin typeface="Microsoft JhengHei"/>
                          <a:ea typeface="Microsoft JhengHei"/>
                          <a:cs typeface="Microsoft JhengHei"/>
                        </a:rPr>
                        <a:t>拒絕原因與評估報告</a:t>
                      </a:r>
                    </a:p>
                  </a:txBody>
                  <a:tcPr marL="142875" marR="142875" marT="123825" marB="95250" anchor="ctr">
                    <a:solidFill>
                      <a:srgbClr val="FFFFFF"/>
                    </a:solidFill>
                  </a:tcPr>
                </a:tc>
              </a:tr>
              <a:tr h="797719">
                <a:tc>
                  <a:txBody>
                    <a:bodyPr>
                      <a:noAutofit/>
                    </a:bodyPr>
                    <a:lstStyle/>
                    <a:p>
                      <a:r>
                        <a:rPr sz="1725" b="0">
                          <a:solidFill>
                            <a:srgbClr val="151515"/>
                          </a:solidFill>
                          <a:latin typeface="Microsoft JhengHei"/>
                          <a:ea typeface="Microsoft JhengHei"/>
                          <a:cs typeface="Microsoft JhengHei"/>
                        </a:rPr>
                        <a:t>新隊友</a:t>
                      </a:r>
                    </a:p>
                  </a:txBody>
                  <a:tcPr marL="142875" marR="142875" marT="123825" marB="95250" anchor="ctr">
                    <a:solidFill>
                      <a:srgbClr val="F0F0F0"/>
                    </a:solidFill>
                  </a:tcPr>
                </a:tc>
                <a:tc>
                  <a:txBody>
                    <a:bodyPr>
                      <a:noAutofit/>
                    </a:bodyPr>
                    <a:lstStyle/>
                    <a:p>
                      <a:r>
                        <a:rPr sz="1725" b="0">
                          <a:solidFill>
                            <a:srgbClr val="151515"/>
                          </a:solidFill>
                          <a:latin typeface="Microsoft JhengHei"/>
                          <a:ea typeface="Microsoft JhengHei"/>
                          <a:cs typeface="Microsoft JhengHei"/>
                        </a:rPr>
                        <a:t>文字介面、Agent 任務解析</a:t>
                      </a:r>
                    </a:p>
                    <a:p>
                      <a:r>
                        <a:rPr sz="1725" b="0">
                          <a:solidFill>
                            <a:srgbClr val="151515"/>
                          </a:solidFill>
                          <a:latin typeface="Microsoft JhengHei"/>
                          <a:ea typeface="Microsoft JhengHei"/>
                          <a:cs typeface="Microsoft JhengHei"/>
                        </a:rPr>
                        <a:t>巡邏／RL 導航、狀態回報</a:t>
                      </a:r>
                    </a:p>
                  </a:txBody>
                  <a:tcPr marL="142875" marR="142875" marT="123825" marB="95250" anchor="ctr">
                    <a:solidFill>
                      <a:srgbClr val="F0F0F0"/>
                    </a:solidFill>
                  </a:tcPr>
                </a:tc>
                <a:tc>
                  <a:txBody>
                    <a:bodyPr>
                      <a:noAutofit/>
                    </a:bodyPr>
                    <a:lstStyle/>
                    <a:p>
                      <a:r>
                        <a:rPr sz="1725" b="0">
                          <a:solidFill>
                            <a:srgbClr val="151515"/>
                          </a:solidFill>
                          <a:latin typeface="Microsoft JhengHei"/>
                          <a:ea typeface="Microsoft JhengHei"/>
                          <a:cs typeface="Microsoft JhengHei"/>
                        </a:rPr>
                        <a:t>結構化候選動作</a:t>
                      </a:r>
                    </a:p>
                    <a:p>
                      <a:r>
                        <a:rPr sz="1725" b="0">
                          <a:solidFill>
                            <a:srgbClr val="151515"/>
                          </a:solidFill>
                          <a:latin typeface="Microsoft JhengHei"/>
                          <a:ea typeface="Microsoft JhengHei"/>
                          <a:cs typeface="Microsoft JhengHei"/>
                        </a:rPr>
                        <a:t>導航基線、任務與執行紀錄</a:t>
                      </a:r>
                    </a:p>
                  </a:txBody>
                  <a:tcPr marL="142875" marR="142875" marT="123825" marB="95250" anchor="ctr">
                    <a:solidFill>
                      <a:srgbClr val="F0F0F0"/>
                    </a:solidFill>
                  </a:tcPr>
                </a:tc>
              </a:tr>
              <a:tr h="797719">
                <a:tc>
                  <a:txBody>
                    <a:bodyPr>
                      <a:noAutofit/>
                    </a:bodyPr>
                    <a:lstStyle/>
                    <a:p>
                      <a:r>
                        <a:rPr sz="1725" b="0">
                          <a:solidFill>
                            <a:srgbClr val="151515"/>
                          </a:solidFill>
                          <a:latin typeface="Microsoft JhengHei"/>
                          <a:ea typeface="Microsoft JhengHei"/>
                          <a:cs typeface="Microsoft JhengHei"/>
                        </a:rPr>
                        <a:t>共同</a:t>
                      </a:r>
                    </a:p>
                  </a:txBody>
                  <a:tcPr marL="142875" marR="142875" marT="123825" marB="95250" anchor="ctr">
                    <a:solidFill>
                      <a:srgbClr val="FFFFFF"/>
                    </a:solidFill>
                  </a:tcPr>
                </a:tc>
                <a:tc>
                  <a:txBody>
                    <a:bodyPr>
                      <a:noAutofit/>
                    </a:bodyPr>
                    <a:lstStyle/>
                    <a:p>
                      <a:r>
                        <a:rPr sz="1725" b="0">
                          <a:solidFill>
                            <a:srgbClr val="151515"/>
                          </a:solidFill>
                          <a:latin typeface="Microsoft JhengHei"/>
                          <a:ea typeface="Microsoft JhengHei"/>
                          <a:cs typeface="Microsoft JhengHei"/>
                        </a:rPr>
                        <a:t>介面凍結、Gazebo 整合</a:t>
                      </a:r>
                    </a:p>
                    <a:p>
                      <a:r>
                        <a:rPr sz="1725" b="0">
                          <a:solidFill>
                            <a:srgbClr val="151515"/>
                          </a:solidFill>
                          <a:latin typeface="Microsoft JhengHei"/>
                          <a:ea typeface="Microsoft JhengHei"/>
                          <a:cs typeface="Microsoft JhengHei"/>
                        </a:rPr>
                        <a:t>實機展示、研究報告與答辯</a:t>
                      </a:r>
                    </a:p>
                  </a:txBody>
                  <a:tcPr marL="142875" marR="142875" marT="123825" marB="95250" anchor="ctr">
                    <a:solidFill>
                      <a:srgbClr val="FFFFFF"/>
                    </a:solidFill>
                  </a:tcPr>
                </a:tc>
                <a:tc>
                  <a:txBody>
                    <a:bodyPr>
                      <a:noAutofit/>
                    </a:bodyPr>
                    <a:lstStyle/>
                    <a:p>
                      <a:r>
                        <a:rPr sz="1725" b="0">
                          <a:solidFill>
                            <a:srgbClr val="151515"/>
                          </a:solidFill>
                          <a:latin typeface="Microsoft JhengHei"/>
                          <a:ea typeface="Microsoft JhengHei"/>
                          <a:cs typeface="Microsoft JhengHei"/>
                        </a:rPr>
                        <a:t>可重播的完整情境</a:t>
                      </a:r>
                    </a:p>
                    <a:p>
                      <a:r>
                        <a:rPr sz="1725" b="0">
                          <a:solidFill>
                            <a:srgbClr val="151515"/>
                          </a:solidFill>
                          <a:latin typeface="Microsoft JhengHei"/>
                          <a:ea typeface="Microsoft JhengHei"/>
                          <a:cs typeface="Microsoft JhengHei"/>
                        </a:rPr>
                        <a:t>版本一致的系統展示</a:t>
                      </a:r>
                    </a:p>
                  </a:txBody>
                  <a:tcPr marL="142875" marR="142875" marT="123825" marB="95250" anchor="ctr">
                    <a:solidFill>
                      <a:srgbClr val="FFFFFF"/>
                    </a:solidFill>
                  </a:tcPr>
                </a:tc>
              </a:tr>
            </a:tbl>
          </a:graphicData>
        </a:graphic>
      </p:graphicFrame>
      <p:sp>
        <p:nvSpPr>
          <p:cNvPr id="4" name="text-58">
            <a:extLst xmlns:a="http://schemas.openxmlformats.org/drawingml/2006/main">
              <a:ext uri="{FF2B5EF4-FFF2-40B4-BE49-F238E27FC236}">
                <a16:creationId xmlns:a16="http://schemas.microsoft.com/office/drawing/2014/main" id="{89FF48BB-6C18-4EE2-8C0D-06C89B82A58D}"/>
              </a:ext>
            </a:extLst>
          </p:cNvPr>
          <p:cNvSpPr>
            <a:spLocks xmlns:a="http://schemas.openxmlformats.org/drawingml/2006/main" noGrp="1"/>
          </p:cNvSpPr>
          <p:nvPr/>
        </p:nvSpPr>
        <p:spPr>
          <a:xfrm xmlns:a="http://schemas.openxmlformats.org/drawingml/2006/main">
            <a:off x="609600" y="5457825"/>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515"/>
                </a:solidFill>
                <a:latin typeface="Microsoft JhengHei"/>
                <a:ea typeface="Microsoft JhengHei"/>
                <a:cs typeface="Microsoft JhengHei"/>
              </a:defRPr>
            </a:pPr>
            <a:r>
              <a:rPr sz="2025" b="1">
                <a:solidFill>
                  <a:srgbClr val="151515"/>
                </a:solidFill>
                <a:latin typeface="Microsoft JhengHei"/>
                <a:ea typeface="Microsoft JhengHei"/>
                <a:cs typeface="Microsoft JhengHei"/>
              </a:rPr>
              <a:t>先約定：任務格式、角色來源、狀態欄位、拒絕原因與完成回報。</a:t>
            </a:r>
          </a:p>
        </p:txBody>
      </p:sp>
    </p:spTree>
    <p:extLst>
      <p:ext uri="{BB962C8B-B14F-4D97-AF65-F5344CB8AC3E}">
        <p14:creationId xmlns:p14="http://schemas.microsoft.com/office/powerpoint/2010/main" val="1677059392"/>
      </p:ext>
    </p:extLst>
  </p:cSld>
</p:sld>
</file>

<file path=ppt/slides/slide15.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7B184A50-FD3C-44D3-9EDF-FA5573CBBDEE}"/>
              </a:ext>
            </a:extLst>
          </p:cNvPr>
          <p:cNvSpPr>
            <a:spLocks xmlns:a="http://schemas.openxmlformats.org/drawingml/2006/main" noGrp="1"/>
          </p:cNvSpPr>
          <p:nvPr/>
        </p:nvSpPr>
        <p:spPr>
          <a:xfrm xmlns:a="http://schemas.openxmlformats.org/drawingml/2006/main">
            <a:off x="609600" y="4667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icrosoft JhengHei"/>
                <a:ea typeface="Microsoft JhengHei"/>
                <a:cs typeface="Microsoft JhengHei"/>
              </a:defRPr>
            </a:pPr>
            <a:r>
              <a:rPr sz="3300" b="1">
                <a:solidFill>
                  <a:srgbClr val="151515"/>
                </a:solidFill>
                <a:latin typeface="Microsoft JhengHei"/>
                <a:ea typeface="Microsoft JhengHei"/>
                <a:cs typeface="Microsoft JhengHei"/>
              </a:rPr>
              <a:t>里程碑與階段驗收</a:t>
            </a:r>
          </a:p>
        </p:txBody>
      </p:sp>
      <p:sp>
        <p:nvSpPr>
          <p:cNvPr id="2" name="page-number">
            <a:extLst xmlns:a="http://schemas.openxmlformats.org/drawingml/2006/main">
              <a:ext uri="{FF2B5EF4-FFF2-40B4-BE49-F238E27FC236}">
                <a16:creationId xmlns:a16="http://schemas.microsoft.com/office/drawing/2014/main" id="{E1B4335F-58BD-49D1-B4B1-F89BCF11796C}"/>
              </a:ext>
            </a:extLst>
          </p:cNvPr>
          <p:cNvSpPr>
            <a:spLocks xmlns:a="http://schemas.openxmlformats.org/drawingml/2006/main" noGrp="1"/>
          </p:cNvSpPr>
          <p:nvPr/>
        </p:nvSpPr>
        <p:spPr>
          <a:xfrm xmlns:a="http://schemas.openxmlformats.org/drawingml/2006/main">
            <a:off x="11182350" y="64198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6262"/>
                </a:solidFill>
                <a:latin typeface="Microsoft JhengHei"/>
                <a:ea typeface="Microsoft JhengHei"/>
                <a:cs typeface="Microsoft JhengHei"/>
              </a:defRPr>
            </a:pPr>
            <a:r>
              <a:rPr sz="1275" b="0">
                <a:solidFill>
                  <a:srgbClr val="626262"/>
                </a:solidFill>
                <a:latin typeface="Microsoft JhengHei"/>
                <a:ea typeface="Microsoft JhengHei"/>
                <a:cs typeface="Microsoft JhengHei"/>
              </a:rPr>
              <a:t>15</a:t>
            </a:r>
          </a:p>
        </p:txBody>
      </p:sp>
      <p:graphicFrame>
        <p:nvGraphicFramePr>
          <p:cNvPr id="7" name=""/>
          <p:cNvGraphicFramePr/>
          <p:nvPr/>
        </p:nvGraphicFramePr>
        <p:xfrm>
          <a:off xmlns:a="http://schemas.openxmlformats.org/drawingml/2006/main" x="609600" y="1685925"/>
          <a:ext xmlns:a="http://schemas.openxmlformats.org/drawingml/2006/main" cx="10972800" cy="3457575"/>
        </p:xfrm>
        <a:graphic xmlns:a="http://schemas.openxmlformats.org/drawingml/2006/main">
          <a:graphicData uri="http://schemas.openxmlformats.org/drawingml/2006/table">
            <a:tbl>
              <a:tblPr firstRow="0" bandRow="0"/>
              <a:tblGrid>
                <a:gridCol w="2152650"/>
                <a:gridCol w="4438650"/>
                <a:gridCol w="4381500"/>
              </a:tblGrid>
              <a:tr h="691515">
                <a:tc>
                  <a:txBody>
                    <a:bodyPr>
                      <a:noAutofit/>
                    </a:bodyPr>
                    <a:lstStyle/>
                    <a:p>
                      <a:r>
                        <a:rPr sz="1800" b="1">
                          <a:solidFill>
                            <a:srgbClr val="FFFFFF"/>
                          </a:solidFill>
                          <a:latin typeface="Microsoft JhengHei"/>
                          <a:ea typeface="Microsoft JhengHei"/>
                          <a:cs typeface="Microsoft JhengHei"/>
                        </a:rPr>
                        <a:t>階段</a:t>
                      </a:r>
                    </a:p>
                  </a:txBody>
                  <a:tcPr marL="142875" marR="142875" marT="123825" marB="95250" anchor="ctr">
                    <a:solidFill>
                      <a:srgbClr val="151515"/>
                    </a:solidFill>
                  </a:tcPr>
                </a:tc>
                <a:tc>
                  <a:txBody>
                    <a:bodyPr>
                      <a:noAutofit/>
                    </a:bodyPr>
                    <a:lstStyle/>
                    <a:p>
                      <a:r>
                        <a:rPr sz="1800" b="1">
                          <a:solidFill>
                            <a:srgbClr val="FFFFFF"/>
                          </a:solidFill>
                          <a:latin typeface="Microsoft JhengHei"/>
                          <a:ea typeface="Microsoft JhengHei"/>
                          <a:cs typeface="Microsoft JhengHei"/>
                        </a:rPr>
                        <a:t>主要工作</a:t>
                      </a:r>
                    </a:p>
                  </a:txBody>
                  <a:tcPr marL="142875" marR="142875" marT="123825" marB="95250" anchor="ctr">
                    <a:solidFill>
                      <a:srgbClr val="151515"/>
                    </a:solidFill>
                  </a:tcPr>
                </a:tc>
                <a:tc>
                  <a:txBody>
                    <a:bodyPr>
                      <a:noAutofit/>
                    </a:bodyPr>
                    <a:lstStyle/>
                    <a:p>
                      <a:r>
                        <a:rPr sz="1800" b="1">
                          <a:solidFill>
                            <a:srgbClr val="FFFFFF"/>
                          </a:solidFill>
                          <a:latin typeface="Microsoft JhengHei"/>
                          <a:ea typeface="Microsoft JhengHei"/>
                          <a:cs typeface="Microsoft JhengHei"/>
                        </a:rPr>
                        <a:t>完成條件</a:t>
                      </a:r>
                    </a:p>
                  </a:txBody>
                  <a:tcPr marL="142875" marR="142875" marT="123825" marB="95250" anchor="ctr">
                    <a:solidFill>
                      <a:srgbClr val="151515"/>
                    </a:solidFill>
                  </a:tcPr>
                </a:tc>
              </a:tr>
              <a:tr h="691515">
                <a:tc>
                  <a:txBody>
                    <a:bodyPr>
                      <a:noAutofit/>
                    </a:bodyPr>
                    <a:lstStyle/>
                    <a:p>
                      <a:r>
                        <a:rPr sz="1800" b="0">
                          <a:solidFill>
                            <a:srgbClr val="151515"/>
                          </a:solidFill>
                          <a:latin typeface="Microsoft JhengHei"/>
                          <a:ea typeface="Microsoft JhengHei"/>
                          <a:cs typeface="Microsoft JhengHei"/>
                        </a:rPr>
                        <a:t>M1 功能基線</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固定地圖、三種任務與共同介面</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正常指令可重現執行並留下紀錄</a:t>
                      </a:r>
                    </a:p>
                  </a:txBody>
                  <a:tcPr marL="142875" marR="142875" marT="123825" marB="95250" anchor="ctr">
                    <a:solidFill>
                      <a:srgbClr val="FFFFFF"/>
                    </a:solidFill>
                  </a:tcPr>
                </a:tc>
              </a:tr>
              <a:tr h="691515">
                <a:tc>
                  <a:txBody>
                    <a:bodyPr>
                      <a:noAutofit/>
                    </a:bodyPr>
                    <a:lstStyle/>
                    <a:p>
                      <a:r>
                        <a:rPr sz="1800" b="0">
                          <a:solidFill>
                            <a:srgbClr val="151515"/>
                          </a:solidFill>
                          <a:latin typeface="Microsoft JhengHei"/>
                          <a:ea typeface="Microsoft JhengHei"/>
                          <a:cs typeface="Microsoft JhengHei"/>
                        </a:rPr>
                        <a:t>M2 防護基線</a:t>
                      </a:r>
                    </a:p>
                  </a:txBody>
                  <a:tcPr marL="142875" marR="142875" marT="123825" marB="95250" anchor="ctr">
                    <a:solidFill>
                      <a:srgbClr val="F0F0F0"/>
                    </a:solidFill>
                  </a:tcPr>
                </a:tc>
                <a:tc>
                  <a:txBody>
                    <a:bodyPr>
                      <a:noAutofit/>
                    </a:bodyPr>
                    <a:lstStyle/>
                    <a:p>
                      <a:r>
                        <a:rPr sz="1800" b="0">
                          <a:solidFill>
                            <a:srgbClr val="151515"/>
                          </a:solidFill>
                          <a:latin typeface="Microsoft JhengHei"/>
                          <a:ea typeface="Microsoft JhengHei"/>
                          <a:cs typeface="Microsoft JhengHei"/>
                        </a:rPr>
                        <a:t>政策、獨立授權與首批 100 情境</a:t>
                      </a:r>
                    </a:p>
                  </a:txBody>
                  <a:tcPr marL="142875" marR="142875" marT="123825" marB="95250" anchor="ctr">
                    <a:solidFill>
                      <a:srgbClr val="F0F0F0"/>
                    </a:solidFill>
                  </a:tcPr>
                </a:tc>
                <a:tc>
                  <a:txBody>
                    <a:bodyPr>
                      <a:noAutofit/>
                    </a:bodyPr>
                    <a:lstStyle/>
                    <a:p>
                      <a:r>
                        <a:rPr sz="1800" b="0">
                          <a:solidFill>
                            <a:srgbClr val="151515"/>
                          </a:solidFill>
                          <a:latin typeface="Microsoft JhengHei"/>
                          <a:ea typeface="Microsoft JhengHei"/>
                          <a:cs typeface="Microsoft JhengHei"/>
                        </a:rPr>
                        <a:t>角色不可偽造，標籤完成核對</a:t>
                      </a:r>
                    </a:p>
                  </a:txBody>
                  <a:tcPr marL="142875" marR="142875" marT="123825" marB="95250" anchor="ctr">
                    <a:solidFill>
                      <a:srgbClr val="F0F0F0"/>
                    </a:solidFill>
                  </a:tcPr>
                </a:tc>
              </a:tr>
              <a:tr h="691515">
                <a:tc>
                  <a:txBody>
                    <a:bodyPr>
                      <a:noAutofit/>
                    </a:bodyPr>
                    <a:lstStyle/>
                    <a:p>
                      <a:r>
                        <a:rPr sz="1800" b="0">
                          <a:solidFill>
                            <a:srgbClr val="151515"/>
                          </a:solidFill>
                          <a:latin typeface="Microsoft JhengHei"/>
                          <a:ea typeface="Microsoft JhengHei"/>
                          <a:cs typeface="Microsoft JhengHei"/>
                        </a:rPr>
                        <a:t>M3 模型比較</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教師標註、學生訓練與 A／B／C 實驗</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封存測試、錯誤分析、效能與延遲</a:t>
                      </a:r>
                    </a:p>
                  </a:txBody>
                  <a:tcPr marL="142875" marR="142875" marT="123825" marB="95250" anchor="ctr">
                    <a:solidFill>
                      <a:srgbClr val="FFFFFF"/>
                    </a:solidFill>
                  </a:tcPr>
                </a:tc>
              </a:tr>
              <a:tr h="691515">
                <a:tc>
                  <a:txBody>
                    <a:bodyPr>
                      <a:noAutofit/>
                    </a:bodyPr>
                    <a:lstStyle/>
                    <a:p>
                      <a:r>
                        <a:rPr sz="1800" b="0">
                          <a:solidFill>
                            <a:srgbClr val="151515"/>
                          </a:solidFill>
                          <a:latin typeface="Microsoft JhengHei"/>
                          <a:ea typeface="Microsoft JhengHei"/>
                          <a:cs typeface="Microsoft JhengHei"/>
                        </a:rPr>
                        <a:t>M4 系統驗收</a:t>
                      </a:r>
                    </a:p>
                  </a:txBody>
                  <a:tcPr marL="142875" marR="142875" marT="123825" marB="95250" anchor="ctr">
                    <a:solidFill>
                      <a:srgbClr val="F0F0F0"/>
                    </a:solidFill>
                  </a:tcPr>
                </a:tc>
                <a:tc>
                  <a:txBody>
                    <a:bodyPr>
                      <a:noAutofit/>
                    </a:bodyPr>
                    <a:lstStyle/>
                    <a:p>
                      <a:r>
                        <a:rPr sz="1800" b="0">
                          <a:solidFill>
                            <a:srgbClr val="151515"/>
                          </a:solidFill>
                          <a:latin typeface="Microsoft JhengHei"/>
                          <a:ea typeface="Microsoft JhengHei"/>
                          <a:cs typeface="Microsoft JhengHei"/>
                        </a:rPr>
                        <a:t>Gazebo 回放、受控實機與成果交付</a:t>
                      </a:r>
                    </a:p>
                  </a:txBody>
                  <a:tcPr marL="142875" marR="142875" marT="123825" marB="95250" anchor="ctr">
                    <a:solidFill>
                      <a:srgbClr val="F0F0F0"/>
                    </a:solidFill>
                  </a:tcPr>
                </a:tc>
                <a:tc>
                  <a:txBody>
                    <a:bodyPr>
                      <a:noAutofit/>
                    </a:bodyPr>
                    <a:lstStyle/>
                    <a:p>
                      <a:r>
                        <a:rPr sz="1800" b="0">
                          <a:solidFill>
                            <a:srgbClr val="151515"/>
                          </a:solidFill>
                          <a:latin typeface="Microsoft JhengHei"/>
                          <a:ea typeface="Microsoft JhengHei"/>
                          <a:cs typeface="Microsoft JhengHei"/>
                        </a:rPr>
                        <a:t>實際動作證據、可重跑版本、報告</a:t>
                      </a:r>
                    </a:p>
                  </a:txBody>
                  <a:tcPr marL="142875" marR="142875" marT="123825" marB="95250" anchor="ctr">
                    <a:solidFill>
                      <a:srgbClr val="F0F0F0"/>
                    </a:solidFill>
                  </a:tcPr>
                </a:tc>
              </a:tr>
            </a:tbl>
          </a:graphicData>
        </a:graphic>
      </p:graphicFrame>
      <p:sp>
        <p:nvSpPr>
          <p:cNvPr id="4" name="text-59">
            <a:extLst xmlns:a="http://schemas.openxmlformats.org/drawingml/2006/main">
              <a:ext uri="{FF2B5EF4-FFF2-40B4-BE49-F238E27FC236}">
                <a16:creationId xmlns:a16="http://schemas.microsoft.com/office/drawing/2014/main" id="{7E3DBA5F-31EF-4E81-8980-620DEDDC1A40}"/>
              </a:ext>
            </a:extLst>
          </p:cNvPr>
          <p:cNvSpPr>
            <a:spLocks xmlns:a="http://schemas.openxmlformats.org/drawingml/2006/main" noGrp="1"/>
          </p:cNvSpPr>
          <p:nvPr/>
        </p:nvSpPr>
        <p:spPr>
          <a:xfrm xmlns:a="http://schemas.openxmlformats.org/drawingml/2006/main">
            <a:off x="609600" y="55626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515"/>
                </a:solidFill>
                <a:latin typeface="Microsoft JhengHei"/>
                <a:ea typeface="Microsoft JhengHei"/>
                <a:cs typeface="Microsoft JhengHei"/>
              </a:defRPr>
            </a:pPr>
            <a:r>
              <a:rPr sz="1950" b="1">
                <a:solidFill>
                  <a:srgbClr val="151515"/>
                </a:solidFill>
                <a:latin typeface="Microsoft JhengHei"/>
                <a:ea typeface="Microsoft JhengHei"/>
                <a:cs typeface="Microsoft JhengHei"/>
              </a:rPr>
              <a:t>先完成前一階段驗收，再擴充資料與實機範圍；日期由團隊確認。</a:t>
            </a:r>
          </a:p>
        </p:txBody>
      </p:sp>
    </p:spTree>
    <p:extLst>
      <p:ext uri="{BB962C8B-B14F-4D97-AF65-F5344CB8AC3E}">
        <p14:creationId xmlns:p14="http://schemas.microsoft.com/office/powerpoint/2010/main" val="612607364"/>
      </p:ext>
    </p:extLst>
  </p:cSld>
</p:sld>
</file>

<file path=ppt/slides/slide16.xml><?xml version="1.0" encoding="utf-8"?>
<p:sld xmlns:p="http://schemas.openxmlformats.org/presentationml/2006/main">
  <p:cSld>
    <p:bg>
      <p:bgPr>
        <a:solidFill xmlns:a="http://schemas.openxmlformats.org/drawingml/2006/main">
          <a:srgbClr val="151515"/>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A10F7B95-5358-4C15-B593-9D08B7286E20}"/>
              </a:ext>
            </a:extLst>
          </p:cNvPr>
          <p:cNvSpPr>
            <a:spLocks xmlns:a="http://schemas.openxmlformats.org/drawingml/2006/main" noGrp="1"/>
          </p:cNvSpPr>
          <p:nvPr/>
        </p:nvSpPr>
        <p:spPr>
          <a:xfrm xmlns:a="http://schemas.openxmlformats.org/drawingml/2006/main">
            <a:off x="609600" y="4667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Microsoft JhengHei"/>
                <a:ea typeface="Microsoft JhengHei"/>
                <a:cs typeface="Microsoft JhengHei"/>
              </a:defRPr>
            </a:pPr>
            <a:r>
              <a:rPr sz="3300" b="1">
                <a:solidFill>
                  <a:srgbClr val="FFFFFF"/>
                </a:solidFill>
                <a:latin typeface="Microsoft JhengHei"/>
                <a:ea typeface="Microsoft JhengHei"/>
                <a:cs typeface="Microsoft JhengHei"/>
              </a:rPr>
              <a:t>預期成果與本次討論重點</a:t>
            </a:r>
          </a:p>
        </p:txBody>
      </p:sp>
      <p:sp>
        <p:nvSpPr>
          <p:cNvPr id="2" name="page-number">
            <a:extLst xmlns:a="http://schemas.openxmlformats.org/drawingml/2006/main">
              <a:ext uri="{FF2B5EF4-FFF2-40B4-BE49-F238E27FC236}">
                <a16:creationId xmlns:a16="http://schemas.microsoft.com/office/drawing/2014/main" id="{017DD5AD-6492-4A84-8D15-89E120DA413E}"/>
              </a:ext>
            </a:extLst>
          </p:cNvPr>
          <p:cNvSpPr>
            <a:spLocks xmlns:a="http://schemas.openxmlformats.org/drawingml/2006/main" noGrp="1"/>
          </p:cNvSpPr>
          <p:nvPr/>
        </p:nvSpPr>
        <p:spPr>
          <a:xfrm xmlns:a="http://schemas.openxmlformats.org/drawingml/2006/main">
            <a:off x="11182350" y="64198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BBBBBB"/>
                </a:solidFill>
                <a:latin typeface="Microsoft JhengHei"/>
                <a:ea typeface="Microsoft JhengHei"/>
                <a:cs typeface="Microsoft JhengHei"/>
              </a:defRPr>
            </a:pPr>
            <a:r>
              <a:rPr sz="1275" b="0">
                <a:solidFill>
                  <a:srgbClr val="BBBBBB"/>
                </a:solidFill>
                <a:latin typeface="Microsoft JhengHei"/>
                <a:ea typeface="Microsoft JhengHei"/>
                <a:cs typeface="Microsoft JhengHei"/>
              </a:rPr>
              <a:t>16</a:t>
            </a:r>
          </a:p>
        </p:txBody>
      </p:sp>
      <p:sp>
        <p:nvSpPr>
          <p:cNvPr id="3" name="text-60">
            <a:extLst xmlns:a="http://schemas.openxmlformats.org/drawingml/2006/main">
              <a:ext uri="{FF2B5EF4-FFF2-40B4-BE49-F238E27FC236}">
                <a16:creationId xmlns:a16="http://schemas.microsoft.com/office/drawing/2014/main" id="{389A68A2-FAAC-471C-9469-EE7B3BFDAD64}"/>
              </a:ext>
            </a:extLst>
          </p:cNvPr>
          <p:cNvSpPr>
            <a:spLocks xmlns:a="http://schemas.openxmlformats.org/drawingml/2006/main" noGrp="1"/>
          </p:cNvSpPr>
          <p:nvPr/>
        </p:nvSpPr>
        <p:spPr>
          <a:xfrm xmlns:a="http://schemas.openxmlformats.org/drawingml/2006/main">
            <a:off x="609600" y="1704975"/>
            <a:ext cx="10953750"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FFFFF"/>
                </a:solidFill>
                <a:latin typeface="Microsoft JhengHei"/>
                <a:ea typeface="Microsoft JhengHei"/>
                <a:cs typeface="Microsoft JhengHei"/>
              </a:defRPr>
            </a:pPr>
            <a:r>
              <a:rPr sz="3225" b="1">
                <a:solidFill>
                  <a:srgbClr val="FFFFFF"/>
                </a:solidFill>
                <a:latin typeface="Microsoft JhengHei"/>
                <a:ea typeface="Microsoft JhengHei"/>
                <a:cs typeface="Microsoft JhengHei"/>
              </a:rPr>
              <a:t>可追溯的情境資料集</a:t>
            </a:r>
          </a:p>
          <a:p xmlns:a="http://schemas.openxmlformats.org/drawingml/2006/main">
            <a:pPr algn="l">
              <a:defRPr sz="3225" b="1">
                <a:solidFill>
                  <a:srgbClr val="FFFFFF"/>
                </a:solidFill>
                <a:latin typeface="Microsoft JhengHei"/>
                <a:ea typeface="Microsoft JhengHei"/>
                <a:cs typeface="Microsoft JhengHei"/>
              </a:defRPr>
            </a:pPr>
            <a:r>
              <a:rPr sz="3225" b="1">
                <a:solidFill>
                  <a:srgbClr val="FFFFFF"/>
                </a:solidFill>
                <a:latin typeface="Microsoft JhengHei"/>
                <a:ea typeface="Microsoft JhengHei"/>
                <a:cs typeface="Microsoft JhengHei"/>
              </a:rPr>
              <a:t>本機風險模型與獨立授權器</a:t>
            </a:r>
          </a:p>
          <a:p xmlns:a="http://schemas.openxmlformats.org/drawingml/2006/main">
            <a:pPr algn="l">
              <a:defRPr sz="3225" b="1">
                <a:solidFill>
                  <a:srgbClr val="FFFFFF"/>
                </a:solidFill>
                <a:latin typeface="Microsoft JhengHei"/>
                <a:ea typeface="Microsoft JhengHei"/>
                <a:cs typeface="Microsoft JhengHei"/>
              </a:defRPr>
            </a:pPr>
            <a:r>
              <a:rPr sz="3225" b="1">
                <a:solidFill>
                  <a:srgbClr val="FFFFFF"/>
                </a:solidFill>
                <a:latin typeface="Microsoft JhengHei"/>
                <a:ea typeface="Microsoft JhengHei"/>
                <a:cs typeface="Microsoft JhengHei"/>
              </a:rPr>
              <a:t>可重播的機器人防護實驗</a:t>
            </a:r>
          </a:p>
        </p:txBody>
      </p:sp>
      <p:sp>
        <p:nvSpPr>
          <p:cNvPr id="4" name="text-61">
            <a:extLst xmlns:a="http://schemas.openxmlformats.org/drawingml/2006/main">
              <a:ext uri="{FF2B5EF4-FFF2-40B4-BE49-F238E27FC236}">
                <a16:creationId xmlns:a16="http://schemas.microsoft.com/office/drawing/2014/main" id="{BF6E02C3-0B76-4451-999B-AF615FCCBC88}"/>
              </a:ext>
            </a:extLst>
          </p:cNvPr>
          <p:cNvSpPr>
            <a:spLocks xmlns:a="http://schemas.openxmlformats.org/drawingml/2006/main" noGrp="1"/>
          </p:cNvSpPr>
          <p:nvPr/>
        </p:nvSpPr>
        <p:spPr>
          <a:xfrm xmlns:a="http://schemas.openxmlformats.org/drawingml/2006/main">
            <a:off x="609600" y="45815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7C7C7"/>
                </a:solidFill>
                <a:latin typeface="Microsoft JhengHei"/>
                <a:ea typeface="Microsoft JhengHei"/>
                <a:cs typeface="Microsoft JhengHei"/>
              </a:defRPr>
            </a:pPr>
            <a:r>
              <a:rPr sz="2175" b="1">
                <a:solidFill>
                  <a:srgbClr val="C7C7C7"/>
                </a:solidFill>
                <a:latin typeface="Microsoft JhengHei"/>
                <a:ea typeface="Microsoft JhengHei"/>
                <a:cs typeface="Microsoft JhengHei"/>
              </a:rPr>
              <a:t>請教授確認</a:t>
            </a:r>
          </a:p>
        </p:txBody>
      </p:sp>
      <p:sp>
        <p:nvSpPr>
          <p:cNvPr id="5" name="text-62">
            <a:extLst xmlns:a="http://schemas.openxmlformats.org/drawingml/2006/main">
              <a:ext uri="{FF2B5EF4-FFF2-40B4-BE49-F238E27FC236}">
                <a16:creationId xmlns:a16="http://schemas.microsoft.com/office/drawing/2014/main" id="{F5ABA156-69B4-43E0-BF94-C782CF73B1BA}"/>
              </a:ext>
            </a:extLst>
          </p:cNvPr>
          <p:cNvSpPr>
            <a:spLocks xmlns:a="http://schemas.openxmlformats.org/drawingml/2006/main" noGrp="1"/>
          </p:cNvSpPr>
          <p:nvPr/>
        </p:nvSpPr>
        <p:spPr>
          <a:xfrm xmlns:a="http://schemas.openxmlformats.org/drawingml/2006/main">
            <a:off x="609600" y="5181600"/>
            <a:ext cx="10858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FFFFFF"/>
                </a:solidFill>
                <a:latin typeface="Microsoft JhengHei"/>
                <a:ea typeface="Microsoft JhengHei"/>
                <a:cs typeface="Microsoft JhengHei"/>
              </a:defRPr>
            </a:pPr>
            <a:r>
              <a:rPr sz="2400" b="0">
                <a:solidFill>
                  <a:srgbClr val="FFFFFF"/>
                </a:solidFill>
                <a:latin typeface="Microsoft JhengHei"/>
                <a:ea typeface="Microsoft JhengHei"/>
                <a:cs typeface="Microsoft JhengHei"/>
              </a:rPr>
              <a:t>研究範圍是否合適？</a:t>
            </a:r>
          </a:p>
          <a:p xmlns:a="http://schemas.openxmlformats.org/drawingml/2006/main">
            <a:pPr algn="l">
              <a:defRPr sz="2400" b="0">
                <a:solidFill>
                  <a:srgbClr val="FFFFFF"/>
                </a:solidFill>
                <a:latin typeface="Microsoft JhengHei"/>
                <a:ea typeface="Microsoft JhengHei"/>
                <a:cs typeface="Microsoft JhengHei"/>
              </a:defRPr>
            </a:pPr>
            <a:r>
              <a:rPr sz="2400" b="0">
                <a:solidFill>
                  <a:srgbClr val="FFFFFF"/>
                </a:solidFill>
                <a:latin typeface="Microsoft JhengHei"/>
                <a:ea typeface="Microsoft JhengHei"/>
                <a:cs typeface="Microsoft JhengHei"/>
              </a:rPr>
              <a:t>AI 比較方式與兩人分工是否足夠清楚？</a:t>
            </a:r>
          </a:p>
        </p:txBody>
      </p:sp>
    </p:spTree>
    <p:extLst>
      <p:ext uri="{BB962C8B-B14F-4D97-AF65-F5344CB8AC3E}">
        <p14:creationId xmlns:p14="http://schemas.microsoft.com/office/powerpoint/2010/main" val="825863856"/>
      </p:ext>
    </p:extLst>
  </p:cSld>
</p:sld>
</file>

<file path=ppt/slides/slide17.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DEA44248-924F-48AC-BAB2-6B4CBFCD7EC7}"/>
              </a:ext>
            </a:extLst>
          </p:cNvPr>
          <p:cNvSpPr>
            <a:spLocks xmlns:a="http://schemas.openxmlformats.org/drawingml/2006/main" noGrp="1"/>
          </p:cNvSpPr>
          <p:nvPr/>
        </p:nvSpPr>
        <p:spPr>
          <a:xfrm xmlns:a="http://schemas.openxmlformats.org/drawingml/2006/main">
            <a:off x="609600" y="4667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icrosoft JhengHei"/>
                <a:ea typeface="Microsoft JhengHei"/>
                <a:cs typeface="Microsoft JhengHei"/>
              </a:defRPr>
            </a:pPr>
            <a:r>
              <a:rPr sz="3300" b="1">
                <a:solidFill>
                  <a:srgbClr val="151515"/>
                </a:solidFill>
                <a:latin typeface="Microsoft JhengHei"/>
                <a:ea typeface="Microsoft JhengHei"/>
                <a:cs typeface="Microsoft JhengHei"/>
              </a:rPr>
              <a:t>附錄：資料與蒸餾的品質檢查</a:t>
            </a:r>
          </a:p>
        </p:txBody>
      </p:sp>
      <p:sp>
        <p:nvSpPr>
          <p:cNvPr id="2" name="page-number">
            <a:extLst xmlns:a="http://schemas.openxmlformats.org/drawingml/2006/main">
              <a:ext uri="{FF2B5EF4-FFF2-40B4-BE49-F238E27FC236}">
                <a16:creationId xmlns:a16="http://schemas.microsoft.com/office/drawing/2014/main" id="{37DF9847-570C-42BF-8A6E-50A72DD40F51}"/>
              </a:ext>
            </a:extLst>
          </p:cNvPr>
          <p:cNvSpPr>
            <a:spLocks xmlns:a="http://schemas.openxmlformats.org/drawingml/2006/main" noGrp="1"/>
          </p:cNvSpPr>
          <p:nvPr/>
        </p:nvSpPr>
        <p:spPr>
          <a:xfrm xmlns:a="http://schemas.openxmlformats.org/drawingml/2006/main">
            <a:off x="11182350" y="64198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6262"/>
                </a:solidFill>
                <a:latin typeface="Microsoft JhengHei"/>
                <a:ea typeface="Microsoft JhengHei"/>
                <a:cs typeface="Microsoft JhengHei"/>
              </a:defRPr>
            </a:pPr>
            <a:r>
              <a:rPr sz="1275" b="0">
                <a:solidFill>
                  <a:srgbClr val="626262"/>
                </a:solidFill>
                <a:latin typeface="Microsoft JhengHei"/>
                <a:ea typeface="Microsoft JhengHei"/>
                <a:cs typeface="Microsoft JhengHei"/>
              </a:rPr>
              <a:t>17</a:t>
            </a:r>
          </a:p>
        </p:txBody>
      </p:sp>
      <p:sp>
        <p:nvSpPr>
          <p:cNvPr id="3" name="text-63">
            <a:extLst xmlns:a="http://schemas.openxmlformats.org/drawingml/2006/main">
              <a:ext uri="{FF2B5EF4-FFF2-40B4-BE49-F238E27FC236}">
                <a16:creationId xmlns:a16="http://schemas.microsoft.com/office/drawing/2014/main" id="{22AA9C7D-7035-4E93-B3A4-D772B4BBF995}"/>
              </a:ext>
            </a:extLst>
          </p:cNvPr>
          <p:cNvSpPr>
            <a:spLocks xmlns:a="http://schemas.openxmlformats.org/drawingml/2006/main" noGrp="1"/>
          </p:cNvSpPr>
          <p:nvPr/>
        </p:nvSpPr>
        <p:spPr>
          <a:xfrm xmlns:a="http://schemas.openxmlformats.org/drawingml/2006/main">
            <a:off x="609600" y="641985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26262"/>
                </a:solidFill>
                <a:latin typeface="Microsoft JhengHei"/>
                <a:ea typeface="Microsoft JhengHei"/>
                <a:cs typeface="Microsoft JhengHei"/>
              </a:defRPr>
            </a:pPr>
            <a:r>
              <a:rPr sz="1275" b="0">
                <a:solidFill>
                  <a:srgbClr val="626262"/>
                </a:solidFill>
                <a:latin typeface="Microsoft JhengHei"/>
                <a:ea typeface="Microsoft JhengHei"/>
                <a:cs typeface="Microsoft JhengHei"/>
              </a:rPr>
              <a:t>附錄</a:t>
            </a:r>
          </a:p>
        </p:txBody>
      </p:sp>
      <p:graphicFrame>
        <p:nvGraphicFramePr>
          <p:cNvPr id="9" name=""/>
          <p:cNvGraphicFramePr/>
          <p:nvPr/>
        </p:nvGraphicFramePr>
        <p:xfrm>
          <a:off xmlns:a="http://schemas.openxmlformats.org/drawingml/2006/main" x="609600" y="1638300"/>
          <a:ext xmlns:a="http://schemas.openxmlformats.org/drawingml/2006/main" cx="10972800" cy="3609975"/>
        </p:xfrm>
        <a:graphic xmlns:a="http://schemas.openxmlformats.org/drawingml/2006/main">
          <a:graphicData uri="http://schemas.openxmlformats.org/drawingml/2006/table">
            <a:tbl>
              <a:tblPr firstRow="0" bandRow="0"/>
              <a:tblGrid>
                <a:gridCol w="2238375"/>
                <a:gridCol w="8734425"/>
              </a:tblGrid>
              <a:tr h="601663">
                <a:tc>
                  <a:txBody>
                    <a:bodyPr>
                      <a:noAutofit/>
                    </a:bodyPr>
                    <a:lstStyle/>
                    <a:p>
                      <a:r>
                        <a:rPr sz="1800" b="1">
                          <a:solidFill>
                            <a:srgbClr val="FFFFFF"/>
                          </a:solidFill>
                          <a:latin typeface="Microsoft JhengHei"/>
                          <a:ea typeface="Microsoft JhengHei"/>
                          <a:cs typeface="Microsoft JhengHei"/>
                        </a:rPr>
                        <a:t>檢查項目</a:t>
                      </a:r>
                    </a:p>
                  </a:txBody>
                  <a:tcPr marL="142875" marR="142875" marT="123825" marB="95250" anchor="ctr">
                    <a:solidFill>
                      <a:srgbClr val="151515"/>
                    </a:solidFill>
                  </a:tcPr>
                </a:tc>
                <a:tc>
                  <a:txBody>
                    <a:bodyPr>
                      <a:noAutofit/>
                    </a:bodyPr>
                    <a:lstStyle/>
                    <a:p>
                      <a:r>
                        <a:rPr sz="1800" b="1">
                          <a:solidFill>
                            <a:srgbClr val="FFFFFF"/>
                          </a:solidFill>
                          <a:latin typeface="Microsoft JhengHei"/>
                          <a:ea typeface="Microsoft JhengHei"/>
                          <a:cs typeface="Microsoft JhengHei"/>
                        </a:rPr>
                        <a:t>規劃方式</a:t>
                      </a:r>
                    </a:p>
                  </a:txBody>
                  <a:tcPr marL="142875" marR="142875" marT="123825" marB="95250" anchor="ctr">
                    <a:solidFill>
                      <a:srgbClr val="151515"/>
                    </a:solidFill>
                  </a:tcPr>
                </a:tc>
              </a:tr>
              <a:tr h="601663">
                <a:tc>
                  <a:txBody>
                    <a:bodyPr>
                      <a:noAutofit/>
                    </a:bodyPr>
                    <a:lstStyle/>
                    <a:p>
                      <a:r>
                        <a:rPr sz="1800" b="0">
                          <a:solidFill>
                            <a:srgbClr val="151515"/>
                          </a:solidFill>
                          <a:latin typeface="Microsoft JhengHei"/>
                          <a:ea typeface="Microsoft JhengHei"/>
                          <a:cs typeface="Microsoft JhengHei"/>
                        </a:rPr>
                        <a:t>模型輸入</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文字、完整歷史、可信權限、任務與狀態、候選動作</a:t>
                      </a:r>
                    </a:p>
                  </a:txBody>
                  <a:tcPr marL="142875" marR="142875" marT="123825" marB="95250" anchor="ctr">
                    <a:solidFill>
                      <a:srgbClr val="FFFFFF"/>
                    </a:solidFill>
                  </a:tcPr>
                </a:tc>
              </a:tr>
              <a:tr h="601663">
                <a:tc>
                  <a:txBody>
                    <a:bodyPr>
                      <a:noAutofit/>
                    </a:bodyPr>
                    <a:lstStyle/>
                    <a:p>
                      <a:r>
                        <a:rPr sz="1800" b="0">
                          <a:solidFill>
                            <a:srgbClr val="151515"/>
                          </a:solidFill>
                          <a:latin typeface="Microsoft JhengHei"/>
                          <a:ea typeface="Microsoft JhengHei"/>
                          <a:cs typeface="Microsoft JhengHei"/>
                        </a:rPr>
                        <a:t>訓練目標</a:t>
                      </a:r>
                    </a:p>
                  </a:txBody>
                  <a:tcPr marL="142875" marR="142875" marT="123825" marB="95250" anchor="ctr">
                    <a:solidFill>
                      <a:srgbClr val="F0F0F0"/>
                    </a:solidFill>
                  </a:tcPr>
                </a:tc>
                <a:tc>
                  <a:txBody>
                    <a:bodyPr>
                      <a:noAutofit/>
                    </a:bodyPr>
                    <a:lstStyle/>
                    <a:p>
                      <a:r>
                        <a:rPr sz="1800" b="0">
                          <a:solidFill>
                            <a:srgbClr val="151515"/>
                          </a:solidFill>
                          <a:latin typeface="Microsoft JhengHei"/>
                          <a:ea typeface="Microsoft JhengHei"/>
                          <a:cs typeface="Microsoft JhengHei"/>
                        </a:rPr>
                        <a:t>允許／拒絕／澄清；標註理由供人工稽核</a:t>
                      </a:r>
                    </a:p>
                  </a:txBody>
                  <a:tcPr marL="142875" marR="142875" marT="123825" marB="95250" anchor="ctr">
                    <a:solidFill>
                      <a:srgbClr val="F0F0F0"/>
                    </a:solidFill>
                  </a:tcPr>
                </a:tc>
              </a:tr>
              <a:tr h="601663">
                <a:tc>
                  <a:txBody>
                    <a:bodyPr>
                      <a:noAutofit/>
                    </a:bodyPr>
                    <a:lstStyle/>
                    <a:p>
                      <a:r>
                        <a:rPr sz="1800" b="0">
                          <a:solidFill>
                            <a:srgbClr val="151515"/>
                          </a:solidFill>
                          <a:latin typeface="Microsoft JhengHei"/>
                          <a:ea typeface="Microsoft JhengHei"/>
                          <a:cs typeface="Microsoft JhengHei"/>
                        </a:rPr>
                        <a:t>來源紀錄</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scenario／episode／step、模型與提示版本、policy 版本</a:t>
                      </a:r>
                    </a:p>
                  </a:txBody>
                  <a:tcPr marL="142875" marR="142875" marT="123825" marB="95250" anchor="ctr">
                    <a:solidFill>
                      <a:srgbClr val="FFFFFF"/>
                    </a:solidFill>
                  </a:tcPr>
                </a:tc>
              </a:tr>
              <a:tr h="601663">
                <a:tc>
                  <a:txBody>
                    <a:bodyPr>
                      <a:noAutofit/>
                    </a:bodyPr>
                    <a:lstStyle/>
                    <a:p>
                      <a:r>
                        <a:rPr sz="1800" b="0">
                          <a:solidFill>
                            <a:srgbClr val="151515"/>
                          </a:solidFill>
                          <a:latin typeface="Microsoft JhengHei"/>
                          <a:ea typeface="Microsoft JhengHei"/>
                          <a:cs typeface="Microsoft JhengHei"/>
                        </a:rPr>
                        <a:t>排除洩漏</a:t>
                      </a:r>
                    </a:p>
                  </a:txBody>
                  <a:tcPr marL="142875" marR="142875" marT="123825" marB="95250" anchor="ctr">
                    <a:solidFill>
                      <a:srgbClr val="F0F0F0"/>
                    </a:solidFill>
                  </a:tcPr>
                </a:tc>
                <a:tc>
                  <a:txBody>
                    <a:bodyPr>
                      <a:noAutofit/>
                    </a:bodyPr>
                    <a:lstStyle/>
                    <a:p>
                      <a:r>
                        <a:rPr sz="1800" b="0">
                          <a:solidFill>
                            <a:srgbClr val="151515"/>
                          </a:solidFill>
                          <a:latin typeface="Microsoft JhengHei"/>
                          <a:ea typeface="Microsoft JhengHei"/>
                          <a:cs typeface="Microsoft JhengHei"/>
                        </a:rPr>
                        <a:t>生成者隱藏意圖、標籤、最終結果不作推論輸入</a:t>
                      </a:r>
                    </a:p>
                  </a:txBody>
                  <a:tcPr marL="142875" marR="142875" marT="123825" marB="95250" anchor="ctr">
                    <a:solidFill>
                      <a:srgbClr val="F0F0F0"/>
                    </a:solidFill>
                  </a:tcPr>
                </a:tc>
              </a:tr>
              <a:tr h="601663">
                <a:tc>
                  <a:txBody>
                    <a:bodyPr>
                      <a:noAutofit/>
                    </a:bodyPr>
                    <a:lstStyle/>
                    <a:p>
                      <a:r>
                        <a:rPr sz="1800" b="0">
                          <a:solidFill>
                            <a:srgbClr val="151515"/>
                          </a:solidFill>
                          <a:latin typeface="Microsoft JhengHei"/>
                          <a:ea typeface="Microsoft JhengHei"/>
                          <a:cs typeface="Microsoft JhengHei"/>
                        </a:rPr>
                        <a:t>蒸餾檢查</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同一獨立測試比較教師與學生品質、延遲及資源需求</a:t>
                      </a:r>
                    </a:p>
                  </a:txBody>
                  <a:tcPr marL="142875" marR="142875" marT="123825" marB="95250" anchor="ctr">
                    <a:solidFill>
                      <a:srgbClr val="FFFFFF"/>
                    </a:solidFill>
                  </a:tcPr>
                </a:tc>
              </a:tr>
            </a:tbl>
          </a:graphicData>
        </a:graphic>
      </p:graphicFrame>
      <p:sp>
        <p:nvSpPr>
          <p:cNvPr id="5" name="text-64">
            <a:extLst xmlns:a="http://schemas.openxmlformats.org/drawingml/2006/main">
              <a:ext uri="{FF2B5EF4-FFF2-40B4-BE49-F238E27FC236}">
                <a16:creationId xmlns:a16="http://schemas.microsoft.com/office/drawing/2014/main" id="{71825122-DB78-4C4E-9996-7C9B2B4D30E7}"/>
              </a:ext>
            </a:extLst>
          </p:cNvPr>
          <p:cNvSpPr>
            <a:spLocks xmlns:a="http://schemas.openxmlformats.org/drawingml/2006/main" noGrp="1"/>
          </p:cNvSpPr>
          <p:nvPr/>
        </p:nvSpPr>
        <p:spPr>
          <a:xfrm xmlns:a="http://schemas.openxmlformats.org/drawingml/2006/main">
            <a:off x="609600" y="5619750"/>
            <a:ext cx="10858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515"/>
                </a:solidFill>
                <a:latin typeface="Microsoft JhengHei"/>
                <a:ea typeface="Microsoft JhengHei"/>
                <a:cs typeface="Microsoft JhengHei"/>
              </a:defRPr>
            </a:pPr>
            <a:r>
              <a:rPr sz="1875" b="1">
                <a:solidFill>
                  <a:srgbClr val="151515"/>
                </a:solidFill>
                <a:latin typeface="Microsoft JhengHei"/>
                <a:ea typeface="Microsoft JhengHei"/>
                <a:cs typeface="Microsoft JhengHei"/>
              </a:rPr>
              <a:t>教師的自報信心不可直接當機率；第一版先採經複核的硬標籤。</a:t>
            </a:r>
          </a:p>
        </p:txBody>
      </p:sp>
    </p:spTree>
    <p:extLst>
      <p:ext uri="{BB962C8B-B14F-4D97-AF65-F5344CB8AC3E}">
        <p14:creationId xmlns:p14="http://schemas.microsoft.com/office/powerpoint/2010/main" val="2021619877"/>
      </p:ext>
    </p:extLst>
  </p:cSld>
</p:sld>
</file>

<file path=ppt/slides/slide18.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0CE9CB06-1F7F-49C1-A0F6-C10DE27F28A3}"/>
              </a:ext>
            </a:extLst>
          </p:cNvPr>
          <p:cNvSpPr>
            <a:spLocks xmlns:a="http://schemas.openxmlformats.org/drawingml/2006/main" noGrp="1"/>
          </p:cNvSpPr>
          <p:nvPr/>
        </p:nvSpPr>
        <p:spPr>
          <a:xfrm xmlns:a="http://schemas.openxmlformats.org/drawingml/2006/main">
            <a:off x="609600" y="4667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icrosoft JhengHei"/>
                <a:ea typeface="Microsoft JhengHei"/>
                <a:cs typeface="Microsoft JhengHei"/>
              </a:defRPr>
            </a:pPr>
            <a:r>
              <a:rPr sz="3300" b="1">
                <a:solidFill>
                  <a:srgbClr val="151515"/>
                </a:solidFill>
                <a:latin typeface="Microsoft JhengHei"/>
                <a:ea typeface="Microsoft JhengHei"/>
                <a:cs typeface="Microsoft JhengHei"/>
              </a:rPr>
              <a:t>附錄：研究依據與參考資料</a:t>
            </a:r>
          </a:p>
        </p:txBody>
      </p:sp>
      <p:sp>
        <p:nvSpPr>
          <p:cNvPr id="2" name="page-number">
            <a:extLst xmlns:a="http://schemas.openxmlformats.org/drawingml/2006/main">
              <a:ext uri="{FF2B5EF4-FFF2-40B4-BE49-F238E27FC236}">
                <a16:creationId xmlns:a16="http://schemas.microsoft.com/office/drawing/2014/main" id="{79D857A8-9AAB-470F-AB3A-9712B390A0EF}"/>
              </a:ext>
            </a:extLst>
          </p:cNvPr>
          <p:cNvSpPr>
            <a:spLocks xmlns:a="http://schemas.openxmlformats.org/drawingml/2006/main" noGrp="1"/>
          </p:cNvSpPr>
          <p:nvPr/>
        </p:nvSpPr>
        <p:spPr>
          <a:xfrm xmlns:a="http://schemas.openxmlformats.org/drawingml/2006/main">
            <a:off x="11182350" y="64198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6262"/>
                </a:solidFill>
                <a:latin typeface="Microsoft JhengHei"/>
                <a:ea typeface="Microsoft JhengHei"/>
                <a:cs typeface="Microsoft JhengHei"/>
              </a:defRPr>
            </a:pPr>
            <a:r>
              <a:rPr sz="1275" b="0">
                <a:solidFill>
                  <a:srgbClr val="626262"/>
                </a:solidFill>
                <a:latin typeface="Microsoft JhengHei"/>
                <a:ea typeface="Microsoft JhengHei"/>
                <a:cs typeface="Microsoft JhengHei"/>
              </a:rPr>
              <a:t>18</a:t>
            </a:r>
          </a:p>
        </p:txBody>
      </p:sp>
      <p:sp>
        <p:nvSpPr>
          <p:cNvPr id="3" name="text-65">
            <a:extLst xmlns:a="http://schemas.openxmlformats.org/drawingml/2006/main">
              <a:ext uri="{FF2B5EF4-FFF2-40B4-BE49-F238E27FC236}">
                <a16:creationId xmlns:a16="http://schemas.microsoft.com/office/drawing/2014/main" id="{8FF0C7FC-D8EE-4794-B54F-6B8E10744640}"/>
              </a:ext>
            </a:extLst>
          </p:cNvPr>
          <p:cNvSpPr>
            <a:spLocks xmlns:a="http://schemas.openxmlformats.org/drawingml/2006/main" noGrp="1"/>
          </p:cNvSpPr>
          <p:nvPr/>
        </p:nvSpPr>
        <p:spPr>
          <a:xfrm xmlns:a="http://schemas.openxmlformats.org/drawingml/2006/main">
            <a:off x="609600" y="641985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26262"/>
                </a:solidFill>
                <a:latin typeface="Microsoft JhengHei"/>
                <a:ea typeface="Microsoft JhengHei"/>
                <a:cs typeface="Microsoft JhengHei"/>
              </a:defRPr>
            </a:pPr>
            <a:r>
              <a:rPr sz="1275" b="0">
                <a:solidFill>
                  <a:srgbClr val="626262"/>
                </a:solidFill>
                <a:latin typeface="Microsoft JhengHei"/>
                <a:ea typeface="Microsoft JhengHei"/>
                <a:cs typeface="Microsoft JhengHei"/>
              </a:rPr>
              <a:t>附錄</a:t>
            </a:r>
          </a:p>
        </p:txBody>
      </p:sp>
      <p:sp>
        <p:nvSpPr>
          <p:cNvPr id="4" name="text-66">
            <a:extLst xmlns:a="http://schemas.openxmlformats.org/drawingml/2006/main">
              <a:ext uri="{FF2B5EF4-FFF2-40B4-BE49-F238E27FC236}">
                <a16:creationId xmlns:a16="http://schemas.microsoft.com/office/drawing/2014/main" id="{31EE2D3D-69D4-444D-8FE6-75CEA602CD56}"/>
              </a:ext>
            </a:extLst>
          </p:cNvPr>
          <p:cNvSpPr>
            <a:spLocks xmlns:a="http://schemas.openxmlformats.org/drawingml/2006/main" noGrp="1"/>
          </p:cNvSpPr>
          <p:nvPr/>
        </p:nvSpPr>
        <p:spPr>
          <a:xfrm xmlns:a="http://schemas.openxmlformats.org/drawingml/2006/main">
            <a:off x="609600" y="1562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515"/>
                </a:solidFill>
                <a:latin typeface="Microsoft JhengHei"/>
                <a:ea typeface="Microsoft JhengHei"/>
                <a:cs typeface="Microsoft JhengHei"/>
              </a:defRPr>
            </a:pPr>
            <a:r>
              <a:rPr sz="2025" b="1">
                <a:solidFill>
                  <a:srgbClr val="151515"/>
                </a:solidFill>
                <a:latin typeface="Microsoft JhengHei"/>
                <a:ea typeface="Microsoft JhengHei"/>
                <a:cs typeface="Microsoft JhengHei"/>
              </a:rPr>
              <a:t>OWASP LLM01 / LLM06</a:t>
            </a:r>
          </a:p>
        </p:txBody>
      </p:sp>
      <p:sp>
        <p:nvSpPr>
          <p:cNvPr id="5" name="text-67">
            <a:extLst xmlns:a="http://schemas.openxmlformats.org/drawingml/2006/main">
              <a:ext uri="{FF2B5EF4-FFF2-40B4-BE49-F238E27FC236}">
                <a16:creationId xmlns:a16="http://schemas.microsoft.com/office/drawing/2014/main" id="{CCEEDAF4-69B1-49C3-8833-ADAE7E0251C5}"/>
              </a:ext>
            </a:extLst>
          </p:cNvPr>
          <p:cNvSpPr>
            <a:spLocks xmlns:a="http://schemas.openxmlformats.org/drawingml/2006/main" noGrp="1"/>
          </p:cNvSpPr>
          <p:nvPr/>
        </p:nvSpPr>
        <p:spPr>
          <a:xfrm xmlns:a="http://schemas.openxmlformats.org/drawingml/2006/main">
            <a:off x="5467350" y="1590675"/>
            <a:ext cx="6048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51515"/>
                </a:solidFill>
                <a:latin typeface="Microsoft JhengHei"/>
                <a:ea typeface="Microsoft JhengHei"/>
                <a:cs typeface="Microsoft JhengHei"/>
              </a:defRPr>
            </a:pPr>
            <a:r>
              <a:rPr sz="1800" b="0">
                <a:solidFill>
                  <a:srgbClr val="151515"/>
                </a:solidFill>
                <a:latin typeface="Microsoft JhengHei"/>
                <a:ea typeface="Microsoft JhengHei"/>
                <a:cs typeface="Microsoft JhengHei"/>
              </a:rPr>
              <a:t>提示注入與過度代理權限；支持獨立授權設計。</a:t>
            </a:r>
          </a:p>
        </p:txBody>
      </p:sp>
      <p:sp>
        <p:nvSpPr>
          <p:cNvPr id="6" name="text-68">
            <a:extLst xmlns:a="http://schemas.openxmlformats.org/drawingml/2006/main">
              <a:ext uri="{FF2B5EF4-FFF2-40B4-BE49-F238E27FC236}">
                <a16:creationId xmlns:a16="http://schemas.microsoft.com/office/drawing/2014/main" id="{BC353293-8748-4BA5-8E36-DF89B0EC6ECD}"/>
              </a:ext>
            </a:extLst>
          </p:cNvPr>
          <p:cNvSpPr>
            <a:spLocks xmlns:a="http://schemas.openxmlformats.org/drawingml/2006/main" noGrp="1"/>
          </p:cNvSpPr>
          <p:nvPr/>
        </p:nvSpPr>
        <p:spPr>
          <a:xfrm xmlns:a="http://schemas.openxmlformats.org/drawingml/2006/main">
            <a:off x="609600" y="24193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515"/>
                </a:solidFill>
                <a:latin typeface="Microsoft JhengHei"/>
                <a:ea typeface="Microsoft JhengHei"/>
                <a:cs typeface="Microsoft JhengHei"/>
              </a:defRPr>
            </a:pPr>
            <a:r>
              <a:rPr sz="2025" b="1">
                <a:solidFill>
                  <a:srgbClr val="151515"/>
                </a:solidFill>
                <a:latin typeface="Microsoft JhengHei"/>
                <a:ea typeface="Microsoft JhengHei"/>
                <a:cs typeface="Microsoft JhengHei"/>
              </a:rPr>
              <a:t>InjecAgent，ACL Findings 2024</a:t>
            </a:r>
          </a:p>
        </p:txBody>
      </p:sp>
      <p:sp>
        <p:nvSpPr>
          <p:cNvPr id="7" name="text-69">
            <a:extLst xmlns:a="http://schemas.openxmlformats.org/drawingml/2006/main">
              <a:ext uri="{FF2B5EF4-FFF2-40B4-BE49-F238E27FC236}">
                <a16:creationId xmlns:a16="http://schemas.microsoft.com/office/drawing/2014/main" id="{85A21667-7516-40F1-B118-C37B99D0E89A}"/>
              </a:ext>
            </a:extLst>
          </p:cNvPr>
          <p:cNvSpPr>
            <a:spLocks xmlns:a="http://schemas.openxmlformats.org/drawingml/2006/main" noGrp="1"/>
          </p:cNvSpPr>
          <p:nvPr/>
        </p:nvSpPr>
        <p:spPr>
          <a:xfrm xmlns:a="http://schemas.openxmlformats.org/drawingml/2006/main">
            <a:off x="5467350" y="2447925"/>
            <a:ext cx="6048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51515"/>
                </a:solidFill>
                <a:latin typeface="Microsoft JhengHei"/>
                <a:ea typeface="Microsoft JhengHei"/>
                <a:cs typeface="Microsoft JhengHei"/>
              </a:defRPr>
            </a:pPr>
            <a:r>
              <a:rPr sz="1800" b="0">
                <a:solidFill>
                  <a:srgbClr val="151515"/>
                </a:solidFill>
                <a:latin typeface="Microsoft JhengHei"/>
                <a:ea typeface="Microsoft JhengHei"/>
                <a:cs typeface="Microsoft JhengHei"/>
              </a:rPr>
              <a:t>工具整合型 Agent 的間接提示注入評估。</a:t>
            </a:r>
          </a:p>
        </p:txBody>
      </p:sp>
      <p:sp>
        <p:nvSpPr>
          <p:cNvPr id="8" name="text-70">
            <a:extLst xmlns:a="http://schemas.openxmlformats.org/drawingml/2006/main">
              <a:ext uri="{FF2B5EF4-FFF2-40B4-BE49-F238E27FC236}">
                <a16:creationId xmlns:a16="http://schemas.microsoft.com/office/drawing/2014/main" id="{6E468EFB-D03D-48AC-8C42-A44671A09FC5}"/>
              </a:ext>
            </a:extLst>
          </p:cNvPr>
          <p:cNvSpPr>
            <a:spLocks xmlns:a="http://schemas.openxmlformats.org/drawingml/2006/main" noGrp="1"/>
          </p:cNvSpPr>
          <p:nvPr/>
        </p:nvSpPr>
        <p:spPr>
          <a:xfrm xmlns:a="http://schemas.openxmlformats.org/drawingml/2006/main">
            <a:off x="609600" y="32766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515"/>
                </a:solidFill>
                <a:latin typeface="Microsoft JhengHei"/>
                <a:ea typeface="Microsoft JhengHei"/>
                <a:cs typeface="Microsoft JhengHei"/>
              </a:defRPr>
            </a:pPr>
            <a:r>
              <a:rPr sz="2025" b="1">
                <a:solidFill>
                  <a:srgbClr val="151515"/>
                </a:solidFill>
                <a:latin typeface="Microsoft JhengHei"/>
                <a:ea typeface="Microsoft JhengHei"/>
                <a:cs typeface="Microsoft JhengHei"/>
              </a:rPr>
              <a:t>Task Shield，ACL 2025</a:t>
            </a:r>
          </a:p>
        </p:txBody>
      </p:sp>
      <p:sp>
        <p:nvSpPr>
          <p:cNvPr id="9" name="text-71">
            <a:extLst xmlns:a="http://schemas.openxmlformats.org/drawingml/2006/main">
              <a:ext uri="{FF2B5EF4-FFF2-40B4-BE49-F238E27FC236}">
                <a16:creationId xmlns:a16="http://schemas.microsoft.com/office/drawing/2014/main" id="{11953392-DF18-469E-A308-0DBA459FD67D}"/>
              </a:ext>
            </a:extLst>
          </p:cNvPr>
          <p:cNvSpPr>
            <a:spLocks xmlns:a="http://schemas.openxmlformats.org/drawingml/2006/main" noGrp="1"/>
          </p:cNvSpPr>
          <p:nvPr/>
        </p:nvSpPr>
        <p:spPr>
          <a:xfrm xmlns:a="http://schemas.openxmlformats.org/drawingml/2006/main">
            <a:off x="5467350" y="3305175"/>
            <a:ext cx="6048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51515"/>
                </a:solidFill>
                <a:latin typeface="Microsoft JhengHei"/>
                <a:ea typeface="Microsoft JhengHei"/>
                <a:cs typeface="Microsoft JhengHei"/>
              </a:defRPr>
            </a:pPr>
            <a:r>
              <a:rPr sz="1800" b="0">
                <a:solidFill>
                  <a:srgbClr val="151515"/>
                </a:solidFill>
                <a:latin typeface="Microsoft JhengHei"/>
                <a:ea typeface="Microsoft JhengHei"/>
                <a:cs typeface="Microsoft JhengHei"/>
              </a:rPr>
              <a:t>以任務一致性檢查作為 Agent 防護的相關研究。</a:t>
            </a:r>
          </a:p>
        </p:txBody>
      </p:sp>
      <p:sp>
        <p:nvSpPr>
          <p:cNvPr id="10" name="text-72">
            <a:extLst xmlns:a="http://schemas.openxmlformats.org/drawingml/2006/main">
              <a:ext uri="{FF2B5EF4-FFF2-40B4-BE49-F238E27FC236}">
                <a16:creationId xmlns:a16="http://schemas.microsoft.com/office/drawing/2014/main" id="{9A98E2F8-4100-4606-BCC9-38299C8D9E72}"/>
              </a:ext>
            </a:extLst>
          </p:cNvPr>
          <p:cNvSpPr>
            <a:spLocks xmlns:a="http://schemas.openxmlformats.org/drawingml/2006/main" noGrp="1"/>
          </p:cNvSpPr>
          <p:nvPr/>
        </p:nvSpPr>
        <p:spPr>
          <a:xfrm xmlns:a="http://schemas.openxmlformats.org/drawingml/2006/main">
            <a:off x="609600" y="41338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515"/>
                </a:solidFill>
                <a:latin typeface="Microsoft JhengHei"/>
                <a:ea typeface="Microsoft JhengHei"/>
                <a:cs typeface="Microsoft JhengHei"/>
              </a:defRPr>
            </a:pPr>
            <a:r>
              <a:rPr sz="2025" b="1">
                <a:solidFill>
                  <a:srgbClr val="151515"/>
                </a:solidFill>
                <a:latin typeface="Microsoft JhengHei"/>
                <a:ea typeface="Microsoft JhengHei"/>
                <a:cs typeface="Microsoft JhengHei"/>
              </a:rPr>
              <a:t>OpenAI 官方訓練與評估文件</a:t>
            </a:r>
          </a:p>
        </p:txBody>
      </p:sp>
      <p:sp>
        <p:nvSpPr>
          <p:cNvPr id="11" name="text-73">
            <a:extLst xmlns:a="http://schemas.openxmlformats.org/drawingml/2006/main">
              <a:ext uri="{FF2B5EF4-FFF2-40B4-BE49-F238E27FC236}">
                <a16:creationId xmlns:a16="http://schemas.microsoft.com/office/drawing/2014/main" id="{66393576-F0A4-4312-91D9-D4BEF99DBD1A}"/>
              </a:ext>
            </a:extLst>
          </p:cNvPr>
          <p:cNvSpPr>
            <a:spLocks xmlns:a="http://schemas.openxmlformats.org/drawingml/2006/main" noGrp="1"/>
          </p:cNvSpPr>
          <p:nvPr/>
        </p:nvSpPr>
        <p:spPr>
          <a:xfrm xmlns:a="http://schemas.openxmlformats.org/drawingml/2006/main">
            <a:off x="5467350" y="4162425"/>
            <a:ext cx="6048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51515"/>
                </a:solidFill>
                <a:latin typeface="Microsoft JhengHei"/>
                <a:ea typeface="Microsoft JhengHei"/>
                <a:cs typeface="Microsoft JhengHei"/>
              </a:defRPr>
            </a:pPr>
            <a:r>
              <a:rPr sz="1800" b="0">
                <a:solidFill>
                  <a:srgbClr val="151515"/>
                </a:solidFill>
                <a:latin typeface="Microsoft JhengHei"/>
                <a:ea typeface="Microsoft JhengHei"/>
                <a:cs typeface="Microsoft JhengHei"/>
              </a:rPr>
              <a:t>教師輸出蒸餾、獨立評估與人工核對。</a:t>
            </a:r>
          </a:p>
        </p:txBody>
      </p:sp>
      <p:sp>
        <p:nvSpPr>
          <p:cNvPr id="12" name="text-74">
            <a:extLst xmlns:a="http://schemas.openxmlformats.org/drawingml/2006/main">
              <a:ext uri="{FF2B5EF4-FFF2-40B4-BE49-F238E27FC236}">
                <a16:creationId xmlns:a16="http://schemas.microsoft.com/office/drawing/2014/main" id="{9BAEAA90-8407-4273-9836-68C52869C5AD}"/>
              </a:ext>
            </a:extLst>
          </p:cNvPr>
          <p:cNvSpPr>
            <a:spLocks xmlns:a="http://schemas.openxmlformats.org/drawingml/2006/main" noGrp="1"/>
          </p:cNvSpPr>
          <p:nvPr/>
        </p:nvSpPr>
        <p:spPr>
          <a:xfrm xmlns:a="http://schemas.openxmlformats.org/drawingml/2006/main">
            <a:off x="609600" y="4991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515"/>
                </a:solidFill>
                <a:latin typeface="Microsoft JhengHei"/>
                <a:ea typeface="Microsoft JhengHei"/>
                <a:cs typeface="Microsoft JhengHei"/>
              </a:defRPr>
            </a:pPr>
            <a:r>
              <a:rPr sz="2025" b="1">
                <a:solidFill>
                  <a:srgbClr val="151515"/>
                </a:solidFill>
                <a:latin typeface="Microsoft JhengHei"/>
                <a:ea typeface="Microsoft JhengHei"/>
                <a:cs typeface="Microsoft JhengHei"/>
              </a:rPr>
              <a:t>Nav2 官方文件、既有 ROS 2 專案</a:t>
            </a:r>
          </a:p>
        </p:txBody>
      </p:sp>
      <p:sp>
        <p:nvSpPr>
          <p:cNvPr id="13" name="text-75">
            <a:extLst xmlns:a="http://schemas.openxmlformats.org/drawingml/2006/main">
              <a:ext uri="{FF2B5EF4-FFF2-40B4-BE49-F238E27FC236}">
                <a16:creationId xmlns:a16="http://schemas.microsoft.com/office/drawing/2014/main" id="{B5B5417C-17FD-4935-B1C8-59B4EE6BD693}"/>
              </a:ext>
            </a:extLst>
          </p:cNvPr>
          <p:cNvSpPr>
            <a:spLocks xmlns:a="http://schemas.openxmlformats.org/drawingml/2006/main" noGrp="1"/>
          </p:cNvSpPr>
          <p:nvPr/>
        </p:nvSpPr>
        <p:spPr>
          <a:xfrm xmlns:a="http://schemas.openxmlformats.org/drawingml/2006/main">
            <a:off x="5467350" y="5019675"/>
            <a:ext cx="6048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51515"/>
                </a:solidFill>
                <a:latin typeface="Microsoft JhengHei"/>
                <a:ea typeface="Microsoft JhengHei"/>
                <a:cs typeface="Microsoft JhengHei"/>
              </a:defRPr>
            </a:pPr>
            <a:r>
              <a:rPr sz="1800" b="0">
                <a:solidFill>
                  <a:srgbClr val="151515"/>
                </a:solidFill>
                <a:latin typeface="Microsoft JhengHei"/>
                <a:ea typeface="Microsoft JhengHei"/>
                <a:cs typeface="Microsoft JhengHei"/>
              </a:rPr>
              <a:t>導航安全監控，以及可沿用的通訊與速度守衛。</a:t>
            </a:r>
          </a:p>
        </p:txBody>
      </p:sp>
    </p:spTree>
    <p:extLst>
      <p:ext uri="{BB962C8B-B14F-4D97-AF65-F5344CB8AC3E}">
        <p14:creationId xmlns:p14="http://schemas.microsoft.com/office/powerpoint/2010/main" val="6656703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2026-09-26T11:58:02.5760000Z</dcterms:created>
  <dcterms:modified xsi:type="dcterms:W3CDTF">2026-09-26T11:58:02.5760000Z</dcterms:modified>
</coreProperties>
</file>