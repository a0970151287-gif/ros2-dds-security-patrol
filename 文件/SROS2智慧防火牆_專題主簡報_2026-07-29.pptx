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fa0488d09247bf" /><Relationship Type="http://schemas.openxmlformats.org/officeDocument/2006/relationships/extended-properties" Target="/docProps/app.xml" Id="Rc2b1546c961240b2" /><Relationship Type="http://schemas.openxmlformats.org/officeDocument/2006/relationships/officeDocument" Target="/ppt/presentation.xml" Id="R53b044018e3a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47056ba9a428a"/>
  </p:sldMasterIdLst>
  <p:notesMasterIdLst>
    <p:notesMasterId xmlns:r="http://schemas.openxmlformats.org/officeDocument/2006/relationships" r:id="R8a7187b011184f7e"/>
  </p:notesMasterIdLst>
  <p:sldIdLst>
    <p:sldId xmlns:r="http://schemas.openxmlformats.org/officeDocument/2006/relationships" id="256" r:id="Rf0ca229795634a88"/>
    <p:sldId xmlns:r="http://schemas.openxmlformats.org/officeDocument/2006/relationships" id="257" r:id="R088488e18f2f4f61"/>
    <p:sldId xmlns:r="http://schemas.openxmlformats.org/officeDocument/2006/relationships" id="258" r:id="Rcce57cbe52634976"/>
    <p:sldId xmlns:r="http://schemas.openxmlformats.org/officeDocument/2006/relationships" id="259" r:id="R9b0643d07f0a4b69"/>
    <p:sldId xmlns:r="http://schemas.openxmlformats.org/officeDocument/2006/relationships" id="260" r:id="R6b95e0a367d249e3"/>
    <p:sldId xmlns:r="http://schemas.openxmlformats.org/officeDocument/2006/relationships" id="261" r:id="Rb56fb519494f4dd4"/>
    <p:sldId xmlns:r="http://schemas.openxmlformats.org/officeDocument/2006/relationships" id="262" r:id="Rfb60e650b70b4885"/>
    <p:sldId xmlns:r="http://schemas.openxmlformats.org/officeDocument/2006/relationships" id="263" r:id="R97ed22845fce460b"/>
    <p:sldId xmlns:r="http://schemas.openxmlformats.org/officeDocument/2006/relationships" id="264" r:id="R571d0c32b0e44e27"/>
    <p:sldId xmlns:r="http://schemas.openxmlformats.org/officeDocument/2006/relationships" id="265" r:id="Rd72e671fce5a45cf"/>
    <p:sldId xmlns:r="http://schemas.openxmlformats.org/officeDocument/2006/relationships" id="266" r:id="R86f2715716344f17"/>
    <p:sldId xmlns:r="http://schemas.openxmlformats.org/officeDocument/2006/relationships" id="267" r:id="Rf10be54a9c15476c"/>
    <p:sldId xmlns:r="http://schemas.openxmlformats.org/officeDocument/2006/relationships" id="268" r:id="Ra5841834857542a4"/>
    <p:sldId xmlns:r="http://schemas.openxmlformats.org/officeDocument/2006/relationships" id="269" r:id="R790d60b41ed04034"/>
    <p:sldId xmlns:r="http://schemas.openxmlformats.org/officeDocument/2006/relationships" id="270" r:id="Rb960cdd3394247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4137bfd7d4b4c" /><Relationship Type="http://schemas.openxmlformats.org/officeDocument/2006/relationships/slideMaster" Target="/ppt/slideMasters/slideMaster1.xml" Id="R46047056ba9a428a" /><Relationship Type="http://schemas.openxmlformats.org/officeDocument/2006/relationships/notesMaster" Target="/ppt/notesMasters/notesMaster1.xml" Id="R8a7187b011184f7e" /><Relationship Type="http://schemas.openxmlformats.org/officeDocument/2006/relationships/presProps" Target="/ppt/presProps.xml" Id="R03be55f5c41d46ab" /><Relationship Type="http://schemas.openxmlformats.org/officeDocument/2006/relationships/tableStyles" Target="/ppt/tableStyles.xml" Id="R9406cbb5a9734238" /><Relationship Type="http://schemas.openxmlformats.org/officeDocument/2006/relationships/slide" Target="/ppt/slides/slide1.xml" Id="Rf0ca229795634a88" /><Relationship Type="http://schemas.openxmlformats.org/officeDocument/2006/relationships/slide" Target="/ppt/slides/slide2.xml" Id="R088488e18f2f4f61" /><Relationship Type="http://schemas.openxmlformats.org/officeDocument/2006/relationships/slide" Target="/ppt/slides/slide3.xml" Id="Rcce57cbe52634976" /><Relationship Type="http://schemas.openxmlformats.org/officeDocument/2006/relationships/slide" Target="/ppt/slides/slide4.xml" Id="R9b0643d07f0a4b69" /><Relationship Type="http://schemas.openxmlformats.org/officeDocument/2006/relationships/slide" Target="/ppt/slides/slide5.xml" Id="R6b95e0a367d249e3" /><Relationship Type="http://schemas.openxmlformats.org/officeDocument/2006/relationships/slide" Target="/ppt/slides/slide6.xml" Id="Rb56fb519494f4dd4" /><Relationship Type="http://schemas.openxmlformats.org/officeDocument/2006/relationships/slide" Target="/ppt/slides/slide7.xml" Id="Rfb60e650b70b4885" /><Relationship Type="http://schemas.openxmlformats.org/officeDocument/2006/relationships/slide" Target="/ppt/slides/slide8.xml" Id="R97ed22845fce460b" /><Relationship Type="http://schemas.openxmlformats.org/officeDocument/2006/relationships/slide" Target="/ppt/slides/slide9.xml" Id="R571d0c32b0e44e27" /><Relationship Type="http://schemas.openxmlformats.org/officeDocument/2006/relationships/slide" Target="/ppt/slides/slide10.xml" Id="Rd72e671fce5a45cf" /><Relationship Type="http://schemas.openxmlformats.org/officeDocument/2006/relationships/slide" Target="/ppt/slides/slide11.xml" Id="R86f2715716344f17" /><Relationship Type="http://schemas.openxmlformats.org/officeDocument/2006/relationships/slide" Target="/ppt/slides/slide12.xml" Id="Rf10be54a9c15476c" /><Relationship Type="http://schemas.openxmlformats.org/officeDocument/2006/relationships/slide" Target="/ppt/slides/slide13.xml" Id="Ra5841834857542a4" /><Relationship Type="http://schemas.openxmlformats.org/officeDocument/2006/relationships/slide" Target="/ppt/slides/slide14.xml" Id="R790d60b41ed04034" /><Relationship Type="http://schemas.openxmlformats.org/officeDocument/2006/relationships/slide" Target="/ppt/slides/slide15.xml" Id="Rb960cdd33942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bdb4a3aa44b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7801274a574d96" /><Relationship Type="http://schemas.openxmlformats.org/officeDocument/2006/relationships/notesMaster" Target="/ppt/notesMasters/notesMaster1.xml" Id="R0bb91e77ae3944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8ec231152741ad" /><Relationship Type="http://schemas.openxmlformats.org/officeDocument/2006/relationships/notesMaster" Target="/ppt/notesMasters/notesMaster1.xml" Id="Rf33955b3dc0b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fc4fdeff564dda" /><Relationship Type="http://schemas.openxmlformats.org/officeDocument/2006/relationships/notesMaster" Target="/ppt/notesMasters/notesMaster1.xml" Id="Rb2617cd3339349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60f5a5fd043e4" /><Relationship Type="http://schemas.openxmlformats.org/officeDocument/2006/relationships/notesMaster" Target="/ppt/notesMasters/notesMaster1.xml" Id="Rc8b9ab3ca6f946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ace98dd8ac421e" /><Relationship Type="http://schemas.openxmlformats.org/officeDocument/2006/relationships/notesMaster" Target="/ppt/notesMasters/notesMaster1.xml" Id="R8760aaca97b540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22fbc0e9fa4364" /><Relationship Type="http://schemas.openxmlformats.org/officeDocument/2006/relationships/notesMaster" Target="/ppt/notesMasters/notesMaster1.xml" Id="Rc99c86d1f25944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8e6bac326549c2" /><Relationship Type="http://schemas.openxmlformats.org/officeDocument/2006/relationships/notesMaster" Target="/ppt/notesMasters/notesMaster1.xml" Id="R929923c30ebf47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3c6452331445f9" /><Relationship Type="http://schemas.openxmlformats.org/officeDocument/2006/relationships/notesMaster" Target="/ppt/notesMasters/notesMaster1.xml" Id="R9c6a35a3cff34e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9d9284cf07443e" /><Relationship Type="http://schemas.openxmlformats.org/officeDocument/2006/relationships/notesMaster" Target="/ppt/notesMasters/notesMaster1.xml" Id="Rd057bc26da1146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c579fb01034739" /><Relationship Type="http://schemas.openxmlformats.org/officeDocument/2006/relationships/notesMaster" Target="/ppt/notesMasters/notesMaster1.xml" Id="R657bc39e554d40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7fa0730ad84e1d" /><Relationship Type="http://schemas.openxmlformats.org/officeDocument/2006/relationships/notesMaster" Target="/ppt/notesMasters/notesMaster1.xml" Id="R88075628c1f947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5c177788fc4a15" /><Relationship Type="http://schemas.openxmlformats.org/officeDocument/2006/relationships/notesMaster" Target="/ppt/notesMasters/notesMaster1.xml" Id="Rbda26bc52ed041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106b1dc73e45ff" /><Relationship Type="http://schemas.openxmlformats.org/officeDocument/2006/relationships/notesMaster" Target="/ppt/notesMasters/notesMaster1.xml" Id="R52e61e0cc63448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e18bf272a24922" /><Relationship Type="http://schemas.openxmlformats.org/officeDocument/2006/relationships/notesMaster" Target="/ppt/notesMasters/notesMaster1.xml" Id="Rb7d29b4c44bf4c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63718b037643f8" /><Relationship Type="http://schemas.openxmlformats.org/officeDocument/2006/relationships/notesMaster" Target="/ppt/notesMasters/notesMaster1.xml" Id="R141bbc37c8fd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開場只講一句：這是一個把 SROS2 預防、ROS2 行為、DDS 網路與 AI 回應整合成可驗證防火牆的個人專題。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評審要先理解：本題不是把 nmap 或 Metasploit 接到 ROS2，而是處理一般 perimeter firewall 看不到的 DDS 身分與機器人行為風險。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- C:\Users\Jesse\Documents\專題ROS2\文件\系統文件\系統架構規格書.md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這頁是整份報告的骨架。後面每個資料、模型與驗收項目都要能回到 RQ1–RQ4。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講解順序由左到右。特別說明 Pi 5 是目標硬體，不要讓評審誤以為已完成實機部署。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C:\Users\Jesse\Documents\專題ROS2\文件\系統文件\系統架構規格書.md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AI 說成萬能。這個設計的強點是 defense in depth：SROS2 先預防、規則提供可解釋證據、AI 補未知模式、回應層保護機器人。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C:\Users\Jesse\Documents\專題ROS2\文件\防禦對照_預防優於反應.md</a:t>
            </a:r>
          </a:p>
          <a:p xmlns:a="http://schemas.openxmlformats.org/drawingml/2006/main">
            <a:r>
              <a:t>- C:\Users\Jesse\Documents\專題ROS2\文件\專題完整總報告.md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滲透測試會做，但現在的共享 10.1.0.0/16 不能當作實驗室。評審會更重視範圍、可復原性與證據鏈，而不是攻擊工具數量。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C:\Users\Jesse\Documents\專題ROS2\紅隊測試\12_紅隊攻擊報告.md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這頁先展示規模，再主動揭露 synthetic 邊界。資料量大不代表真實攻防成效，品質 gate 與 live test 才是重點。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C:\Users\Jesse\Documents\專題ROS2\firewall_lab\pretrain_dataset\DATASET_CARD.md</a:t>
            </a:r>
          </a:p>
          <a:p xmlns:a="http://schemas.openxmlformats.org/drawingml/2006/main">
            <a:r>
              <a:t>- C:\Users\Jesse\Documents\專題ROS2\firewall_lab\pretrain_dataset\quality_report.json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這是目前最扎實的 live 數字。不要把 20 sessions 說成模型準確率，也不要把 pilot 外推成企業成熟度。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C:\Users\Jesse\Documents\專題ROS2\firewall_lab\features_pilot\live_quality_report.json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這不是失敗，而是研究誠信：若先收 1,100 場只有 network features，之後無法回答 RQ1。現在的 fail-closed gate 避免昂貴返工。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C:\Users\Jesse\Documents\專題ROS2\firewall_lab\live_multimodal_contract.json</a:t>
            </a:r>
          </a:p>
          <a:p xmlns:a="http://schemas.openxmlformats.org/drawingml/2006/main">
            <a:r>
              <a:t>- C:\Users\Jesse\Documents\專題ROS2\firewall_lab\readiness_evidence\formal_dataset_preflight_2026-07-28_after_plan_audit.json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所有模型必須共用 session-grouped split，untouched test 只能最後開一次。若融合沒有贏 RF，也要誠實把貢獻定位為資料與安全實驗。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只說會做滲透測試不夠；要說明升級階梯、停止條件、證據與復原。Metasploit 只是主機入口層工具，DDS／SROS2 仍需各自的協定驗證。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C:\Users\Jesse\Documents\專題ROS2\文件\防禦對照_預防優於反應.md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 68.5% 與 55.3% 是工作包加權進度，不是模型準確率。47/47 是最新工程紀錄，但正式答辯前要重跑並保存原始 log，且清理舊文件 28/47 的衝突。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C:\Users\Jesse\Documents\專題ROS2\文件\智慧防火牆工程進度_2026-07-27.md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- C:\Users\Jesse\Documents\專題ROS2\文件\正式資料集啟動紀錄_2026-07-28.md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截止日先作為內部控制日，仍要取得系辦正式公告。若缺件延遲，先完成模擬與 Pi 5 資源量測，不讓整個研究停住。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C:\Users\Jesse\Documents\專題ROS2\文件\智慧防火牆正式評分對齊_2026-07-28.md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這頁直接對齊系上評分。個人專題的溝通協調證據改為需求訪談、教授回饋、決策紀錄、公開展示與多層次說明，不假裝有團隊分工。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C:\Users\Jesse\Documents\專題ROS2\文件\智慧防火牆正式評分對齊_2026-07-28.md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收尾不要承諾防住所有攻擊。承諾一條可重現的研究證據鏈，以及一個不會因 AI 誤判就讓機器人失控的安全回應系統。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3800a400641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9d25cc0274e02" /><Relationship Type="http://schemas.openxmlformats.org/officeDocument/2006/relationships/slideLayout" Target="/ppt/slideLayouts/slideLayout1.xml" Id="R5992ca88fe0949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92ca88fe0949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a86d8d3b2478b" /><Relationship Type="http://schemas.openxmlformats.org/officeDocument/2006/relationships/notesSlide" Target="/ppt/notesSlides/notesSlide1.xml" Id="Raa0f869e097445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453862044c97" /><Relationship Type="http://schemas.openxmlformats.org/officeDocument/2006/relationships/notesSlide" Target="/ppt/notesSlides/notesSlide2.xml" Id="R07ac9c9784dc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1fedf32be47a5" /><Relationship Type="http://schemas.openxmlformats.org/officeDocument/2006/relationships/notesSlide" Target="/ppt/notesSlides/notesSlide3.xml" Id="R8ce810a0f55641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b3c70ee8244d3" /><Relationship Type="http://schemas.openxmlformats.org/officeDocument/2006/relationships/notesSlide" Target="/ppt/notesSlides/notesSlide4.xml" Id="Ra8cc481a2f214b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3040f70f34f51" /><Relationship Type="http://schemas.openxmlformats.org/officeDocument/2006/relationships/notesSlide" Target="/ppt/notesSlides/notesSlide5.xml" Id="Rbd019fe23af5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7ce9965424418" /><Relationship Type="http://schemas.openxmlformats.org/officeDocument/2006/relationships/notesSlide" Target="/ppt/notesSlides/notesSlide6.xml" Id="R5b8b2a40e04342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224f081db47cd" /><Relationship Type="http://schemas.openxmlformats.org/officeDocument/2006/relationships/notesSlide" Target="/ppt/notesSlides/notesSlide7.xml" Id="Rb7ed3f3c841745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964ff49d94af1" /><Relationship Type="http://schemas.openxmlformats.org/officeDocument/2006/relationships/notesSlide" Target="/ppt/notesSlides/notesSlide8.xml" Id="Rb4ee45c1f2d1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c8d6adfda434b" /><Relationship Type="http://schemas.openxmlformats.org/officeDocument/2006/relationships/notesSlide" Target="/ppt/notesSlides/notesSlide9.xml" Id="Rba72b3569db84f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25ededa26415f" /><Relationship Type="http://schemas.openxmlformats.org/officeDocument/2006/relationships/notesSlide" Target="/ppt/notesSlides/notesSlide10.xml" Id="R86ad160aeb7049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c78ff52784de2" /><Relationship Type="http://schemas.openxmlformats.org/officeDocument/2006/relationships/notesSlide" Target="/ppt/notesSlides/notesSlide11.xml" Id="R2c6b186c9a3f47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41e91a38243d8" /><Relationship Type="http://schemas.openxmlformats.org/officeDocument/2006/relationships/notesSlide" Target="/ppt/notesSlides/notesSlide12.xml" Id="Rf3e07aab68b74b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5f228cd954d1c" /><Relationship Type="http://schemas.openxmlformats.org/officeDocument/2006/relationships/notesSlide" Target="/ppt/notesSlides/notesSlide13.xml" Id="R353a47e068df46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c87c9dd32411c" /><Relationship Type="http://schemas.openxmlformats.org/officeDocument/2006/relationships/notesSlide" Target="/ppt/notesSlides/notesSlide14.xml" Id="Re5cf28db28eb41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571caa8474bae" /><Relationship Type="http://schemas.openxmlformats.org/officeDocument/2006/relationships/notesSlide" Target="/ppt/notesSlides/notesSlide15.xml" Id="Rb9075e7bb811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3F3D2874-F09F-4E83-983F-84F01D54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SROS2 智慧防火牆
SROS2 Intelligent Firewall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BF886BC-D24D-479B-9813-442D72FD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以多模態 AI 偵測 ROS2 已知與未知攻擊
Jesse｜Raspberry Pi 5 部署目標｜2027.05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072E8B8-9C6A-4272-BADC-4267A348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人工智慧系｜個人專題｜研究架構與目前進度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18C71FD-F6E3-4173-84D2-9D137888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23850" tIns="323850" rIns="323850" bIns="3238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PREVENT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DETECT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RESPOND</a:t>
            </a:r>
          </a:p>
        </p:txBody>
      </p:sp>
      <p:sp>
        <p:nvSpPr>
          <p:cNvPr id="5" name="pill-全新主簡報 v0.1">
            <a:extLst xmlns:a="http://schemas.openxmlformats.org/drawingml/2006/main">
              <a:ext uri="{FF2B5EF4-FFF2-40B4-BE49-F238E27FC236}">
                <a16:creationId xmlns:a16="http://schemas.microsoft.com/office/drawing/2014/main" id="{2A155909-DD75-4AD8-A73B-905AF3D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8580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全新主簡報 v0.1</a:t>
            </a:r>
          </a:p>
        </p:txBody>
      </p:sp>
    </p:spTree>
    <p:extLst>
      <p:ext uri="{BB962C8B-B14F-4D97-AF65-F5344CB8AC3E}">
        <p14:creationId xmlns:p14="http://schemas.microsoft.com/office/powerpoint/2010/main" val="14296435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15780AC-2052-4AF2-BAC6-04C6E8E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6AF614B-5584-423E-A296-3E8EEDEC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問題不是只有「封包能不能進來」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AB6BBA7-F544-496D-9188-AC0BACD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傳統網路視角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IP、port 與流量模式能看見掃描與洪水，卻不知道一個 ROS2 publisher 是否有權發布 /cmd_vel，也不知道機器人動作是否違反物理。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E855586-1848-4263-ABA1-DC47EA5D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ROS2／DDS 視角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真正的風險同時跨越身分與權限、訊息完整性、DDS discovery、感測／控制一致性，以及 AI 回應是否會造成誤封或失控。</a:t>
            </a:r>
          </a:p>
        </p:txBody>
      </p:sp>
      <p:sp>
        <p:nvSpPr>
          <p:cNvPr id="5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5BFBA773-8638-4339-ADE4-D676302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problem-left-tag">
            <a:extLst xmlns:a="http://schemas.openxmlformats.org/drawingml/2006/main">
              <a:ext uri="{FF2B5EF4-FFF2-40B4-BE49-F238E27FC236}">
                <a16:creationId xmlns:a16="http://schemas.microsoft.com/office/drawing/2014/main" id="{514556B6-D92D-4935-B0D2-CD315B1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一般防火牆</a:t>
            </a:r>
          </a:p>
        </p:txBody>
      </p:sp>
      <p:sp>
        <p:nvSpPr>
          <p:cNvPr id="7" name="problem-right-tag">
            <a:extLst xmlns:a="http://schemas.openxmlformats.org/drawingml/2006/main">
              <a:ext uri="{FF2B5EF4-FFF2-40B4-BE49-F238E27FC236}">
                <a16:creationId xmlns:a16="http://schemas.microsoft.com/office/drawing/2014/main" id="{5565DC0A-E497-49DB-9CE7-844B7F89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62100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本專題的防火牆</a:t>
            </a:r>
          </a:p>
        </p:txBody>
      </p:sp>
    </p:spTree>
    <p:extLst>
      <p:ext uri="{BB962C8B-B14F-4D97-AF65-F5344CB8AC3E}">
        <p14:creationId xmlns:p14="http://schemas.microsoft.com/office/powerpoint/2010/main" val="7847426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3F94650-96D1-4433-8489-95BB1C58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7068F7A-0820-4EF8-9BFB-E9EB6E94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四個研究問題，決定 AI 是否真的有價值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8D88A5A-63F4-4B66-9DFF-35DB73A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RQ1｜融合有效嗎？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network-only、telemetry-only、fusion 在相同 split 上比較 macro-F1、FPR 與重要攻擊 recall。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D901A36-E542-43B2-AD67-CCF4145D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RQ2｜未知攻擊呢？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把攻擊類別完全排除於訓練，量測 anomaly detector 的 unknown recall 與 AUPRC。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E8A6267-027F-4E40-BBDC-E4525043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RQ3｜SROS2 改變了什麼？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配對比較 Permissive／Enforce，避免模型只記住安全模式而不是攻擊行為。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1257648-4DAB-423B-BB54-0826F78C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RQ4｜回應安全嗎？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量測信心門檻、cooldown、白名單與 dry-run 對誤封、延遲和可復原性的影響。</a:t>
            </a:r>
          </a:p>
        </p:txBody>
      </p:sp>
      <p:sp>
        <p:nvSpPr>
          <p:cNvPr id="7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2F7164B4-A570-4CCA-9929-1B2F2F91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pill-研究問題 &gt; 功能數量">
            <a:extLst xmlns:a="http://schemas.openxmlformats.org/drawingml/2006/main">
              <a:ext uri="{FF2B5EF4-FFF2-40B4-BE49-F238E27FC236}">
                <a16:creationId xmlns:a16="http://schemas.microsoft.com/office/drawing/2014/main" id="{D4FD3FFF-475C-4982-A919-1C7F99A6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28675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研究問題 &gt; 功能數量</a:t>
            </a:r>
          </a:p>
        </p:txBody>
      </p:sp>
    </p:spTree>
    <p:extLst>
      <p:ext uri="{BB962C8B-B14F-4D97-AF65-F5344CB8AC3E}">
        <p14:creationId xmlns:p14="http://schemas.microsoft.com/office/powerpoint/2010/main" val="7297220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D1F7689-A37A-49DB-945A-22A8DE41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B75E391-5A7B-4E03-8E2B-BA796D69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整體架構：從機器人到受約束回應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A2C3761-6FFF-4FBB-9EBB-D0C575F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EE290B9-DD35-432B-B0E6-7A62EF9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81F88818-1D9B-40C5-8080-E64C69BA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6B72AE29-BF60-4FD6-82FA-344899E8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目標部署：Raspberry Pi 5；校方其餘硬體待補。現階段以 Gazebo／TurtleBot3 建立可重現測試平台。</a:t>
            </a:r>
          </a:p>
        </p:txBody>
      </p:sp>
      <p:sp>
        <p:nvSpPr>
          <p:cNvPr id="7" name="architecture-01&#10;機器人">
            <a:extLst xmlns:a="http://schemas.openxmlformats.org/drawingml/2006/main">
              <a:ext uri="{FF2B5EF4-FFF2-40B4-BE49-F238E27FC236}">
                <a16:creationId xmlns:a16="http://schemas.microsoft.com/office/drawing/2014/main" id="{D13BDA77-3088-4E0B-A291-29E1984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機器人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Gazebo / TB3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scan · odom · imu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cmd_vel</a:t>
            </a:r>
          </a:p>
        </p:txBody>
      </p:sp>
      <p:sp>
        <p:nvSpPr>
          <p:cNvPr id="8" name="architecture-02&#10;預防">
            <a:extLst xmlns:a="http://schemas.openxmlformats.org/drawingml/2006/main">
              <a:ext uri="{FF2B5EF4-FFF2-40B4-BE49-F238E27FC236}">
                <a16:creationId xmlns:a16="http://schemas.microsoft.com/office/drawing/2014/main" id="{113F8D44-65BE-4BEF-8E47-BA5579F0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4790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預防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SROS2 Enforce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雙 CA · ACL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HMAC v3</a:t>
            </a:r>
          </a:p>
        </p:txBody>
      </p:sp>
      <p:sp>
        <p:nvSpPr>
          <p:cNvPr id="9" name="architecture-03&#10;觀測">
            <a:extLst xmlns:a="http://schemas.openxmlformats.org/drawingml/2006/main">
              <a:ext uri="{FF2B5EF4-FFF2-40B4-BE49-F238E27FC236}">
                <a16:creationId xmlns:a16="http://schemas.microsoft.com/office/drawing/2014/main" id="{E4658291-B7E7-42C3-98B5-A9CFBDD1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4790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Zeek / DDS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D1–D6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事件與流量</a:t>
            </a:r>
          </a:p>
        </p:txBody>
      </p:sp>
      <p:sp>
        <p:nvSpPr>
          <p:cNvPr id="10" name="architecture-04&#10;AI 融合">
            <a:extLst xmlns:a="http://schemas.openxmlformats.org/drawingml/2006/main">
              <a:ext uri="{FF2B5EF4-FFF2-40B4-BE49-F238E27FC236}">
                <a16:creationId xmlns:a16="http://schemas.microsoft.com/office/drawing/2014/main" id="{3F08C20B-1C05-460D-95F5-20D557CB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network branch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telemetry branch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anomaly score</a:t>
            </a:r>
          </a:p>
        </p:txBody>
      </p:sp>
      <p:sp>
        <p:nvSpPr>
          <p:cNvPr id="11" name="architecture-05&#10;回應">
            <a:extLst xmlns:a="http://schemas.openxmlformats.org/drawingml/2006/main">
              <a:ext uri="{FF2B5EF4-FFF2-40B4-BE49-F238E27FC236}">
                <a16:creationId xmlns:a16="http://schemas.microsoft.com/office/drawing/2014/main" id="{4C0CE07F-16B2-4263-B396-04A3EC85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回應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confidence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allowlist · cooldown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dry-run</a:t>
            </a:r>
          </a:p>
        </p:txBody>
      </p:sp>
      <p:sp>
        <p:nvSpPr>
          <p:cNvPr id="12" name="arrow-246-346">
            <a:extLst xmlns:a="http://schemas.openxmlformats.org/drawingml/2006/main">
              <a:ext uri="{FF2B5EF4-FFF2-40B4-BE49-F238E27FC236}">
                <a16:creationId xmlns:a16="http://schemas.microsoft.com/office/drawing/2014/main" id="{ED0F1D79-8FF9-47B5-9D84-2D999B4D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956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arrow-484-346">
            <a:extLst xmlns:a="http://schemas.openxmlformats.org/drawingml/2006/main">
              <a:ext uri="{FF2B5EF4-FFF2-40B4-BE49-F238E27FC236}">
                <a16:creationId xmlns:a16="http://schemas.microsoft.com/office/drawing/2014/main" id="{3C2DAA1C-B1E4-4207-93DA-403AE7F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arrow-722-346">
            <a:extLst xmlns:a="http://schemas.openxmlformats.org/drawingml/2006/main">
              <a:ext uri="{FF2B5EF4-FFF2-40B4-BE49-F238E27FC236}">
                <a16:creationId xmlns:a16="http://schemas.microsoft.com/office/drawing/2014/main" id="{D938CDFC-E1AE-4D07-BA6F-449A854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956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arrow-960-346">
            <a:extLst xmlns:a="http://schemas.openxmlformats.org/drawingml/2006/main">
              <a:ext uri="{FF2B5EF4-FFF2-40B4-BE49-F238E27FC236}">
                <a16:creationId xmlns:a16="http://schemas.microsoft.com/office/drawing/2014/main" id="{199D571E-7C54-431A-92BE-A5792EF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architecture-evidence-band">
            <a:extLst xmlns:a="http://schemas.openxmlformats.org/drawingml/2006/main">
              <a:ext uri="{FF2B5EF4-FFF2-40B4-BE49-F238E27FC236}">
                <a16:creationId xmlns:a16="http://schemas.microsoft.com/office/drawing/2014/main" id="{9FBE3547-5D69-4D9B-923B-94F6FB08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10204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每次實驗都保留 session manifest、PCAP、Zeek、telemetry、features、版本與 SHA-256，讓結果能回放、能重現、能被質疑。</a:t>
            </a:r>
          </a:p>
        </p:txBody>
      </p:sp>
    </p:spTree>
    <p:extLst>
      <p:ext uri="{BB962C8B-B14F-4D97-AF65-F5344CB8AC3E}">
        <p14:creationId xmlns:p14="http://schemas.microsoft.com/office/powerpoint/2010/main" val="17214560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FBCE153-B1F4-41CB-BE54-5C81A7F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F05E22E-8BDC-4C0A-AF88-3EFC74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五層防禦互補：AI 不是唯一防線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3E164E7-E0C2-4F6A-8FE1-0C4EE78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預防與完整性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SROS2 雙 CA、逐節點最小權限與 DDS 加密；HMAC envelope v3 綁定 channel、timestamp、nonce，降低偽造、重放及跨頻道轉貼。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98603E74-9242-4181-B6F6-C91098FE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AI 與安全回應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分類器與 anomaly score 共同評估；所有動作受 confidence、allowlist、cooldown、容量限制與預設 dry-run 約束。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3C20654-2DEB-4CFA-B569-55985F8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行為與網路偵測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D1–D6 檢查超物理速度、方向衝突、雷射重複、非法 publisher、心跳與控制不一致；網路層另檢查 DDS 異常。</a:t>
            </a:r>
          </a:p>
        </p:txBody>
      </p:sp>
      <p:sp>
        <p:nvSpPr>
          <p:cNvPr id="6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B85BB7E5-3A23-4340-9D32-1EB00E3C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defense-message">
            <a:extLst xmlns:a="http://schemas.openxmlformats.org/drawingml/2006/main">
              <a:ext uri="{FF2B5EF4-FFF2-40B4-BE49-F238E27FC236}">
                <a16:creationId xmlns:a16="http://schemas.microsoft.com/office/drawing/2014/main" id="{731E1B9C-1466-4634-B20F-F4AE182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先用密碼學與權限減少可攻擊面，再用規則與 AI 找到剩餘異常，最後讓回應可撤銷。</a:t>
            </a:r>
          </a:p>
        </p:txBody>
      </p:sp>
      <p:sp>
        <p:nvSpPr>
          <p:cNvPr id="8" name="layer-badge-1–2">
            <a:extLst xmlns:a="http://schemas.openxmlformats.org/drawingml/2006/main">
              <a:ext uri="{FF2B5EF4-FFF2-40B4-BE49-F238E27FC236}">
                <a16:creationId xmlns:a16="http://schemas.microsoft.com/office/drawing/2014/main" id="{7E83994B-3ABE-492A-911E-65A6654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685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1–2</a:t>
            </a:r>
          </a:p>
        </p:txBody>
      </p:sp>
      <p:sp>
        <p:nvSpPr>
          <p:cNvPr id="9" name="layer-badge-3–4">
            <a:extLst xmlns:a="http://schemas.openxmlformats.org/drawingml/2006/main">
              <a:ext uri="{FF2B5EF4-FFF2-40B4-BE49-F238E27FC236}">
                <a16:creationId xmlns:a16="http://schemas.microsoft.com/office/drawing/2014/main" id="{C83F65ED-19DE-4219-9963-76D95099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57475"/>
            <a:ext cx="685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3–4</a:t>
            </a:r>
          </a:p>
        </p:txBody>
      </p:sp>
      <p:sp>
        <p:nvSpPr>
          <p:cNvPr id="10" name="layer-badge-5">
            <a:extLst xmlns:a="http://schemas.openxmlformats.org/drawingml/2006/main">
              <a:ext uri="{FF2B5EF4-FFF2-40B4-BE49-F238E27FC236}">
                <a16:creationId xmlns:a16="http://schemas.microsoft.com/office/drawing/2014/main" id="{3224A755-F5B5-4102-9E60-F849B01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57475"/>
            <a:ext cx="685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263324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A6496A2-EF0C-490A-A6E7-359373A6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00B3BBF-2AAF-4DC3-8543-1749E06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威脅模型清楚，滲透測試才有證據價值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32E67A6-5437-4161-B06C-AB0BE8B6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本專題要驗證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偽造／非法 publisher、replay 與 cross-channel、DDS discovery 異常、命令注入、參數竄改、來源偽造、心跳失效，以及感測／控制不一致。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2CC72D59-3A4E-42A1-87DC-E491A91C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本專題明確不做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不在校園或辦公室共享網段主動掃描；不碰憑證、私鑰與密碼；不做 DoS、持久化、提權、shell、破壞性修改或不可復原操作。</a:t>
            </a:r>
          </a:p>
        </p:txBody>
      </p:sp>
      <p:sp>
        <p:nvSpPr>
          <p:cNvPr id="5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B3C68F5D-D863-4261-A2FF-DCDC05D3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pill-IN SCOPE">
            <a:extLst xmlns:a="http://schemas.openxmlformats.org/drawingml/2006/main">
              <a:ext uri="{FF2B5EF4-FFF2-40B4-BE49-F238E27FC236}">
                <a16:creationId xmlns:a16="http://schemas.microsoft.com/office/drawing/2014/main" id="{668C720B-98BF-49F4-B89A-AF69F44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IN SCOPE</a:t>
            </a:r>
          </a:p>
        </p:txBody>
      </p:sp>
      <p:sp>
        <p:nvSpPr>
          <p:cNvPr id="7" name="pill-OUT OF SCOPE">
            <a:extLst xmlns:a="http://schemas.openxmlformats.org/drawingml/2006/main">
              <a:ext uri="{FF2B5EF4-FFF2-40B4-BE49-F238E27FC236}">
                <a16:creationId xmlns:a16="http://schemas.microsoft.com/office/drawing/2014/main" id="{40E5083E-57E1-4EEA-809C-692E49F7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6210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OUT OF SCOPE</a:t>
            </a:r>
          </a:p>
        </p:txBody>
      </p:sp>
      <p:sp>
        <p:nvSpPr>
          <p:cNvPr id="8" name="pentest-boundary">
            <a:extLst xmlns:a="http://schemas.openxmlformats.org/drawingml/2006/main">
              <a:ext uri="{FF2B5EF4-FFF2-40B4-BE49-F238E27FC236}">
                <a16:creationId xmlns:a16="http://schemas.microsoft.com/office/drawing/2014/main" id="{A2171778-63C3-4215-BD5B-59AAD8F2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00700"/>
            <a:ext cx="685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後期滲透驗收：自有隔離／host-only 網路＋書面範圍＋快照＋逐案 PCAP 與雜湊</a:t>
            </a:r>
          </a:p>
        </p:txBody>
      </p:sp>
    </p:spTree>
    <p:extLst>
      <p:ext uri="{BB962C8B-B14F-4D97-AF65-F5344CB8AC3E}">
        <p14:creationId xmlns:p14="http://schemas.microsoft.com/office/powerpoint/2010/main" val="2572440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457916F-0B0E-4244-A77A-270E4011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3735F75-AEF1-4F80-85AD-51106677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資料工廠：每一筆資料都要能追溯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F0A0114-B9AF-49D0-B778-4DEFB07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487B925A-2A96-4306-ABE4-B818750A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E0F97F66-E1F9-48A8-857C-3EF02D83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data-stat-2,500">
            <a:extLst xmlns:a="http://schemas.openxmlformats.org/drawingml/2006/main">
              <a:ext uri="{FF2B5EF4-FFF2-40B4-BE49-F238E27FC236}">
                <a16:creationId xmlns:a16="http://schemas.microsoft.com/office/drawing/2014/main" id="{A1957E6D-DEE6-4528-8767-19B256CD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2,500</a:t>
            </a:r>
          </a:p>
        </p:txBody>
      </p:sp>
      <p:sp>
        <p:nvSpPr>
          <p:cNvPr id="7" name="data-label-2,500">
            <a:extLst xmlns:a="http://schemas.openxmlformats.org/drawingml/2006/main">
              <a:ext uri="{FF2B5EF4-FFF2-40B4-BE49-F238E27FC236}">
                <a16:creationId xmlns:a16="http://schemas.microsoft.com/office/drawing/2014/main" id="{1ED597E4-37AC-46D6-9BD7-3C2A870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synthetic sessions</a:t>
            </a:r>
          </a:p>
        </p:txBody>
      </p:sp>
      <p:sp>
        <p:nvSpPr>
          <p:cNvPr id="8" name="data-stat-90,000">
            <a:extLst xmlns:a="http://schemas.openxmlformats.org/drawingml/2006/main">
              <a:ext uri="{FF2B5EF4-FFF2-40B4-BE49-F238E27FC236}">
                <a16:creationId xmlns:a16="http://schemas.microsoft.com/office/drawing/2014/main" id="{99AD31B9-7814-4F90-8BCE-212B823C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90,000</a:t>
            </a:r>
          </a:p>
        </p:txBody>
      </p:sp>
      <p:sp>
        <p:nvSpPr>
          <p:cNvPr id="9" name="data-label-90,000">
            <a:extLst xmlns:a="http://schemas.openxmlformats.org/drawingml/2006/main">
              <a:ext uri="{FF2B5EF4-FFF2-40B4-BE49-F238E27FC236}">
                <a16:creationId xmlns:a16="http://schemas.microsoft.com/office/drawing/2014/main" id="{68A16EEF-A20F-40D5-8C34-51AAB17F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synthetic windows</a:t>
            </a:r>
          </a:p>
        </p:txBody>
      </p:sp>
      <p:sp>
        <p:nvSpPr>
          <p:cNvPr id="10" name="data-stat-23">
            <a:extLst xmlns:a="http://schemas.openxmlformats.org/drawingml/2006/main">
              <a:ext uri="{FF2B5EF4-FFF2-40B4-BE49-F238E27FC236}">
                <a16:creationId xmlns:a16="http://schemas.microsoft.com/office/drawing/2014/main" id="{4D6152F0-9137-4278-8E6D-21C14968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11" name="data-label-23">
            <a:extLst xmlns:a="http://schemas.openxmlformats.org/drawingml/2006/main">
              <a:ext uri="{FF2B5EF4-FFF2-40B4-BE49-F238E27FC236}">
                <a16:creationId xmlns:a16="http://schemas.microsoft.com/office/drawing/2014/main" id="{B3BCE538-DB40-469A-A0E0-49F5BB27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類別（normal＋22 attacks）</a:t>
            </a:r>
          </a:p>
        </p:txBody>
      </p:sp>
      <p:sp>
        <p:nvSpPr>
          <p:cNvPr id="12" name="data-stage-1">
            <a:extLst xmlns:a="http://schemas.openxmlformats.org/drawingml/2006/main">
              <a:ext uri="{FF2B5EF4-FFF2-40B4-BE49-F238E27FC236}">
                <a16:creationId xmlns:a16="http://schemas.microsoft.com/office/drawing/2014/main" id="{9E1E3F66-2FC1-4DBF-B9A2-C16D79CB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manifest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seed · mode · label</a:t>
            </a:r>
          </a:p>
        </p:txBody>
      </p:sp>
      <p:sp>
        <p:nvSpPr>
          <p:cNvPr id="13" name="arrow-189-402">
            <a:extLst xmlns:a="http://schemas.openxmlformats.org/drawingml/2006/main">
              <a:ext uri="{FF2B5EF4-FFF2-40B4-BE49-F238E27FC236}">
                <a16:creationId xmlns:a16="http://schemas.microsoft.com/office/drawing/2014/main" id="{2E47707F-102A-4685-9D62-F70640E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82905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data-stage-2">
            <a:extLst xmlns:a="http://schemas.openxmlformats.org/drawingml/2006/main">
              <a:ext uri="{FF2B5EF4-FFF2-40B4-BE49-F238E27FC236}">
                <a16:creationId xmlns:a16="http://schemas.microsoft.com/office/drawing/2014/main" id="{98817F5D-0AC7-4C92-AF21-28233EC6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575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capture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PCAP + telemetry</a:t>
            </a:r>
          </a:p>
        </p:txBody>
      </p:sp>
      <p:sp>
        <p:nvSpPr>
          <p:cNvPr id="15" name="arrow-358-402">
            <a:extLst xmlns:a="http://schemas.openxmlformats.org/drawingml/2006/main">
              <a:ext uri="{FF2B5EF4-FFF2-40B4-BE49-F238E27FC236}">
                <a16:creationId xmlns:a16="http://schemas.microsoft.com/office/drawing/2014/main" id="{82194B10-5054-4514-B411-621C293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data-stage-3">
            <a:extLst xmlns:a="http://schemas.openxmlformats.org/drawingml/2006/main">
              <a:ext uri="{FF2B5EF4-FFF2-40B4-BE49-F238E27FC236}">
                <a16:creationId xmlns:a16="http://schemas.microsoft.com/office/drawing/2014/main" id="{084D118F-4C2D-485C-9C30-CF6ABA9C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Zeek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network events</a:t>
            </a:r>
          </a:p>
        </p:txBody>
      </p:sp>
      <p:sp>
        <p:nvSpPr>
          <p:cNvPr id="17" name="arrow-527-402">
            <a:extLst xmlns:a="http://schemas.openxmlformats.org/drawingml/2006/main">
              <a:ext uri="{FF2B5EF4-FFF2-40B4-BE49-F238E27FC236}">
                <a16:creationId xmlns:a16="http://schemas.microsoft.com/office/drawing/2014/main" id="{0348F0E5-B8FF-4F3D-AE60-3B105233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82905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data-stage-4">
            <a:extLst xmlns:a="http://schemas.openxmlformats.org/drawingml/2006/main">
              <a:ext uri="{FF2B5EF4-FFF2-40B4-BE49-F238E27FC236}">
                <a16:creationId xmlns:a16="http://schemas.microsoft.com/office/drawing/2014/main" id="{81FA785C-A8F5-40C2-8B28-D9F8CC44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575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align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session + window</a:t>
            </a:r>
          </a:p>
        </p:txBody>
      </p:sp>
      <p:sp>
        <p:nvSpPr>
          <p:cNvPr id="19" name="arrow-696-402">
            <a:extLst xmlns:a="http://schemas.openxmlformats.org/drawingml/2006/main">
              <a:ext uri="{FF2B5EF4-FFF2-40B4-BE49-F238E27FC236}">
                <a16:creationId xmlns:a16="http://schemas.microsoft.com/office/drawing/2014/main" id="{46BAFCCE-4256-4743-AC23-060FC4A5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data-stage-5">
            <a:extLst xmlns:a="http://schemas.openxmlformats.org/drawingml/2006/main">
              <a:ext uri="{FF2B5EF4-FFF2-40B4-BE49-F238E27FC236}">
                <a16:creationId xmlns:a16="http://schemas.microsoft.com/office/drawing/2014/main" id="{B49B83D7-E990-4760-BF53-4964E69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features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network / telemetry / fusion</a:t>
            </a:r>
          </a:p>
        </p:txBody>
      </p:sp>
      <p:sp>
        <p:nvSpPr>
          <p:cNvPr id="21" name="arrow-865-402">
            <a:extLst xmlns:a="http://schemas.openxmlformats.org/drawingml/2006/main">
              <a:ext uri="{FF2B5EF4-FFF2-40B4-BE49-F238E27FC236}">
                <a16:creationId xmlns:a16="http://schemas.microsoft.com/office/drawing/2014/main" id="{DA362405-830A-44EE-9E74-C811725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2905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2" name="data-stage-6">
            <a:extLst xmlns:a="http://schemas.openxmlformats.org/drawingml/2006/main">
              <a:ext uri="{FF2B5EF4-FFF2-40B4-BE49-F238E27FC236}">
                <a16:creationId xmlns:a16="http://schemas.microsoft.com/office/drawing/2014/main" id="{EE6861DC-78C1-4838-9435-8EEDD6A2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575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quality gates</a:t>
            </a:r>
          </a:p>
        </p:txBody>
      </p:sp>
      <p:sp>
        <p:nvSpPr>
          <p:cNvPr id="23" name="arrow-1034-402">
            <a:extLst xmlns:a="http://schemas.openxmlformats.org/drawingml/2006/main">
              <a:ext uri="{FF2B5EF4-FFF2-40B4-BE49-F238E27FC236}">
                <a16:creationId xmlns:a16="http://schemas.microsoft.com/office/drawing/2014/main" id="{9EA4EB45-092B-4C30-B7CC-4B478A84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4" name="data-stage-7">
            <a:extLst xmlns:a="http://schemas.openxmlformats.org/drawingml/2006/main">
              <a:ext uri="{FF2B5EF4-FFF2-40B4-BE49-F238E27FC236}">
                <a16:creationId xmlns:a16="http://schemas.microsoft.com/office/drawing/2014/main" id="{3EF4ABB7-D22F-43D3-8C4A-65D6B4C5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575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release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hash / quarantine</a:t>
            </a:r>
          </a:p>
        </p:txBody>
      </p:sp>
      <p:sp>
        <p:nvSpPr>
          <p:cNvPr id="25" name="synthetic-warning">
            <a:extLst xmlns:a="http://schemas.openxmlformats.org/drawingml/2006/main">
              <a:ext uri="{FF2B5EF4-FFF2-40B4-BE49-F238E27FC236}">
                <a16:creationId xmlns:a16="http://schemas.microsoft.com/office/drawing/2014/main" id="{FA424C04-2DB6-4210-B3FC-8800480C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029200"/>
            <a:ext cx="7848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33350" rIns="1333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90,000 windows 只用於預訓練與管線開發；最終成效必須由 untouched live test 決定。</a:t>
            </a:r>
          </a:p>
        </p:txBody>
      </p:sp>
    </p:spTree>
    <p:extLst>
      <p:ext uri="{BB962C8B-B14F-4D97-AF65-F5344CB8AC3E}">
        <p14:creationId xmlns:p14="http://schemas.microsoft.com/office/powerpoint/2010/main" val="3735804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4C3DEF2-A7D0-4B5B-AFC7-62E8A9E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4596A71-A73A-4369-B76E-4DCD4D8B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7031CF9-32CD-4194-ACDE-320B684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BCE2166-55A5-4AF0-9AF6-09CE9942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B310A80-C818-4306-9C8C-99EDEF03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Live pilot 證明收集鏈能跑，但還不是最終成績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DE484C-6582-46B7-AC40-9C50B1FE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packets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480CC15-A8B1-4A34-8C78-C97FAA8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Zeek rows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9E315DF-094A-4350-96B5-25E1CD81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captured bytes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D90FE61-A923-47B0-B0D6-A5AA06AF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168,507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68E37CC-CCBB-4CAA-8210-CC4AEFFF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69.0 MB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1F2C82C-27A5-4F7D-B795-D56E962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3,036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7E4B346-E033-471D-88FF-87CE6C5A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20 sessions｜Permissive 10＋Enforce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20/20 training eligible、capture drops = 0；資料可訓練，但樣本仍不足以外推企業環境防護率。</a:t>
            </a:r>
          </a:p>
        </p:txBody>
      </p:sp>
      <p:sp>
        <p:nvSpPr>
          <p:cNvPr id="13" name="accent-rule-106-41.33">
            <a:extLst xmlns:a="http://schemas.openxmlformats.org/drawingml/2006/main">
              <a:ext uri="{FF2B5EF4-FFF2-40B4-BE49-F238E27FC236}">
                <a16:creationId xmlns:a16="http://schemas.microsoft.com/office/drawing/2014/main" id="{C283579A-B68B-4B8B-BC98-973A2131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09650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pill-0 drops">
            <a:extLst xmlns:a="http://schemas.openxmlformats.org/drawingml/2006/main">
              <a:ext uri="{FF2B5EF4-FFF2-40B4-BE49-F238E27FC236}">
                <a16:creationId xmlns:a16="http://schemas.microsoft.com/office/drawing/2014/main" id="{0422ABD1-CB9C-4B97-B577-D606E7B0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 drops</a:t>
            </a:r>
          </a:p>
        </p:txBody>
      </p:sp>
    </p:spTree>
    <p:extLst>
      <p:ext uri="{BB962C8B-B14F-4D97-AF65-F5344CB8AC3E}">
        <p14:creationId xmlns:p14="http://schemas.microsoft.com/office/powerpoint/2010/main" val="13162172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50ECEC2-6D72-40EB-8CC3-2571AA9F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DC177A-BB95-4385-881C-080DBEA5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AI 核心：32 維融合仍差最後一段 live 管線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279C925-20A6-4515-90B4-2AA0C381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14 維｜DDS network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封包率、位元組率、來源／目的、埠與 protocol 統計、Zeek 事件等。正式 live 已可產生 network features。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273C8B98-38C6-4107-B8B0-79F20C6F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18 維｜ROS／SROS2 telemetry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HMAC、nonce／channel、publisher、heartbeat、scan、odom、cmd 一致性等。schema 已有；live collector 與同窗對齊未完成。</a:t>
            </a:r>
          </a:p>
        </p:txBody>
      </p:sp>
      <p:sp>
        <p:nvSpPr>
          <p:cNvPr id="5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E5F94B4A-E4DE-42FE-894F-AE11094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pill-NETWORK BRANCH">
            <a:extLst xmlns:a="http://schemas.openxmlformats.org/drawingml/2006/main">
              <a:ext uri="{FF2B5EF4-FFF2-40B4-BE49-F238E27FC236}">
                <a16:creationId xmlns:a16="http://schemas.microsoft.com/office/drawing/2014/main" id="{89597180-566F-4248-AC0F-BBA4C4A4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NETWORK BRANCH</a:t>
            </a:r>
          </a:p>
        </p:txBody>
      </p:sp>
      <p:sp>
        <p:nvSpPr>
          <p:cNvPr id="7" name="pill-TELEMETRY BRANCH">
            <a:extLst xmlns:a="http://schemas.openxmlformats.org/drawingml/2006/main">
              <a:ext uri="{FF2B5EF4-FFF2-40B4-BE49-F238E27FC236}">
                <a16:creationId xmlns:a16="http://schemas.microsoft.com/office/drawing/2014/main" id="{A90B7973-2862-44E9-AF0A-A71A4181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62100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TELEMETRY BRANCH</a:t>
            </a:r>
          </a:p>
        </p:txBody>
      </p:sp>
      <p:sp>
        <p:nvSpPr>
          <p:cNvPr id="8" name="fusion-equation">
            <a:extLst xmlns:a="http://schemas.openxmlformats.org/drawingml/2006/main">
              <a:ext uri="{FF2B5EF4-FFF2-40B4-BE49-F238E27FC236}">
                <a16:creationId xmlns:a16="http://schemas.microsoft.com/office/drawing/2014/main" id="{96E4B194-C691-4AC6-B290-6516D9AF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14900"/>
            <a:ext cx="4152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14 + 18 = 32 維 FUSION</a:t>
            </a:r>
          </a:p>
        </p:txBody>
      </p:sp>
      <p:sp>
        <p:nvSpPr>
          <p:cNvPr id="9" name="contract-blocker">
            <a:extLst xmlns:a="http://schemas.openxmlformats.org/drawingml/2006/main">
              <a:ext uri="{FF2B5EF4-FFF2-40B4-BE49-F238E27FC236}">
                <a16:creationId xmlns:a16="http://schemas.microsoft.com/office/drawing/2014/main" id="{870ECA09-5E61-4487-8645-402E97E5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29275"/>
            <a:ext cx="110204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Preflight 正確地 BLOCKED：live_multimodal_contract＋source_snapshot_clean 未通過前，正式 1,100 場不得啟動。</a:t>
            </a:r>
          </a:p>
        </p:txBody>
      </p:sp>
    </p:spTree>
    <p:extLst>
      <p:ext uri="{BB962C8B-B14F-4D97-AF65-F5344CB8AC3E}">
        <p14:creationId xmlns:p14="http://schemas.microsoft.com/office/powerpoint/2010/main" val="3631351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00DAE00-2FBF-4B68-91B3-76D722C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9D2E144-E2D6-4E2F-A387-76C9C2C5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正式實驗：同一份 live test，公平比較六組問題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CC5F82E-3005-4CC5-9844-CE9E93F9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666941E-A070-46D3-A35D-0CE7CF3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D185E45-386A-4ECF-AA93-E28DDCE7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C5C8CCA-6E6B-4113-A7CB-FC01928A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CD39C328-0650-4EC8-BED3-BFC2694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1562100"/>
          <a:ext xmlns:a="http://schemas.openxmlformats.org/drawingml/2006/main" cx="11020425" cy="4238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71625"/>
                <a:gridCol w="3619500"/>
                <a:gridCol w="3238500"/>
                <a:gridCol w="2590800"/>
              </a:tblGrid>
              <a:tr h="60551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主要指標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</a:t>
                      </a:r>
                    </a:p>
                  </a:txBody>
                  <a:tcPr marL="91440" marR="91440" marT="45720" marB="45720">
                    <a:solidFill>
                      <a:srgbClr val="3D8D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E1 Baseline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Zeek / LR / RF / IF / MLP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macro-F1、FPR、PR-AUC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簡單模型是否足夠</a:t>
                      </a:r>
                    </a:p>
                  </a:txBody>
                  <a:tcPr marL="76200" marR="76200" marT="76200" marB="76200" anchor="ctr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E2 Feature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network / telemetry / fusion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每類 recall、ΔF1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融合是否有效</a:t>
                      </a:r>
                    </a:p>
                  </a:txBody>
                  <a:tcPr marL="76200" marR="76200" marT="76200" marB="76200" anchor="ctr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E3 Model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branch / anomaly / gate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效能、延遲、誤封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各模組的貢獻</a:t>
                      </a:r>
                    </a:p>
                  </a:txBody>
                  <a:tcPr marL="76200" marR="76200" marT="76200" marB="76200" anchor="ctr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E4 Unknown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leave-one-attack-class-out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unknown recall、AUPRC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能否偵測新攻擊</a:t>
                      </a:r>
                    </a:p>
                  </a:txBody>
                  <a:tcPr marL="76200" marR="76200" marT="76200" marB="76200" anchor="ctr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E5 SROS2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Permissive / Enforce 配對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成功／拒絕、分布差異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模式如何改變風險</a:t>
                      </a:r>
                    </a:p>
                  </a:txBody>
                  <a:tcPr marL="76200" marR="76200" marT="76200" marB="76200" anchor="ctr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E6–E7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回應安全＋多 seed 統計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P95、95% CI、復原率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結果是否穩定可用</a:t>
                      </a: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0811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6BFA090-4319-4AA9-9ED2-6957DBAB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4186A07-4E97-45CB-801E-503802D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安全回應與滲透驗收：先可控，再談能擋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6A0A3B3-3875-4394-9B54-BDCDD50C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回應引擎的五道閘門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1 信心門檻
2 白名單／保護來源
3 per-source cooldown
4 全域容量限制
5 預設 dry-run、可撤銷、可稽核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CDD4F56-BE60-4AA5-909F-50EEB065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滲透測試的四階段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A 離線 PCAP／replay
B 同機 host-only 測試
C 兩台自有隔離設備
D 受限且非破壞的 Metasploit／DDS／ROS2 驗收</a:t>
            </a:r>
          </a:p>
        </p:txBody>
      </p:sp>
      <p:sp>
        <p:nvSpPr>
          <p:cNvPr id="5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59F3414B-2816-4326-BD93-6E1DDA0C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pill-SAFE RESPONSE">
            <a:extLst xmlns:a="http://schemas.openxmlformats.org/drawingml/2006/main">
              <a:ext uri="{FF2B5EF4-FFF2-40B4-BE49-F238E27FC236}">
                <a16:creationId xmlns:a16="http://schemas.microsoft.com/office/drawing/2014/main" id="{461A2B7C-DB1D-4C06-8556-31CCD85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7" name="pill-ISOLATED PENTEST">
            <a:extLst xmlns:a="http://schemas.openxmlformats.org/drawingml/2006/main">
              <a:ext uri="{FF2B5EF4-FFF2-40B4-BE49-F238E27FC236}">
                <a16:creationId xmlns:a16="http://schemas.microsoft.com/office/drawing/2014/main" id="{E1A4FD0B-755E-4432-84A3-EF9A46DD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6210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ISOLATED PENTEST</a:t>
            </a:r>
          </a:p>
        </p:txBody>
      </p:sp>
      <p:sp>
        <p:nvSpPr>
          <p:cNvPr id="8" name="pentest-artifacts">
            <a:extLst xmlns:a="http://schemas.openxmlformats.org/drawingml/2006/main">
              <a:ext uri="{FF2B5EF4-FFF2-40B4-BE49-F238E27FC236}">
                <a16:creationId xmlns:a16="http://schemas.microsoft.com/office/drawing/2014/main" id="{F998432E-1E07-4FC0-898C-53F43E8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每案交付：scope + commands + stdout/stderr + PCAP + SHA-256 + observations + rollback evidence</a:t>
            </a:r>
          </a:p>
        </p:txBody>
      </p:sp>
    </p:spTree>
    <p:extLst>
      <p:ext uri="{BB962C8B-B14F-4D97-AF65-F5344CB8AC3E}">
        <p14:creationId xmlns:p14="http://schemas.microsoft.com/office/powerpoint/2010/main" val="1272035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03D2459-1D2C-4590-A6B4-357C6BF9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DF9164B-E949-45B9-A25B-D07B8622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工程品質已成形；AI 研究證據仍在中段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D4FA370-46B1-404D-8CA0-8292402B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11F73DC-F127-40D6-BDB6-09388A08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CCC28815-8AEA-4BF0-972F-E2CAF398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engineering-progress-label">
            <a:extLst xmlns:a="http://schemas.openxmlformats.org/drawingml/2006/main">
              <a:ext uri="{FF2B5EF4-FFF2-40B4-BE49-F238E27FC236}">
                <a16:creationId xmlns:a16="http://schemas.microsoft.com/office/drawing/2014/main" id="{B4AE5969-8F77-4E6A-B1C9-D276E8FF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工程實作進度</a:t>
            </a:r>
          </a:p>
        </p:txBody>
      </p:sp>
      <p:sp>
        <p:nvSpPr>
          <p:cNvPr id="7" name="engineering-progress-track">
            <a:extLst xmlns:a="http://schemas.openxmlformats.org/drawingml/2006/main">
              <a:ext uri="{FF2B5EF4-FFF2-40B4-BE49-F238E27FC236}">
                <a16:creationId xmlns:a16="http://schemas.microsoft.com/office/drawing/2014/main" id="{846D2CFE-5025-4CCE-A2AE-53017B62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495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engineering-progress-value">
            <a:extLst xmlns:a="http://schemas.openxmlformats.org/drawingml/2006/main">
              <a:ext uri="{FF2B5EF4-FFF2-40B4-BE49-F238E27FC236}">
                <a16:creationId xmlns:a16="http://schemas.microsoft.com/office/drawing/2014/main" id="{6E5A3807-7A99-402D-ACA1-51DD3267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3390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90176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68.5%</a:t>
            </a:r>
          </a:p>
        </p:txBody>
      </p:sp>
      <p:sp>
        <p:nvSpPr>
          <p:cNvPr id="9" name="ai-progress-label">
            <a:extLst xmlns:a="http://schemas.openxmlformats.org/drawingml/2006/main">
              <a:ext uri="{FF2B5EF4-FFF2-40B4-BE49-F238E27FC236}">
                <a16:creationId xmlns:a16="http://schemas.microsoft.com/office/drawing/2014/main" id="{49801944-C3E6-4CD8-9A03-6D81481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AI 過關成熟度</a:t>
            </a:r>
          </a:p>
        </p:txBody>
      </p:sp>
      <p:sp>
        <p:nvSpPr>
          <p:cNvPr id="10" name="ai-progress-track">
            <a:extLst xmlns:a="http://schemas.openxmlformats.org/drawingml/2006/main">
              <a:ext uri="{FF2B5EF4-FFF2-40B4-BE49-F238E27FC236}">
                <a16:creationId xmlns:a16="http://schemas.microsoft.com/office/drawing/2014/main" id="{55F13022-8373-4B61-8B3D-BD2F3C27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495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i-progress-value">
            <a:extLst xmlns:a="http://schemas.openxmlformats.org/drawingml/2006/main">
              <a:ext uri="{FF2B5EF4-FFF2-40B4-BE49-F238E27FC236}">
                <a16:creationId xmlns:a16="http://schemas.microsoft.com/office/drawing/2014/main" id="{58E40017-3763-4EFE-B43F-9EB26333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90176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55.3%</a:t>
            </a:r>
          </a:p>
        </p:txBody>
      </p:sp>
      <p:sp>
        <p:nvSpPr>
          <p:cNvPr id="12" name="progress-explanation">
            <a:extLst xmlns:a="http://schemas.openxmlformats.org/drawingml/2006/main">
              <a:ext uri="{FF2B5EF4-FFF2-40B4-BE49-F238E27FC236}">
                <a16:creationId xmlns:a16="http://schemas.microsoft.com/office/drawing/2014/main" id="{85384718-6146-4703-B423-2EA6F126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兩個百分比不是模型準確率：前者衡量系統與測試，後者衡量資料、模型、消融、未知攻擊與統計證據。</a:t>
            </a:r>
          </a:p>
        </p:txBody>
      </p:sp>
      <p:sp>
        <p:nvSpPr>
          <p:cNvPr id="13" name="quality-0">
            <a:extLst xmlns:a="http://schemas.openxmlformats.org/drawingml/2006/main">
              <a:ext uri="{FF2B5EF4-FFF2-40B4-BE49-F238E27FC236}">
                <a16:creationId xmlns:a16="http://schemas.microsoft.com/office/drawing/2014/main" id="{BA7C6285-4346-4BBC-9E83-8EF72048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256 / 0 /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passed / skipped / failed</a:t>
            </a:r>
          </a:p>
        </p:txBody>
      </p:sp>
      <p:sp>
        <p:nvSpPr>
          <p:cNvPr id="14" name="quality-1">
            <a:extLst xmlns:a="http://schemas.openxmlformats.org/drawingml/2006/main">
              <a:ext uri="{FF2B5EF4-FFF2-40B4-BE49-F238E27FC236}">
                <a16:creationId xmlns:a16="http://schemas.microsoft.com/office/drawing/2014/main" id="{CCD3390E-B405-4DA2-A490-6B468E76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47 / 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最新 SROS2 稽核通過</a:t>
            </a:r>
          </a:p>
        </p:txBody>
      </p:sp>
      <p:sp>
        <p:nvSpPr>
          <p:cNvPr id="15" name="quality-2">
            <a:extLst xmlns:a="http://schemas.openxmlformats.org/drawingml/2006/main">
              <a:ext uri="{FF2B5EF4-FFF2-40B4-BE49-F238E27FC236}">
                <a16:creationId xmlns:a16="http://schemas.microsoft.com/office/drawing/2014/main" id="{DF81A90F-7EF9-4ADC-A227-D45E7364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33775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13 /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formal preflight</a:t>
            </a:r>
          </a:p>
        </p:txBody>
      </p:sp>
      <p:sp>
        <p:nvSpPr>
          <p:cNvPr id="16" name="quality-3">
            <a:extLst xmlns:a="http://schemas.openxmlformats.org/drawingml/2006/main">
              <a:ext uri="{FF2B5EF4-FFF2-40B4-BE49-F238E27FC236}">
                <a16:creationId xmlns:a16="http://schemas.microsoft.com/office/drawing/2014/main" id="{D673701F-A852-4683-A352-80C10B27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lIns="171450" tIns="171450" rIns="17145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 / 1,100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正式 live sessions</a:t>
            </a:r>
          </a:p>
        </p:txBody>
      </p:sp>
    </p:spTree>
    <p:extLst>
      <p:ext uri="{BB962C8B-B14F-4D97-AF65-F5344CB8AC3E}">
        <p14:creationId xmlns:p14="http://schemas.microsoft.com/office/powerpoint/2010/main" val="7024559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9246856-D5D0-4244-B7ED-DB64E64C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3FB1EE2-6D56-4249-95B0-3F5FB3CB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執行路線：2026.08 到 2027.05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C5679EF-DAD3-4DCE-A95C-33ECEC18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6ECD7C4-0328-45C0-B8F4-17B99FED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E7EF66B-49ED-488E-972A-E991989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C344760-E6C1-4D4C-9F42-3218EE6D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2026.08–12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C0E7BD1-310E-43CB-B38F-9D9E61A7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2027.01–03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D8BA069-758A-4595-982B-D87D7F4F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2027.04–05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B6A3C1C-F350-49A9-A1B4-C3944B1B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模型與驗收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完成 baseline、消融、未知攻擊、95% CI 與 P95；在隔離環境完成 Pi5 與非破壞驗收。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43DD019-CA2C-4BDA-86AD-D02F50CB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資料與契約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完成 telemetry、fusion、source freeze 與第一批正式資料；缺件到貨後建立 Pi5 資源基線。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5C044BB-D324-4D1E-ACDC-B161B822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交付與答辯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>凍結資料與模型；完成報告、簡報。
完成海報與影片；參加作品展、兩輪答辯。
5 月底提交。</a:t>
            </a:r>
          </a:p>
        </p:txBody>
      </p:sp>
      <p:sp>
        <p:nvSpPr>
          <p:cNvPr id="13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8A0731C5-E680-4B77-A932-238714C4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pill-內部目標日：2027-05-31">
            <a:extLst xmlns:a="http://schemas.openxmlformats.org/drawingml/2006/main">
              <a:ext uri="{FF2B5EF4-FFF2-40B4-BE49-F238E27FC236}">
                <a16:creationId xmlns:a16="http://schemas.microsoft.com/office/drawing/2014/main" id="{A9BF68F0-0273-4E00-B1B5-00C31B0B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8105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內部目標日：2027-05-31</a:t>
            </a:r>
          </a:p>
        </p:txBody>
      </p:sp>
    </p:spTree>
    <p:extLst>
      <p:ext uri="{BB962C8B-B14F-4D97-AF65-F5344CB8AC3E}">
        <p14:creationId xmlns:p14="http://schemas.microsoft.com/office/powerpoint/2010/main" val="17029958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12D277F-53E1-4F72-A516-9EF1C073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DE4B442-962E-4870-A347-9FF5FD14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五項評分能力，都要有可查驗的作品證據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67ACC9A-C0B3-4798-AAC8-E44D355F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A69A2C6-3296-4719-BAC8-96D8F76C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8E615D7-F4E2-495A-83BD-D617AE51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654C3EC-49CD-41E6-A2A8-305CCF38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accent-rule-133-41.33">
            <a:extLst xmlns:a="http://schemas.openxmlformats.org/drawingml/2006/main">
              <a:ext uri="{FF2B5EF4-FFF2-40B4-BE49-F238E27FC236}">
                <a16:creationId xmlns:a16="http://schemas.microsoft.com/office/drawing/2014/main" id="{0CB358A5-101B-4278-B21C-675D751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66825"/>
            <a:ext cx="1140456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rubric-label-0">
            <a:extLst xmlns:a="http://schemas.openxmlformats.org/drawingml/2006/main">
              <a:ext uri="{FF2B5EF4-FFF2-40B4-BE49-F238E27FC236}">
                <a16:creationId xmlns:a16="http://schemas.microsoft.com/office/drawing/2014/main" id="{CB5EC750-144C-4F10-BF71-3CC26136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工程軟硬體</a:t>
            </a:r>
          </a:p>
        </p:txBody>
      </p:sp>
      <p:sp>
        <p:nvSpPr>
          <p:cNvPr id="9" name="rubric-evidence-0">
            <a:extLst xmlns:a="http://schemas.openxmlformats.org/drawingml/2006/main">
              <a:ext uri="{FF2B5EF4-FFF2-40B4-BE49-F238E27FC236}">
                <a16:creationId xmlns:a16="http://schemas.microsoft.com/office/drawing/2014/main" id="{6F0E80E6-16FA-4ADA-A577-DEDA158E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04950"/>
            <a:ext cx="8429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融合模型＋SROS2 系統＋Raspberry Pi 5 資源與即時量測</a:t>
            </a:r>
          </a:p>
        </p:txBody>
      </p:sp>
      <p:sp>
        <p:nvSpPr>
          <p:cNvPr id="10" name="rubric-label-1">
            <a:extLst xmlns:a="http://schemas.openxmlformats.org/drawingml/2006/main">
              <a:ext uri="{FF2B5EF4-FFF2-40B4-BE49-F238E27FC236}">
                <a16:creationId xmlns:a16="http://schemas.microsoft.com/office/drawing/2014/main" id="{A0803AF7-CB0C-4D72-B7FE-C01EE1F3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數據分析與數理</a:t>
            </a:r>
          </a:p>
        </p:txBody>
      </p:sp>
      <p:sp>
        <p:nvSpPr>
          <p:cNvPr id="11" name="rubric-evidence-1">
            <a:extLst xmlns:a="http://schemas.openxmlformats.org/drawingml/2006/main">
              <a:ext uri="{FF2B5EF4-FFF2-40B4-BE49-F238E27FC236}">
                <a16:creationId xmlns:a16="http://schemas.microsoft.com/office/drawing/2014/main" id="{248C9D66-B1BB-4713-ADC7-FDE6FD50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8429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session-grouped split、消融、未知攻擊、PR-AUC、95% CI</a:t>
            </a:r>
          </a:p>
        </p:txBody>
      </p:sp>
      <p:sp>
        <p:nvSpPr>
          <p:cNvPr id="12" name="rubric-label-2">
            <a:extLst xmlns:a="http://schemas.openxmlformats.org/drawingml/2006/main">
              <a:ext uri="{FF2B5EF4-FFF2-40B4-BE49-F238E27FC236}">
                <a16:creationId xmlns:a16="http://schemas.microsoft.com/office/drawing/2014/main" id="{6178943D-1348-4B55-B280-DACE9DA1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專案執行與報告</a:t>
            </a:r>
          </a:p>
        </p:txBody>
      </p:sp>
      <p:sp>
        <p:nvSpPr>
          <p:cNvPr id="13" name="rubric-evidence-2">
            <a:extLst xmlns:a="http://schemas.openxmlformats.org/drawingml/2006/main">
              <a:ext uri="{FF2B5EF4-FFF2-40B4-BE49-F238E27FC236}">
                <a16:creationId xmlns:a16="http://schemas.microsoft.com/office/drawing/2014/main" id="{66874C71-738E-47FE-A62C-A7892266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8429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單人 WBS、版本凍結、evidence ledger、可重現 release</a:t>
            </a:r>
          </a:p>
        </p:txBody>
      </p:sp>
      <p:sp>
        <p:nvSpPr>
          <p:cNvPr id="14" name="rubric-label-3">
            <a:extLst xmlns:a="http://schemas.openxmlformats.org/drawingml/2006/main">
              <a:ext uri="{FF2B5EF4-FFF2-40B4-BE49-F238E27FC236}">
                <a16:creationId xmlns:a16="http://schemas.microsoft.com/office/drawing/2014/main" id="{2F88DDF2-3027-41A1-8C25-E5077544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溝通與跨領域</a:t>
            </a:r>
          </a:p>
        </p:txBody>
      </p:sp>
      <p:sp>
        <p:nvSpPr>
          <p:cNvPr id="15" name="rubric-evidence-3">
            <a:extLst xmlns:a="http://schemas.openxmlformats.org/drawingml/2006/main">
              <a:ext uri="{FF2B5EF4-FFF2-40B4-BE49-F238E27FC236}">
                <a16:creationId xmlns:a16="http://schemas.microsoft.com/office/drawing/2014/main" id="{C202C135-8AB5-47A3-B8F0-69E992DF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8429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30 秒／3 分鐘／10 分鐘說法、術語表、教授回饋與決策紀錄</a:t>
            </a:r>
          </a:p>
        </p:txBody>
      </p:sp>
      <p:sp>
        <p:nvSpPr>
          <p:cNvPr id="16" name="rubric-label-4">
            <a:extLst xmlns:a="http://schemas.openxmlformats.org/drawingml/2006/main">
              <a:ext uri="{FF2B5EF4-FFF2-40B4-BE49-F238E27FC236}">
                <a16:creationId xmlns:a16="http://schemas.microsoft.com/office/drawing/2014/main" id="{BC346405-11CA-45EB-917B-3CE67435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國際與社會關懷</a:t>
            </a:r>
          </a:p>
        </p:txBody>
      </p:sp>
      <p:sp>
        <p:nvSpPr>
          <p:cNvPr id="17" name="rubric-evidence-4">
            <a:extLst xmlns:a="http://schemas.openxmlformats.org/drawingml/2006/main">
              <a:ext uri="{FF2B5EF4-FFF2-40B4-BE49-F238E27FC236}">
                <a16:creationId xmlns:a16="http://schemas.microsoft.com/office/drawing/2014/main" id="{CABA870C-F4C4-4380-B53A-88376CD3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86350"/>
            <a:ext cx="8429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152400" rIns="1524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DDS Security／ROS2／NIST／IEC 概念對照、人身安全與誤封治理</a:t>
            </a:r>
          </a:p>
        </p:txBody>
      </p:sp>
    </p:spTree>
    <p:extLst>
      <p:ext uri="{BB962C8B-B14F-4D97-AF65-F5344CB8AC3E}">
        <p14:creationId xmlns:p14="http://schemas.microsoft.com/office/powerpoint/2010/main" val="399980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E1FDA8AD-4677-41EA-8468-15DC586B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不是「擋住所有攻擊」
而是「證明風險如何下降」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B83328C-65A1-478E-9218-7059D38C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證據 &gt; 宣稱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安全 &gt; 激進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可重現 &gt; 一次展示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72008C3-6D21-432A-AEF4-7165B762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專題主張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A40A5597-0E43-4796-A412-2685529F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33550"/>
            <a:ext cx="40195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42900" tIns="342900" rIns="3429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SROS2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＋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MULTIMODAL AI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＋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5" name="pill-下一個關鍵交付：live telemetry + fusion contract">
            <a:extLst xmlns:a="http://schemas.openxmlformats.org/drawingml/2006/main">
              <a:ext uri="{FF2B5EF4-FFF2-40B4-BE49-F238E27FC236}">
                <a16:creationId xmlns:a16="http://schemas.microsoft.com/office/drawing/2014/main" id="{1F964FAA-5962-4BCD-9251-D0A11987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19800"/>
            <a:ext cx="4648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下一個關鍵交付：live telemetry + fusion contract</a:t>
            </a:r>
          </a:p>
        </p:txBody>
      </p:sp>
    </p:spTree>
    <p:extLst>
      <p:ext uri="{BB962C8B-B14F-4D97-AF65-F5344CB8AC3E}">
        <p14:creationId xmlns:p14="http://schemas.microsoft.com/office/powerpoint/2010/main" val="18273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2026-07-29T02:16:20.0020000Z</dcterms:created>
  <dcterms:modified xsi:type="dcterms:W3CDTF">2026-07-29T02:16:20.0020000Z</dcterms:modified>
</coreProperties>
</file>