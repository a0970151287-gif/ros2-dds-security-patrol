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8a11dedd0b4970" /><Relationship Type="http://schemas.openxmlformats.org/officeDocument/2006/relationships/extended-properties" Target="/docProps/app.xml" Id="Rd2053fe7139a408a" /><Relationship Type="http://schemas.openxmlformats.org/officeDocument/2006/relationships/officeDocument" Target="/ppt/presentation.xml" Id="Re0a062e5ef1e48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af25a4eb894041"/>
  </p:sldMasterIdLst>
  <p:notesMasterIdLst>
    <p:notesMasterId xmlns:r="http://schemas.openxmlformats.org/officeDocument/2006/relationships" r:id="R882c224b91e94ea2"/>
  </p:notesMasterIdLst>
  <p:sldIdLst>
    <p:sldId xmlns:r="http://schemas.openxmlformats.org/officeDocument/2006/relationships" id="256" r:id="Rd7212bfc53094985"/>
    <p:sldId xmlns:r="http://schemas.openxmlformats.org/officeDocument/2006/relationships" id="257" r:id="R57435f0b9ff849ce"/>
    <p:sldId xmlns:r="http://schemas.openxmlformats.org/officeDocument/2006/relationships" id="258" r:id="R47c2c560139a49d3"/>
    <p:sldId xmlns:r="http://schemas.openxmlformats.org/officeDocument/2006/relationships" id="259" r:id="R694ed5a184004be0"/>
    <p:sldId xmlns:r="http://schemas.openxmlformats.org/officeDocument/2006/relationships" id="260" r:id="Rb56c4041c8504c74"/>
    <p:sldId xmlns:r="http://schemas.openxmlformats.org/officeDocument/2006/relationships" id="261" r:id="Ra788ff6659b74d98"/>
    <p:sldId xmlns:r="http://schemas.openxmlformats.org/officeDocument/2006/relationships" id="262" r:id="Rfc4c34985a8547af"/>
    <p:sldId xmlns:r="http://schemas.openxmlformats.org/officeDocument/2006/relationships" id="263" r:id="R45b30a19f14640a7"/>
    <p:sldId xmlns:r="http://schemas.openxmlformats.org/officeDocument/2006/relationships" id="264" r:id="Rb5588bb14fd848a2"/>
    <p:sldId xmlns:r="http://schemas.openxmlformats.org/officeDocument/2006/relationships" id="265" r:id="Raa1b0e2d33df4dbe"/>
    <p:sldId xmlns:r="http://schemas.openxmlformats.org/officeDocument/2006/relationships" id="266" r:id="R682b9bf86f6d48f9"/>
    <p:sldId xmlns:r="http://schemas.openxmlformats.org/officeDocument/2006/relationships" id="267" r:id="Rf4f9b1ca27764d1a"/>
    <p:sldId xmlns:r="http://schemas.openxmlformats.org/officeDocument/2006/relationships" id="268" r:id="Rb7d88ba92b9c42d5"/>
    <p:sldId xmlns:r="http://schemas.openxmlformats.org/officeDocument/2006/relationships" id="269" r:id="Re0caf5107cfa4f2d"/>
    <p:sldId xmlns:r="http://schemas.openxmlformats.org/officeDocument/2006/relationships" id="270" r:id="R7a7f01207b48458c"/>
    <p:sldId xmlns:r="http://schemas.openxmlformats.org/officeDocument/2006/relationships" id="271" r:id="R67d1b4dbe36d4a5f"/>
    <p:sldId xmlns:r="http://schemas.openxmlformats.org/officeDocument/2006/relationships" id="272" r:id="R53bbdfa961ad41b0"/>
    <p:sldId xmlns:r="http://schemas.openxmlformats.org/officeDocument/2006/relationships" id="273" r:id="R7c285895024a4ac5"/>
    <p:sldId xmlns:r="http://schemas.openxmlformats.org/officeDocument/2006/relationships" id="274" r:id="Rdeddba032cd8473a"/>
    <p:sldId xmlns:r="http://schemas.openxmlformats.org/officeDocument/2006/relationships" id="275" r:id="Rfca745f31ed84ee2"/>
    <p:sldId xmlns:r="http://schemas.openxmlformats.org/officeDocument/2006/relationships" id="276" r:id="R1b85f3f92661487b"/>
    <p:sldId xmlns:r="http://schemas.openxmlformats.org/officeDocument/2006/relationships" id="277" r:id="R17f8d6243e8b4359"/>
    <p:sldId xmlns:r="http://schemas.openxmlformats.org/officeDocument/2006/relationships" id="278" r:id="Race57e004ca54465"/>
    <p:sldId xmlns:r="http://schemas.openxmlformats.org/officeDocument/2006/relationships" id="279" r:id="Rb07ebbe76bcc43d8"/>
    <p:sldId xmlns:r="http://schemas.openxmlformats.org/officeDocument/2006/relationships" id="280" r:id="R8412c0af09bc4322"/>
    <p:sldId xmlns:r="http://schemas.openxmlformats.org/officeDocument/2006/relationships" id="281" r:id="Re64a3f05d857465e"/>
    <p:sldId xmlns:r="http://schemas.openxmlformats.org/officeDocument/2006/relationships" id="282" r:id="R75bc86a8bba343f1"/>
    <p:sldId xmlns:r="http://schemas.openxmlformats.org/officeDocument/2006/relationships" id="283" r:id="R8b68a94e61784598"/>
    <p:sldId xmlns:r="http://schemas.openxmlformats.org/officeDocument/2006/relationships" id="284" r:id="Re158e754c3a541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e54ba428b74cfd" /><Relationship Type="http://schemas.openxmlformats.org/officeDocument/2006/relationships/slideMaster" Target="/ppt/slideMasters/slideMaster1.xml" Id="R4caf25a4eb894041" /><Relationship Type="http://schemas.openxmlformats.org/officeDocument/2006/relationships/notesMaster" Target="/ppt/notesMasters/notesMaster1.xml" Id="R882c224b91e94ea2" /><Relationship Type="http://schemas.openxmlformats.org/officeDocument/2006/relationships/presProps" Target="/ppt/presProps.xml" Id="R8b6a9357297f4ebd" /><Relationship Type="http://schemas.openxmlformats.org/officeDocument/2006/relationships/viewProps" Target="/ppt/viewProps.xml" Id="R6c4d5e2d34ca4b05" /><Relationship Type="http://schemas.openxmlformats.org/officeDocument/2006/relationships/tableStyles" Target="/ppt/tableStyles.xml" Id="Rbb9b3d7eddc945de" /><Relationship Type="http://schemas.openxmlformats.org/officeDocument/2006/relationships/slide" Target="/ppt/slides/slide1.xml" Id="Rd7212bfc53094985" /><Relationship Type="http://schemas.openxmlformats.org/officeDocument/2006/relationships/slide" Target="/ppt/slides/slide2.xml" Id="R57435f0b9ff849ce" /><Relationship Type="http://schemas.openxmlformats.org/officeDocument/2006/relationships/slide" Target="/ppt/slides/slide3.xml" Id="R47c2c560139a49d3" /><Relationship Type="http://schemas.openxmlformats.org/officeDocument/2006/relationships/slide" Target="/ppt/slides/slide4.xml" Id="R694ed5a184004be0" /><Relationship Type="http://schemas.openxmlformats.org/officeDocument/2006/relationships/slide" Target="/ppt/slides/slide5.xml" Id="Rb56c4041c8504c74" /><Relationship Type="http://schemas.openxmlformats.org/officeDocument/2006/relationships/slide" Target="/ppt/slides/slide6.xml" Id="Ra788ff6659b74d98" /><Relationship Type="http://schemas.openxmlformats.org/officeDocument/2006/relationships/slide" Target="/ppt/slides/slide7.xml" Id="Rfc4c34985a8547af" /><Relationship Type="http://schemas.openxmlformats.org/officeDocument/2006/relationships/slide" Target="/ppt/slides/slide8.xml" Id="R45b30a19f14640a7" /><Relationship Type="http://schemas.openxmlformats.org/officeDocument/2006/relationships/slide" Target="/ppt/slides/slide9.xml" Id="Rb5588bb14fd848a2" /><Relationship Type="http://schemas.openxmlformats.org/officeDocument/2006/relationships/slide" Target="/ppt/slides/slide10.xml" Id="Raa1b0e2d33df4dbe" /><Relationship Type="http://schemas.openxmlformats.org/officeDocument/2006/relationships/slide" Target="/ppt/slides/slide11.xml" Id="R682b9bf86f6d48f9" /><Relationship Type="http://schemas.openxmlformats.org/officeDocument/2006/relationships/slide" Target="/ppt/slides/slide12.xml" Id="Rf4f9b1ca27764d1a" /><Relationship Type="http://schemas.openxmlformats.org/officeDocument/2006/relationships/slide" Target="/ppt/slides/slide13.xml" Id="Rb7d88ba92b9c42d5" /><Relationship Type="http://schemas.openxmlformats.org/officeDocument/2006/relationships/slide" Target="/ppt/slides/slide14.xml" Id="Re0caf5107cfa4f2d" /><Relationship Type="http://schemas.openxmlformats.org/officeDocument/2006/relationships/slide" Target="/ppt/slides/slide15.xml" Id="R7a7f01207b48458c" /><Relationship Type="http://schemas.openxmlformats.org/officeDocument/2006/relationships/slide" Target="/ppt/slides/slide16.xml" Id="R67d1b4dbe36d4a5f" /><Relationship Type="http://schemas.openxmlformats.org/officeDocument/2006/relationships/slide" Target="/ppt/slides/slide17.xml" Id="R53bbdfa961ad41b0" /><Relationship Type="http://schemas.openxmlformats.org/officeDocument/2006/relationships/slide" Target="/ppt/slides/slide18.xml" Id="R7c285895024a4ac5" /><Relationship Type="http://schemas.openxmlformats.org/officeDocument/2006/relationships/slide" Target="/ppt/slides/slide19.xml" Id="Rdeddba032cd8473a" /><Relationship Type="http://schemas.openxmlformats.org/officeDocument/2006/relationships/slide" Target="/ppt/slides/slide20.xml" Id="Rfca745f31ed84ee2" /><Relationship Type="http://schemas.openxmlformats.org/officeDocument/2006/relationships/slide" Target="/ppt/slides/slide21.xml" Id="R1b85f3f92661487b" /><Relationship Type="http://schemas.openxmlformats.org/officeDocument/2006/relationships/slide" Target="/ppt/slides/slide22.xml" Id="R17f8d6243e8b4359" /><Relationship Type="http://schemas.openxmlformats.org/officeDocument/2006/relationships/slide" Target="/ppt/slides/slide23.xml" Id="Race57e004ca54465" /><Relationship Type="http://schemas.openxmlformats.org/officeDocument/2006/relationships/slide" Target="/ppt/slides/slide24.xml" Id="Rb07ebbe76bcc43d8" /><Relationship Type="http://schemas.openxmlformats.org/officeDocument/2006/relationships/slide" Target="/ppt/slides/slide25.xml" Id="R8412c0af09bc4322" /><Relationship Type="http://schemas.openxmlformats.org/officeDocument/2006/relationships/slide" Target="/ppt/slides/slide26.xml" Id="Re64a3f05d857465e" /><Relationship Type="http://schemas.openxmlformats.org/officeDocument/2006/relationships/slide" Target="/ppt/slides/slide27.xml" Id="R75bc86a8bba343f1" /><Relationship Type="http://schemas.openxmlformats.org/officeDocument/2006/relationships/slide" Target="/ppt/slides/slide28.xml" Id="R8b68a94e61784598" /><Relationship Type="http://schemas.openxmlformats.org/officeDocument/2006/relationships/slide" Target="/ppt/slides/slide29.xml" Id="Re158e754c3a541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c50853f67f43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0d985a28894dff" /><Relationship Type="http://schemas.openxmlformats.org/officeDocument/2006/relationships/notesMaster" Target="/ppt/notesMasters/notesMaster1.xml" Id="R96a17cacafa043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752a56990f4c00" /><Relationship Type="http://schemas.openxmlformats.org/officeDocument/2006/relationships/notesMaster" Target="/ppt/notesMasters/notesMaster1.xml" Id="R7fb4323c2a964f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4556b002124701" /><Relationship Type="http://schemas.openxmlformats.org/officeDocument/2006/relationships/notesMaster" Target="/ppt/notesMasters/notesMaster1.xml" Id="Re4cd1cfca8b142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41b0898d20413b" /><Relationship Type="http://schemas.openxmlformats.org/officeDocument/2006/relationships/notesMaster" Target="/ppt/notesMasters/notesMaster1.xml" Id="R4064adcd31504d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6d543c2da54e62" /><Relationship Type="http://schemas.openxmlformats.org/officeDocument/2006/relationships/notesMaster" Target="/ppt/notesMasters/notesMaster1.xml" Id="R2ee8a3d622414d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06009502154349" /><Relationship Type="http://schemas.openxmlformats.org/officeDocument/2006/relationships/notesMaster" Target="/ppt/notesMasters/notesMaster1.xml" Id="Rf84395018e3b41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6880d15e3d44b6" /><Relationship Type="http://schemas.openxmlformats.org/officeDocument/2006/relationships/notesMaster" Target="/ppt/notesMasters/notesMaster1.xml" Id="Rfaee0811e48740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86299fca4f4a16" /><Relationship Type="http://schemas.openxmlformats.org/officeDocument/2006/relationships/notesMaster" Target="/ppt/notesMasters/notesMaster1.xml" Id="R89d5a0b7f46842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d0ec2f92324b35" /><Relationship Type="http://schemas.openxmlformats.org/officeDocument/2006/relationships/notesMaster" Target="/ppt/notesMasters/notesMaster1.xml" Id="Rb4ba085c590f49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3a276afeba4ba9" /><Relationship Type="http://schemas.openxmlformats.org/officeDocument/2006/relationships/notesMaster" Target="/ppt/notesMasters/notesMaster1.xml" Id="R467f7837740243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2c5793e17c4f13" /><Relationship Type="http://schemas.openxmlformats.org/officeDocument/2006/relationships/notesMaster" Target="/ppt/notesMasters/notesMaster1.xml" Id="R502559b46cf94e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1d861213db47c4" /><Relationship Type="http://schemas.openxmlformats.org/officeDocument/2006/relationships/notesMaster" Target="/ppt/notesMasters/notesMaster1.xml" Id="Rac05a30258194d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fbd8b41d984415" /><Relationship Type="http://schemas.openxmlformats.org/officeDocument/2006/relationships/notesMaster" Target="/ppt/notesMasters/notesMaster1.xml" Id="Raf79d45cb68e41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f282b8b937401f" /><Relationship Type="http://schemas.openxmlformats.org/officeDocument/2006/relationships/notesMaster" Target="/ppt/notesMasters/notesMaster1.xml" Id="R9d8be35424e84b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2cf919b53c48f4" /><Relationship Type="http://schemas.openxmlformats.org/officeDocument/2006/relationships/notesMaster" Target="/ppt/notesMasters/notesMaster1.xml" Id="Re012090a248b43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76996951834699" /><Relationship Type="http://schemas.openxmlformats.org/officeDocument/2006/relationships/notesMaster" Target="/ppt/notesMasters/notesMaster1.xml" Id="R4d87996d61a14e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2dd36b9bc94864" /><Relationship Type="http://schemas.openxmlformats.org/officeDocument/2006/relationships/notesMaster" Target="/ppt/notesMasters/notesMaster1.xml" Id="Ra0e281bcde9e4d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86c5cd70ac44d0" /><Relationship Type="http://schemas.openxmlformats.org/officeDocument/2006/relationships/notesMaster" Target="/ppt/notesMasters/notesMaster1.xml" Id="R894fcfe7b0e948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01413f218a4fcd" /><Relationship Type="http://schemas.openxmlformats.org/officeDocument/2006/relationships/notesMaster" Target="/ppt/notesMasters/notesMaster1.xml" Id="R74242a0d2ef740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ce1b83209149cc" /><Relationship Type="http://schemas.openxmlformats.org/officeDocument/2006/relationships/notesMaster" Target="/ppt/notesMasters/notesMaster1.xml" Id="R0ce2da2c7a124d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823a2894074a56" /><Relationship Type="http://schemas.openxmlformats.org/officeDocument/2006/relationships/notesMaster" Target="/ppt/notesMasters/notesMaster1.xml" Id="R153d7bae16334e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db35426b16a4d96" /><Relationship Type="http://schemas.openxmlformats.org/officeDocument/2006/relationships/notesMaster" Target="/ppt/notesMasters/notesMaster1.xml" Id="Ra2b97f7b22884c8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7aa876ef458449e" /><Relationship Type="http://schemas.openxmlformats.org/officeDocument/2006/relationships/notesMaster" Target="/ppt/notesMasters/notesMaster1.xml" Id="R0838d20fd66e49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ac3a6dd2ba74d07" /><Relationship Type="http://schemas.openxmlformats.org/officeDocument/2006/relationships/notesMaster" Target="/ppt/notesMasters/notesMaster1.xml" Id="R995a517db8a44d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7ab5b1a88f49c1" /><Relationship Type="http://schemas.openxmlformats.org/officeDocument/2006/relationships/notesMaster" Target="/ppt/notesMasters/notesMaster1.xml" Id="R67dbb5d5049c4ed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913d867812941bb" /><Relationship Type="http://schemas.openxmlformats.org/officeDocument/2006/relationships/notesMaster" Target="/ppt/notesMasters/notesMaster1.xml" Id="Rcf210da16053407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27d162057b44346" /><Relationship Type="http://schemas.openxmlformats.org/officeDocument/2006/relationships/notesMaster" Target="/ppt/notesMasters/notesMaster1.xml" Id="R4c052c24423448f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38448bedd98454d" /><Relationship Type="http://schemas.openxmlformats.org/officeDocument/2006/relationships/notesMaster" Target="/ppt/notesMasters/notesMaster1.xml" Id="R05d63371eac84a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7244f603ec3402b" /><Relationship Type="http://schemas.openxmlformats.org/officeDocument/2006/relationships/notesMaster" Target="/ppt/notesMasters/notesMaster1.xml" Id="Rb6a5d1e680884d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C:/Users/Jesse/Documents/專題ROS2/文件/中英文摘要與答辯腳本_2026-08-17.md</a:t>
            </a:r>
          </a:p>
          <a:p xmlns:a="http://schemas.openxmlformats.org/drawingml/2006/main">
            <a:r>
              <a:t>- C:/Users/Jesse/Documents/專題ROS2/文件/專題主計畫與WBS_2026-08-17.md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C:/Users/Jesse/Documents/專題ROS2/文件/專題主計畫與WBS_2026-08-17.md</a:t>
            </a:r>
          </a:p>
          <a:p xmlns:a="http://schemas.openxmlformats.org/drawingml/2006/main">
            <a:r>
              <a:t>- C:/Users/Jesse/Documents/專題ROS2/文件/證據總帳_2026-08-17/evidence_ledger.md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C:/Users/Jesse/Documents/專題ROS2/紅隊測試/THREAT_MODEL.md</a:t>
            </a:r>
          </a:p>
          <a:p xmlns:a="http://schemas.openxmlformats.org/drawingml/2006/main">
            <a:r>
              <a:t>- C:/Users/Jesse/Documents/專題ROS2/文件/系統文件/系統架構規格書.md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C:/Users/Jesse/Documents/專題ROS2/文件/智慧防火牆完整計畫與進度_2026-07-27.md</a:t>
            </a:r>
          </a:p>
          <a:p xmlns:a="http://schemas.openxmlformats.org/drawingml/2006/main">
            <a:r>
              <a:t>- C:/Users/Jesse/Documents/專題ROS2/文件/核心AI模型升級_2026-08-17.md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C:/Users/Jesse/Documents/專題ROS2/紅隊測試/ARCHITECTURE.md</a:t>
            </a:r>
          </a:p>
          <a:p xmlns:a="http://schemas.openxmlformats.org/drawingml/2006/main">
            <a:r>
              <a:t>- C:/Users/Jesse/Documents/專題ROS2/src/turtlebot3_dqn/turtlebot3_dqn/burger_env_top.py</a:t>
            </a:r>
          </a:p>
          <a:p xmlns:a="http://schemas.openxmlformats.org/drawingml/2006/main">
            <a:r>
              <a:t>- C:/Users/Jesse/Documents/專題ROS2/src/turtlebot3_dqn/turtlebot3_dqn/feature_extractors.py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C:/Users/Jesse/Documents/專題ROS2/文件/系統文件/Topic_發布訂閱規格表.md</a:t>
            </a:r>
          </a:p>
          <a:p xmlns:a="http://schemas.openxmlformats.org/drawingml/2006/main">
            <a:r>
              <a:t>- C:/Users/Jesse/Documents/專題ROS2/展示指令/sros2_policy_least_privilege.xml</a:t>
            </a:r>
          </a:p>
          <a:p xmlns:a="http://schemas.openxmlformats.org/drawingml/2006/main">
            <a:r>
              <a:t>- C:/Users/Jesse/Documents/專題ROS2/firewall_lab/README.md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C:/Users/Jesse/Documents/專題ROS2/紅隊測試/THREAT_MODEL.md</a:t>
            </a:r>
          </a:p>
          <a:p xmlns:a="http://schemas.openxmlformats.org/drawingml/2006/main">
            <a:r>
              <a:t>- C:/Users/Jesse/Documents/專題ROS2/紅隊測試/攻擊總表_成功與失敗.md</a:t>
            </a:r>
          </a:p>
          <a:p xmlns:a="http://schemas.openxmlformats.org/drawingml/2006/main">
            <a:r>
              <a:t>- C:/Users/Jesse/Documents/專題ROS2/紅隊測試/攻擊報告/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C:/Users/Jesse/Documents/專題ROS2/文件/防禦全面化實作與待驗收_2026-08-03.md</a:t>
            </a:r>
          </a:p>
          <a:p xmlns:a="http://schemas.openxmlformats.org/drawingml/2006/main">
            <a:r>
              <a:t>- C:/Users/Jesse/Documents/專題ROS2/firewall_lab/README.md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C:/Users/Jesse/Documents/專題ROS2/展示指令/sros2_policy_least_privilege.xml</a:t>
            </a:r>
          </a:p>
          <a:p xmlns:a="http://schemas.openxmlformats.org/drawingml/2006/main">
            <a:r>
              <a:t>- C:/Users/Jesse/Documents/專題ROS2/firewall_lab/readiness_evidence/readiness-20260727T082430197518Z/manifest.json</a:t>
            </a:r>
          </a:p>
          <a:p xmlns:a="http://schemas.openxmlformats.org/drawingml/2006/main">
            <a:r>
              <a:t>- C:/Users/Jesse/Documents/專題ROS2/firewall_lab/sros2_delivery_evidence.py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C:/Users/Jesse/Documents/專題ROS2/src/dds_security_monitor/dds_security_monitor/monitor_node.py</a:t>
            </a:r>
          </a:p>
          <a:p xmlns:a="http://schemas.openxmlformats.org/drawingml/2006/main">
            <a:r>
              <a:t>- C:/Users/Jesse/Documents/專題ROS2/src/dds_security_monitor/dds_security_monitor/patrol_node.py</a:t>
            </a:r>
          </a:p>
          <a:p xmlns:a="http://schemas.openxmlformats.org/drawingml/2006/main">
            <a:r>
              <a:t>- C:/Users/Jesse/Documents/專題ROS2/src/dds_security_monitor/dds_security_monitor/mission_manager_node.py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C:/Users/Jesse/Documents/專題ROS2/src/dds_security_monitor/dds_security_monitor/intelligent_defense_node.py</a:t>
            </a:r>
          </a:p>
          <a:p xmlns:a="http://schemas.openxmlformats.org/drawingml/2006/main">
            <a:r>
              <a:t>- C:/Users/Jesse/Documents/專題ROS2/src/dds_security_monitor/dds_security_monitor/runtime_telemetry.py</a:t>
            </a:r>
          </a:p>
          <a:p xmlns:a="http://schemas.openxmlformats.org/drawingml/2006/main">
            <a:r>
              <a:t>- C:/Users/Jesse/Documents/專題ROS2/firewall_lab/LOCAL_OUTCOME_LIVE_RUNBOOK.md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C:/Users/Jesse/Documents/專題ROS2/Zeek監控/dds_monitor.zeek</a:t>
            </a:r>
          </a:p>
          <a:p xmlns:a="http://schemas.openxmlformats.org/drawingml/2006/main">
            <a:r>
              <a:t>- C:/Users/Jesse/Documents/專題ROS2/Zeek監控/README.md</a:t>
            </a:r>
          </a:p>
          <a:p xmlns:a="http://schemas.openxmlformats.org/drawingml/2006/main">
            <a:r>
              <a:t>- C:/Users/Jesse/Documents/專題ROS2/tests/test_zeek_helpers.py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C:/Users/Jesse/Documents/專題ROS2/firewall_lab/evidence.py</a:t>
            </a:r>
          </a:p>
          <a:p xmlns:a="http://schemas.openxmlformats.org/drawingml/2006/main">
            <a:r>
              <a:t>- C:/Users/Jesse/Documents/專題ROS2/firewall_lab/response_authorizer.py</a:t>
            </a:r>
          </a:p>
          <a:p xmlns:a="http://schemas.openxmlformats.org/drawingml/2006/main">
            <a:r>
              <a:t>- C:/Users/Jesse/Documents/專題ROS2/firewall_lab/action_policy.json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C:/Users/Jesse/Documents/專題ROS2/firewall_lab/response_backend.py</a:t>
            </a:r>
          </a:p>
          <a:p xmlns:a="http://schemas.openxmlformats.org/drawingml/2006/main">
            <a:r>
              <a:t>- C:/Users/Jesse/Documents/專題ROS2/firewall_lab/nft_backend_service.py</a:t>
            </a:r>
          </a:p>
          <a:p xmlns:a="http://schemas.openxmlformats.org/drawingml/2006/main">
            <a:r>
              <a:t>- C:/Users/Jesse/Documents/專題ROS2/firewall_lab/backend_acceptance.py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C:/Users/Jesse/Documents/專題ROS2/firewall_lab/campaign.py</a:t>
            </a:r>
          </a:p>
          <a:p xmlns:a="http://schemas.openxmlformats.org/drawingml/2006/main">
            <a:r>
              <a:t>- C:/Users/Jesse/Documents/專題ROS2/firewall_lab/orchestrator.py</a:t>
            </a:r>
          </a:p>
          <a:p xmlns:a="http://schemas.openxmlformats.org/drawingml/2006/main">
            <a:r>
              <a:t>- C:/Users/Jesse/Documents/專題ROS2/firewall_lab/features.py</a:t>
            </a:r>
          </a:p>
          <a:p xmlns:a="http://schemas.openxmlformats.org/drawingml/2006/main">
            <a:r>
              <a:t>- C:/Users/Jesse/Documents/專題ROS2/firewall_lab/dataset_exclusions.v1.json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C:/Users/Jesse/Documents/專題ROS2/firewall_lab/campaign_1100.json</a:t>
            </a:r>
          </a:p>
          <a:p xmlns:a="http://schemas.openxmlformats.org/drawingml/2006/main">
            <a:r>
              <a:t>- C:/Users/Jesse/Documents/專題ROS2/firewall_lab/dataset_exclusions.v1.json</a:t>
            </a:r>
          </a:p>
          <a:p xmlns:a="http://schemas.openxmlformats.org/drawingml/2006/main">
            <a:r>
              <a:t>- C:/Users/Jesse/Documents/專題ROS2/文件/正式資料集結果與改善方向_2026-08-16.md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C:/Users/Jesse/Documents/專題ROS2/firewall_lab/live_multimodal_contract.json</a:t>
            </a:r>
          </a:p>
          <a:p xmlns:a="http://schemas.openxmlformats.org/drawingml/2006/main">
            <a:r>
              <a:t>- C:/Users/Jesse/Documents/專題ROS2/firewall_lab/sros2_deny_adapter.py</a:t>
            </a:r>
          </a:p>
          <a:p xmlns:a="http://schemas.openxmlformats.org/drawingml/2006/main">
            <a:r>
              <a:t>- C:/Users/Jesse/Documents/專題ROS2/文件/正式資料集結果與改善方向_2026-08-16.md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C:/Users/Jesse/Documents/專題ROS2/firewall_lab/features.py</a:t>
            </a:r>
          </a:p>
          <a:p xmlns:a="http://schemas.openxmlformats.org/drawingml/2006/main">
            <a:r>
              <a:t>- C:/Users/Jesse/Documents/專題ROS2/firewall_lab/hierarchical_model.py</a:t>
            </a:r>
          </a:p>
          <a:p xmlns:a="http://schemas.openxmlformats.org/drawingml/2006/main">
            <a:r>
              <a:t>- C:/Users/Jesse/Documents/專題ROS2/文件/核心AI模型升級_2026-08-17.md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C:/Users/Jesse/Documents/專題ROS2/firewall_lab/mode_leakage.py</a:t>
            </a:r>
          </a:p>
          <a:p xmlns:a="http://schemas.openxmlformats.org/drawingml/2006/main">
            <a:r>
              <a:t>- C:/Users/Jesse/Documents/專題ROS2/firewall_lab/features/mode_leakage_report.json</a:t>
            </a:r>
          </a:p>
          <a:p xmlns:a="http://schemas.openxmlformats.org/drawingml/2006/main">
            <a:r>
              <a:t>- C:/Users/Jesse/Documents/專題ROS2/文件/正式資料集結果與改善方向_2026-08-16.md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C:/Users/Jesse/Documents/專題ROS2/firewall_lab/hierarchical_model.py</a:t>
            </a:r>
          </a:p>
          <a:p xmlns:a="http://schemas.openxmlformats.org/drawingml/2006/main">
            <a:r>
              <a:t>- C:/Users/Jesse/Documents/專題ROS2/firewall_lab/hierarchical_training.py</a:t>
            </a:r>
          </a:p>
          <a:p xmlns:a="http://schemas.openxmlformats.org/drawingml/2006/main">
            <a:r>
              <a:t>- C:/Users/Jesse/Documents/專題ROS2/文件/核心AI模型升級_2026-08-17.md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C:/Users/Jesse/Documents/專題ROS2/firewall_lab/development_evaluation.py</a:t>
            </a:r>
          </a:p>
          <a:p xmlns:a="http://schemas.openxmlformats.org/drawingml/2006/main">
            <a:r>
              <a:t>- C:/Users/Jesse/Documents/專題ROS2/tests/test_development_evaluation.py</a:t>
            </a:r>
          </a:p>
          <a:p xmlns:a="http://schemas.openxmlformats.org/drawingml/2006/main">
            <a:r>
              <a:t>- C:/Users/Jesse/Documents/專題ROS2/文件/開發期公平基準與消融_2026-08-17.md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C:/Users/Jesse/Documents/專題ROS2/.codex_tmp/hierarchical_v2_20260817_r4/permissive/training_metrics.json</a:t>
            </a:r>
          </a:p>
          <a:p xmlns:a="http://schemas.openxmlformats.org/drawingml/2006/main">
            <a:r>
              <a:t>- C:/Users/Jesse/Documents/專題ROS2/.codex_tmp/hierarchical_v2_20260817_r4/enforce/training_metrics.json</a:t>
            </a:r>
          </a:p>
          <a:p xmlns:a="http://schemas.openxmlformats.org/drawingml/2006/main">
            <a:r>
              <a:t>- C:/Users/Jesse/Documents/專題ROS2/文件/核心AI模型升級_2026-08-17.md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C:/Users/Jesse/Documents/專題ROS2/.codex_tmp/development_evaluation_final2_20260817/permissive/development_evaluation.json</a:t>
            </a:r>
          </a:p>
          <a:p xmlns:a="http://schemas.openxmlformats.org/drawingml/2006/main">
            <a:r>
              <a:t>- C:/Users/Jesse/Documents/專題ROS2/.codex_tmp/development_evaluation_final2_20260817/enforce/development_evaluation.json</a:t>
            </a:r>
          </a:p>
          <a:p xmlns:a="http://schemas.openxmlformats.org/drawingml/2006/main">
            <a:r>
              <a:t>- C:/Users/Jesse/Documents/專題ROS2/文件/開發期公平基準與消融_2026-08-17.md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C:/Users/Jesse/Documents/專題ROS2/firewall_lab/sros2_delivery_evidence.py</a:t>
            </a:r>
          </a:p>
          <a:p xmlns:a="http://schemas.openxmlformats.org/drawingml/2006/main">
            <a:r>
              <a:t>- C:/Users/Jesse/Documents/專題ROS2/firewall_lab/local_outcomes.py</a:t>
            </a:r>
          </a:p>
          <a:p xmlns:a="http://schemas.openxmlformats.org/drawingml/2006/main">
            <a:r>
              <a:t>- C:/Users/Jesse/Documents/專題ROS2/firewall_lab/LOCAL_OUTCOME_LIVE_RUNBOOK.md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C:/Users/Jesse/Documents/專題ROS2/firewall_lab/project_claims_20260817.json</a:t>
            </a:r>
          </a:p>
          <a:p xmlns:a="http://schemas.openxmlformats.org/drawingml/2006/main">
            <a:r>
              <a:t>- C:/Users/Jesse/Documents/專題ROS2/文件/證據總帳_2026-08-17/evidence_ledger.json</a:t>
            </a:r>
          </a:p>
          <a:p xmlns:a="http://schemas.openxmlformats.org/drawingml/2006/main">
            <a:r>
              <a:t>- C:/Users/Jesse/Documents/專題ROS2/文件/可重現性稽核_2026-08-17.json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C:/Users/Jesse/Documents/專題ROS2/文件/專題主計畫與WBS_2026-08-17.md</a:t>
            </a:r>
          </a:p>
          <a:p xmlns:a="http://schemas.openxmlformats.org/drawingml/2006/main">
            <a:r>
              <a:t>- C:/Users/Jesse/Documents/專題ROS2/文件/可重現性稽核_2026-08-17.json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C:/Users/Jesse/Documents/專題ROS2/文件/智慧防火牆正式評分對齊_2026-07-28.md</a:t>
            </a:r>
          </a:p>
          <a:p xmlns:a="http://schemas.openxmlformats.org/drawingml/2006/main">
            <a:r>
              <a:t>- C:/Users/Jesse/Documents/專題ROS2/文件/中英文摘要與答辯腳本_2026-08-17.md</a:t>
            </a:r>
          </a:p>
          <a:p xmlns:a="http://schemas.openxmlformats.org/drawingml/2006/main">
            <a:r>
              <a:t>- C:/Users/Jesse/Documents/專題ROS2/文件/國際標準與社會倫理_2026-08-17.md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C:/Users/Jesse/Documents/專題ROS2/文件/國際標準與社會倫理_2026-08-17.md</a:t>
            </a:r>
          </a:p>
          <a:p xmlns:a="http://schemas.openxmlformats.org/drawingml/2006/main">
            <a:r>
              <a:t>- https://www.omg.org/spec/DDS-SECURITY/1.2/PDF</a:t>
            </a:r>
          </a:p>
          <a:p xmlns:a="http://schemas.openxmlformats.org/drawingml/2006/main">
            <a:r>
              <a:t>- https://docs.ros.org/en/jazzy/Tutorials/Advanced/Security/Introducing-ros2-security.html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https://www.isa.org/standards-and-publications/isa-standards/isa-iec-62443-series-of-standards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C:/Users/Jesse/Documents/專題ROS2/文件/專題主計畫與WBS_2026-08-17.md</a:t>
            </a:r>
          </a:p>
          <a:p xmlns:a="http://schemas.openxmlformats.org/drawingml/2006/main">
            <a:r>
              <a:t>- C:/Users/Jesse/Documents/專題ROS2/文件/風險登錄與驗收矩陣_2026-08-17.md</a:t>
            </a:r>
          </a:p>
          <a:p xmlns:a="http://schemas.openxmlformats.org/drawingml/2006/main">
            <a:r>
              <a:t>- C:/Users/Jesse/Documents/專題ROS2/文件/證據總帳_2026-08-17/evidence_ledger.md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25338f36a40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b1a0254e2942c8" /><Relationship Type="http://schemas.openxmlformats.org/officeDocument/2006/relationships/slideLayout" Target="/ppt/slideLayouts/slideLayout1.xml" Id="Rf295ba9d4f9148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95ba9d4f9148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983f90c664e8e" /><Relationship Type="http://schemas.openxmlformats.org/officeDocument/2006/relationships/notesSlide" Target="/ppt/notesSlides/notesSlide1.xml" Id="R76011ba07fce4f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e2b9b29d34ce8" /><Relationship Type="http://schemas.openxmlformats.org/officeDocument/2006/relationships/notesSlide" Target="/ppt/notesSlides/notesSlide2.xml" Id="Re9653fb1636948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cff19818247da" /><Relationship Type="http://schemas.openxmlformats.org/officeDocument/2006/relationships/notesSlide" Target="/ppt/notesSlides/notesSlide3.xml" Id="Ra6131f618c964d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510589232488a" /><Relationship Type="http://schemas.openxmlformats.org/officeDocument/2006/relationships/notesSlide" Target="/ppt/notesSlides/notesSlide4.xml" Id="R04302131322844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8c82f1c62450e" /><Relationship Type="http://schemas.openxmlformats.org/officeDocument/2006/relationships/notesSlide" Target="/ppt/notesSlides/notesSlide5.xml" Id="R4e1fb0a3b5394a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cc291a4dd46fc" /><Relationship Type="http://schemas.openxmlformats.org/officeDocument/2006/relationships/notesSlide" Target="/ppt/notesSlides/notesSlide6.xml" Id="Rab2c26389a6546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f27260e8d4323" /><Relationship Type="http://schemas.openxmlformats.org/officeDocument/2006/relationships/notesSlide" Target="/ppt/notesSlides/notesSlide7.xml" Id="Re6296e7f818749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dde6b1f3d45aa" /><Relationship Type="http://schemas.openxmlformats.org/officeDocument/2006/relationships/notesSlide" Target="/ppt/notesSlides/notesSlide8.xml" Id="R599eac016ac046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a7390ce364fa5" /><Relationship Type="http://schemas.openxmlformats.org/officeDocument/2006/relationships/notesSlide" Target="/ppt/notesSlides/notesSlide9.xml" Id="R542b387d5c8147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1c37ad4df4cee" /><Relationship Type="http://schemas.openxmlformats.org/officeDocument/2006/relationships/notesSlide" Target="/ppt/notesSlides/notesSlide10.xml" Id="Rc43e1937872b4c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ae2b576714ee5" /><Relationship Type="http://schemas.openxmlformats.org/officeDocument/2006/relationships/notesSlide" Target="/ppt/notesSlides/notesSlide11.xml" Id="Ra2d787478f1548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7ab244371408a" /><Relationship Type="http://schemas.openxmlformats.org/officeDocument/2006/relationships/notesSlide" Target="/ppt/notesSlides/notesSlide12.xml" Id="Re7bbcb0139b64c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61e39c4624a6e" /><Relationship Type="http://schemas.openxmlformats.org/officeDocument/2006/relationships/notesSlide" Target="/ppt/notesSlides/notesSlide13.xml" Id="Rb1892108d71145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ac90573fd47d1" /><Relationship Type="http://schemas.openxmlformats.org/officeDocument/2006/relationships/notesSlide" Target="/ppt/notesSlides/notesSlide14.xml" Id="R60c24a70d28b45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5313ffa004cf3" /><Relationship Type="http://schemas.openxmlformats.org/officeDocument/2006/relationships/notesSlide" Target="/ppt/notesSlides/notesSlide15.xml" Id="R44eb8249df7c4a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7bfc41f56474e" /><Relationship Type="http://schemas.openxmlformats.org/officeDocument/2006/relationships/notesSlide" Target="/ppt/notesSlides/notesSlide16.xml" Id="R1d8d2c4b58a746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6e32a4d474859" /><Relationship Type="http://schemas.openxmlformats.org/officeDocument/2006/relationships/notesSlide" Target="/ppt/notesSlides/notesSlide17.xml" Id="Rdf8fdd6620004e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2922d5eab4ba2" /><Relationship Type="http://schemas.openxmlformats.org/officeDocument/2006/relationships/notesSlide" Target="/ppt/notesSlides/notesSlide18.xml" Id="R3f7794f7ad8244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0e3416cf3445d" /><Relationship Type="http://schemas.openxmlformats.org/officeDocument/2006/relationships/notesSlide" Target="/ppt/notesSlides/notesSlide19.xml" Id="R4fdf308e1f534e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acfa1af9e4136" /><Relationship Type="http://schemas.openxmlformats.org/officeDocument/2006/relationships/notesSlide" Target="/ppt/notesSlides/notesSlide20.xml" Id="R3f37dd5bade5404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3f57afdd34449" /><Relationship Type="http://schemas.openxmlformats.org/officeDocument/2006/relationships/notesSlide" Target="/ppt/notesSlides/notesSlide21.xml" Id="Rb23583fac707489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38c1e065f4121" /><Relationship Type="http://schemas.openxmlformats.org/officeDocument/2006/relationships/notesSlide" Target="/ppt/notesSlides/notesSlide22.xml" Id="R90d1407cd68141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4cd943380486d" /><Relationship Type="http://schemas.openxmlformats.org/officeDocument/2006/relationships/notesSlide" Target="/ppt/notesSlides/notesSlide23.xml" Id="Rc0427df212074e0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e7413beea44c1" /><Relationship Type="http://schemas.openxmlformats.org/officeDocument/2006/relationships/notesSlide" Target="/ppt/notesSlides/notesSlide24.xml" Id="R09ca137cc9374db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7e1f315c04dd3" /><Relationship Type="http://schemas.openxmlformats.org/officeDocument/2006/relationships/notesSlide" Target="/ppt/notesSlides/notesSlide25.xml" Id="R13f8b3759e2740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efcff891e41f1" /><Relationship Type="http://schemas.openxmlformats.org/officeDocument/2006/relationships/notesSlide" Target="/ppt/notesSlides/notesSlide26.xml" Id="R27e0d1291a074d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5c42af5a341b2" /><Relationship Type="http://schemas.openxmlformats.org/officeDocument/2006/relationships/notesSlide" Target="/ppt/notesSlides/notesSlide27.xml" Id="Rdb8c3431dc8b41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5ef254e674045" /><Relationship Type="http://schemas.openxmlformats.org/officeDocument/2006/relationships/notesSlide" Target="/ppt/notesSlides/notesSlide28.xml" Id="R49602f8be9f944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b7b81e5db415b" /><Relationship Type="http://schemas.openxmlformats.org/officeDocument/2006/relationships/notesSlide" Target="/ppt/notesSlides/notesSlide29.xml" Id="Ra489ba4f137f48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570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right-field">
            <a:extLst xmlns:a="http://schemas.openxmlformats.org/drawingml/2006/main">
              <a:ext uri="{FF2B5EF4-FFF2-40B4-BE49-F238E27FC236}">
                <a16:creationId xmlns:a16="http://schemas.microsoft.com/office/drawing/2014/main" id="{C8A67A9C-E7AB-42D3-8547-7B85C57B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F62CC6-D104-4207-9320-19E0D9DC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819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 智慧防火牆</a:t>
            </a:r>
          </a:p>
        </p:txBody>
      </p:sp>
      <p:sp>
        <p:nvSpPr>
          <p:cNvPr id="5" name="cover-title-en">
            <a:extLst xmlns:a="http://schemas.openxmlformats.org/drawingml/2006/main">
              <a:ext uri="{FF2B5EF4-FFF2-40B4-BE49-F238E27FC236}">
                <a16:creationId xmlns:a16="http://schemas.microsoft.com/office/drawing/2014/main" id="{7870CAF8-A5F9-4542-A511-C1D6EBD4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9A8A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9A8A2"/>
                </a:solidFill>
                <a:latin typeface="Microsoft JhengHei"/>
                <a:ea typeface="Microsoft JhengHei"/>
                <a:cs typeface="Microsoft JhengHei"/>
              </a:rPr>
              <a:t>SROS2 INTELLIGENT FIREWALL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6FB8FFA-99D9-4C48-85B1-7FFE38D6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用 SROS2 先防、AI 再辨識：ROS 2 多模態防禦研究原型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BFE73AA2-0D12-435C-9A13-7AFC516D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人工智慧系專題｜Jesse｜目標 2027.05</a:t>
            </a:r>
          </a:p>
        </p:txBody>
      </p:sp>
      <p:sp>
        <p:nvSpPr>
          <p:cNvPr id="8" name="cover-right-type">
            <a:extLst xmlns:a="http://schemas.openxmlformats.org/drawingml/2006/main">
              <a:ext uri="{FF2B5EF4-FFF2-40B4-BE49-F238E27FC236}">
                <a16:creationId xmlns:a16="http://schemas.microsoft.com/office/drawing/2014/main" id="{BAA5F687-AF92-481F-8400-09C83DF9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81150"/>
            <a:ext cx="1866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PREVENT</a:t>
            </a:r>
          </a:p>
          <a:p xmlns:a="http://schemas.openxmlformats.org/drawingml/2006/main">
            <a:endParaRPr sz="1800" b="1">
              <a:solidFill>
                <a:srgbClr val="FAF8F3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DETECT</a:t>
            </a:r>
          </a:p>
          <a:p xmlns:a="http://schemas.openxmlformats.org/drawingml/2006/main">
            <a:endParaRPr sz="1800" b="1">
              <a:solidFill>
                <a:srgbClr val="FAF8F3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RESPOND</a:t>
            </a:r>
          </a:p>
        </p:txBody>
      </p:sp>
      <p:sp>
        <p:nvSpPr>
          <p:cNvPr id="9" name="cover-swatch-1">
            <a:extLst xmlns:a="http://schemas.openxmlformats.org/drawingml/2006/main">
              <a:ext uri="{FF2B5EF4-FFF2-40B4-BE49-F238E27FC236}">
                <a16:creationId xmlns:a16="http://schemas.microsoft.com/office/drawing/2014/main" id="{59EA9E2B-5B30-4B03-BE69-839AE9D7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006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swatch-2">
            <a:extLst xmlns:a="http://schemas.openxmlformats.org/drawingml/2006/main">
              <a:ext uri="{FF2B5EF4-FFF2-40B4-BE49-F238E27FC236}">
                <a16:creationId xmlns:a16="http://schemas.microsoft.com/office/drawing/2014/main" id="{8E827F19-C7D7-4F31-AD65-B36B8D7D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054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cover-swatch-3">
            <a:extLst xmlns:a="http://schemas.openxmlformats.org/drawingml/2006/main">
              <a:ext uri="{FF2B5EF4-FFF2-40B4-BE49-F238E27FC236}">
                <a16:creationId xmlns:a16="http://schemas.microsoft.com/office/drawing/2014/main" id="{502F2800-18A3-40F9-B416-D94DADFC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102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cover-swatch-4">
            <a:extLst xmlns:a="http://schemas.openxmlformats.org/drawingml/2006/main">
              <a:ext uri="{FF2B5EF4-FFF2-40B4-BE49-F238E27FC236}">
                <a16:creationId xmlns:a16="http://schemas.microsoft.com/office/drawing/2014/main" id="{7613BBED-C11C-4CBC-97DC-0A0F7ABB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150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512734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8660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right-field">
            <a:extLst xmlns:a="http://schemas.openxmlformats.org/drawingml/2006/main">
              <a:ext uri="{FF2B5EF4-FFF2-40B4-BE49-F238E27FC236}">
                <a16:creationId xmlns:a16="http://schemas.microsoft.com/office/drawing/2014/main" id="{34D901BE-B057-4A4D-9FEE-388D91B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3295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C6B931A-4CF3-4307-9032-6451F887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我們不是做一顆封鎖按鈕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而是建立一條可撤銷的證據鏈</a:t>
            </a:r>
          </a:p>
        </p:txBody>
      </p:sp>
      <p:sp>
        <p:nvSpPr>
          <p:cNvPr id="5" name="close-principles">
            <a:extLst xmlns:a="http://schemas.openxmlformats.org/drawingml/2006/main">
              <a:ext uri="{FF2B5EF4-FFF2-40B4-BE49-F238E27FC236}">
                <a16:creationId xmlns:a16="http://schemas.microsoft.com/office/drawing/2014/main" id="{69F469C2-B1BF-4F93-9601-5B04F8DD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 先防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HMAC／D1–D6 驗證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Zeek／AI 偵測</a:t>
            </a:r>
          </a:p>
        </p:txBody>
      </p:sp>
      <p:sp>
        <p:nvSpPr>
          <p:cNvPr id="6" name="close-right">
            <a:extLst xmlns:a="http://schemas.openxmlformats.org/drawingml/2006/main">
              <a:ext uri="{FF2B5EF4-FFF2-40B4-BE49-F238E27FC236}">
                <a16:creationId xmlns:a16="http://schemas.microsoft.com/office/drawing/2014/main" id="{586514EF-3365-49DA-A7D2-E3DC951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2571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1,100 CAMPAIGN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1,099 CLEAN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SAFE RESPONSE</a:t>
            </a:r>
          </a:p>
        </p:txBody>
      </p:sp>
      <p:sp>
        <p:nvSpPr>
          <p:cNvPr id="7" name="close-next-band">
            <a:extLst xmlns:a="http://schemas.openxmlformats.org/drawingml/2006/main">
              <a:ext uri="{FF2B5EF4-FFF2-40B4-BE49-F238E27FC236}">
                <a16:creationId xmlns:a16="http://schemas.microsoft.com/office/drawing/2014/main" id="{96396B0D-42D7-46DA-957A-89405A94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197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lose-next">
            <a:extLst xmlns:a="http://schemas.openxmlformats.org/drawingml/2006/main">
              <a:ext uri="{FF2B5EF4-FFF2-40B4-BE49-F238E27FC236}">
                <a16:creationId xmlns:a16="http://schemas.microsoft.com/office/drawing/2014/main" id="{09CC2951-E130-4DD7-A8B2-C9029E1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625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核心原則｜模型只提出意圖；授權器、驗票與 timeout 決定能否動作</a:t>
            </a:r>
          </a:p>
        </p:txBody>
      </p:sp>
    </p:spTree>
    <p:extLst>
      <p:ext uri="{BB962C8B-B14F-4D97-AF65-F5344CB8AC3E}">
        <p14:creationId xmlns:p14="http://schemas.microsoft.com/office/powerpoint/2010/main" val="2095719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l-2">
            <a:extLst xmlns:a="http://schemas.openxmlformats.org/drawingml/2006/main">
              <a:ext uri="{FF2B5EF4-FFF2-40B4-BE49-F238E27FC236}">
                <a16:creationId xmlns:a16="http://schemas.microsoft.com/office/drawing/2014/main" id="{B991A2E7-350A-4FFA-8439-21C32ADF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DBF4BF0-7019-4220-90D9-150DE959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一般防火牆看不到 DDS 身分與機器人物理語意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7F259996-35F0-499A-B0FF-0580EBAE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problem-big-three">
            <a:extLst xmlns:a="http://schemas.openxmlformats.org/drawingml/2006/main">
              <a:ext uri="{FF2B5EF4-FFF2-40B4-BE49-F238E27FC236}">
                <a16:creationId xmlns:a16="http://schemas.microsoft.com/office/drawing/2014/main" id="{5EE0A065-E692-4F5D-AEBB-FC19955D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200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0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200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7" name="problem-three-label">
            <a:extLst xmlns:a="http://schemas.openxmlformats.org/drawingml/2006/main">
              <a:ext uri="{FF2B5EF4-FFF2-40B4-BE49-F238E27FC236}">
                <a16:creationId xmlns:a16="http://schemas.microsoft.com/office/drawing/2014/main" id="{B864F144-E0E9-4164-9B7C-548D3032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ROS 2／DDS 防禦必須同時回答</a:t>
            </a:r>
          </a:p>
        </p:txBody>
      </p:sp>
      <p:sp>
        <p:nvSpPr>
          <p:cNvPr id="8" name="problem-line-1">
            <a:extLst xmlns:a="http://schemas.openxmlformats.org/drawingml/2006/main">
              <a:ext uri="{FF2B5EF4-FFF2-40B4-BE49-F238E27FC236}">
                <a16:creationId xmlns:a16="http://schemas.microsoft.com/office/drawing/2014/main" id="{EAA624B4-532E-4800-93FF-83027415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794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problem-accent-1">
            <a:extLst xmlns:a="http://schemas.openxmlformats.org/drawingml/2006/main">
              <a:ext uri="{FF2B5EF4-FFF2-40B4-BE49-F238E27FC236}">
                <a16:creationId xmlns:a16="http://schemas.microsoft.com/office/drawing/2014/main" id="{5752BA45-87BB-4BC7-8D6C-36A836CB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problem-en-1">
            <a:extLst xmlns:a="http://schemas.openxmlformats.org/drawingml/2006/main">
              <a:ext uri="{FF2B5EF4-FFF2-40B4-BE49-F238E27FC236}">
                <a16:creationId xmlns:a16="http://schemas.microsoft.com/office/drawing/2014/main" id="{F4E4D062-70AD-4A0A-A4ED-03D8541C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52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IDENTITY</a:t>
            </a:r>
          </a:p>
        </p:txBody>
      </p:sp>
      <p:sp>
        <p:nvSpPr>
          <p:cNvPr id="11" name="problem-zh-1">
            <a:extLst xmlns:a="http://schemas.openxmlformats.org/drawingml/2006/main">
              <a:ext uri="{FF2B5EF4-FFF2-40B4-BE49-F238E27FC236}">
                <a16:creationId xmlns:a16="http://schemas.microsoft.com/office/drawing/2014/main" id="{73D6D759-C158-4D2D-BDC6-FEFB5E7E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193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誰能加入 DDS graph？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A8F694E2-DF33-4D05-8851-69110E4A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47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SROS2 憑證、enclave、permissions 與 publisher 身分。</a:t>
            </a:r>
          </a:p>
        </p:txBody>
      </p:sp>
      <p:sp>
        <p:nvSpPr>
          <p:cNvPr id="13" name="problem-line-2">
            <a:extLst xmlns:a="http://schemas.openxmlformats.org/drawingml/2006/main">
              <a:ext uri="{FF2B5EF4-FFF2-40B4-BE49-F238E27FC236}">
                <a16:creationId xmlns:a16="http://schemas.microsoft.com/office/drawing/2014/main" id="{F7D6F2ED-AC38-4E9C-90C1-785F58BF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794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problem-accent-2">
            <a:extLst xmlns:a="http://schemas.openxmlformats.org/drawingml/2006/main">
              <a:ext uri="{FF2B5EF4-FFF2-40B4-BE49-F238E27FC236}">
                <a16:creationId xmlns:a16="http://schemas.microsoft.com/office/drawing/2014/main" id="{D7D88F4D-7DFA-47E9-B5E1-5D44A2C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roblem-en-2">
            <a:extLst xmlns:a="http://schemas.openxmlformats.org/drawingml/2006/main">
              <a:ext uri="{FF2B5EF4-FFF2-40B4-BE49-F238E27FC236}">
                <a16:creationId xmlns:a16="http://schemas.microsoft.com/office/drawing/2014/main" id="{3064EC7E-019F-4630-A55C-DE2E0354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MESSAGE</a:t>
            </a:r>
          </a:p>
        </p:txBody>
      </p:sp>
      <p:sp>
        <p:nvSpPr>
          <p:cNvPr id="16" name="problem-zh-2">
            <a:extLst xmlns:a="http://schemas.openxmlformats.org/drawingml/2006/main">
              <a:ext uri="{FF2B5EF4-FFF2-40B4-BE49-F238E27FC236}">
                <a16:creationId xmlns:a16="http://schemas.microsoft.com/office/drawing/2014/main" id="{7CDE3E02-978C-4AAE-A6CE-538E1D4F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57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訊息是否可信且在正確脈絡？</a:t>
            </a:r>
          </a:p>
        </p:txBody>
      </p:sp>
      <p:sp>
        <p:nvSpPr>
          <p:cNvPr id="17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D08D8CBB-3F23-4BDB-8F31-24D605AC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861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topic、channel、timestamp、nonce、來源與重放。</a:t>
            </a:r>
          </a:p>
        </p:txBody>
      </p:sp>
      <p:sp>
        <p:nvSpPr>
          <p:cNvPr id="18" name="problem-line-3">
            <a:extLst xmlns:a="http://schemas.openxmlformats.org/drawingml/2006/main">
              <a:ext uri="{FF2B5EF4-FFF2-40B4-BE49-F238E27FC236}">
                <a16:creationId xmlns:a16="http://schemas.microsoft.com/office/drawing/2014/main" id="{26773D95-2981-4886-B4E2-858DDF78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794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problem-accent-3">
            <a:extLst xmlns:a="http://schemas.openxmlformats.org/drawingml/2006/main">
              <a:ext uri="{FF2B5EF4-FFF2-40B4-BE49-F238E27FC236}">
                <a16:creationId xmlns:a16="http://schemas.microsoft.com/office/drawing/2014/main" id="{369237D0-AD8B-4FAE-B087-88307799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problem-en-3">
            <a:extLst xmlns:a="http://schemas.openxmlformats.org/drawingml/2006/main">
              <a:ext uri="{FF2B5EF4-FFF2-40B4-BE49-F238E27FC236}">
                <a16:creationId xmlns:a16="http://schemas.microsoft.com/office/drawing/2014/main" id="{64620E31-B531-43A7-A687-23C93A4D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BEHAVIOR</a:t>
            </a:r>
          </a:p>
        </p:txBody>
      </p:sp>
      <p:sp>
        <p:nvSpPr>
          <p:cNvPr id="21" name="problem-zh-3">
            <a:extLst xmlns:a="http://schemas.openxmlformats.org/drawingml/2006/main">
              <a:ext uri="{FF2B5EF4-FFF2-40B4-BE49-F238E27FC236}">
                <a16:creationId xmlns:a16="http://schemas.microsoft.com/office/drawing/2014/main" id="{E45BD70D-346A-4301-AD98-E675B62A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機器人動作是否符合物理？</a:t>
            </a:r>
          </a:p>
        </p:txBody>
      </p:sp>
      <p:sp>
        <p:nvSpPr>
          <p:cNvPr id="22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3648F294-F5FD-412A-B254-9E2FEDC9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速度、方向、LiDAR、heartbeat 與感測／控制一致性。</a:t>
            </a:r>
          </a:p>
        </p:txBody>
      </p:sp>
      <p:sp>
        <p:nvSpPr>
          <p:cNvPr id="23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3B49338C-3592-41C6-A14A-511608A5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00700"/>
            <a:ext cx="7943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problem-conclusion-text">
            <a:extLst xmlns:a="http://schemas.openxmlformats.org/drawingml/2006/main">
              <a:ext uri="{FF2B5EF4-FFF2-40B4-BE49-F238E27FC236}">
                <a16:creationId xmlns:a16="http://schemas.microsoft.com/office/drawing/2014/main" id="{EA8743AC-2380-4F34-BEEF-3AD1D59F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959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因此需要從 DDS 身分、網路流量一路看到機器人行為。</a:t>
            </a:r>
          </a:p>
        </p:txBody>
      </p:sp>
    </p:spTree>
    <p:extLst>
      <p:ext uri="{BB962C8B-B14F-4D97-AF65-F5344CB8AC3E}">
        <p14:creationId xmlns:p14="http://schemas.microsoft.com/office/powerpoint/2010/main" val="629166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ail-3">
            <a:extLst xmlns:a="http://schemas.openxmlformats.org/drawingml/2006/main">
              <a:ext uri="{FF2B5EF4-FFF2-40B4-BE49-F238E27FC236}">
                <a16:creationId xmlns:a16="http://schemas.microsoft.com/office/drawing/2014/main" id="{61219FF8-5F24-4FFD-A40E-D3358F19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8588356C-D8D0-4162-B3AF-F27C6A24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四個研究問題分開驗證預防、偵測、AI 與回應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88619A1-1E9F-45EF-A87C-8BE98816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rq-number-1">
            <a:extLst xmlns:a="http://schemas.openxmlformats.org/drawingml/2006/main">
              <a:ext uri="{FF2B5EF4-FFF2-40B4-BE49-F238E27FC236}">
                <a16:creationId xmlns:a16="http://schemas.microsoft.com/office/drawing/2014/main" id="{CE2060FD-3B38-4ED9-8BF1-F6B917E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rq-title-1">
            <a:extLst xmlns:a="http://schemas.openxmlformats.org/drawingml/2006/main">
              <a:ext uri="{FF2B5EF4-FFF2-40B4-BE49-F238E27FC236}">
                <a16:creationId xmlns:a16="http://schemas.microsoft.com/office/drawing/2014/main" id="{1E94AD40-7099-46A8-8E82-AA806054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真能預防嗎？</a:t>
            </a:r>
          </a:p>
        </p:txBody>
      </p:sp>
      <p:sp>
        <p:nvSpPr>
          <p:cNvPr id="8" name="rq-body-1">
            <a:extLst xmlns:a="http://schemas.openxmlformats.org/drawingml/2006/main">
              <a:ext uri="{FF2B5EF4-FFF2-40B4-BE49-F238E27FC236}">
                <a16:creationId xmlns:a16="http://schemas.microsoft.com/office/drawing/2014/main" id="{2E39D1B8-0028-47EC-8251-C56A78B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972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以受保護 canary 的 attempted／received sequence，驗證 Enforce 是否隔離未授權 participant。</a:t>
            </a:r>
          </a:p>
        </p:txBody>
      </p:sp>
      <p:sp>
        <p:nvSpPr>
          <p:cNvPr id="9" name="rq-rule-1">
            <a:extLst xmlns:a="http://schemas.openxmlformats.org/drawingml/2006/main">
              <a:ext uri="{FF2B5EF4-FFF2-40B4-BE49-F238E27FC236}">
                <a16:creationId xmlns:a16="http://schemas.microsoft.com/office/drawing/2014/main" id="{7707C419-4156-430D-BC42-0E3BB5F4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q-number-2">
            <a:extLst xmlns:a="http://schemas.openxmlformats.org/drawingml/2006/main">
              <a:ext uri="{FF2B5EF4-FFF2-40B4-BE49-F238E27FC236}">
                <a16:creationId xmlns:a16="http://schemas.microsoft.com/office/drawing/2014/main" id="{6E301A82-D1CC-4654-AB22-1080985F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rq-title-2">
            <a:extLst xmlns:a="http://schemas.openxmlformats.org/drawingml/2006/main">
              <a:ext uri="{FF2B5EF4-FFF2-40B4-BE49-F238E27FC236}">
                <a16:creationId xmlns:a16="http://schemas.microsoft.com/office/drawing/2014/main" id="{9BB8CFD2-8AE9-4A9F-AD7A-5CFC8C2C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336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多模態與時序有用嗎？</a:t>
            </a:r>
          </a:p>
        </p:txBody>
      </p:sp>
      <p:sp>
        <p:nvSpPr>
          <p:cNvPr id="12" name="rq-body-2">
            <a:extLst xmlns:a="http://schemas.openxmlformats.org/drawingml/2006/main">
              <a:ext uri="{FF2B5EF4-FFF2-40B4-BE49-F238E27FC236}">
                <a16:creationId xmlns:a16="http://schemas.microsoft.com/office/drawing/2014/main" id="{43A32F7A-5D7B-48F3-990A-FF8DB833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同 split 比較 network、telemetry、fusion 與 causal-temporal 的 F1、PR-AUC 與 FPR。</a:t>
            </a:r>
          </a:p>
        </p:txBody>
      </p:sp>
      <p:sp>
        <p:nvSpPr>
          <p:cNvPr id="13" name="rq-rule-2">
            <a:extLst xmlns:a="http://schemas.openxmlformats.org/drawingml/2006/main">
              <a:ext uri="{FF2B5EF4-FFF2-40B4-BE49-F238E27FC236}">
                <a16:creationId xmlns:a16="http://schemas.microsoft.com/office/drawing/2014/main" id="{E43A03D2-9BDC-49AF-8681-1C0DDA2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q-number-3">
            <a:extLst xmlns:a="http://schemas.openxmlformats.org/drawingml/2006/main">
              <a:ext uri="{FF2B5EF4-FFF2-40B4-BE49-F238E27FC236}">
                <a16:creationId xmlns:a16="http://schemas.microsoft.com/office/drawing/2014/main" id="{C0F60988-00D6-42C2-A5BE-3DF8B983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rq-title-3">
            <a:extLst xmlns:a="http://schemas.openxmlformats.org/drawingml/2006/main">
              <a:ext uri="{FF2B5EF4-FFF2-40B4-BE49-F238E27FC236}">
                <a16:creationId xmlns:a16="http://schemas.microsoft.com/office/drawing/2014/main" id="{EF87CBC4-860F-4D3A-8B4F-8DBABE9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未知攻擊與模式偏差呢？</a:t>
            </a:r>
          </a:p>
        </p:txBody>
      </p:sp>
      <p:sp>
        <p:nvSpPr>
          <p:cNvPr id="16" name="rq-body-3">
            <a:extLst xmlns:a="http://schemas.openxmlformats.org/drawingml/2006/main">
              <a:ext uri="{FF2B5EF4-FFF2-40B4-BE49-F238E27FC236}">
                <a16:creationId xmlns:a16="http://schemas.microsoft.com/office/drawing/2014/main" id="{3DB901DB-7388-4891-A153-0C82A47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5762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整個攻擊 session 排除訓練，並分開 Permissive／Enforce，避免模型只記住安全模式。</a:t>
            </a:r>
          </a:p>
        </p:txBody>
      </p:sp>
      <p:sp>
        <p:nvSpPr>
          <p:cNvPr id="17" name="rq-rule-3">
            <a:extLst xmlns:a="http://schemas.openxmlformats.org/drawingml/2006/main">
              <a:ext uri="{FF2B5EF4-FFF2-40B4-BE49-F238E27FC236}">
                <a16:creationId xmlns:a16="http://schemas.microsoft.com/office/drawing/2014/main" id="{17298416-7DF4-4932-A23F-6C667EA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q-number-4">
            <a:extLst xmlns:a="http://schemas.openxmlformats.org/drawingml/2006/main">
              <a:ext uri="{FF2B5EF4-FFF2-40B4-BE49-F238E27FC236}">
                <a16:creationId xmlns:a16="http://schemas.microsoft.com/office/drawing/2014/main" id="{FD723E84-A501-4EBE-AFD2-C9D7BC78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rq-title-4">
            <a:extLst xmlns:a="http://schemas.openxmlformats.org/drawingml/2006/main">
              <a:ext uri="{FF2B5EF4-FFF2-40B4-BE49-F238E27FC236}">
                <a16:creationId xmlns:a16="http://schemas.microsoft.com/office/drawing/2014/main" id="{5B5C0B87-F48E-4A00-8F1C-274CF39F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815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回應會不會誤封？</a:t>
            </a:r>
          </a:p>
        </p:txBody>
      </p:sp>
      <p:sp>
        <p:nvSpPr>
          <p:cNvPr id="20" name="rq-body-4">
            <a:extLst xmlns:a="http://schemas.openxmlformats.org/drawingml/2006/main">
              <a:ext uri="{FF2B5EF4-FFF2-40B4-BE49-F238E27FC236}">
                <a16:creationId xmlns:a16="http://schemas.microsoft.com/office/drawing/2014/main" id="{EBF401C9-DC13-468B-AED3-C2F9851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815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用來源歸因、雙訊號、連續視窗、票證、TTL、白名單與 rollback 限制自動處置。</a:t>
            </a:r>
          </a:p>
        </p:txBody>
      </p:sp>
      <p:sp>
        <p:nvSpPr>
          <p:cNvPr id="21" name="rq-rule-4">
            <a:extLst xmlns:a="http://schemas.openxmlformats.org/drawingml/2006/main">
              <a:ext uri="{FF2B5EF4-FFF2-40B4-BE49-F238E27FC236}">
                <a16:creationId xmlns:a16="http://schemas.microsoft.com/office/drawing/2014/main" id="{FF5179CD-AC5F-4185-AC8B-B51B0E6E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105863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hreat-left">
            <a:extLst xmlns:a="http://schemas.openxmlformats.org/drawingml/2006/main">
              <a:ext uri="{FF2B5EF4-FFF2-40B4-BE49-F238E27FC236}">
                <a16:creationId xmlns:a16="http://schemas.microsoft.com/office/drawing/2014/main" id="{7EBB5E65-64EC-4D47-9BC8-868DB3B4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0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hreat-divider">
            <a:extLst xmlns:a="http://schemas.openxmlformats.org/drawingml/2006/main">
              <a:ext uri="{FF2B5EF4-FFF2-40B4-BE49-F238E27FC236}">
                <a16:creationId xmlns:a16="http://schemas.microsoft.com/office/drawing/2014/main" id="{F9BABD9D-E753-4077-8548-9437748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reat-title">
            <a:extLst xmlns:a="http://schemas.openxmlformats.org/drawingml/2006/main">
              <a:ext uri="{FF2B5EF4-FFF2-40B4-BE49-F238E27FC236}">
                <a16:creationId xmlns:a16="http://schemas.microsoft.com/office/drawing/2014/main" id="{2060D033-4016-4B2C-8F68-E291D87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Gazebo／TurtleBot3 提供可重複的感測與控制閉環</a:t>
            </a:r>
          </a:p>
        </p:txBody>
      </p:sp>
      <p:sp>
        <p:nvSpPr>
          <p:cNvPr id="5" name="threat-in-label">
            <a:extLst xmlns:a="http://schemas.openxmlformats.org/drawingml/2006/main">
              <a:ext uri="{FF2B5EF4-FFF2-40B4-BE49-F238E27FC236}">
                <a16:creationId xmlns:a16="http://schemas.microsoft.com/office/drawing/2014/main" id="{31946D24-5524-42D9-8862-7AE8540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PLATFORM</a:t>
            </a:r>
          </a:p>
        </p:txBody>
      </p:sp>
      <p:sp>
        <p:nvSpPr>
          <p:cNvPr id="6" name="threat-in-title">
            <a:extLst xmlns:a="http://schemas.openxmlformats.org/drawingml/2006/main">
              <a:ext uri="{FF2B5EF4-FFF2-40B4-BE49-F238E27FC236}">
                <a16:creationId xmlns:a16="http://schemas.microsoft.com/office/drawing/2014/main" id="{88331D2A-9ADD-41B0-8CE5-D6A1E32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DDS 防禦主實驗軌</a:t>
            </a:r>
          </a:p>
        </p:txBody>
      </p:sp>
      <p:sp>
        <p:nvSpPr>
          <p:cNvPr id="7" name="threat-in-body">
            <a:extLst xmlns:a="http://schemas.openxmlformats.org/drawingml/2006/main">
              <a:ext uri="{FF2B5EF4-FFF2-40B4-BE49-F238E27FC236}">
                <a16:creationId xmlns:a16="http://schemas.microsoft.com/office/drawing/2014/main" id="{86C08828-8F56-44A2-94C4-26D99A0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Gazebo Garden＋TurtleBot3 Burger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/scan · /odom · /imu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patrol／TQC → /cmd_vel/patrol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velocity guard → final /cmd_vel</a:t>
            </a:r>
          </a:p>
        </p:txBody>
      </p:sp>
      <p:sp>
        <p:nvSpPr>
          <p:cNvPr id="8" name="threat-out-label">
            <a:extLst xmlns:a="http://schemas.openxmlformats.org/drawingml/2006/main">
              <a:ext uri="{FF2B5EF4-FFF2-40B4-BE49-F238E27FC236}">
                <a16:creationId xmlns:a16="http://schemas.microsoft.com/office/drawing/2014/main" id="{BFE987FB-26BA-47D1-A447-F95D686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81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PARALLEL AI TRACK</a:t>
            </a:r>
          </a:p>
        </p:txBody>
      </p:sp>
      <p:sp>
        <p:nvSpPr>
          <p:cNvPr id="9" name="threat-out-title">
            <a:extLst xmlns:a="http://schemas.openxmlformats.org/drawingml/2006/main">
              <a:ext uri="{FF2B5EF4-FFF2-40B4-BE49-F238E27FC236}">
                <a16:creationId xmlns:a16="http://schemas.microsoft.com/office/drawing/2014/main" id="{9DD2171C-7309-42B2-B225-234CF86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2001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TQC 強化學習</a:t>
            </a:r>
          </a:p>
        </p:txBody>
      </p:sp>
      <p:sp>
        <p:nvSpPr>
          <p:cNvPr id="10" name="threat-out-body">
            <a:extLst xmlns:a="http://schemas.openxmlformats.org/drawingml/2006/main">
              <a:ext uri="{FF2B5EF4-FFF2-40B4-BE49-F238E27FC236}">
                <a16:creationId xmlns:a16="http://schemas.microsoft.com/office/drawing/2014/main" id="{175E505F-4E37-4848-BE41-8E28BBF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00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(180 LiDAR＋6 state)×4＝744D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1D Conv encoder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curriculum＋domain randomization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5% adversarial events</a:t>
            </a:r>
          </a:p>
        </p:txBody>
      </p:sp>
      <p:sp>
        <p:nvSpPr>
          <p:cNvPr id="11" name="threat-lab-band">
            <a:extLst xmlns:a="http://schemas.openxmlformats.org/drawingml/2006/main">
              <a:ext uri="{FF2B5EF4-FFF2-40B4-BE49-F238E27FC236}">
                <a16:creationId xmlns:a16="http://schemas.microsoft.com/office/drawing/2014/main" id="{72D0A695-3720-45A4-A807-74DB0D0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95800"/>
            <a:ext cx="400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hreat-lab-text">
            <a:extLst xmlns:a="http://schemas.openxmlformats.org/drawingml/2006/main">
              <a:ext uri="{FF2B5EF4-FFF2-40B4-BE49-F238E27FC236}">
                <a16:creationId xmlns:a16="http://schemas.microsoft.com/office/drawing/2014/main" id="{AB4DD33C-1214-45E9-9715-90D07F2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證據邊界｜目前是 Gazebo 模擬；TQC 是獨立軌，不能當作 DDS 防火牆成績</a:t>
            </a:r>
            <a:endParaRPr sz="1350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threat-page">
            <a:extLst xmlns:a="http://schemas.openxmlformats.org/drawingml/2006/main">
              <a:ext uri="{FF2B5EF4-FFF2-40B4-BE49-F238E27FC236}">
                <a16:creationId xmlns:a16="http://schemas.microsoft.com/office/drawing/2014/main" id="{119AB2BE-2A15-42F2-B88E-1502DA8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8151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ail-4">
            <a:extLst xmlns:a="http://schemas.openxmlformats.org/drawingml/2006/main">
              <a:ext uri="{FF2B5EF4-FFF2-40B4-BE49-F238E27FC236}">
                <a16:creationId xmlns:a16="http://schemas.microsoft.com/office/drawing/2014/main" id="{B85B79E5-68FD-4521-9C9C-7CB5117C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72CFD4E5-8BEB-460D-9C49-0C16FBD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ROS 2 節點、topic 與安全服務形成完整資料流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4AA6B4CF-FC7C-4521-92C4-8736D130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A824570B-B420-4BDA-8B97-A199CBB7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從 Gazebo 感測、SROS2/HMAC 預防，到多模態 AI 與可撤銷回應；每一步均保存證據。</a:t>
            </a:r>
          </a:p>
        </p:txBody>
      </p:sp>
      <p:sp>
        <p:nvSpPr>
          <p:cNvPr id="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BDDF5001-AEAC-4CCE-918F-BF846E7B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D78AC9B7-9E37-465A-9C29-58D286A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55E014E2-17D1-47CF-A16F-190899CA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architecture-arrow-4">
            <a:extLst xmlns:a="http://schemas.openxmlformats.org/drawingml/2006/main">
              <a:ext uri="{FF2B5EF4-FFF2-40B4-BE49-F238E27FC236}">
                <a16:creationId xmlns:a16="http://schemas.microsoft.com/office/drawing/2014/main" id="{19FE8BB1-D986-406E-95FB-4D4BF6E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3C847825-4317-492F-A82B-4EE3E5F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architecture-number-1">
            <a:extLst xmlns:a="http://schemas.openxmlformats.org/drawingml/2006/main">
              <a:ext uri="{FF2B5EF4-FFF2-40B4-BE49-F238E27FC236}">
                <a16:creationId xmlns:a16="http://schemas.microsoft.com/office/drawing/2014/main" id="{7507B939-3ADB-49DB-B566-9C77B767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D104A880-613B-42D7-B1F1-377B0DF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機器人</a:t>
            </a:r>
            <a:endParaRPr sz="1875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architecture-node-rule-1">
            <a:extLst xmlns:a="http://schemas.openxmlformats.org/drawingml/2006/main">
              <a:ext uri="{FF2B5EF4-FFF2-40B4-BE49-F238E27FC236}">
                <a16:creationId xmlns:a16="http://schemas.microsoft.com/office/drawing/2014/main" id="{5C939F5F-E07B-4BCE-81DF-88E37B07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956C3699-913E-4D93-9BB7-D651021B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TB3／scan · odom · imu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patrol → cmd_vel</a:t>
            </a:r>
          </a:p>
        </p:txBody>
      </p:sp>
      <p:sp>
        <p:nvSpPr>
          <p:cNvPr id="16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D86426C2-8403-4C37-9DC9-B6EC4367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DCD8D1"/>
          </a:solidFill>
          <a:ln xmlns:a="http://schemas.openxmlformats.org/drawingml/2006/main" w="9525">
            <a:solidFill>
              <a:srgbClr val="DCD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rchitecture-number-2">
            <a:extLst xmlns:a="http://schemas.openxmlformats.org/drawingml/2006/main">
              <a:ext uri="{FF2B5EF4-FFF2-40B4-BE49-F238E27FC236}">
                <a16:creationId xmlns:a16="http://schemas.microsoft.com/office/drawing/2014/main" id="{685147F4-A59F-49C2-BEAA-6BA153F4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8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63675792-DF2A-4021-9618-B8F364CC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預防</a:t>
            </a:r>
          </a:p>
        </p:txBody>
      </p:sp>
      <p:sp>
        <p:nvSpPr>
          <p:cNvPr id="19" name="architecture-node-rule-2">
            <a:extLst xmlns:a="http://schemas.openxmlformats.org/drawingml/2006/main">
              <a:ext uri="{FF2B5EF4-FFF2-40B4-BE49-F238E27FC236}">
                <a16:creationId xmlns:a16="http://schemas.microsoft.com/office/drawing/2014/main" id="{12E5AF00-FB45-4C2A-9744-B758CF17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DB16A78F-68AF-4F3B-B1D6-3BE1AB7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Enforce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雙 CA · ACL · HMAC v3</a:t>
            </a:r>
          </a:p>
        </p:txBody>
      </p:sp>
      <p:sp>
        <p:nvSpPr>
          <p:cNvPr id="21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A0A432B9-0E35-4EAB-A705-007FFFFF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4E7E8"/>
          </a:solidFill>
          <a:ln xmlns:a="http://schemas.openxmlformats.org/drawingml/2006/main" w="9525">
            <a:solidFill>
              <a:srgbClr val="E4E7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rchitecture-number-3">
            <a:extLst xmlns:a="http://schemas.openxmlformats.org/drawingml/2006/main">
              <a:ext uri="{FF2B5EF4-FFF2-40B4-BE49-F238E27FC236}">
                <a16:creationId xmlns:a16="http://schemas.microsoft.com/office/drawing/2014/main" id="{8E667195-D36D-46F0-9098-5180B0B4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3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FA534B62-7AB0-4723-82CB-A43FBD5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觀測</a:t>
            </a:r>
          </a:p>
        </p:txBody>
      </p:sp>
      <p:sp>
        <p:nvSpPr>
          <p:cNvPr id="24" name="architecture-node-rule-3">
            <a:extLst xmlns:a="http://schemas.openxmlformats.org/drawingml/2006/main">
              <a:ext uri="{FF2B5EF4-FFF2-40B4-BE49-F238E27FC236}">
                <a16:creationId xmlns:a16="http://schemas.microsoft.com/office/drawing/2014/main" id="{BB1BD410-48D1-42B5-B498-6D2ADD0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14D31D5E-5109-482D-BE62-7C2ECB6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Zeek／DDS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D1–D6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network＋telemetry</a:t>
            </a:r>
          </a:p>
        </p:txBody>
      </p:sp>
      <p:sp>
        <p:nvSpPr>
          <p:cNvPr id="26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03A37CA8-2191-463B-850F-7538A6C5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architecture-number-4">
            <a:extLst xmlns:a="http://schemas.openxmlformats.org/drawingml/2006/main">
              <a:ext uri="{FF2B5EF4-FFF2-40B4-BE49-F238E27FC236}">
                <a16:creationId xmlns:a16="http://schemas.microsoft.com/office/drawing/2014/main" id="{17F7F90C-E59C-4B5D-8C5B-03DF603B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8" name="architecture-title-4">
            <a:extLst xmlns:a="http://schemas.openxmlformats.org/drawingml/2006/main">
              <a:ext uri="{FF2B5EF4-FFF2-40B4-BE49-F238E27FC236}">
                <a16:creationId xmlns:a16="http://schemas.microsoft.com/office/drawing/2014/main" id="{1499A45A-3CDD-429F-8943-5F41A8E1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AI 判定</a:t>
            </a:r>
          </a:p>
        </p:txBody>
      </p:sp>
      <p:sp>
        <p:nvSpPr>
          <p:cNvPr id="29" name="architecture-node-rule-4">
            <a:extLst xmlns:a="http://schemas.openxmlformats.org/drawingml/2006/main">
              <a:ext uri="{FF2B5EF4-FFF2-40B4-BE49-F238E27FC236}">
                <a16:creationId xmlns:a16="http://schemas.microsoft.com/office/drawing/2014/main" id="{F5C73755-5FCE-4443-B780-4D271BCD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7"/>
          </a:solidFill>
          <a:ln xmlns:a="http://schemas.openxmlformats.org/drawingml/2006/main" w="9525">
            <a:solidFill>
              <a:srgbClr val="B9BD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architecture-body-4">
            <a:extLst xmlns:a="http://schemas.openxmlformats.org/drawingml/2006/main">
              <a:ext uri="{FF2B5EF4-FFF2-40B4-BE49-F238E27FC236}">
                <a16:creationId xmlns:a16="http://schemas.microsoft.com/office/drawing/2014/main" id="{63A3C993-022D-4273-9784-78B9A010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binary → family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→ leaf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normal／attack OOD</a:t>
            </a:r>
          </a:p>
        </p:txBody>
      </p:sp>
      <p:sp>
        <p:nvSpPr>
          <p:cNvPr id="31" name="architecture-node-5">
            <a:extLst xmlns:a="http://schemas.openxmlformats.org/drawingml/2006/main">
              <a:ext uri="{FF2B5EF4-FFF2-40B4-BE49-F238E27FC236}">
                <a16:creationId xmlns:a16="http://schemas.microsoft.com/office/drawing/2014/main" id="{933BC75A-FDCB-44BF-B795-F6277CC3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architecture-number-5">
            <a:extLst xmlns:a="http://schemas.openxmlformats.org/drawingml/2006/main">
              <a:ext uri="{FF2B5EF4-FFF2-40B4-BE49-F238E27FC236}">
                <a16:creationId xmlns:a16="http://schemas.microsoft.com/office/drawing/2014/main" id="{7A395725-D53C-4797-9FE4-1713F4F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architecture-title-5">
            <a:extLst xmlns:a="http://schemas.openxmlformats.org/drawingml/2006/main">
              <a:ext uri="{FF2B5EF4-FFF2-40B4-BE49-F238E27FC236}">
                <a16:creationId xmlns:a16="http://schemas.microsoft.com/office/drawing/2014/main" id="{971F64B3-58D8-4078-B455-B18BC5A0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受限回應</a:t>
            </a:r>
          </a:p>
        </p:txBody>
      </p:sp>
      <p:sp>
        <p:nvSpPr>
          <p:cNvPr id="34" name="architecture-node-rule-5">
            <a:extLst xmlns:a="http://schemas.openxmlformats.org/drawingml/2006/main">
              <a:ext uri="{FF2B5EF4-FFF2-40B4-BE49-F238E27FC236}">
                <a16:creationId xmlns:a16="http://schemas.microsoft.com/office/drawing/2014/main" id="{6D8367D4-E24B-43F7-BEE0-35B4DF83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7"/>
          </a:solidFill>
          <a:ln xmlns:a="http://schemas.openxmlformats.org/drawingml/2006/main" w="9525">
            <a:solidFill>
              <a:srgbClr val="B9BD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architecture-body-5">
            <a:extLst xmlns:a="http://schemas.openxmlformats.org/drawingml/2006/main">
              <a:ext uri="{FF2B5EF4-FFF2-40B4-BE49-F238E27FC236}">
                <a16:creationId xmlns:a16="http://schemas.microsoft.com/office/drawing/2014/main" id="{3DBBB6B1-5388-4F6C-AD00-6B076F7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authorize → ticket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TTL／rollback／log</a:t>
            </a:r>
          </a:p>
        </p:txBody>
      </p:sp>
      <p:sp>
        <p:nvSpPr>
          <p:cNvPr id="36" name="architecture-evidence">
            <a:extLst xmlns:a="http://schemas.openxmlformats.org/drawingml/2006/main">
              <a:ext uri="{FF2B5EF4-FFF2-40B4-BE49-F238E27FC236}">
                <a16:creationId xmlns:a16="http://schemas.microsoft.com/office/drawing/2014/main" id="{B314C20C-37A6-4C74-A8AB-47E07AB9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正式 graph 以 live snapshot 重新核對；final /cmd_vel 只允許 velocity guard 發布。</a:t>
            </a:r>
          </a:p>
        </p:txBody>
      </p:sp>
    </p:spTree>
    <p:extLst>
      <p:ext uri="{BB962C8B-B14F-4D97-AF65-F5344CB8AC3E}">
        <p14:creationId xmlns:p14="http://schemas.microsoft.com/office/powerpoint/2010/main" val="306298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hreat-left">
            <a:extLst xmlns:a="http://schemas.openxmlformats.org/drawingml/2006/main">
              <a:ext uri="{FF2B5EF4-FFF2-40B4-BE49-F238E27FC236}">
                <a16:creationId xmlns:a16="http://schemas.microsoft.com/office/drawing/2014/main" id="{7EBB5E65-64EC-4D47-9BC8-868DB3B4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0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hreat-divider">
            <a:extLst xmlns:a="http://schemas.openxmlformats.org/drawingml/2006/main">
              <a:ext uri="{FF2B5EF4-FFF2-40B4-BE49-F238E27FC236}">
                <a16:creationId xmlns:a16="http://schemas.microsoft.com/office/drawing/2014/main" id="{F9BABD9D-E753-4077-8548-9437748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reat-title">
            <a:extLst xmlns:a="http://schemas.openxmlformats.org/drawingml/2006/main">
              <a:ext uri="{FF2B5EF4-FFF2-40B4-BE49-F238E27FC236}">
                <a16:creationId xmlns:a16="http://schemas.microsoft.com/office/drawing/2014/main" id="{2060D033-4016-4B2C-8F68-E291D87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約 30 種攻擊與變體，揭露身分、訊息與行為缺口</a:t>
            </a:r>
          </a:p>
        </p:txBody>
      </p:sp>
      <p:sp>
        <p:nvSpPr>
          <p:cNvPr id="5" name="threat-in-label">
            <a:extLst xmlns:a="http://schemas.openxmlformats.org/drawingml/2006/main">
              <a:ext uri="{FF2B5EF4-FFF2-40B4-BE49-F238E27FC236}">
                <a16:creationId xmlns:a16="http://schemas.microsoft.com/office/drawing/2014/main" id="{31946D24-5524-42D9-8862-7AE8540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ATTACK FAMILIES</a:t>
            </a:r>
          </a:p>
        </p:txBody>
      </p:sp>
      <p:sp>
        <p:nvSpPr>
          <p:cNvPr id="6" name="threat-in-title">
            <a:extLst xmlns:a="http://schemas.openxmlformats.org/drawingml/2006/main">
              <a:ext uri="{FF2B5EF4-FFF2-40B4-BE49-F238E27FC236}">
                <a16:creationId xmlns:a16="http://schemas.microsoft.com/office/drawing/2014/main" id="{88331D2A-9ADD-41B0-8CE5-D6A1E32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曾納入設計與修補</a:t>
            </a:r>
          </a:p>
        </p:txBody>
      </p:sp>
      <p:sp>
        <p:nvSpPr>
          <p:cNvPr id="7" name="threat-in-body">
            <a:extLst xmlns:a="http://schemas.openxmlformats.org/drawingml/2006/main">
              <a:ext uri="{FF2B5EF4-FFF2-40B4-BE49-F238E27FC236}">
                <a16:creationId xmlns:a16="http://schemas.microsoft.com/office/drawing/2014/main" id="{86C08828-8F56-44A2-94C4-26D99A0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未授權 participant／publisher 冒充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偽造、replay、cross-channel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cmd_vel／sensor／parameter 注入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偵察、來源偽造、SPDP 異常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模型／政策置換與 service abuse</a:t>
            </a:r>
          </a:p>
        </p:txBody>
      </p:sp>
      <p:sp>
        <p:nvSpPr>
          <p:cNvPr id="8" name="threat-out-label">
            <a:extLst xmlns:a="http://schemas.openxmlformats.org/drawingml/2006/main">
              <a:ext uri="{FF2B5EF4-FFF2-40B4-BE49-F238E27FC236}">
                <a16:creationId xmlns:a16="http://schemas.microsoft.com/office/drawing/2014/main" id="{BFE987FB-26BA-47D1-A447-F95D686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81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HONEST BOUNDARY</a:t>
            </a:r>
          </a:p>
        </p:txBody>
      </p:sp>
      <p:sp>
        <p:nvSpPr>
          <p:cNvPr id="9" name="threat-out-title">
            <a:extLst xmlns:a="http://schemas.openxmlformats.org/drawingml/2006/main">
              <a:ext uri="{FF2B5EF4-FFF2-40B4-BE49-F238E27FC236}">
                <a16:creationId xmlns:a16="http://schemas.microsoft.com/office/drawing/2014/main" id="{9DD2171C-7309-42B2-B225-234CF86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2001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不能過度宣稱</a:t>
            </a:r>
          </a:p>
        </p:txBody>
      </p:sp>
      <p:sp>
        <p:nvSpPr>
          <p:cNvPr id="10" name="threat-out-body">
            <a:extLst xmlns:a="http://schemas.openxmlformats.org/drawingml/2006/main">
              <a:ext uri="{FF2B5EF4-FFF2-40B4-BE49-F238E27FC236}">
                <a16:creationId xmlns:a16="http://schemas.microsoft.com/office/drawing/2014/main" id="{175E505F-4E37-4848-BE41-8E28BBF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00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跨版本歷史案例 ≠ 現行版全重跑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Metasploit ≠ DDS/SROS2 模組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同機 ≠ 跨主機防火牆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PCAP 有封包 ≠ subscriber 未收到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功能存在 ≠ 已具部署資格</a:t>
            </a:r>
          </a:p>
        </p:txBody>
      </p:sp>
      <p:sp>
        <p:nvSpPr>
          <p:cNvPr id="11" name="threat-lab-band">
            <a:extLst xmlns:a="http://schemas.openxmlformats.org/drawingml/2006/main">
              <a:ext uri="{FF2B5EF4-FFF2-40B4-BE49-F238E27FC236}">
                <a16:creationId xmlns:a16="http://schemas.microsoft.com/office/drawing/2014/main" id="{72D0A695-3720-45A4-A807-74DB0D0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95800"/>
            <a:ext cx="400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hreat-lab-text">
            <a:extLst xmlns:a="http://schemas.openxmlformats.org/drawingml/2006/main">
              <a:ext uri="{FF2B5EF4-FFF2-40B4-BE49-F238E27FC236}">
                <a16:creationId xmlns:a16="http://schemas.microsoft.com/office/drawing/2014/main" id="{AB4DD33C-1214-45E9-9715-90D07F2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每案保存</a:t>
            </a:r>
            <a:endParaRPr sz="1350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r>
              <a:t>scope · commands · logs · PCAP</a:t>
            </a:r>
            <a:endParaRPr sz="1350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SHA-256 · observations · rollback</a:t>
            </a:r>
            <a:endParaRPr sz="1350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threat-page">
            <a:extLst xmlns:a="http://schemas.openxmlformats.org/drawingml/2006/main">
              <a:ext uri="{FF2B5EF4-FFF2-40B4-BE49-F238E27FC236}">
                <a16:creationId xmlns:a16="http://schemas.microsoft.com/office/drawing/2014/main" id="{119AB2BE-2A15-42F2-B88E-1502DA8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8151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ail-5">
            <a:extLst xmlns:a="http://schemas.openxmlformats.org/drawingml/2006/main">
              <a:ext uri="{FF2B5EF4-FFF2-40B4-BE49-F238E27FC236}">
                <a16:creationId xmlns:a16="http://schemas.microsoft.com/office/drawing/2014/main" id="{082A4696-33CB-4F87-8408-EB213930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95BFBDC1-BCFE-42C8-B055-0AAEC35F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五層防禦互補，AI 不是唯一防線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D99B0DEA-57BC-42B2-A904-B610B249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layers-big">
            <a:extLst xmlns:a="http://schemas.openxmlformats.org/drawingml/2006/main">
              <a:ext uri="{FF2B5EF4-FFF2-40B4-BE49-F238E27FC236}">
                <a16:creationId xmlns:a16="http://schemas.microsoft.com/office/drawing/2014/main" id="{DC8F0EC9-356F-4688-B5FA-C72DFAB0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layers-intro">
            <a:extLst xmlns:a="http://schemas.openxmlformats.org/drawingml/2006/main">
              <a:ext uri="{FF2B5EF4-FFF2-40B4-BE49-F238E27FC236}">
                <a16:creationId xmlns:a16="http://schemas.microsoft.com/office/drawing/2014/main" id="{D3D6B639-F279-4CB2-93C9-C03202D0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223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先減少可攻擊面，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再辨識剩餘異常，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最後限制處置權。</a:t>
            </a:r>
          </a:p>
        </p:txBody>
      </p:sp>
      <p:sp>
        <p:nvSpPr>
          <p:cNvPr id="8" name="layers-foot">
            <a:extLst xmlns:a="http://schemas.openxmlformats.org/drawingml/2006/main">
              <a:ext uri="{FF2B5EF4-FFF2-40B4-BE49-F238E27FC236}">
                <a16:creationId xmlns:a16="http://schemas.microsoft.com/office/drawing/2014/main" id="{BD05A33B-820B-4380-978D-AF828177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PREVENT → VERIFY → DETECT → AUTHORIZE → RECOVER</a:t>
            </a:r>
          </a:p>
        </p:txBody>
      </p:sp>
      <p:sp>
        <p:nvSpPr>
          <p:cNvPr id="9" name="layer-color-1">
            <a:extLst xmlns:a="http://schemas.openxmlformats.org/drawingml/2006/main">
              <a:ext uri="{FF2B5EF4-FFF2-40B4-BE49-F238E27FC236}">
                <a16:creationId xmlns:a16="http://schemas.microsoft.com/office/drawing/2014/main" id="{23994E31-063E-4ACB-85B2-1AF79378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layer-number-1">
            <a:extLst xmlns:a="http://schemas.openxmlformats.org/drawingml/2006/main">
              <a:ext uri="{FF2B5EF4-FFF2-40B4-BE49-F238E27FC236}">
                <a16:creationId xmlns:a16="http://schemas.microsoft.com/office/drawing/2014/main" id="{EA395769-4536-484C-AC98-9A0A4F27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383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7FDDB04E-FFB0-472C-828D-D56D9276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38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預防</a:t>
            </a:r>
          </a:p>
        </p:txBody>
      </p:sp>
      <p:sp>
        <p:nvSpPr>
          <p:cNvPr id="12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BEAFB584-BF14-45F7-867D-250A56B9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2877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雙 CA、逐 enclave 最小權限、DDS discovery／data 保護</a:t>
            </a:r>
          </a:p>
        </p:txBody>
      </p:sp>
      <p:sp>
        <p:nvSpPr>
          <p:cNvPr id="13" name="layer-rule-1">
            <a:extLst xmlns:a="http://schemas.openxmlformats.org/drawingml/2006/main">
              <a:ext uri="{FF2B5EF4-FFF2-40B4-BE49-F238E27FC236}">
                <a16:creationId xmlns:a16="http://schemas.microsoft.com/office/drawing/2014/main" id="{D11DA018-3CCD-49E6-B76B-9B5D617E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145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layer-color-2">
            <a:extLst xmlns:a="http://schemas.openxmlformats.org/drawingml/2006/main">
              <a:ext uri="{FF2B5EF4-FFF2-40B4-BE49-F238E27FC236}">
                <a16:creationId xmlns:a16="http://schemas.microsoft.com/office/drawing/2014/main" id="{29A36B8F-8410-467E-8658-AB6B76C1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6697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layer-number-2">
            <a:extLst xmlns:a="http://schemas.openxmlformats.org/drawingml/2006/main">
              <a:ext uri="{FF2B5EF4-FFF2-40B4-BE49-F238E27FC236}">
                <a16:creationId xmlns:a16="http://schemas.microsoft.com/office/drawing/2014/main" id="{399AC7C3-49EE-4542-91A6-0B0DF864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050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51001922-274C-4F70-855F-9DB677C9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050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 完整性</a:t>
            </a:r>
          </a:p>
        </p:txBody>
      </p:sp>
      <p:sp>
        <p:nvSpPr>
          <p:cNvPr id="17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3289CEFA-F505-4B2A-8B3E-4DEB20A3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channel、timestamp、nonce、payload 防偽造與重放</a:t>
            </a:r>
          </a:p>
        </p:txBody>
      </p:sp>
      <p:sp>
        <p:nvSpPr>
          <p:cNvPr id="18" name="layer-rule-2">
            <a:extLst xmlns:a="http://schemas.openxmlformats.org/drawingml/2006/main">
              <a:ext uri="{FF2B5EF4-FFF2-40B4-BE49-F238E27FC236}">
                <a16:creationId xmlns:a16="http://schemas.microsoft.com/office/drawing/2014/main" id="{341F705A-E0FE-4C04-88C5-C20DAB48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layer-color-3">
            <a:extLst xmlns:a="http://schemas.openxmlformats.org/drawingml/2006/main">
              <a:ext uri="{FF2B5EF4-FFF2-40B4-BE49-F238E27FC236}">
                <a16:creationId xmlns:a16="http://schemas.microsoft.com/office/drawing/2014/main" id="{3C1A62AA-FF49-4826-96D9-91332C6C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layer-number-3">
            <a:extLst xmlns:a="http://schemas.openxmlformats.org/drawingml/2006/main">
              <a:ext uri="{FF2B5EF4-FFF2-40B4-BE49-F238E27FC236}">
                <a16:creationId xmlns:a16="http://schemas.microsoft.com/office/drawing/2014/main" id="{A2DCAB5F-71D6-45DE-8264-9E1CF397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71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E6B769F8-1EAF-4E5D-91B0-CD0739BF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D1–D6 行為</a:t>
            </a:r>
          </a:p>
        </p:txBody>
      </p:sp>
      <p:sp>
        <p:nvSpPr>
          <p:cNvPr id="22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7AC03C09-4223-474C-92E9-B7863686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232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速度、方向、雷射、publisher、heartbeat、一致性</a:t>
            </a:r>
          </a:p>
        </p:txBody>
      </p:sp>
      <p:sp>
        <p:nvSpPr>
          <p:cNvPr id="23" name="layer-rule-3">
            <a:extLst xmlns:a="http://schemas.openxmlformats.org/drawingml/2006/main">
              <a:ext uri="{FF2B5EF4-FFF2-40B4-BE49-F238E27FC236}">
                <a16:creationId xmlns:a16="http://schemas.microsoft.com/office/drawing/2014/main" id="{2E6EF79F-BDE2-4BF0-84DF-3E82C71E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4812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layer-color-4">
            <a:extLst xmlns:a="http://schemas.openxmlformats.org/drawingml/2006/main">
              <a:ext uri="{FF2B5EF4-FFF2-40B4-BE49-F238E27FC236}">
                <a16:creationId xmlns:a16="http://schemas.microsoft.com/office/drawing/2014/main" id="{832F1665-CFDB-46B4-9425-E2E02B7C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0052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layer-number-4">
            <a:extLst xmlns:a="http://schemas.openxmlformats.org/drawingml/2006/main">
              <a:ext uri="{FF2B5EF4-FFF2-40B4-BE49-F238E27FC236}">
                <a16:creationId xmlns:a16="http://schemas.microsoft.com/office/drawing/2014/main" id="{AAF0709C-AD51-49A2-B219-5BC61651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3862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layer-title-4">
            <a:extLst xmlns:a="http://schemas.openxmlformats.org/drawingml/2006/main">
              <a:ext uri="{FF2B5EF4-FFF2-40B4-BE49-F238E27FC236}">
                <a16:creationId xmlns:a16="http://schemas.microsoft.com/office/drawing/2014/main" id="{A6B4F274-77B8-4F5E-BFDA-7097823F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38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Zeek＋分層 AI</a:t>
            </a:r>
          </a:p>
        </p:txBody>
      </p:sp>
      <p:sp>
        <p:nvSpPr>
          <p:cNvPr id="27" name="layer-body-4">
            <a:extLst xmlns:a="http://schemas.openxmlformats.org/drawingml/2006/main">
              <a:ext uri="{FF2B5EF4-FFF2-40B4-BE49-F238E27FC236}">
                <a16:creationId xmlns:a16="http://schemas.microsoft.com/office/drawing/2014/main" id="{F53856B7-2FFE-401F-B05A-7F0D31D5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網路與 telemetry 時序融合；未知／低信心降級 alert</a:t>
            </a:r>
          </a:p>
        </p:txBody>
      </p:sp>
      <p:sp>
        <p:nvSpPr>
          <p:cNvPr id="28" name="layer-rule-4">
            <a:extLst xmlns:a="http://schemas.openxmlformats.org/drawingml/2006/main">
              <a:ext uri="{FF2B5EF4-FFF2-40B4-BE49-F238E27FC236}">
                <a16:creationId xmlns:a16="http://schemas.microsoft.com/office/drawing/2014/main" id="{BDCE574A-ADE7-467A-95FD-17012828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1490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layer-color-5">
            <a:extLst xmlns:a="http://schemas.openxmlformats.org/drawingml/2006/main">
              <a:ext uri="{FF2B5EF4-FFF2-40B4-BE49-F238E27FC236}">
                <a16:creationId xmlns:a16="http://schemas.microsoft.com/office/drawing/2014/main" id="{ACB8D6D5-7D67-4860-A556-717BF7C0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673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layer-number-5">
            <a:extLst xmlns:a="http://schemas.openxmlformats.org/drawingml/2006/main">
              <a:ext uri="{FF2B5EF4-FFF2-40B4-BE49-F238E27FC236}">
                <a16:creationId xmlns:a16="http://schemas.microsoft.com/office/drawing/2014/main" id="{E5F0E37C-9C0D-4941-B96F-3C90660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054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1" name="layer-title-5">
            <a:extLst xmlns:a="http://schemas.openxmlformats.org/drawingml/2006/main">
              <a:ext uri="{FF2B5EF4-FFF2-40B4-BE49-F238E27FC236}">
                <a16:creationId xmlns:a16="http://schemas.microsoft.com/office/drawing/2014/main" id="{507B168A-D95C-4051-A947-A423BC61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05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安全回應</a:t>
            </a:r>
          </a:p>
        </p:txBody>
      </p:sp>
      <p:sp>
        <p:nvSpPr>
          <p:cNvPr id="32" name="layer-body-5">
            <a:extLst xmlns:a="http://schemas.openxmlformats.org/drawingml/2006/main">
              <a:ext uri="{FF2B5EF4-FFF2-40B4-BE49-F238E27FC236}">
                <a16:creationId xmlns:a16="http://schemas.microsoft.com/office/drawing/2014/main" id="{DB60EB9E-A355-4AA1-B166-0AD10EF5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來源驗證、票證、TTL、cooldown、白名單與復原</a:t>
            </a:r>
          </a:p>
        </p:txBody>
      </p:sp>
      <p:sp>
        <p:nvSpPr>
          <p:cNvPr id="33" name="layer-rule-5">
            <a:extLst xmlns:a="http://schemas.openxmlformats.org/drawingml/2006/main">
              <a:ext uri="{FF2B5EF4-FFF2-40B4-BE49-F238E27FC236}">
                <a16:creationId xmlns:a16="http://schemas.microsoft.com/office/drawing/2014/main" id="{416FB286-6B7F-4B31-942B-09093FFC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816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859774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ail-5">
            <a:extLst xmlns:a="http://schemas.openxmlformats.org/drawingml/2006/main">
              <a:ext uri="{FF2B5EF4-FFF2-40B4-BE49-F238E27FC236}">
                <a16:creationId xmlns:a16="http://schemas.microsoft.com/office/drawing/2014/main" id="{082A4696-33CB-4F87-8408-EB213930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95BFBDC1-BCFE-42C8-B055-0AAEC35F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Enforce 是主要預防層，而不是 AI 的替代品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D99B0DEA-57BC-42B2-A904-B610B249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layers-big">
            <a:extLst xmlns:a="http://schemas.openxmlformats.org/drawingml/2006/main">
              <a:ext uri="{FF2B5EF4-FFF2-40B4-BE49-F238E27FC236}">
                <a16:creationId xmlns:a16="http://schemas.microsoft.com/office/drawing/2014/main" id="{DC8F0EC9-356F-4688-B5FA-C72DFAB0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layers-intro">
            <a:extLst xmlns:a="http://schemas.openxmlformats.org/drawingml/2006/main">
              <a:ext uri="{FF2B5EF4-FFF2-40B4-BE49-F238E27FC236}">
                <a16:creationId xmlns:a16="http://schemas.microsoft.com/office/drawing/2014/main" id="{D3D6B639-F279-4CB2-93C9-C03202D0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223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先拒絕未授權 DDS 身分，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再分析已通過邊界的異常。</a:t>
            </a:r>
          </a:p>
        </p:txBody>
      </p:sp>
      <p:sp>
        <p:nvSpPr>
          <p:cNvPr id="8" name="layers-foot">
            <a:extLst xmlns:a="http://schemas.openxmlformats.org/drawingml/2006/main">
              <a:ext uri="{FF2B5EF4-FFF2-40B4-BE49-F238E27FC236}">
                <a16:creationId xmlns:a16="http://schemas.microsoft.com/office/drawing/2014/main" id="{BD05A33B-820B-4380-978D-AF828177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IDENTITY → ACCESS → CRYPTO → AUDIT → DIRECT PROOF</a:t>
            </a:r>
          </a:p>
        </p:txBody>
      </p:sp>
      <p:sp>
        <p:nvSpPr>
          <p:cNvPr id="9" name="layer-color-1">
            <a:extLst xmlns:a="http://schemas.openxmlformats.org/drawingml/2006/main">
              <a:ext uri="{FF2B5EF4-FFF2-40B4-BE49-F238E27FC236}">
                <a16:creationId xmlns:a16="http://schemas.microsoft.com/office/drawing/2014/main" id="{23994E31-063E-4ACB-85B2-1AF79378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layer-number-1">
            <a:extLst xmlns:a="http://schemas.openxmlformats.org/drawingml/2006/main">
              <a:ext uri="{FF2B5EF4-FFF2-40B4-BE49-F238E27FC236}">
                <a16:creationId xmlns:a16="http://schemas.microsoft.com/office/drawing/2014/main" id="{EA395769-4536-484C-AC98-9A0A4F27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383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7FDDB04E-FFB0-472C-828D-D56D9276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38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Identity CA</a:t>
            </a:r>
          </a:p>
        </p:txBody>
      </p:sp>
      <p:sp>
        <p:nvSpPr>
          <p:cNvPr id="12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BEAFB584-BF14-45F7-867D-250A56B9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2877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節點憑證、受信任身分與 enclave 綁定</a:t>
            </a:r>
          </a:p>
        </p:txBody>
      </p:sp>
      <p:sp>
        <p:nvSpPr>
          <p:cNvPr id="13" name="layer-rule-1">
            <a:extLst xmlns:a="http://schemas.openxmlformats.org/drawingml/2006/main">
              <a:ext uri="{FF2B5EF4-FFF2-40B4-BE49-F238E27FC236}">
                <a16:creationId xmlns:a16="http://schemas.microsoft.com/office/drawing/2014/main" id="{D11DA018-3CCD-49E6-B76B-9B5D617E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145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layer-color-2">
            <a:extLst xmlns:a="http://schemas.openxmlformats.org/drawingml/2006/main">
              <a:ext uri="{FF2B5EF4-FFF2-40B4-BE49-F238E27FC236}">
                <a16:creationId xmlns:a16="http://schemas.microsoft.com/office/drawing/2014/main" id="{29A36B8F-8410-467E-8658-AB6B76C1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6697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layer-number-2">
            <a:extLst xmlns:a="http://schemas.openxmlformats.org/drawingml/2006/main">
              <a:ext uri="{FF2B5EF4-FFF2-40B4-BE49-F238E27FC236}">
                <a16:creationId xmlns:a16="http://schemas.microsoft.com/office/drawing/2014/main" id="{399AC7C3-49EE-4542-91A6-0B0DF864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050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51001922-274C-4F70-855F-9DB677C9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050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Permissions CA</a:t>
            </a:r>
          </a:p>
        </p:txBody>
      </p:sp>
      <p:sp>
        <p:nvSpPr>
          <p:cNvPr id="17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3289CEFA-F505-4B2A-8B3E-4DEB20A3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domain 30、topic publish／subscribe 最小權限</a:t>
            </a:r>
          </a:p>
        </p:txBody>
      </p:sp>
      <p:sp>
        <p:nvSpPr>
          <p:cNvPr id="18" name="layer-rule-2">
            <a:extLst xmlns:a="http://schemas.openxmlformats.org/drawingml/2006/main">
              <a:ext uri="{FF2B5EF4-FFF2-40B4-BE49-F238E27FC236}">
                <a16:creationId xmlns:a16="http://schemas.microsoft.com/office/drawing/2014/main" id="{341F705A-E0FE-4C04-88C5-C20DAB48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layer-color-3">
            <a:extLst xmlns:a="http://schemas.openxmlformats.org/drawingml/2006/main">
              <a:ext uri="{FF2B5EF4-FFF2-40B4-BE49-F238E27FC236}">
                <a16:creationId xmlns:a16="http://schemas.microsoft.com/office/drawing/2014/main" id="{3C1A62AA-FF49-4826-96D9-91332C6C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layer-number-3">
            <a:extLst xmlns:a="http://schemas.openxmlformats.org/drawingml/2006/main">
              <a:ext uri="{FF2B5EF4-FFF2-40B4-BE49-F238E27FC236}">
                <a16:creationId xmlns:a16="http://schemas.microsoft.com/office/drawing/2014/main" id="{A2DCAB5F-71D6-45DE-8264-9E1CF397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71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E6B769F8-1EAF-4E5D-91B0-CD0739BF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零 wildcard 政策</a:t>
            </a:r>
          </a:p>
        </p:txBody>
      </p:sp>
      <p:sp>
        <p:nvSpPr>
          <p:cNvPr id="22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7AC03C09-4223-474C-92E9-B7863686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232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逐節點允許清單；final cmd_vel 僅 guard</a:t>
            </a:r>
          </a:p>
        </p:txBody>
      </p:sp>
      <p:sp>
        <p:nvSpPr>
          <p:cNvPr id="23" name="layer-rule-3">
            <a:extLst xmlns:a="http://schemas.openxmlformats.org/drawingml/2006/main">
              <a:ext uri="{FF2B5EF4-FFF2-40B4-BE49-F238E27FC236}">
                <a16:creationId xmlns:a16="http://schemas.microsoft.com/office/drawing/2014/main" id="{2E6EF79F-BDE2-4BF0-84DF-3E82C71E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4812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layer-color-4">
            <a:extLst xmlns:a="http://schemas.openxmlformats.org/drawingml/2006/main">
              <a:ext uri="{FF2B5EF4-FFF2-40B4-BE49-F238E27FC236}">
                <a16:creationId xmlns:a16="http://schemas.microsoft.com/office/drawing/2014/main" id="{832F1665-CFDB-46B4-9425-E2E02B7C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0052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layer-number-4">
            <a:extLst xmlns:a="http://schemas.openxmlformats.org/drawingml/2006/main">
              <a:ext uri="{FF2B5EF4-FFF2-40B4-BE49-F238E27FC236}">
                <a16:creationId xmlns:a16="http://schemas.microsoft.com/office/drawing/2014/main" id="{AAF0709C-AD51-49A2-B219-5BC61651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3862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layer-title-4">
            <a:extLst xmlns:a="http://schemas.openxmlformats.org/drawingml/2006/main">
              <a:ext uri="{FF2B5EF4-FFF2-40B4-BE49-F238E27FC236}">
                <a16:creationId xmlns:a16="http://schemas.microsoft.com/office/drawing/2014/main" id="{A6B4F274-77B8-4F5E-BFDA-7097823F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38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DDS 加密保護</a:t>
            </a:r>
          </a:p>
        </p:txBody>
      </p:sp>
      <p:sp>
        <p:nvSpPr>
          <p:cNvPr id="27" name="layer-body-4">
            <a:extLst xmlns:a="http://schemas.openxmlformats.org/drawingml/2006/main">
              <a:ext uri="{FF2B5EF4-FFF2-40B4-BE49-F238E27FC236}">
                <a16:creationId xmlns:a16="http://schemas.microsoft.com/office/drawing/2014/main" id="{F53856B7-2FFE-401F-B05A-7F0D31D5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discovery 與 data 保護；ready 報告 5/5 required checks</a:t>
            </a:r>
          </a:p>
        </p:txBody>
      </p:sp>
      <p:sp>
        <p:nvSpPr>
          <p:cNvPr id="28" name="layer-rule-4">
            <a:extLst xmlns:a="http://schemas.openxmlformats.org/drawingml/2006/main">
              <a:ext uri="{FF2B5EF4-FFF2-40B4-BE49-F238E27FC236}">
                <a16:creationId xmlns:a16="http://schemas.microsoft.com/office/drawing/2014/main" id="{BDCE574A-ADE7-467A-95FD-17012828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1490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layer-color-5">
            <a:extLst xmlns:a="http://schemas.openxmlformats.org/drawingml/2006/main">
              <a:ext uri="{FF2B5EF4-FFF2-40B4-BE49-F238E27FC236}">
                <a16:creationId xmlns:a16="http://schemas.microsoft.com/office/drawing/2014/main" id="{ACB8D6D5-7D67-4860-A556-717BF7C0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673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layer-number-5">
            <a:extLst xmlns:a="http://schemas.openxmlformats.org/drawingml/2006/main">
              <a:ext uri="{FF2B5EF4-FFF2-40B4-BE49-F238E27FC236}">
                <a16:creationId xmlns:a16="http://schemas.microsoft.com/office/drawing/2014/main" id="{E5F0E37C-9C0D-4941-B96F-3C90660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054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1" name="layer-title-5">
            <a:extLst xmlns:a="http://schemas.openxmlformats.org/drawingml/2006/main">
              <a:ext uri="{FF2B5EF4-FFF2-40B4-BE49-F238E27FC236}">
                <a16:creationId xmlns:a16="http://schemas.microsoft.com/office/drawing/2014/main" id="{507B168A-D95C-4051-A947-A423BC61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05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Direct-delivery 驗證</a:t>
            </a:r>
          </a:p>
        </p:txBody>
      </p:sp>
      <p:sp>
        <p:nvSpPr>
          <p:cNvPr id="32" name="layer-body-5">
            <a:extLst xmlns:a="http://schemas.openxmlformats.org/drawingml/2006/main">
              <a:ext uri="{FF2B5EF4-FFF2-40B4-BE49-F238E27FC236}">
                <a16:creationId xmlns:a16="http://schemas.microsoft.com/office/drawing/2014/main" id="{DB60EB9E-A355-4AA1-B166-0AD10EF5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attempt／receipt／health；live archive 尚待授權收集</a:t>
            </a:r>
          </a:p>
        </p:txBody>
      </p:sp>
      <p:sp>
        <p:nvSpPr>
          <p:cNvPr id="33" name="layer-rule-5">
            <a:extLst xmlns:a="http://schemas.openxmlformats.org/drawingml/2006/main">
              <a:ext uri="{FF2B5EF4-FFF2-40B4-BE49-F238E27FC236}">
                <a16:creationId xmlns:a16="http://schemas.microsoft.com/office/drawing/2014/main" id="{416FB286-6B7F-4B31-942B-09093FFC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816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859774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ail-3">
            <a:extLst xmlns:a="http://schemas.openxmlformats.org/drawingml/2006/main">
              <a:ext uri="{FF2B5EF4-FFF2-40B4-BE49-F238E27FC236}">
                <a16:creationId xmlns:a16="http://schemas.microsoft.com/office/drawing/2014/main" id="{61219FF8-5F24-4FFD-A40E-D3358F19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8588356C-D8D0-4162-B3AF-F27C6A24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 envelope v3 為六個 String topic 綁定正確脈絡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88619A1-1E9F-45EF-A87C-8BE98816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rq-number-1">
            <a:extLst xmlns:a="http://schemas.openxmlformats.org/drawingml/2006/main">
              <a:ext uri="{FF2B5EF4-FFF2-40B4-BE49-F238E27FC236}">
                <a16:creationId xmlns:a16="http://schemas.microsoft.com/office/drawing/2014/main" id="{CE2060FD-3B38-4ED9-8BF1-F6B917E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rq-title-1">
            <a:extLst xmlns:a="http://schemas.openxmlformats.org/drawingml/2006/main">
              <a:ext uri="{FF2B5EF4-FFF2-40B4-BE49-F238E27FC236}">
                <a16:creationId xmlns:a16="http://schemas.microsoft.com/office/drawing/2014/main" id="{1E94AD40-7099-46A8-8E82-AA806054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綁定頻道</a:t>
            </a:r>
          </a:p>
        </p:txBody>
      </p:sp>
      <p:sp>
        <p:nvSpPr>
          <p:cNvPr id="8" name="rq-body-1">
            <a:extLst xmlns:a="http://schemas.openxmlformats.org/drawingml/2006/main">
              <a:ext uri="{FF2B5EF4-FFF2-40B4-BE49-F238E27FC236}">
                <a16:creationId xmlns:a16="http://schemas.microsoft.com/office/drawing/2014/main" id="{2E39D1B8-0028-47EC-8251-C56A78B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972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channel 納入 MAC，阻止同一封包被跨 topic 轉貼。</a:t>
            </a:r>
          </a:p>
        </p:txBody>
      </p:sp>
      <p:sp>
        <p:nvSpPr>
          <p:cNvPr id="9" name="rq-rule-1">
            <a:extLst xmlns:a="http://schemas.openxmlformats.org/drawingml/2006/main">
              <a:ext uri="{FF2B5EF4-FFF2-40B4-BE49-F238E27FC236}">
                <a16:creationId xmlns:a16="http://schemas.microsoft.com/office/drawing/2014/main" id="{7707C419-4156-430D-BC42-0E3BB5F4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q-number-2">
            <a:extLst xmlns:a="http://schemas.openxmlformats.org/drawingml/2006/main">
              <a:ext uri="{FF2B5EF4-FFF2-40B4-BE49-F238E27FC236}">
                <a16:creationId xmlns:a16="http://schemas.microsoft.com/office/drawing/2014/main" id="{6E301A82-D1CC-4654-AB22-1080985F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rq-title-2">
            <a:extLst xmlns:a="http://schemas.openxmlformats.org/drawingml/2006/main">
              <a:ext uri="{FF2B5EF4-FFF2-40B4-BE49-F238E27FC236}">
                <a16:creationId xmlns:a16="http://schemas.microsoft.com/office/drawing/2014/main" id="{9BB8CFD2-8AE9-4A9F-AD7A-5CFC8C2C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336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限制時間</a:t>
            </a:r>
          </a:p>
        </p:txBody>
      </p:sp>
      <p:sp>
        <p:nvSpPr>
          <p:cNvPr id="12" name="rq-body-2">
            <a:extLst xmlns:a="http://schemas.openxmlformats.org/drawingml/2006/main">
              <a:ext uri="{FF2B5EF4-FFF2-40B4-BE49-F238E27FC236}">
                <a16:creationId xmlns:a16="http://schemas.microsoft.com/office/drawing/2014/main" id="{43A32F7A-5D7B-48F3-990A-FF8DB833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timestamp freshness window 拒絕過期封包。</a:t>
            </a:r>
          </a:p>
        </p:txBody>
      </p:sp>
      <p:sp>
        <p:nvSpPr>
          <p:cNvPr id="13" name="rq-rule-2">
            <a:extLst xmlns:a="http://schemas.openxmlformats.org/drawingml/2006/main">
              <a:ext uri="{FF2B5EF4-FFF2-40B4-BE49-F238E27FC236}">
                <a16:creationId xmlns:a16="http://schemas.microsoft.com/office/drawing/2014/main" id="{E43A03D2-9BDC-49AF-8681-1C0DDA2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q-number-3">
            <a:extLst xmlns:a="http://schemas.openxmlformats.org/drawingml/2006/main">
              <a:ext uri="{FF2B5EF4-FFF2-40B4-BE49-F238E27FC236}">
                <a16:creationId xmlns:a16="http://schemas.microsoft.com/office/drawing/2014/main" id="{C0F60988-00D6-42C2-A5BE-3DF8B983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rq-title-3">
            <a:extLst xmlns:a="http://schemas.openxmlformats.org/drawingml/2006/main">
              <a:ext uri="{FF2B5EF4-FFF2-40B4-BE49-F238E27FC236}">
                <a16:creationId xmlns:a16="http://schemas.microsoft.com/office/drawing/2014/main" id="{EF87CBC4-860F-4D3A-8B4F-8DBABE9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原子 nonce</a:t>
            </a:r>
          </a:p>
        </p:txBody>
      </p:sp>
      <p:sp>
        <p:nvSpPr>
          <p:cNvPr id="16" name="rq-body-3">
            <a:extLst xmlns:a="http://schemas.openxmlformats.org/drawingml/2006/main">
              <a:ext uri="{FF2B5EF4-FFF2-40B4-BE49-F238E27FC236}">
                <a16:creationId xmlns:a16="http://schemas.microsoft.com/office/drawing/2014/main" id="{3DB901DB-7388-4891-A153-0C82A47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5762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ReplayCache fail-closed，重啟與競爭條件不放行重複 nonce。</a:t>
            </a:r>
          </a:p>
        </p:txBody>
      </p:sp>
      <p:sp>
        <p:nvSpPr>
          <p:cNvPr id="17" name="rq-rule-3">
            <a:extLst xmlns:a="http://schemas.openxmlformats.org/drawingml/2006/main">
              <a:ext uri="{FF2B5EF4-FFF2-40B4-BE49-F238E27FC236}">
                <a16:creationId xmlns:a16="http://schemas.microsoft.com/office/drawing/2014/main" id="{17298416-7DF4-4932-A23F-6C667EA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q-number-4">
            <a:extLst xmlns:a="http://schemas.openxmlformats.org/drawingml/2006/main">
              <a:ext uri="{FF2B5EF4-FFF2-40B4-BE49-F238E27FC236}">
                <a16:creationId xmlns:a16="http://schemas.microsoft.com/office/drawing/2014/main" id="{FD723E84-A501-4EBE-AFD2-C9D7BC78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rq-title-4">
            <a:extLst xmlns:a="http://schemas.openxmlformats.org/drawingml/2006/main">
              <a:ext uri="{FF2B5EF4-FFF2-40B4-BE49-F238E27FC236}">
                <a16:creationId xmlns:a16="http://schemas.microsoft.com/office/drawing/2014/main" id="{5B5C0B87-F48E-4A00-8F1C-274CF39F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815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驗證 payload</a:t>
            </a:r>
          </a:p>
        </p:txBody>
      </p:sp>
      <p:sp>
        <p:nvSpPr>
          <p:cNvPr id="20" name="rq-body-4">
            <a:extLst xmlns:a="http://schemas.openxmlformats.org/drawingml/2006/main">
              <a:ext uri="{FF2B5EF4-FFF2-40B4-BE49-F238E27FC236}">
                <a16:creationId xmlns:a16="http://schemas.microsoft.com/office/drawing/2014/main" id="{EBF401C9-DC13-468B-AED3-C2F9851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815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HMAC-SHA256 保護 alerts、heartbeat、goto、sensor、mission、health。</a:t>
            </a:r>
          </a:p>
        </p:txBody>
      </p:sp>
      <p:sp>
        <p:nvSpPr>
          <p:cNvPr id="21" name="rq-rule-4">
            <a:extLst xmlns:a="http://schemas.openxmlformats.org/drawingml/2006/main">
              <a:ext uri="{FF2B5EF4-FFF2-40B4-BE49-F238E27FC236}">
                <a16:creationId xmlns:a16="http://schemas.microsoft.com/office/drawing/2014/main" id="{FF5179CD-AC5F-4185-AC8B-B51B0E6E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105863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D1–D6 將網路入侵轉成可解釋的物理安全判斷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Detector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主要訊號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安全意義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目前證據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D1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速度 &gt; 0.23 m/s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超物理控制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程式＋離線測試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D2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方向衝突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控制互斥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正式資料有訊號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D3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LiDAR 重複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感測 spoof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live TP/FP 待驗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D4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非法 publisher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graph 身分異常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proxy 可見；歸因待補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D5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heartbeat &gt; 10s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監控失聯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live outcome 待驗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D6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cmd／odom／scan 不一致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控制與物理矛盾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live outcome 待驗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hreat-left">
            <a:extLst xmlns:a="http://schemas.openxmlformats.org/drawingml/2006/main">
              <a:ext uri="{FF2B5EF4-FFF2-40B4-BE49-F238E27FC236}">
                <a16:creationId xmlns:a16="http://schemas.microsoft.com/office/drawing/2014/main" id="{7EBB5E65-64EC-4D47-9BC8-868DB3B4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0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hreat-divider">
            <a:extLst xmlns:a="http://schemas.openxmlformats.org/drawingml/2006/main">
              <a:ext uri="{FF2B5EF4-FFF2-40B4-BE49-F238E27FC236}">
                <a16:creationId xmlns:a16="http://schemas.microsoft.com/office/drawing/2014/main" id="{F9BABD9D-E753-4077-8548-9437748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reat-title">
            <a:extLst xmlns:a="http://schemas.openxmlformats.org/drawingml/2006/main">
              <a:ext uri="{FF2B5EF4-FFF2-40B4-BE49-F238E27FC236}">
                <a16:creationId xmlns:a16="http://schemas.microsoft.com/office/drawing/2014/main" id="{2060D033-4016-4B2C-8F68-E291D87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Zeek 補上 DDS 網路層，但永遠不直接取得封鎖權</a:t>
            </a:r>
          </a:p>
        </p:txBody>
      </p:sp>
      <p:sp>
        <p:nvSpPr>
          <p:cNvPr id="5" name="threat-in-label">
            <a:extLst xmlns:a="http://schemas.openxmlformats.org/drawingml/2006/main">
              <a:ext uri="{FF2B5EF4-FFF2-40B4-BE49-F238E27FC236}">
                <a16:creationId xmlns:a16="http://schemas.microsoft.com/office/drawing/2014/main" id="{31946D24-5524-42D9-8862-7AE8540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NETWORK DETECTION</a:t>
            </a:r>
          </a:p>
        </p:txBody>
      </p:sp>
      <p:sp>
        <p:nvSpPr>
          <p:cNvPr id="6" name="threat-in-title">
            <a:extLst xmlns:a="http://schemas.openxmlformats.org/drawingml/2006/main">
              <a:ext uri="{FF2B5EF4-FFF2-40B4-BE49-F238E27FC236}">
                <a16:creationId xmlns:a16="http://schemas.microsoft.com/office/drawing/2014/main" id="{88331D2A-9ADD-41B0-8CE5-D6A1E32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五類可解釋告警</a:t>
            </a:r>
          </a:p>
        </p:txBody>
      </p:sp>
      <p:sp>
        <p:nvSpPr>
          <p:cNvPr id="7" name="threat-in-body">
            <a:extLst xmlns:a="http://schemas.openxmlformats.org/drawingml/2006/main">
              <a:ext uri="{FF2B5EF4-FFF2-40B4-BE49-F238E27FC236}">
                <a16:creationId xmlns:a16="http://schemas.microsoft.com/office/drawing/2014/main" id="{86C08828-8F56-44A2-94C4-26D99A0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DDS reconnaissance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payload injection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SPDP discovery 異常／DoS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parameter tamper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source spoof</a:t>
            </a:r>
          </a:p>
        </p:txBody>
      </p:sp>
      <p:sp>
        <p:nvSpPr>
          <p:cNvPr id="8" name="threat-out-label">
            <a:extLst xmlns:a="http://schemas.openxmlformats.org/drawingml/2006/main">
              <a:ext uri="{FF2B5EF4-FFF2-40B4-BE49-F238E27FC236}">
                <a16:creationId xmlns:a16="http://schemas.microsoft.com/office/drawing/2014/main" id="{BFE987FB-26BA-47D1-A447-F95D686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81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SAFETY BOUNDARY</a:t>
            </a:r>
          </a:p>
        </p:txBody>
      </p:sp>
      <p:sp>
        <p:nvSpPr>
          <p:cNvPr id="9" name="threat-out-title">
            <a:extLst xmlns:a="http://schemas.openxmlformats.org/drawingml/2006/main">
              <a:ext uri="{FF2B5EF4-FFF2-40B4-BE49-F238E27FC236}">
                <a16:creationId xmlns:a16="http://schemas.microsoft.com/office/drawing/2014/main" id="{9DD2171C-7309-42B2-B225-234CF86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2001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偵測不等於執行</a:t>
            </a:r>
          </a:p>
        </p:txBody>
      </p:sp>
      <p:sp>
        <p:nvSpPr>
          <p:cNvPr id="10" name="threat-out-body">
            <a:extLst xmlns:a="http://schemas.openxmlformats.org/drawingml/2006/main">
              <a:ext uri="{FF2B5EF4-FFF2-40B4-BE49-F238E27FC236}">
                <a16:creationId xmlns:a16="http://schemas.microsoft.com/office/drawing/2014/main" id="{175E505F-4E37-4848-BE41-8E28BBF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00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狀態具 TTL／容量上限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fixture 可離線重現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只產生 suppressed response request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不得直接呼叫 privileged helper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live GUID parser／混淆矩陣待補</a:t>
            </a:r>
          </a:p>
        </p:txBody>
      </p:sp>
      <p:sp>
        <p:nvSpPr>
          <p:cNvPr id="11" name="threat-lab-band">
            <a:extLst xmlns:a="http://schemas.openxmlformats.org/drawingml/2006/main">
              <a:ext uri="{FF2B5EF4-FFF2-40B4-BE49-F238E27FC236}">
                <a16:creationId xmlns:a16="http://schemas.microsoft.com/office/drawing/2014/main" id="{72D0A695-3720-45A4-A807-74DB0D0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95800"/>
            <a:ext cx="400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hreat-lab-text">
            <a:extLst xmlns:a="http://schemas.openxmlformats.org/drawingml/2006/main">
              <a:ext uri="{FF2B5EF4-FFF2-40B4-BE49-F238E27FC236}">
                <a16:creationId xmlns:a16="http://schemas.microsoft.com/office/drawing/2014/main" id="{AB4DD33C-1214-45E9-9715-90D07F2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 只提供網路證據；必須再通過來源歸因、雙訊號、模型與回應授權器</a:t>
            </a:r>
            <a:endParaRPr sz="1350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threat-page">
            <a:extLst xmlns:a="http://schemas.openxmlformats.org/drawingml/2006/main">
              <a:ext uri="{FF2B5EF4-FFF2-40B4-BE49-F238E27FC236}">
                <a16:creationId xmlns:a16="http://schemas.microsoft.com/office/drawing/2014/main" id="{119AB2BE-2A15-42F2-B88E-1502DA8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81515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ail-11">
            <a:extLst xmlns:a="http://schemas.openxmlformats.org/drawingml/2006/main">
              <a:ext uri="{FF2B5EF4-FFF2-40B4-BE49-F238E27FC236}">
                <a16:creationId xmlns:a16="http://schemas.microsoft.com/office/drawing/2014/main" id="{113CC95A-9A37-427E-944E-2A944298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F3DF618F-6F3F-4D18-8F66-2F02FC7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AI 意圖必須通過來源、雙訊號與連續視窗再次授權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DE745242-998F-45B0-AAA5-AE71DB77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response-label">
            <a:extLst xmlns:a="http://schemas.openxmlformats.org/drawingml/2006/main">
              <a:ext uri="{FF2B5EF4-FFF2-40B4-BE49-F238E27FC236}">
                <a16:creationId xmlns:a16="http://schemas.microsoft.com/office/drawing/2014/main" id="{BB3E06E3-4654-4019-B5E9-419FADF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RESPONSE AUTHORIZER</a:t>
            </a:r>
          </a:p>
        </p:txBody>
      </p:sp>
      <p:sp>
        <p:nvSpPr>
          <p:cNvPr id="7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E3AC8758-E9E0-4C75-AC72-16AC9354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網路動作的五道閘門</a:t>
            </a:r>
          </a:p>
        </p:txBody>
      </p:sp>
      <p:sp>
        <p:nvSpPr>
          <p:cNvPr id="8" name="gate-number-1">
            <a:extLst xmlns:a="http://schemas.openxmlformats.org/drawingml/2006/main">
              <a:ext uri="{FF2B5EF4-FFF2-40B4-BE49-F238E27FC236}">
                <a16:creationId xmlns:a16="http://schemas.microsoft.com/office/drawing/2014/main" id="{6E42D0BD-BAE4-494D-8838-A1F3A26F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gate-text-1">
            <a:extLst xmlns:a="http://schemas.openxmlformats.org/drawingml/2006/main">
              <a:ext uri="{FF2B5EF4-FFF2-40B4-BE49-F238E27FC236}">
                <a16:creationId xmlns:a16="http://schemas.microsoft.com/office/drawing/2014/main" id="{50B50E53-158D-4467-B574-A3FB82C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evidence envelope 與 policy hash</a:t>
            </a:r>
          </a:p>
        </p:txBody>
      </p:sp>
      <p:sp>
        <p:nvSpPr>
          <p:cNvPr id="10" name="gate-rule-1">
            <a:extLst xmlns:a="http://schemas.openxmlformats.org/drawingml/2006/main">
              <a:ext uri="{FF2B5EF4-FFF2-40B4-BE49-F238E27FC236}">
                <a16:creationId xmlns:a16="http://schemas.microsoft.com/office/drawing/2014/main" id="{016DCD14-75C9-42D5-A5FF-CD350E6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146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gate-number-2">
            <a:extLst xmlns:a="http://schemas.openxmlformats.org/drawingml/2006/main">
              <a:ext uri="{FF2B5EF4-FFF2-40B4-BE49-F238E27FC236}">
                <a16:creationId xmlns:a16="http://schemas.microsoft.com/office/drawing/2014/main" id="{7F8D795E-8867-4BA5-A0E7-560F509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gate-text-2">
            <a:extLst xmlns:a="http://schemas.openxmlformats.org/drawingml/2006/main">
              <a:ext uri="{FF2B5EF4-FFF2-40B4-BE49-F238E27FC236}">
                <a16:creationId xmlns:a16="http://schemas.microsoft.com/office/drawing/2014/main" id="{7A17991C-9B31-43DC-ADD4-22F5E00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source／interface／DDS identity 綁定</a:t>
            </a:r>
          </a:p>
        </p:txBody>
      </p:sp>
      <p:sp>
        <p:nvSpPr>
          <p:cNvPr id="13" name="gate-rule-2">
            <a:extLst xmlns:a="http://schemas.openxmlformats.org/drawingml/2006/main">
              <a:ext uri="{FF2B5EF4-FFF2-40B4-BE49-F238E27FC236}">
                <a16:creationId xmlns:a16="http://schemas.microsoft.com/office/drawing/2014/main" id="{9B98A44F-1DC9-4DFB-8E99-FFDADF76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gate-number-3">
            <a:extLst xmlns:a="http://schemas.openxmlformats.org/drawingml/2006/main">
              <a:ext uri="{FF2B5EF4-FFF2-40B4-BE49-F238E27FC236}">
                <a16:creationId xmlns:a16="http://schemas.microsoft.com/office/drawing/2014/main" id="{8211B74B-3093-406D-9C61-942DFD91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gate-text-3">
            <a:extLst xmlns:a="http://schemas.openxmlformats.org/drawingml/2006/main">
              <a:ext uri="{FF2B5EF4-FFF2-40B4-BE49-F238E27FC236}">
                <a16:creationId xmlns:a16="http://schemas.microsoft.com/office/drawing/2014/main" id="{CD77E529-0600-4C3B-A399-4A6AB8E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957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至少兩個獨立訊號</a:t>
            </a:r>
          </a:p>
        </p:txBody>
      </p:sp>
      <p:sp>
        <p:nvSpPr>
          <p:cNvPr id="16" name="gate-rule-3">
            <a:extLst xmlns:a="http://schemas.openxmlformats.org/drawingml/2006/main">
              <a:ext uri="{FF2B5EF4-FFF2-40B4-BE49-F238E27FC236}">
                <a16:creationId xmlns:a16="http://schemas.microsoft.com/office/drawing/2014/main" id="{4E4E374E-8E9F-4199-8088-108E3D84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957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gate-number-4">
            <a:extLst xmlns:a="http://schemas.openxmlformats.org/drawingml/2006/main">
              <a:ext uri="{FF2B5EF4-FFF2-40B4-BE49-F238E27FC236}">
                <a16:creationId xmlns:a16="http://schemas.microsoft.com/office/drawing/2014/main" id="{719E8D94-93F1-4B85-9A87-7BAAB9D4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gate-text-4">
            <a:extLst xmlns:a="http://schemas.openxmlformats.org/drawingml/2006/main">
              <a:ext uri="{FF2B5EF4-FFF2-40B4-BE49-F238E27FC236}">
                <a16:creationId xmlns:a16="http://schemas.microsoft.com/office/drawing/2014/main" id="{AE0E6115-C508-4547-BEBE-3C2203E7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862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連續兩視窗＋新鮮度 ≤10s</a:t>
            </a:r>
          </a:p>
        </p:txBody>
      </p:sp>
      <p:sp>
        <p:nvSpPr>
          <p:cNvPr id="19" name="gate-rule-4">
            <a:extLst xmlns:a="http://schemas.openxmlformats.org/drawingml/2006/main">
              <a:ext uri="{FF2B5EF4-FFF2-40B4-BE49-F238E27FC236}">
                <a16:creationId xmlns:a16="http://schemas.microsoft.com/office/drawing/2014/main" id="{B5DEE0B4-7C44-4A52-98EA-D5E8A84F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863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gate-number-5">
            <a:extLst xmlns:a="http://schemas.openxmlformats.org/drawingml/2006/main">
              <a:ext uri="{FF2B5EF4-FFF2-40B4-BE49-F238E27FC236}">
                <a16:creationId xmlns:a16="http://schemas.microsoft.com/office/drawing/2014/main" id="{B23B8990-5EC7-46E8-BAA0-33114EFF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gate-text-5">
            <a:extLst xmlns:a="http://schemas.openxmlformats.org/drawingml/2006/main">
              <a:ext uri="{FF2B5EF4-FFF2-40B4-BE49-F238E27FC236}">
                <a16:creationId xmlns:a16="http://schemas.microsoft.com/office/drawing/2014/main" id="{F98F67A9-B12B-46B3-AB9D-C61CA79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protected／shared／未授權 IP 拒絕</a:t>
            </a:r>
          </a:p>
        </p:txBody>
      </p:sp>
      <p:sp>
        <p:nvSpPr>
          <p:cNvPr id="22" name="gate-rule-5">
            <a:extLst xmlns:a="http://schemas.openxmlformats.org/drawingml/2006/main">
              <a:ext uri="{FF2B5EF4-FFF2-40B4-BE49-F238E27FC236}">
                <a16:creationId xmlns:a16="http://schemas.microsoft.com/office/drawing/2014/main" id="{7D4BECAC-828A-476D-8E55-22B69A6B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768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entest-field">
            <a:extLst xmlns:a="http://schemas.openxmlformats.org/drawingml/2006/main">
              <a:ext uri="{FF2B5EF4-FFF2-40B4-BE49-F238E27FC236}">
                <a16:creationId xmlns:a16="http://schemas.microsoft.com/office/drawing/2014/main" id="{7DCA6514-3851-4DDD-B063-057C868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772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pentest-label">
            <a:extLst xmlns:a="http://schemas.openxmlformats.org/drawingml/2006/main">
              <a:ext uri="{FF2B5EF4-FFF2-40B4-BE49-F238E27FC236}">
                <a16:creationId xmlns:a16="http://schemas.microsoft.com/office/drawing/2014/main" id="{D92E567D-A03C-422E-8DFF-3EC3CC4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DECISION PATH</a:t>
            </a:r>
          </a:p>
        </p:txBody>
      </p:sp>
      <p:sp>
        <p:nvSpPr>
          <p:cNvPr id="25" name="pentest-title">
            <a:extLst xmlns:a="http://schemas.openxmlformats.org/drawingml/2006/main">
              <a:ext uri="{FF2B5EF4-FFF2-40B4-BE49-F238E27FC236}">
                <a16:creationId xmlns:a16="http://schemas.microsoft.com/office/drawing/2014/main" id="{6169BA73-4B1A-4E24-9A1E-538E565B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從告警到動作</a:t>
            </a:r>
          </a:p>
        </p:txBody>
      </p:sp>
      <p:sp>
        <p:nvSpPr>
          <p:cNvPr id="26" name="pentest-timeline">
            <a:extLst xmlns:a="http://schemas.openxmlformats.org/drawingml/2006/main">
              <a:ext uri="{FF2B5EF4-FFF2-40B4-BE49-F238E27FC236}">
                <a16:creationId xmlns:a16="http://schemas.microsoft.com/office/drawing/2014/main" id="{E7DA95F9-8A32-498B-9A8C-2AB00D79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entest-stage-A">
            <a:extLst xmlns:a="http://schemas.openxmlformats.org/drawingml/2006/main">
              <a:ext uri="{FF2B5EF4-FFF2-40B4-BE49-F238E27FC236}">
                <a16:creationId xmlns:a16="http://schemas.microsoft.com/office/drawing/2014/main" id="{0C22CBB5-7ECE-4219-B235-A13EE91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52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8" name="pentest-stage-text-A">
            <a:extLst xmlns:a="http://schemas.openxmlformats.org/drawingml/2006/main">
              <a:ext uri="{FF2B5EF4-FFF2-40B4-BE49-F238E27FC236}">
                <a16:creationId xmlns:a16="http://schemas.microsoft.com/office/drawing/2014/main" id="{1477B7FD-6405-4B60-A61B-99A1E39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模型提出意圖</a:t>
            </a:r>
          </a:p>
        </p:txBody>
      </p:sp>
      <p:sp>
        <p:nvSpPr>
          <p:cNvPr id="29" name="pentest-stage-B">
            <a:extLst xmlns:a="http://schemas.openxmlformats.org/drawingml/2006/main">
              <a:ext uri="{FF2B5EF4-FFF2-40B4-BE49-F238E27FC236}">
                <a16:creationId xmlns:a16="http://schemas.microsoft.com/office/drawing/2014/main" id="{EBB94618-215A-413A-B363-B1E814A5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38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30" name="pentest-stage-text-B">
            <a:extLst xmlns:a="http://schemas.openxmlformats.org/drawingml/2006/main">
              <a:ext uri="{FF2B5EF4-FFF2-40B4-BE49-F238E27FC236}">
                <a16:creationId xmlns:a16="http://schemas.microsoft.com/office/drawing/2014/main" id="{68325BE1-40C0-4D02-93D4-377F90B3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480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證據與歸因驗證</a:t>
            </a:r>
          </a:p>
        </p:txBody>
      </p:sp>
      <p:sp>
        <p:nvSpPr>
          <p:cNvPr id="31" name="pentest-stage-C">
            <a:extLst xmlns:a="http://schemas.openxmlformats.org/drawingml/2006/main">
              <a:ext uri="{FF2B5EF4-FFF2-40B4-BE49-F238E27FC236}">
                <a16:creationId xmlns:a16="http://schemas.microsoft.com/office/drawing/2014/main" id="{1D3366FC-C3BF-4253-A79A-26F2B27E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24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2" name="pentest-stage-text-C">
            <a:extLst xmlns:a="http://schemas.openxmlformats.org/drawingml/2006/main">
              <a:ext uri="{FF2B5EF4-FFF2-40B4-BE49-F238E27FC236}">
                <a16:creationId xmlns:a16="http://schemas.microsoft.com/office/drawing/2014/main" id="{608CB65A-6B5E-457C-A4E6-6C63A576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政策與範圍核准</a:t>
            </a:r>
          </a:p>
        </p:txBody>
      </p:sp>
      <p:sp>
        <p:nvSpPr>
          <p:cNvPr id="33" name="pentest-stage-D">
            <a:extLst xmlns:a="http://schemas.openxmlformats.org/drawingml/2006/main">
              <a:ext uri="{FF2B5EF4-FFF2-40B4-BE49-F238E27FC236}">
                <a16:creationId xmlns:a16="http://schemas.microsoft.com/office/drawing/2014/main" id="{2BD9EC51-0B66-495C-8BC9-C7F076B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10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4" name="pentest-stage-text-D">
            <a:extLst xmlns:a="http://schemas.openxmlformats.org/drawingml/2006/main">
              <a:ext uri="{FF2B5EF4-FFF2-40B4-BE49-F238E27FC236}">
                <a16:creationId xmlns:a16="http://schemas.microsoft.com/office/drawing/2014/main" id="{5E3B203C-3E0C-46BB-85DA-409E38C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9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簽發短效 ticket</a:t>
            </a:r>
          </a:p>
        </p:txBody>
      </p:sp>
      <p:sp>
        <p:nvSpPr>
          <p:cNvPr id="35" name="pentest-evidence">
            <a:extLst xmlns:a="http://schemas.openxmlformats.org/drawingml/2006/main">
              <a:ext uri="{FF2B5EF4-FFF2-40B4-BE49-F238E27FC236}">
                <a16:creationId xmlns:a16="http://schemas.microsoft.com/office/drawing/2014/main" id="{8189D79C-CA4B-4084-83A4-40CBEEF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現有資料沒有可信 attacker-IP attribution，因此目前所有模型意圖只能 alert。</a:t>
            </a:r>
          </a:p>
        </p:txBody>
      </p:sp>
    </p:spTree>
    <p:extLst>
      <p:ext uri="{BB962C8B-B14F-4D97-AF65-F5344CB8AC3E}">
        <p14:creationId xmlns:p14="http://schemas.microsoft.com/office/powerpoint/2010/main" val="3282488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ail-11">
            <a:extLst xmlns:a="http://schemas.openxmlformats.org/drawingml/2006/main">
              <a:ext uri="{FF2B5EF4-FFF2-40B4-BE49-F238E27FC236}">
                <a16:creationId xmlns:a16="http://schemas.microsoft.com/office/drawing/2014/main" id="{113CC95A-9A37-427E-944E-2A944298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F3DF618F-6F3F-4D18-8F66-2F02FC7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Ed25519 短效票證讓處置可過期、可稽核、可復原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DE745242-998F-45B0-AAA5-AE71DB77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response-label">
            <a:extLst xmlns:a="http://schemas.openxmlformats.org/drawingml/2006/main">
              <a:ext uri="{FF2B5EF4-FFF2-40B4-BE49-F238E27FC236}">
                <a16:creationId xmlns:a16="http://schemas.microsoft.com/office/drawing/2014/main" id="{BB3E06E3-4654-4019-B5E9-419FADF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BOUNDED BACKEND</a:t>
            </a:r>
          </a:p>
        </p:txBody>
      </p:sp>
      <p:sp>
        <p:nvSpPr>
          <p:cNvPr id="7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E3AC8758-E9E0-4C75-AC72-16AC9354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執行層的五個安全條件</a:t>
            </a:r>
          </a:p>
        </p:txBody>
      </p:sp>
      <p:sp>
        <p:nvSpPr>
          <p:cNvPr id="8" name="gate-number-1">
            <a:extLst xmlns:a="http://schemas.openxmlformats.org/drawingml/2006/main">
              <a:ext uri="{FF2B5EF4-FFF2-40B4-BE49-F238E27FC236}">
                <a16:creationId xmlns:a16="http://schemas.microsoft.com/office/drawing/2014/main" id="{6E42D0BD-BAE4-494D-8838-A1F3A26F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gate-text-1">
            <a:extLst xmlns:a="http://schemas.openxmlformats.org/drawingml/2006/main">
              <a:ext uri="{FF2B5EF4-FFF2-40B4-BE49-F238E27FC236}">
                <a16:creationId xmlns:a16="http://schemas.microsoft.com/office/drawing/2014/main" id="{50B50E53-158D-4467-B574-A3FB82C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Ed25519 v2；ticket 約 5 秒有效</a:t>
            </a:r>
          </a:p>
        </p:txBody>
      </p:sp>
      <p:sp>
        <p:nvSpPr>
          <p:cNvPr id="10" name="gate-rule-1">
            <a:extLst xmlns:a="http://schemas.openxmlformats.org/drawingml/2006/main">
              <a:ext uri="{FF2B5EF4-FFF2-40B4-BE49-F238E27FC236}">
                <a16:creationId xmlns:a16="http://schemas.microsoft.com/office/drawing/2014/main" id="{016DCD14-75C9-42D5-A5FF-CD350E6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146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gate-number-2">
            <a:extLst xmlns:a="http://schemas.openxmlformats.org/drawingml/2006/main">
              <a:ext uri="{FF2B5EF4-FFF2-40B4-BE49-F238E27FC236}">
                <a16:creationId xmlns:a16="http://schemas.microsoft.com/office/drawing/2014/main" id="{7F8D795E-8867-4BA5-A0E7-560F509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gate-text-2">
            <a:extLst xmlns:a="http://schemas.openxmlformats.org/drawingml/2006/main">
              <a:ext uri="{FF2B5EF4-FFF2-40B4-BE49-F238E27FC236}">
                <a16:creationId xmlns:a16="http://schemas.microsoft.com/office/drawing/2014/main" id="{7A17991C-9B31-43DC-ADD4-22F5E00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SQLite BEGIN IMMEDIATE 原子 nonce</a:t>
            </a:r>
          </a:p>
        </p:txBody>
      </p:sp>
      <p:sp>
        <p:nvSpPr>
          <p:cNvPr id="13" name="gate-rule-2">
            <a:extLst xmlns:a="http://schemas.openxmlformats.org/drawingml/2006/main">
              <a:ext uri="{FF2B5EF4-FFF2-40B4-BE49-F238E27FC236}">
                <a16:creationId xmlns:a16="http://schemas.microsoft.com/office/drawing/2014/main" id="{9B98A44F-1DC9-4DFB-8E99-FFDADF76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gate-number-3">
            <a:extLst xmlns:a="http://schemas.openxmlformats.org/drawingml/2006/main">
              <a:ext uri="{FF2B5EF4-FFF2-40B4-BE49-F238E27FC236}">
                <a16:creationId xmlns:a16="http://schemas.microsoft.com/office/drawing/2014/main" id="{8211B74B-3093-406D-9C61-942DFD91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gate-text-3">
            <a:extLst xmlns:a="http://schemas.openxmlformats.org/drawingml/2006/main">
              <a:ext uri="{FF2B5EF4-FFF2-40B4-BE49-F238E27FC236}">
                <a16:creationId xmlns:a16="http://schemas.microsoft.com/office/drawing/2014/main" id="{CD77E529-0600-4C3B-A399-4A6AB8E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957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TTL 1–300 秒；最多 1,024 來源</a:t>
            </a:r>
          </a:p>
        </p:txBody>
      </p:sp>
      <p:sp>
        <p:nvSpPr>
          <p:cNvPr id="16" name="gate-rule-3">
            <a:extLst xmlns:a="http://schemas.openxmlformats.org/drawingml/2006/main">
              <a:ext uri="{FF2B5EF4-FFF2-40B4-BE49-F238E27FC236}">
                <a16:creationId xmlns:a16="http://schemas.microsoft.com/office/drawing/2014/main" id="{4E4E374E-8E9F-4199-8088-108E3D84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957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gate-number-4">
            <a:extLst xmlns:a="http://schemas.openxmlformats.org/drawingml/2006/main">
              <a:ext uri="{FF2B5EF4-FFF2-40B4-BE49-F238E27FC236}">
                <a16:creationId xmlns:a16="http://schemas.microsoft.com/office/drawing/2014/main" id="{719E8D94-93F1-4B85-9A87-7BAAB9D4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gate-text-4">
            <a:extLst xmlns:a="http://schemas.openxmlformats.org/drawingml/2006/main">
              <a:ext uri="{FF2B5EF4-FFF2-40B4-BE49-F238E27FC236}">
                <a16:creationId xmlns:a16="http://schemas.microsoft.com/office/drawing/2014/main" id="{AE0E6115-C508-4547-BEBE-3C2203E7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862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desired state／audit／restart reconcile</a:t>
            </a:r>
          </a:p>
        </p:txBody>
      </p:sp>
      <p:sp>
        <p:nvSpPr>
          <p:cNvPr id="19" name="gate-rule-4">
            <a:extLst xmlns:a="http://schemas.openxmlformats.org/drawingml/2006/main">
              <a:ext uri="{FF2B5EF4-FFF2-40B4-BE49-F238E27FC236}">
                <a16:creationId xmlns:a16="http://schemas.microsoft.com/office/drawing/2014/main" id="{B5DEE0B4-7C44-4A52-98EA-D5E8A84F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863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gate-number-5">
            <a:extLst xmlns:a="http://schemas.openxmlformats.org/drawingml/2006/main">
              <a:ext uri="{FF2B5EF4-FFF2-40B4-BE49-F238E27FC236}">
                <a16:creationId xmlns:a16="http://schemas.microsoft.com/office/drawing/2014/main" id="{B23B8990-5EC7-46E8-BAA0-33114EFF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gate-text-5">
            <a:extLst xmlns:a="http://schemas.openxmlformats.org/drawingml/2006/main">
              <a:ext uri="{FF2B5EF4-FFF2-40B4-BE49-F238E27FC236}">
                <a16:creationId xmlns:a16="http://schemas.microsoft.com/office/drawing/2014/main" id="{F98F67A9-B12B-46B3-AB9D-C61CA79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stdin ticket；拒絕裸 IP／裸 TTL</a:t>
            </a:r>
          </a:p>
        </p:txBody>
      </p:sp>
      <p:sp>
        <p:nvSpPr>
          <p:cNvPr id="22" name="gate-rule-5">
            <a:extLst xmlns:a="http://schemas.openxmlformats.org/drawingml/2006/main">
              <a:ext uri="{FF2B5EF4-FFF2-40B4-BE49-F238E27FC236}">
                <a16:creationId xmlns:a16="http://schemas.microsoft.com/office/drawing/2014/main" id="{7D4BECAC-828A-476D-8E55-22B69A6B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768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entest-field">
            <a:extLst xmlns:a="http://schemas.openxmlformats.org/drawingml/2006/main">
              <a:ext uri="{FF2B5EF4-FFF2-40B4-BE49-F238E27FC236}">
                <a16:creationId xmlns:a16="http://schemas.microsoft.com/office/drawing/2014/main" id="{7DCA6514-3851-4DDD-B063-057C868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772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pentest-label">
            <a:extLst xmlns:a="http://schemas.openxmlformats.org/drawingml/2006/main">
              <a:ext uri="{FF2B5EF4-FFF2-40B4-BE49-F238E27FC236}">
                <a16:creationId xmlns:a16="http://schemas.microsoft.com/office/drawing/2014/main" id="{D92E567D-A03C-422E-8DFF-3EC3CC4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LIFECYCLE</a:t>
            </a:r>
          </a:p>
        </p:txBody>
      </p:sp>
      <p:sp>
        <p:nvSpPr>
          <p:cNvPr id="25" name="pentest-title">
            <a:extLst xmlns:a="http://schemas.openxmlformats.org/drawingml/2006/main">
              <a:ext uri="{FF2B5EF4-FFF2-40B4-BE49-F238E27FC236}">
                <a16:creationId xmlns:a16="http://schemas.microsoft.com/office/drawing/2014/main" id="{6169BA73-4B1A-4E24-9A1E-538E565B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可撤銷處置流程</a:t>
            </a:r>
          </a:p>
        </p:txBody>
      </p:sp>
      <p:sp>
        <p:nvSpPr>
          <p:cNvPr id="26" name="pentest-timeline">
            <a:extLst xmlns:a="http://schemas.openxmlformats.org/drawingml/2006/main">
              <a:ext uri="{FF2B5EF4-FFF2-40B4-BE49-F238E27FC236}">
                <a16:creationId xmlns:a16="http://schemas.microsoft.com/office/drawing/2014/main" id="{E7DA95F9-8A32-498B-9A8C-2AB00D79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entest-stage-A">
            <a:extLst xmlns:a="http://schemas.openxmlformats.org/drawingml/2006/main">
              <a:ext uri="{FF2B5EF4-FFF2-40B4-BE49-F238E27FC236}">
                <a16:creationId xmlns:a16="http://schemas.microsoft.com/office/drawing/2014/main" id="{0C22CBB5-7ECE-4219-B235-A13EE91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52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8" name="pentest-stage-text-A">
            <a:extLst xmlns:a="http://schemas.openxmlformats.org/drawingml/2006/main">
              <a:ext uri="{FF2B5EF4-FFF2-40B4-BE49-F238E27FC236}">
                <a16:creationId xmlns:a16="http://schemas.microsoft.com/office/drawing/2014/main" id="{1477B7FD-6405-4B60-A61B-99A1E39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authorize</a:t>
            </a:r>
          </a:p>
        </p:txBody>
      </p:sp>
      <p:sp>
        <p:nvSpPr>
          <p:cNvPr id="29" name="pentest-stage-B">
            <a:extLst xmlns:a="http://schemas.openxmlformats.org/drawingml/2006/main">
              <a:ext uri="{FF2B5EF4-FFF2-40B4-BE49-F238E27FC236}">
                <a16:creationId xmlns:a16="http://schemas.microsoft.com/office/drawing/2014/main" id="{EBB94618-215A-413A-B363-B1E814A5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38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30" name="pentest-stage-text-B">
            <a:extLst xmlns:a="http://schemas.openxmlformats.org/drawingml/2006/main">
              <a:ext uri="{FF2B5EF4-FFF2-40B4-BE49-F238E27FC236}">
                <a16:creationId xmlns:a16="http://schemas.microsoft.com/office/drawing/2014/main" id="{68325BE1-40C0-4D02-93D4-377F90B3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480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signed ticket</a:t>
            </a:r>
          </a:p>
        </p:txBody>
      </p:sp>
      <p:sp>
        <p:nvSpPr>
          <p:cNvPr id="31" name="pentest-stage-C">
            <a:extLst xmlns:a="http://schemas.openxmlformats.org/drawingml/2006/main">
              <a:ext uri="{FF2B5EF4-FFF2-40B4-BE49-F238E27FC236}">
                <a16:creationId xmlns:a16="http://schemas.microsoft.com/office/drawing/2014/main" id="{1D3366FC-C3BF-4253-A79A-26F2B27E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24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2" name="pentest-stage-text-C">
            <a:extLst xmlns:a="http://schemas.openxmlformats.org/drawingml/2006/main">
              <a:ext uri="{FF2B5EF4-FFF2-40B4-BE49-F238E27FC236}">
                <a16:creationId xmlns:a16="http://schemas.microsoft.com/office/drawing/2014/main" id="{608CB65A-6B5E-457C-A4E6-6C63A576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timeout set</a:t>
            </a:r>
          </a:p>
        </p:txBody>
      </p:sp>
      <p:sp>
        <p:nvSpPr>
          <p:cNvPr id="33" name="pentest-stage-D">
            <a:extLst xmlns:a="http://schemas.openxmlformats.org/drawingml/2006/main">
              <a:ext uri="{FF2B5EF4-FFF2-40B4-BE49-F238E27FC236}">
                <a16:creationId xmlns:a16="http://schemas.microsoft.com/office/drawing/2014/main" id="{2BD9EC51-0B66-495C-8BC9-C7F076B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10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4" name="pentest-stage-text-D">
            <a:extLst xmlns:a="http://schemas.openxmlformats.org/drawingml/2006/main">
              <a:ext uri="{FF2B5EF4-FFF2-40B4-BE49-F238E27FC236}">
                <a16:creationId xmlns:a16="http://schemas.microsoft.com/office/drawing/2014/main" id="{5E3B203C-3E0C-46BB-85DA-409E38C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9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expire／recover</a:t>
            </a:r>
          </a:p>
        </p:txBody>
      </p:sp>
      <p:sp>
        <p:nvSpPr>
          <p:cNvPr id="35" name="pentest-evidence">
            <a:extLst xmlns:a="http://schemas.openxmlformats.org/drawingml/2006/main">
              <a:ext uri="{FF2B5EF4-FFF2-40B4-BE49-F238E27FC236}">
                <a16:creationId xmlns:a16="http://schemas.microsoft.com/office/drawing/2014/main" id="{8189D79C-CA4B-4084-83A4-40CBEEF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production source gate 仍關閉；live executor、kernel drop 與 restart 驗收尚未完成。</a:t>
            </a:r>
          </a:p>
        </p:txBody>
      </p:sp>
    </p:spTree>
    <p:extLst>
      <p:ext uri="{BB962C8B-B14F-4D97-AF65-F5344CB8AC3E}">
        <p14:creationId xmlns:p14="http://schemas.microsoft.com/office/powerpoint/2010/main" val="3282488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ail-7">
            <a:extLst xmlns:a="http://schemas.openxmlformats.org/drawingml/2006/main">
              <a:ext uri="{FF2B5EF4-FFF2-40B4-BE49-F238E27FC236}">
                <a16:creationId xmlns:a16="http://schemas.microsoft.com/office/drawing/2014/main" id="{F4C55ED1-A8B7-4E29-9244-4E0643AE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21327D03-913D-4CD7-BFD7-189A4C6C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資料工廠：每一場攻防資料都能追溯與隔離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C3EB467F-8EBC-4956-AD82-6438171E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synthetic-sessions-value">
            <a:extLst xmlns:a="http://schemas.openxmlformats.org/drawingml/2006/main">
              <a:ext uri="{FF2B5EF4-FFF2-40B4-BE49-F238E27FC236}">
                <a16:creationId xmlns:a16="http://schemas.microsoft.com/office/drawing/2014/main" id="{56F289AD-8CC4-4914-8D30-B6962899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1,100</a:t>
            </a:r>
          </a:p>
        </p:txBody>
      </p:sp>
      <p:sp>
        <p:nvSpPr>
          <p:cNvPr id="7" name="synthetic-sessions-label">
            <a:extLst xmlns:a="http://schemas.openxmlformats.org/drawingml/2006/main">
              <a:ext uri="{FF2B5EF4-FFF2-40B4-BE49-F238E27FC236}">
                <a16:creationId xmlns:a16="http://schemas.microsoft.com/office/drawing/2014/main" id="{7CFF3641-AAF3-461D-B9E7-0CB2BABD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campaign sessions</a:t>
            </a:r>
          </a:p>
        </p:txBody>
      </p:sp>
      <p:sp>
        <p:nvSpPr>
          <p:cNvPr id="8" name="synthetic-windows-value">
            <a:extLst xmlns:a="http://schemas.openxmlformats.org/drawingml/2006/main">
              <a:ext uri="{FF2B5EF4-FFF2-40B4-BE49-F238E27FC236}">
                <a16:creationId xmlns:a16="http://schemas.microsoft.com/office/drawing/2014/main" id="{85001741-B906-42A2-BCEC-B8DB0191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13,872</a:t>
            </a:r>
          </a:p>
        </p:txBody>
      </p:sp>
      <p:sp>
        <p:nvSpPr>
          <p:cNvPr id="9" name="synthetic-windows-label">
            <a:extLst xmlns:a="http://schemas.openxmlformats.org/drawingml/2006/main">
              <a:ext uri="{FF2B5EF4-FFF2-40B4-BE49-F238E27FC236}">
                <a16:creationId xmlns:a16="http://schemas.microsoft.com/office/drawing/2014/main" id="{3F230871-FA5F-459B-8E4B-E76FFB25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fusion rows（raw）</a:t>
            </a:r>
          </a:p>
        </p:txBody>
      </p:sp>
      <p:sp>
        <p:nvSpPr>
          <p:cNvPr id="10" name="synthetic-classes-value">
            <a:extLst xmlns:a="http://schemas.openxmlformats.org/drawingml/2006/main">
              <a:ext uri="{FF2B5EF4-FFF2-40B4-BE49-F238E27FC236}">
                <a16:creationId xmlns:a16="http://schemas.microsoft.com/office/drawing/2014/main" id="{D6A4B8C9-09E6-4459-99DD-A824ADD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19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390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11" name="synthetic-classes-label">
            <a:extLst xmlns:a="http://schemas.openxmlformats.org/drawingml/2006/main">
              <a:ext uri="{FF2B5EF4-FFF2-40B4-BE49-F238E27FC236}">
                <a16:creationId xmlns:a16="http://schemas.microsoft.com/office/drawing/2014/main" id="{BAD0D16F-FE38-491D-A6E0-13FD6FD1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66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情境（normal＋8 attacks）</a:t>
            </a:r>
          </a:p>
        </p:txBody>
      </p:sp>
      <p:sp>
        <p:nvSpPr>
          <p:cNvPr id="12" name="data-flow-line">
            <a:extLst xmlns:a="http://schemas.openxmlformats.org/drawingml/2006/main">
              <a:ext uri="{FF2B5EF4-FFF2-40B4-BE49-F238E27FC236}">
                <a16:creationId xmlns:a16="http://schemas.microsoft.com/office/drawing/2014/main" id="{2646C302-2424-41F0-A0C6-38D01E99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ata-dot-1">
            <a:extLst xmlns:a="http://schemas.openxmlformats.org/drawingml/2006/main">
              <a:ext uri="{FF2B5EF4-FFF2-40B4-BE49-F238E27FC236}">
                <a16:creationId xmlns:a16="http://schemas.microsoft.com/office/drawing/2014/main" id="{E2ACFED4-73BB-4C22-B366-B00CDA98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data-stage-title-1">
            <a:extLst xmlns:a="http://schemas.openxmlformats.org/drawingml/2006/main">
              <a:ext uri="{FF2B5EF4-FFF2-40B4-BE49-F238E27FC236}">
                <a16:creationId xmlns:a16="http://schemas.microsoft.com/office/drawing/2014/main" id="{10F24C00-59CC-4B18-8296-C4105886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manifest</a:t>
            </a:r>
          </a:p>
        </p:txBody>
      </p:sp>
      <p:sp>
        <p:nvSpPr>
          <p:cNvPr id="15" name="data-stage-body-1">
            <a:extLst xmlns:a="http://schemas.openxmlformats.org/drawingml/2006/main">
              <a:ext uri="{FF2B5EF4-FFF2-40B4-BE49-F238E27FC236}">
                <a16:creationId xmlns:a16="http://schemas.microsoft.com/office/drawing/2014/main" id="{826E9071-4650-4743-8DD3-1A6792F8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seed · mode · label</a:t>
            </a:r>
          </a:p>
        </p:txBody>
      </p:sp>
      <p:sp>
        <p:nvSpPr>
          <p:cNvPr id="16" name="data-dot-2">
            <a:extLst xmlns:a="http://schemas.openxmlformats.org/drawingml/2006/main">
              <a:ext uri="{FF2B5EF4-FFF2-40B4-BE49-F238E27FC236}">
                <a16:creationId xmlns:a16="http://schemas.microsoft.com/office/drawing/2014/main" id="{0582A6C3-A261-4A06-89E2-D395745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7" name="data-stage-title-2">
            <a:extLst xmlns:a="http://schemas.openxmlformats.org/drawingml/2006/main">
              <a:ext uri="{FF2B5EF4-FFF2-40B4-BE49-F238E27FC236}">
                <a16:creationId xmlns:a16="http://schemas.microsoft.com/office/drawing/2014/main" id="{10FDE371-F7DC-4806-858A-91CBD723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capture</a:t>
            </a:r>
          </a:p>
        </p:txBody>
      </p:sp>
      <p:sp>
        <p:nvSpPr>
          <p:cNvPr id="18" name="data-stage-body-2">
            <a:extLst xmlns:a="http://schemas.openxmlformats.org/drawingml/2006/main">
              <a:ext uri="{FF2B5EF4-FFF2-40B4-BE49-F238E27FC236}">
                <a16:creationId xmlns:a16="http://schemas.microsoft.com/office/drawing/2014/main" id="{7981DF5B-B282-4F10-BF9D-9E69B7FA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PCAP + telemetry</a:t>
            </a:r>
          </a:p>
        </p:txBody>
      </p:sp>
      <p:sp>
        <p:nvSpPr>
          <p:cNvPr id="19" name="data-dot-3">
            <a:extLst xmlns:a="http://schemas.openxmlformats.org/drawingml/2006/main">
              <a:ext uri="{FF2B5EF4-FFF2-40B4-BE49-F238E27FC236}">
                <a16:creationId xmlns:a16="http://schemas.microsoft.com/office/drawing/2014/main" id="{1E2E39FD-FFEC-4B70-BC9C-E22435CD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data-stage-title-3">
            <a:extLst xmlns:a="http://schemas.openxmlformats.org/drawingml/2006/main">
              <a:ext uri="{FF2B5EF4-FFF2-40B4-BE49-F238E27FC236}">
                <a16:creationId xmlns:a16="http://schemas.microsoft.com/office/drawing/2014/main" id="{53F43E4B-8DD5-467B-9D4D-E579C2A1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</a:t>
            </a:r>
          </a:p>
        </p:txBody>
      </p:sp>
      <p:sp>
        <p:nvSpPr>
          <p:cNvPr id="21" name="data-stage-body-3">
            <a:extLst xmlns:a="http://schemas.openxmlformats.org/drawingml/2006/main">
              <a:ext uri="{FF2B5EF4-FFF2-40B4-BE49-F238E27FC236}">
                <a16:creationId xmlns:a16="http://schemas.microsoft.com/office/drawing/2014/main" id="{9E135925-285D-400C-B788-13D725A8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network events</a:t>
            </a:r>
          </a:p>
        </p:txBody>
      </p:sp>
      <p:sp>
        <p:nvSpPr>
          <p:cNvPr id="22" name="data-dot-4">
            <a:extLst xmlns:a="http://schemas.openxmlformats.org/drawingml/2006/main">
              <a:ext uri="{FF2B5EF4-FFF2-40B4-BE49-F238E27FC236}">
                <a16:creationId xmlns:a16="http://schemas.microsoft.com/office/drawing/2014/main" id="{F797B6B1-8AEF-438A-9583-FB52DC4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data-stage-title-4">
            <a:extLst xmlns:a="http://schemas.openxmlformats.org/drawingml/2006/main">
              <a:ext uri="{FF2B5EF4-FFF2-40B4-BE49-F238E27FC236}">
                <a16:creationId xmlns:a16="http://schemas.microsoft.com/office/drawing/2014/main" id="{CAF3D415-B922-4FCB-BB2A-1FDD7145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align</a:t>
            </a:r>
          </a:p>
        </p:txBody>
      </p:sp>
      <p:sp>
        <p:nvSpPr>
          <p:cNvPr id="24" name="data-stage-body-4">
            <a:extLst xmlns:a="http://schemas.openxmlformats.org/drawingml/2006/main">
              <a:ext uri="{FF2B5EF4-FFF2-40B4-BE49-F238E27FC236}">
                <a16:creationId xmlns:a16="http://schemas.microsoft.com/office/drawing/2014/main" id="{BB3923BF-CF47-41D6-ABDE-4EAF926D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session + window</a:t>
            </a:r>
          </a:p>
        </p:txBody>
      </p:sp>
      <p:sp>
        <p:nvSpPr>
          <p:cNvPr id="25" name="data-dot-5">
            <a:extLst xmlns:a="http://schemas.openxmlformats.org/drawingml/2006/main">
              <a:ext uri="{FF2B5EF4-FFF2-40B4-BE49-F238E27FC236}">
                <a16:creationId xmlns:a16="http://schemas.microsoft.com/office/drawing/2014/main" id="{A8FB7A3E-977F-4337-AA78-E6DAC187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data-stage-title-5">
            <a:extLst xmlns:a="http://schemas.openxmlformats.org/drawingml/2006/main">
              <a:ext uri="{FF2B5EF4-FFF2-40B4-BE49-F238E27FC236}">
                <a16:creationId xmlns:a16="http://schemas.microsoft.com/office/drawing/2014/main" id="{61D0DD25-3D0C-41DF-87BA-1A4447E6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features</a:t>
            </a:r>
          </a:p>
        </p:txBody>
      </p:sp>
      <p:sp>
        <p:nvSpPr>
          <p:cNvPr id="27" name="data-stage-body-5">
            <a:extLst xmlns:a="http://schemas.openxmlformats.org/drawingml/2006/main">
              <a:ext uri="{FF2B5EF4-FFF2-40B4-BE49-F238E27FC236}">
                <a16:creationId xmlns:a16="http://schemas.microsoft.com/office/drawing/2014/main" id="{4AE8F904-100B-42A2-B6B8-3706599E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network / telemetry / fusion</a:t>
            </a:r>
          </a:p>
        </p:txBody>
      </p:sp>
      <p:sp>
        <p:nvSpPr>
          <p:cNvPr id="28" name="data-dot-6">
            <a:extLst xmlns:a="http://schemas.openxmlformats.org/drawingml/2006/main">
              <a:ext uri="{FF2B5EF4-FFF2-40B4-BE49-F238E27FC236}">
                <a16:creationId xmlns:a16="http://schemas.microsoft.com/office/drawing/2014/main" id="{6EA45BE9-17AD-4ED8-B2DC-439D58DE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9" name="data-stage-title-6">
            <a:extLst xmlns:a="http://schemas.openxmlformats.org/drawingml/2006/main">
              <a:ext uri="{FF2B5EF4-FFF2-40B4-BE49-F238E27FC236}">
                <a16:creationId xmlns:a16="http://schemas.microsoft.com/office/drawing/2014/main" id="{3FB0AD03-3007-49D3-B312-8AC90664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verify</a:t>
            </a:r>
          </a:p>
        </p:txBody>
      </p:sp>
      <p:sp>
        <p:nvSpPr>
          <p:cNvPr id="30" name="data-stage-body-6">
            <a:extLst xmlns:a="http://schemas.openxmlformats.org/drawingml/2006/main">
              <a:ext uri="{FF2B5EF4-FFF2-40B4-BE49-F238E27FC236}">
                <a16:creationId xmlns:a16="http://schemas.microsoft.com/office/drawing/2014/main" id="{10CE57C7-31B1-489A-864F-237A4FE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bytes / SHA / health</a:t>
            </a:r>
          </a:p>
        </p:txBody>
      </p:sp>
      <p:sp>
        <p:nvSpPr>
          <p:cNvPr id="31" name="data-dot-7">
            <a:extLst xmlns:a="http://schemas.openxmlformats.org/drawingml/2006/main">
              <a:ext uri="{FF2B5EF4-FFF2-40B4-BE49-F238E27FC236}">
                <a16:creationId xmlns:a16="http://schemas.microsoft.com/office/drawing/2014/main" id="{7727BAE9-9808-4EF0-8BE5-7AA07BC6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2" name="data-stage-title-7">
            <a:extLst xmlns:a="http://schemas.openxmlformats.org/drawingml/2006/main">
              <a:ext uri="{FF2B5EF4-FFF2-40B4-BE49-F238E27FC236}">
                <a16:creationId xmlns:a16="http://schemas.microsoft.com/office/drawing/2014/main" id="{522B5B83-2FB3-436B-B694-0D3D16B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release</a:t>
            </a:r>
          </a:p>
        </p:txBody>
      </p:sp>
      <p:sp>
        <p:nvSpPr>
          <p:cNvPr id="33" name="data-stage-body-7">
            <a:extLst xmlns:a="http://schemas.openxmlformats.org/drawingml/2006/main">
              <a:ext uri="{FF2B5EF4-FFF2-40B4-BE49-F238E27FC236}">
                <a16:creationId xmlns:a16="http://schemas.microsoft.com/office/drawing/2014/main" id="{B708DEA2-F44B-40C1-9999-59CBFCD8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hash / quarantine</a:t>
            </a:r>
          </a:p>
        </p:txBody>
      </p:sp>
      <p:sp>
        <p:nvSpPr>
          <p:cNvPr id="34" name="data-warning-band">
            <a:extLst xmlns:a="http://schemas.openxmlformats.org/drawingml/2006/main">
              <a:ext uri="{FF2B5EF4-FFF2-40B4-BE49-F238E27FC236}">
                <a16:creationId xmlns:a16="http://schemas.microsoft.com/office/drawing/2014/main" id="{0C348408-DFA5-4771-B6F5-236E4FEE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8801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data-warning">
            <a:extLst xmlns:a="http://schemas.openxmlformats.org/drawingml/2006/main">
              <a:ext uri="{FF2B5EF4-FFF2-40B4-BE49-F238E27FC236}">
                <a16:creationId xmlns:a16="http://schemas.microsoft.com/office/drawing/2014/main" id="{207DAB57-0B21-40BA-BAF2-EE02A59F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0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封存後 artifact 若仍變動就 fail-closed；原始資料保留，不用改 manifest 掩蓋問題。</a:t>
            </a:r>
          </a:p>
        </p:txBody>
      </p:sp>
    </p:spTree>
    <p:extLst>
      <p:ext uri="{BB962C8B-B14F-4D97-AF65-F5344CB8AC3E}">
        <p14:creationId xmlns:p14="http://schemas.microsoft.com/office/powerpoint/2010/main" val="144128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ail-8">
            <a:extLst xmlns:a="http://schemas.openxmlformats.org/drawingml/2006/main">
              <a:ext uri="{FF2B5EF4-FFF2-40B4-BE49-F238E27FC236}">
                <a16:creationId xmlns:a16="http://schemas.microsoft.com/office/drawing/2014/main" id="{02C73E74-F270-4BB2-BA39-4A6F29A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3DEC183-E8ED-4A52-B91D-0354199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Campaign 完成 1,100 場，但乾淨候選只使用 1,099 場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C3BAA59D-87FF-47F3-B4E6-0645440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pilot-20">
            <a:extLst xmlns:a="http://schemas.openxmlformats.org/drawingml/2006/main">
              <a:ext uri="{FF2B5EF4-FFF2-40B4-BE49-F238E27FC236}">
                <a16:creationId xmlns:a16="http://schemas.microsoft.com/office/drawing/2014/main" id="{5B30C10E-7A36-47FA-9BAC-BA7E52D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3238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1100</a:t>
            </a:r>
          </a:p>
        </p:txBody>
      </p:sp>
      <p:sp>
        <p:nvSpPr>
          <p:cNvPr id="7" name="pilot-label">
            <a:extLst xmlns:a="http://schemas.openxmlformats.org/drawingml/2006/main">
              <a:ext uri="{FF2B5EF4-FFF2-40B4-BE49-F238E27FC236}">
                <a16:creationId xmlns:a16="http://schemas.microsoft.com/office/drawing/2014/main" id="{30093C3B-2247-4D76-8CF8-582A8F9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FORMAL SESSIONS</a:t>
            </a:r>
          </a:p>
        </p:txBody>
      </p:sp>
      <p:sp>
        <p:nvSpPr>
          <p:cNvPr id="8" name="pilot-split">
            <a:extLst xmlns:a="http://schemas.openxmlformats.org/drawingml/2006/main">
              <a:ext uri="{FF2B5EF4-FFF2-40B4-BE49-F238E27FC236}">
                <a16:creationId xmlns:a16="http://schemas.microsoft.com/office/drawing/2014/main" id="{E3D1D66B-F79D-40AC-A2FB-92F9F3F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550 Permissive / 550 Enforce</a:t>
            </a:r>
          </a:p>
        </p:txBody>
      </p:sp>
      <p:sp>
        <p:nvSpPr>
          <p:cNvPr id="9" name="pilot-metric-1">
            <a:extLst xmlns:a="http://schemas.openxmlformats.org/drawingml/2006/main">
              <a:ext uri="{FF2B5EF4-FFF2-40B4-BE49-F238E27FC236}">
                <a16:creationId xmlns:a16="http://schemas.microsoft.com/office/drawing/2014/main" id="{0D27329A-E787-440C-94B6-91002204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1,099</a:t>
            </a:r>
          </a:p>
        </p:txBody>
      </p:sp>
      <p:sp>
        <p:nvSpPr>
          <p:cNvPr id="10" name="pilot-metric-label-1">
            <a:extLst xmlns:a="http://schemas.openxmlformats.org/drawingml/2006/main">
              <a:ext uri="{FF2B5EF4-FFF2-40B4-BE49-F238E27FC236}">
                <a16:creationId xmlns:a16="http://schemas.microsoft.com/office/drawing/2014/main" id="{70C8DCB3-4D9D-47BF-BD0B-0633E67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clean candidate sessions</a:t>
            </a:r>
          </a:p>
        </p:txBody>
      </p:sp>
      <p:sp>
        <p:nvSpPr>
          <p:cNvPr id="11" name="pilot-separator-1">
            <a:extLst xmlns:a="http://schemas.openxmlformats.org/drawingml/2006/main">
              <a:ext uri="{FF2B5EF4-FFF2-40B4-BE49-F238E27FC236}">
                <a16:creationId xmlns:a16="http://schemas.microsoft.com/office/drawing/2014/main" id="{4CE5B702-1D8E-4A61-9220-E52715CF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ilot-metric-2">
            <a:extLst xmlns:a="http://schemas.openxmlformats.org/drawingml/2006/main">
              <a:ext uri="{FF2B5EF4-FFF2-40B4-BE49-F238E27FC236}">
                <a16:creationId xmlns:a16="http://schemas.microsoft.com/office/drawing/2014/main" id="{57D28980-F6FC-4C86-A59B-0399360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7.1 GB</a:t>
            </a:r>
          </a:p>
        </p:txBody>
      </p:sp>
      <p:sp>
        <p:nvSpPr>
          <p:cNvPr id="13" name="pilot-metric-label-2">
            <a:extLst xmlns:a="http://schemas.openxmlformats.org/drawingml/2006/main">
              <a:ext uri="{FF2B5EF4-FFF2-40B4-BE49-F238E27FC236}">
                <a16:creationId xmlns:a16="http://schemas.microsoft.com/office/drawing/2014/main" id="{93BA81E2-FD4F-4393-9482-FF508FD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evidence archive</a:t>
            </a:r>
          </a:p>
        </p:txBody>
      </p:sp>
      <p:sp>
        <p:nvSpPr>
          <p:cNvPr id="14" name="pilot-separator-2">
            <a:extLst xmlns:a="http://schemas.openxmlformats.org/drawingml/2006/main">
              <a:ext uri="{FF2B5EF4-FFF2-40B4-BE49-F238E27FC236}">
                <a16:creationId xmlns:a16="http://schemas.microsoft.com/office/drawing/2014/main" id="{8294DCB3-F750-4DC4-BA0B-B4AD8DA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ilot-metric-3">
            <a:extLst xmlns:a="http://schemas.openxmlformats.org/drawingml/2006/main">
              <a:ext uri="{FF2B5EF4-FFF2-40B4-BE49-F238E27FC236}">
                <a16:creationId xmlns:a16="http://schemas.microsoft.com/office/drawing/2014/main" id="{8DC3A233-A7BE-4D3F-B813-34C55CE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6" name="pilot-metric-label-3">
            <a:extLst xmlns:a="http://schemas.openxmlformats.org/drawingml/2006/main">
              <a:ext uri="{FF2B5EF4-FFF2-40B4-BE49-F238E27FC236}">
                <a16:creationId xmlns:a16="http://schemas.microsoft.com/office/drawing/2014/main" id="{C44F6613-9A85-4BB3-8E03-6489166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post-manifest mismatch</a:t>
            </a:r>
          </a:p>
        </p:txBody>
      </p:sp>
      <p:sp>
        <p:nvSpPr>
          <p:cNvPr id="17" name="pilot-meaning">
            <a:extLst xmlns:a="http://schemas.openxmlformats.org/drawingml/2006/main">
              <a:ext uri="{FF2B5EF4-FFF2-40B4-BE49-F238E27FC236}">
                <a16:creationId xmlns:a16="http://schemas.microsoft.com/office/drawing/2014/main" id="{0DE0BA5D-4C3D-4BC0-AB5F-936703B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normal 300；八種攻擊各 100。壞場 stderr 由 3,231 增至 45,206 bytes；以外部 registry 排除，不刪改 raw。</a:t>
            </a:r>
          </a:p>
        </p:txBody>
      </p:sp>
      <p:sp>
        <p:nvSpPr>
          <p:cNvPr id="18" name="pilot-boundary-band">
            <a:extLst xmlns:a="http://schemas.openxmlformats.org/drawingml/2006/main">
              <a:ext uri="{FF2B5EF4-FFF2-40B4-BE49-F238E27FC236}">
                <a16:creationId xmlns:a16="http://schemas.microsoft.com/office/drawing/2014/main" id="{B43F88C1-5FBF-43BA-AE7B-48A95A6A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700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pilot-boundary">
            <a:extLst xmlns:a="http://schemas.openxmlformats.org/drawingml/2006/main">
              <a:ext uri="{FF2B5EF4-FFF2-40B4-BE49-F238E27FC236}">
                <a16:creationId xmlns:a16="http://schemas.microsoft.com/office/drawing/2014/main" id="{4AABAAC1-BC15-4E45-BE34-D8FEDF6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53050"/>
            <a:ext cx="652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CAMPAIGN COMPLETE ≠ 1,100 份全部通過現行完整性驗證</a:t>
            </a:r>
          </a:p>
        </p:txBody>
      </p:sp>
    </p:spTree>
    <p:extLst>
      <p:ext uri="{BB962C8B-B14F-4D97-AF65-F5344CB8AC3E}">
        <p14:creationId xmlns:p14="http://schemas.microsoft.com/office/powerpoint/2010/main" val="4564409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缺少來源不能被包裝成量測到零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證據來源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觀察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正確結論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禁止宣稱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SROS2 adapter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249,670 行／0 deny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vendor deny source unavailable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deny recall = 1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Enforce telemetry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 項中多項恆零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 availability mask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事件真的為 0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UA Permissive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50/50 graph 可見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graph isolation proxy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message 已送達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UA Enforce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50/50 graph 不可見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 isolation 一致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delivery 已證明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PCAP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可見 RTPS／UDP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transport 證據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subscriber outcome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下一步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direct canary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attempt＋receipt＋health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 log 補造結果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ail-9">
            <a:extLst xmlns:a="http://schemas.openxmlformats.org/drawingml/2006/main">
              <a:ext uri="{FF2B5EF4-FFF2-40B4-BE49-F238E27FC236}">
                <a16:creationId xmlns:a16="http://schemas.microsoft.com/office/drawing/2014/main" id="{E74F51EE-1961-44C0-B2A7-71FE6A03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A958235B-C9E6-457F-8C22-5A34122F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32 維多模態被展開成 148 維因果時序特徵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C349AD79-C29A-4A80-B947-BE56FEC9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ai-network-panel">
            <a:extLst xmlns:a="http://schemas.openxmlformats.org/drawingml/2006/main">
              <a:ext uri="{FF2B5EF4-FFF2-40B4-BE49-F238E27FC236}">
                <a16:creationId xmlns:a16="http://schemas.microsoft.com/office/drawing/2014/main" id="{CB1BA9DB-C3A7-4A6A-A407-AEF77A6A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148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8"/>
          </a:solidFill>
          <a:ln xmlns:a="http://schemas.openxmlformats.org/drawingml/2006/main" w="9525">
            <a:solidFill>
              <a:srgbClr val="E4E7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ai-telemetry-panel">
            <a:extLst xmlns:a="http://schemas.openxmlformats.org/drawingml/2006/main">
              <a:ext uri="{FF2B5EF4-FFF2-40B4-BE49-F238E27FC236}">
                <a16:creationId xmlns:a16="http://schemas.microsoft.com/office/drawing/2014/main" id="{EE7298DB-F6D2-465D-AA68-8CDA94B6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695450"/>
            <a:ext cx="47148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ai-fusion-panel">
            <a:extLst xmlns:a="http://schemas.openxmlformats.org/drawingml/2006/main">
              <a:ext uri="{FF2B5EF4-FFF2-40B4-BE49-F238E27FC236}">
                <a16:creationId xmlns:a16="http://schemas.microsoft.com/office/drawing/2014/main" id="{D9D1D5AD-9072-493F-9E97-28132AB8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228850"/>
            <a:ext cx="15430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ai-network-number">
            <a:extLst xmlns:a="http://schemas.openxmlformats.org/drawingml/2006/main">
              <a:ext uri="{FF2B5EF4-FFF2-40B4-BE49-F238E27FC236}">
                <a16:creationId xmlns:a16="http://schemas.microsoft.com/office/drawing/2014/main" id="{325D7D34-33AB-4F94-A146-FCBEC958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0" name="ai-network-title">
            <a:extLst xmlns:a="http://schemas.openxmlformats.org/drawingml/2006/main">
              <a:ext uri="{FF2B5EF4-FFF2-40B4-BE49-F238E27FC236}">
                <a16:creationId xmlns:a16="http://schemas.microsoft.com/office/drawing/2014/main" id="{58EF713F-A789-43AB-B380-D73C4B71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DDS NETWORK</a:t>
            </a:r>
          </a:p>
        </p:txBody>
      </p:sp>
      <p:sp>
        <p:nvSpPr>
          <p:cNvPr id="11" name="ai-network-body">
            <a:extLst xmlns:a="http://schemas.openxmlformats.org/drawingml/2006/main">
              <a:ext uri="{FF2B5EF4-FFF2-40B4-BE49-F238E27FC236}">
                <a16:creationId xmlns:a16="http://schemas.microsoft.com/office/drawing/2014/main" id="{CCF01C69-254D-40E2-ADC9-A994D118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封包／連線／來源／目的／埠／protocol／Zeek 事件。</a:t>
            </a:r>
          </a:p>
          <a:p xmlns:a="http://schemas.openxmlformats.org/drawingml/2006/main">
            <a:r>
              <a:t/>
            </a:r>
            <a:endParaRPr sz="1350" b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依 (session, source) 保存最多兩個過去視窗。</a:t>
            </a:r>
          </a:p>
        </p:txBody>
      </p:sp>
      <p:sp>
        <p:nvSpPr>
          <p:cNvPr id="12" name="ai-fusion-text">
            <a:extLst xmlns:a="http://schemas.openxmlformats.org/drawingml/2006/main">
              <a:ext uri="{FF2B5EF4-FFF2-40B4-BE49-F238E27FC236}">
                <a16:creationId xmlns:a16="http://schemas.microsoft.com/office/drawing/2014/main" id="{23277CB1-FD53-41E6-B9BD-8C69D04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24125"/>
            <a:ext cx="123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4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CAUSAL FUSION</a:t>
            </a:r>
          </a:p>
          <a:p xmlns:a="http://schemas.openxmlformats.org/drawingml/2006/main">
            <a:r>
              <a:t/>
            </a:r>
            <a:endParaRPr sz="1650" b="1">
              <a:solidFill>
                <a:srgbClr val="FAF8F3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32 current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+ 32 delta-1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+ 64 rolling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+ 20 masks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=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148</a:t>
            </a:r>
          </a:p>
        </p:txBody>
      </p:sp>
      <p:sp>
        <p:nvSpPr>
          <p:cNvPr id="13" name="ai-telemetry-number">
            <a:extLst xmlns:a="http://schemas.openxmlformats.org/drawingml/2006/main">
              <a:ext uri="{FF2B5EF4-FFF2-40B4-BE49-F238E27FC236}">
                <a16:creationId xmlns:a16="http://schemas.microsoft.com/office/drawing/2014/main" id="{BA147F41-0BA6-4E4A-8F23-CA4EA3D4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4" name="ai-telemetry-title">
            <a:extLst xmlns:a="http://schemas.openxmlformats.org/drawingml/2006/main">
              <a:ext uri="{FF2B5EF4-FFF2-40B4-BE49-F238E27FC236}">
                <a16:creationId xmlns:a16="http://schemas.microsoft.com/office/drawing/2014/main" id="{09C22F3D-1A2B-4284-97E7-AE72B5D8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37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ROS / SROS2 TELEMETRY</a:t>
            </a:r>
          </a:p>
        </p:txBody>
      </p:sp>
      <p:sp>
        <p:nvSpPr>
          <p:cNvPr id="15" name="ai-telemetry-body">
            <a:extLst xmlns:a="http://schemas.openxmlformats.org/drawingml/2006/main">
              <a:ext uri="{FF2B5EF4-FFF2-40B4-BE49-F238E27FC236}">
                <a16:creationId xmlns:a16="http://schemas.microsoft.com/office/drawing/2014/main" id="{A31A91D5-F693-478D-9118-90D499B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HMAC／graph／heartbeat／guard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scan／odom／cmd</a:t>
            </a:r>
          </a:p>
          <a:p xmlns:a="http://schemas.openxmlformats.org/drawingml/2006/main">
            <a:r>
              <a:t/>
            </a:r>
            <a:endParaRPr sz="1350" b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source mask 分開「不可用」與「真實為零」。</a:t>
            </a:r>
          </a:p>
        </p:txBody>
      </p:sp>
      <p:sp>
        <p:nvSpPr>
          <p:cNvPr id="16" name="ai-blocker-band">
            <a:extLst xmlns:a="http://schemas.openxmlformats.org/drawingml/2006/main">
              <a:ext uri="{FF2B5EF4-FFF2-40B4-BE49-F238E27FC236}">
                <a16:creationId xmlns:a16="http://schemas.microsoft.com/office/drawing/2014/main" id="{5B0A61CE-4994-4E7F-9153-11CA5C3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i-blocker-text">
            <a:extLst xmlns:a="http://schemas.openxmlformats.org/drawingml/2006/main">
              <a:ext uri="{FF2B5EF4-FFF2-40B4-BE49-F238E27FC236}">
                <a16:creationId xmlns:a16="http://schemas.microsoft.com/office/drawing/2014/main" id="{919E45A1-D8DE-4E71-BCD2-E90F1DB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不使用 timestamp、window index 或未來資料；padding 由 history mask 表示。</a:t>
            </a:r>
          </a:p>
        </p:txBody>
      </p:sp>
    </p:spTree>
    <p:extLst>
      <p:ext uri="{BB962C8B-B14F-4D97-AF65-F5344CB8AC3E}">
        <p14:creationId xmlns:p14="http://schemas.microsoft.com/office/powerpoint/2010/main" val="115739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模式高度可辨識，因此必須分模式訓練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風險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設計決定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mode separability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0.9451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模型可能只記模式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分開訓練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單特徵辨識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 中 10 項可辨識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collection bias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逐特徵稽核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8 特徵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仍 0.8568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偏差尚未消失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 mode contract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attack AUC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0.9499 → 0.7482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硬刪會丟攻擊訊號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不粗暴去特徵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跨模式 paired seed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pair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日期／revision 共線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補 AB/BA crossover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目前結論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mode-associated shift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不能做純因果宣稱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final holdout 重驗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ail-4">
            <a:extLst xmlns:a="http://schemas.openxmlformats.org/drawingml/2006/main">
              <a:ext uri="{FF2B5EF4-FFF2-40B4-BE49-F238E27FC236}">
                <a16:creationId xmlns:a16="http://schemas.microsoft.com/office/drawing/2014/main" id="{B85B79E5-68FD-4521-9C9C-7CB5117C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72CFD4E5-8BEB-460D-9C49-0C16FBD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分層 AI 先回答有沒有攻擊，再決定家族與診斷類型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4AA6B4CF-FC7C-4521-92C4-8736D130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A824570B-B420-4BDA-8B97-A199CBB7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避免平面九類在未知或低信心情況下硬猜一個可執行動作。</a:t>
            </a:r>
          </a:p>
        </p:txBody>
      </p:sp>
      <p:sp>
        <p:nvSpPr>
          <p:cNvPr id="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BDDF5001-AEAC-4CCE-918F-BF846E7B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D78AC9B7-9E37-465A-9C29-58D286A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55E014E2-17D1-47CF-A16F-190899CA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architecture-arrow-4">
            <a:extLst xmlns:a="http://schemas.openxmlformats.org/drawingml/2006/main">
              <a:ext uri="{FF2B5EF4-FFF2-40B4-BE49-F238E27FC236}">
                <a16:creationId xmlns:a16="http://schemas.microsoft.com/office/drawing/2014/main" id="{19FE8BB1-D986-406E-95FB-4D4BF6E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3C847825-4317-492F-A82B-4EE3E5F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architecture-number-1">
            <a:extLst xmlns:a="http://schemas.openxmlformats.org/drawingml/2006/main">
              <a:ext uri="{FF2B5EF4-FFF2-40B4-BE49-F238E27FC236}">
                <a16:creationId xmlns:a16="http://schemas.microsoft.com/office/drawing/2014/main" id="{7507B939-3ADB-49DB-B566-9C77B767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D104A880-613B-42D7-B1F1-377B0DF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Binary</a:t>
            </a:r>
            <a:endParaRPr sz="1875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architecture-node-rule-1">
            <a:extLst xmlns:a="http://schemas.openxmlformats.org/drawingml/2006/main">
              <a:ext uri="{FF2B5EF4-FFF2-40B4-BE49-F238E27FC236}">
                <a16:creationId xmlns:a16="http://schemas.microsoft.com/office/drawing/2014/main" id="{5C939F5F-E07B-4BCE-81DF-88E37B07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956C3699-913E-4D93-9BB7-D651021B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normal / attack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第一道風險閘門</a:t>
            </a:r>
          </a:p>
        </p:txBody>
      </p:sp>
      <p:sp>
        <p:nvSpPr>
          <p:cNvPr id="16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D86426C2-8403-4C37-9DC9-B6EC4367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DCD8D1"/>
          </a:solidFill>
          <a:ln xmlns:a="http://schemas.openxmlformats.org/drawingml/2006/main" w="9525">
            <a:solidFill>
              <a:srgbClr val="DCD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rchitecture-number-2">
            <a:extLst xmlns:a="http://schemas.openxmlformats.org/drawingml/2006/main">
              <a:ext uri="{FF2B5EF4-FFF2-40B4-BE49-F238E27FC236}">
                <a16:creationId xmlns:a16="http://schemas.microsoft.com/office/drawing/2014/main" id="{685147F4-A59F-49C2-BEAA-6BA153F4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8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63675792-DF2A-4021-9618-B8F364CC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Family</a:t>
            </a:r>
          </a:p>
        </p:txBody>
      </p:sp>
      <p:sp>
        <p:nvSpPr>
          <p:cNvPr id="19" name="architecture-node-rule-2">
            <a:extLst xmlns:a="http://schemas.openxmlformats.org/drawingml/2006/main">
              <a:ext uri="{FF2B5EF4-FFF2-40B4-BE49-F238E27FC236}">
                <a16:creationId xmlns:a16="http://schemas.microsoft.com/office/drawing/2014/main" id="{12E5AF00-FB45-4C2A-9744-B758CF17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DB16A78F-68AF-4F3B-B1D6-3BE1AB7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participant deny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control lock／app drop</a:t>
            </a:r>
          </a:p>
        </p:txBody>
      </p:sp>
      <p:sp>
        <p:nvSpPr>
          <p:cNvPr id="21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A0A432B9-0E35-4EAB-A705-007FFFFF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4E7E8"/>
          </a:solidFill>
          <a:ln xmlns:a="http://schemas.openxmlformats.org/drawingml/2006/main" w="9525">
            <a:solidFill>
              <a:srgbClr val="E4E7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rchitecture-number-3">
            <a:extLst xmlns:a="http://schemas.openxmlformats.org/drawingml/2006/main">
              <a:ext uri="{FF2B5EF4-FFF2-40B4-BE49-F238E27FC236}">
                <a16:creationId xmlns:a16="http://schemas.microsoft.com/office/drawing/2014/main" id="{8E667195-D36D-46F0-9098-5180B0B4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3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FA534B62-7AB0-4723-82CB-A43FBD5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Leaf</a:t>
            </a:r>
          </a:p>
        </p:txBody>
      </p:sp>
      <p:sp>
        <p:nvSpPr>
          <p:cNvPr id="24" name="architecture-node-rule-3">
            <a:extLst xmlns:a="http://schemas.openxmlformats.org/drawingml/2006/main">
              <a:ext uri="{FF2B5EF4-FFF2-40B4-BE49-F238E27FC236}">
                <a16:creationId xmlns:a16="http://schemas.microsoft.com/office/drawing/2014/main" id="{BB1BD410-48D1-42B5-B498-6D2ADD0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14D31D5E-5109-482D-BE62-7C2ECB6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family 內 subtype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只供診斷</a:t>
            </a:r>
          </a:p>
        </p:txBody>
      </p:sp>
      <p:sp>
        <p:nvSpPr>
          <p:cNvPr id="26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03A37CA8-2191-463B-850F-7538A6C5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architecture-number-4">
            <a:extLst xmlns:a="http://schemas.openxmlformats.org/drawingml/2006/main">
              <a:ext uri="{FF2B5EF4-FFF2-40B4-BE49-F238E27FC236}">
                <a16:creationId xmlns:a16="http://schemas.microsoft.com/office/drawing/2014/main" id="{17F7F90C-E59C-4B5D-8C5B-03DF603B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8" name="architecture-title-4">
            <a:extLst xmlns:a="http://schemas.openxmlformats.org/drawingml/2006/main">
              <a:ext uri="{FF2B5EF4-FFF2-40B4-BE49-F238E27FC236}">
                <a16:creationId xmlns:a16="http://schemas.microsoft.com/office/drawing/2014/main" id="{1499A45A-3CDD-429F-8943-5F41A8E1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Dual OOD</a:t>
            </a:r>
          </a:p>
        </p:txBody>
      </p:sp>
      <p:sp>
        <p:nvSpPr>
          <p:cNvPr id="29" name="architecture-node-rule-4">
            <a:extLst xmlns:a="http://schemas.openxmlformats.org/drawingml/2006/main">
              <a:ext uri="{FF2B5EF4-FFF2-40B4-BE49-F238E27FC236}">
                <a16:creationId xmlns:a16="http://schemas.microsoft.com/office/drawing/2014/main" id="{F5C73755-5FCE-4443-B780-4D271BCD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7"/>
          </a:solidFill>
          <a:ln xmlns:a="http://schemas.openxmlformats.org/drawingml/2006/main" w="9525">
            <a:solidFill>
              <a:srgbClr val="B9BD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architecture-body-4">
            <a:extLst xmlns:a="http://schemas.openxmlformats.org/drawingml/2006/main">
              <a:ext uri="{FF2B5EF4-FFF2-40B4-BE49-F238E27FC236}">
                <a16:creationId xmlns:a16="http://schemas.microsoft.com/office/drawing/2014/main" id="{63A3C993-022D-4273-9784-78B9A010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normality OOD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known-attack OOD</a:t>
            </a:r>
          </a:p>
        </p:txBody>
      </p:sp>
      <p:sp>
        <p:nvSpPr>
          <p:cNvPr id="31" name="architecture-node-5">
            <a:extLst xmlns:a="http://schemas.openxmlformats.org/drawingml/2006/main">
              <a:ext uri="{FF2B5EF4-FFF2-40B4-BE49-F238E27FC236}">
                <a16:creationId xmlns:a16="http://schemas.microsoft.com/office/drawing/2014/main" id="{933BC75A-FDCB-44BF-B795-F6277CC3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architecture-number-5">
            <a:extLst xmlns:a="http://schemas.openxmlformats.org/drawingml/2006/main">
              <a:ext uri="{FF2B5EF4-FFF2-40B4-BE49-F238E27FC236}">
                <a16:creationId xmlns:a16="http://schemas.microsoft.com/office/drawing/2014/main" id="{7A395725-D53C-4797-9FE4-1713F4F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architecture-title-5">
            <a:extLst xmlns:a="http://schemas.openxmlformats.org/drawingml/2006/main">
              <a:ext uri="{FF2B5EF4-FFF2-40B4-BE49-F238E27FC236}">
                <a16:creationId xmlns:a16="http://schemas.microsoft.com/office/drawing/2014/main" id="{971F64B3-58D8-4078-B455-B18BC5A0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Safe route</a:t>
            </a:r>
          </a:p>
        </p:txBody>
      </p:sp>
      <p:sp>
        <p:nvSpPr>
          <p:cNvPr id="34" name="architecture-node-rule-5">
            <a:extLst xmlns:a="http://schemas.openxmlformats.org/drawingml/2006/main">
              <a:ext uri="{FF2B5EF4-FFF2-40B4-BE49-F238E27FC236}">
                <a16:creationId xmlns:a16="http://schemas.microsoft.com/office/drawing/2014/main" id="{6D8367D4-E24B-43F7-BEE0-35B4DF83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7"/>
          </a:solidFill>
          <a:ln xmlns:a="http://schemas.openxmlformats.org/drawingml/2006/main" w="9525">
            <a:solidFill>
              <a:srgbClr val="B9BD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architecture-body-5">
            <a:extLst xmlns:a="http://schemas.openxmlformats.org/drawingml/2006/main">
              <a:ext uri="{FF2B5EF4-FFF2-40B4-BE49-F238E27FC236}">
                <a16:creationId xmlns:a16="http://schemas.microsoft.com/office/drawing/2014/main" id="{3DBBB6B1-5388-4F6C-AD00-6B076F7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unknown／low confidence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一律 alert</a:t>
            </a:r>
          </a:p>
        </p:txBody>
      </p:sp>
      <p:sp>
        <p:nvSpPr>
          <p:cNvPr id="36" name="architecture-evidence">
            <a:extLst xmlns:a="http://schemas.openxmlformats.org/drawingml/2006/main">
              <a:ext uri="{FF2B5EF4-FFF2-40B4-BE49-F238E27FC236}">
                <a16:creationId xmlns:a16="http://schemas.microsoft.com/office/drawing/2014/main" id="{B314C20C-37A6-4C74-A8AB-47E07AB9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candidate 固定 deployment_eligible=false、executable=false、adapter=none。</a:t>
            </a:r>
          </a:p>
        </p:txBody>
      </p:sp>
    </p:spTree>
    <p:extLst>
      <p:ext uri="{BB962C8B-B14F-4D97-AF65-F5344CB8AC3E}">
        <p14:creationId xmlns:p14="http://schemas.microsoft.com/office/powerpoint/2010/main" val="3062986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評估契約刻意不讀歷史 test，只做開發期比較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資料責任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隔離條件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輸出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擬合候選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session grouped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sklearn models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Selection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 model／view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與其他組零重疊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75 configs／mode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Calibration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機率校準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獨立 sessions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ECE／Brier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Threshold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開發門檻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另一組 sessions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F1／FPR／CI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Novelty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sensor_spoof＋service_dos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四階段全部排除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true holdout sessions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Historical test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metadata only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label／feature／prediction = 0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final deferred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ail-8">
            <a:extLst xmlns:a="http://schemas.openxmlformats.org/drawingml/2006/main">
              <a:ext uri="{FF2B5EF4-FFF2-40B4-BE49-F238E27FC236}">
                <a16:creationId xmlns:a16="http://schemas.microsoft.com/office/drawing/2014/main" id="{02C73E74-F270-4BB2-BA39-4A6F29A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3DEC183-E8ED-4A52-B91D-0354199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r4 二元偵測很強，但 Enforce 的家族覆蓋仍不足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C3BAA59D-87FF-47F3-B4E6-0645440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pilot-20">
            <a:extLst xmlns:a="http://schemas.openxmlformats.org/drawingml/2006/main">
              <a:ext uri="{FF2B5EF4-FFF2-40B4-BE49-F238E27FC236}">
                <a16:creationId xmlns:a16="http://schemas.microsoft.com/office/drawing/2014/main" id="{5B30C10E-7A36-47FA-9BAC-BA7E52D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3238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1099</a:t>
            </a:r>
          </a:p>
        </p:txBody>
      </p:sp>
      <p:sp>
        <p:nvSpPr>
          <p:cNvPr id="7" name="pilot-label">
            <a:extLst xmlns:a="http://schemas.openxmlformats.org/drawingml/2006/main">
              <a:ext uri="{FF2B5EF4-FFF2-40B4-BE49-F238E27FC236}">
                <a16:creationId xmlns:a16="http://schemas.microsoft.com/office/drawing/2014/main" id="{30093C3B-2247-4D76-8CF8-582A8F9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CLEAN SESSIONS</a:t>
            </a:r>
          </a:p>
        </p:txBody>
      </p:sp>
      <p:sp>
        <p:nvSpPr>
          <p:cNvPr id="8" name="pilot-split">
            <a:extLst xmlns:a="http://schemas.openxmlformats.org/drawingml/2006/main">
              <a:ext uri="{FF2B5EF4-FFF2-40B4-BE49-F238E27FC236}">
                <a16:creationId xmlns:a16="http://schemas.microsoft.com/office/drawing/2014/main" id="{E3D1D66B-F79D-40AC-A2FB-92F9F3F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validation-only / no historical test prediction</a:t>
            </a:r>
          </a:p>
        </p:txBody>
      </p:sp>
      <p:sp>
        <p:nvSpPr>
          <p:cNvPr id="9" name="pilot-metric-1">
            <a:extLst xmlns:a="http://schemas.openxmlformats.org/drawingml/2006/main">
              <a:ext uri="{FF2B5EF4-FFF2-40B4-BE49-F238E27FC236}">
                <a16:creationId xmlns:a16="http://schemas.microsoft.com/office/drawing/2014/main" id="{0D27329A-E787-440C-94B6-91002204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0.9793</a:t>
            </a:r>
          </a:p>
        </p:txBody>
      </p:sp>
      <p:sp>
        <p:nvSpPr>
          <p:cNvPr id="10" name="pilot-metric-label-1">
            <a:extLst xmlns:a="http://schemas.openxmlformats.org/drawingml/2006/main">
              <a:ext uri="{FF2B5EF4-FFF2-40B4-BE49-F238E27FC236}">
                <a16:creationId xmlns:a16="http://schemas.microsoft.com/office/drawing/2014/main" id="{70C8DCB3-4D9D-47BF-BD0B-0633E67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Permissive binary BA</a:t>
            </a:r>
          </a:p>
        </p:txBody>
      </p:sp>
      <p:sp>
        <p:nvSpPr>
          <p:cNvPr id="11" name="pilot-separator-1">
            <a:extLst xmlns:a="http://schemas.openxmlformats.org/drawingml/2006/main">
              <a:ext uri="{FF2B5EF4-FFF2-40B4-BE49-F238E27FC236}">
                <a16:creationId xmlns:a16="http://schemas.microsoft.com/office/drawing/2014/main" id="{4CE5B702-1D8E-4A61-9220-E52715CF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ilot-metric-2">
            <a:extLst xmlns:a="http://schemas.openxmlformats.org/drawingml/2006/main">
              <a:ext uri="{FF2B5EF4-FFF2-40B4-BE49-F238E27FC236}">
                <a16:creationId xmlns:a16="http://schemas.microsoft.com/office/drawing/2014/main" id="{57D28980-F6FC-4C86-A59B-0399360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0.9934</a:t>
            </a:r>
          </a:p>
        </p:txBody>
      </p:sp>
      <p:sp>
        <p:nvSpPr>
          <p:cNvPr id="13" name="pilot-metric-label-2">
            <a:extLst xmlns:a="http://schemas.openxmlformats.org/drawingml/2006/main">
              <a:ext uri="{FF2B5EF4-FFF2-40B4-BE49-F238E27FC236}">
                <a16:creationId xmlns:a16="http://schemas.microsoft.com/office/drawing/2014/main" id="{93BA81E2-FD4F-4393-9482-FF508FD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Enforce binary BA</a:t>
            </a:r>
          </a:p>
        </p:txBody>
      </p:sp>
      <p:sp>
        <p:nvSpPr>
          <p:cNvPr id="14" name="pilot-separator-2">
            <a:extLst xmlns:a="http://schemas.openxmlformats.org/drawingml/2006/main">
              <a:ext uri="{FF2B5EF4-FFF2-40B4-BE49-F238E27FC236}">
                <a16:creationId xmlns:a16="http://schemas.microsoft.com/office/drawing/2014/main" id="{8294DCB3-F750-4DC4-BA0B-B4AD8DA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ilot-metric-3">
            <a:extLst xmlns:a="http://schemas.openxmlformats.org/drawingml/2006/main">
              <a:ext uri="{FF2B5EF4-FFF2-40B4-BE49-F238E27FC236}">
                <a16:creationId xmlns:a16="http://schemas.microsoft.com/office/drawing/2014/main" id="{8DC3A233-A7BE-4D3F-B813-34C55CE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13.3%</a:t>
            </a:r>
          </a:p>
        </p:txBody>
      </p:sp>
      <p:sp>
        <p:nvSpPr>
          <p:cNvPr id="16" name="pilot-metric-label-3">
            <a:extLst xmlns:a="http://schemas.openxmlformats.org/drawingml/2006/main">
              <a:ext uri="{FF2B5EF4-FFF2-40B4-BE49-F238E27FC236}">
                <a16:creationId xmlns:a16="http://schemas.microsoft.com/office/drawing/2014/main" id="{C44F6613-9A85-4BB3-8E03-6489166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Enforce family coverage</a:t>
            </a:r>
          </a:p>
        </p:txBody>
      </p:sp>
      <p:sp>
        <p:nvSpPr>
          <p:cNvPr id="17" name="pilot-meaning">
            <a:extLst xmlns:a="http://schemas.openxmlformats.org/drawingml/2006/main">
              <a:ext uri="{FF2B5EF4-FFF2-40B4-BE49-F238E27FC236}">
                <a16:creationId xmlns:a16="http://schemas.microsoft.com/office/drawing/2014/main" id="{0DE0BA5D-4C3D-4BC0-AB5F-936703B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Permissive family macro-F1 0.8522／coverage 84.17%；Enforce family macro-F1 0.5980／coverage 13.33%。</a:t>
            </a:r>
          </a:p>
        </p:txBody>
      </p:sp>
      <p:sp>
        <p:nvSpPr>
          <p:cNvPr id="18" name="pilot-boundary-band">
            <a:extLst xmlns:a="http://schemas.openxmlformats.org/drawingml/2006/main">
              <a:ext uri="{FF2B5EF4-FFF2-40B4-BE49-F238E27FC236}">
                <a16:creationId xmlns:a16="http://schemas.microsoft.com/office/drawing/2014/main" id="{B43F88C1-5FBF-43BA-AE7B-48A95A6A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700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pilot-boundary">
            <a:extLst xmlns:a="http://schemas.openxmlformats.org/drawingml/2006/main">
              <a:ext uri="{FF2B5EF4-FFF2-40B4-BE49-F238E27FC236}">
                <a16:creationId xmlns:a16="http://schemas.microsoft.com/office/drawing/2014/main" id="{4AABAAC1-BC15-4E45-BE34-D8FEDF6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53050"/>
            <a:ext cx="652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VALIDATION-ONLY｜二元偵測 ≠ 可安全選擇封鎖動作</a:t>
            </a:r>
          </a:p>
        </p:txBody>
      </p:sp>
    </p:spTree>
    <p:extLst>
      <p:ext uri="{BB962C8B-B14F-4D97-AF65-F5344CB8AC3E}">
        <p14:creationId xmlns:p14="http://schemas.microsoft.com/office/powerpoint/2010/main" val="4564409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公平比較支持因果時序特徵，但不是 sealed final test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Mode／Task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Causal best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95% session CI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限制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P／Binary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Logistic F1 0.9822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0.9560–1.0000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P95 0.686 ms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P／Family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ExtraTrees 0.8386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0.6741–0.9470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仍需 final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P／Leaf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HistGB 0.7478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0.6495–0.8223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診斷用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E／Binary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HistGB 0.9708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0.9413–0.9948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P95 1.555 ms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E／Family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RF 0.6124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0.4816–0.7064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signal 不足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E／Leaf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ExtraTrees 0.3803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0.2412–0.4547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不可執行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ail-11">
            <a:extLst xmlns:a="http://schemas.openxmlformats.org/drawingml/2006/main">
              <a:ext uri="{FF2B5EF4-FFF2-40B4-BE49-F238E27FC236}">
                <a16:creationId xmlns:a16="http://schemas.microsoft.com/office/drawing/2014/main" id="{113CC95A-9A37-427E-944E-2A944298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F3DF618F-6F3F-4D18-8F66-2F02FC7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Direct delivery 與九項本機 outcome 是部署前的事實閘門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DE745242-998F-45B0-AAA5-AE71DB77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response-label">
            <a:extLst xmlns:a="http://schemas.openxmlformats.org/drawingml/2006/main">
              <a:ext uri="{FF2B5EF4-FFF2-40B4-BE49-F238E27FC236}">
                <a16:creationId xmlns:a16="http://schemas.microsoft.com/office/drawing/2014/main" id="{BB3E06E3-4654-4019-B5E9-419FADF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EVIDENCE CONTRACT</a:t>
            </a:r>
          </a:p>
        </p:txBody>
      </p:sp>
      <p:sp>
        <p:nvSpPr>
          <p:cNvPr id="7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E3AC8758-E9E0-4C75-AC72-16AC9354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Direct-delivery 驗票五步</a:t>
            </a:r>
          </a:p>
        </p:txBody>
      </p:sp>
      <p:sp>
        <p:nvSpPr>
          <p:cNvPr id="8" name="gate-number-1">
            <a:extLst xmlns:a="http://schemas.openxmlformats.org/drawingml/2006/main">
              <a:ext uri="{FF2B5EF4-FFF2-40B4-BE49-F238E27FC236}">
                <a16:creationId xmlns:a16="http://schemas.microsoft.com/office/drawing/2014/main" id="{6E42D0BD-BAE4-494D-8838-A1F3A26F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gate-text-1">
            <a:extLst xmlns:a="http://schemas.openxmlformats.org/drawingml/2006/main">
              <a:ext uri="{FF2B5EF4-FFF2-40B4-BE49-F238E27FC236}">
                <a16:creationId xmlns:a16="http://schemas.microsoft.com/office/drawing/2014/main" id="{50B50E53-158D-4467-B574-A3FB82C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綁定 session／mode／policy／topic／enclave</a:t>
            </a:r>
          </a:p>
        </p:txBody>
      </p:sp>
      <p:sp>
        <p:nvSpPr>
          <p:cNvPr id="10" name="gate-rule-1">
            <a:extLst xmlns:a="http://schemas.openxmlformats.org/drawingml/2006/main">
              <a:ext uri="{FF2B5EF4-FFF2-40B4-BE49-F238E27FC236}">
                <a16:creationId xmlns:a16="http://schemas.microsoft.com/office/drawing/2014/main" id="{016DCD14-75C9-42D5-A5FF-CD350E6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146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gate-number-2">
            <a:extLst xmlns:a="http://schemas.openxmlformats.org/drawingml/2006/main">
              <a:ext uri="{FF2B5EF4-FFF2-40B4-BE49-F238E27FC236}">
                <a16:creationId xmlns:a16="http://schemas.microsoft.com/office/drawing/2014/main" id="{7F8D795E-8867-4BA5-A0E7-560F509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gate-text-2">
            <a:extLst xmlns:a="http://schemas.openxmlformats.org/drawingml/2006/main">
              <a:ext uri="{FF2B5EF4-FFF2-40B4-BE49-F238E27FC236}">
                <a16:creationId xmlns:a16="http://schemas.microsoft.com/office/drawing/2014/main" id="{7A17991C-9B31-43DC-ADD4-22F5E00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attempted sequence 連續且完整</a:t>
            </a:r>
          </a:p>
        </p:txBody>
      </p:sp>
      <p:sp>
        <p:nvSpPr>
          <p:cNvPr id="13" name="gate-rule-2">
            <a:extLst xmlns:a="http://schemas.openxmlformats.org/drawingml/2006/main">
              <a:ext uri="{FF2B5EF4-FFF2-40B4-BE49-F238E27FC236}">
                <a16:creationId xmlns:a16="http://schemas.microsoft.com/office/drawing/2014/main" id="{9B98A44F-1DC9-4DFB-8E99-FFDADF76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gate-number-3">
            <a:extLst xmlns:a="http://schemas.openxmlformats.org/drawingml/2006/main">
              <a:ext uri="{FF2B5EF4-FFF2-40B4-BE49-F238E27FC236}">
                <a16:creationId xmlns:a16="http://schemas.microsoft.com/office/drawing/2014/main" id="{8211B74B-3093-406D-9C61-942DFD91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gate-text-3">
            <a:extLst xmlns:a="http://schemas.openxmlformats.org/drawingml/2006/main">
              <a:ext uri="{FF2B5EF4-FFF2-40B4-BE49-F238E27FC236}">
                <a16:creationId xmlns:a16="http://schemas.microsoft.com/office/drawing/2014/main" id="{CD77E529-0600-4C3B-A399-4A6AB8E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957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received sequence 只能是 attempt 子集</a:t>
            </a:r>
          </a:p>
        </p:txBody>
      </p:sp>
      <p:sp>
        <p:nvSpPr>
          <p:cNvPr id="16" name="gate-rule-3">
            <a:extLst xmlns:a="http://schemas.openxmlformats.org/drawingml/2006/main">
              <a:ext uri="{FF2B5EF4-FFF2-40B4-BE49-F238E27FC236}">
                <a16:creationId xmlns:a16="http://schemas.microsoft.com/office/drawing/2014/main" id="{4E4E374E-8E9F-4199-8088-108E3D84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957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gate-number-4">
            <a:extLst xmlns:a="http://schemas.openxmlformats.org/drawingml/2006/main">
              <a:ext uri="{FF2B5EF4-FFF2-40B4-BE49-F238E27FC236}">
                <a16:creationId xmlns:a16="http://schemas.microsoft.com/office/drawing/2014/main" id="{719E8D94-93F1-4B85-9A87-7BAAB9D4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gate-text-4">
            <a:extLst xmlns:a="http://schemas.openxmlformats.org/drawingml/2006/main">
              <a:ext uri="{FF2B5EF4-FFF2-40B4-BE49-F238E27FC236}">
                <a16:creationId xmlns:a16="http://schemas.microsoft.com/office/drawing/2014/main" id="{AE0E6115-C508-4547-BEBE-3C2203E7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862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雙 collector heartbeat 與 clean shutdown</a:t>
            </a:r>
          </a:p>
        </p:txBody>
      </p:sp>
      <p:sp>
        <p:nvSpPr>
          <p:cNvPr id="19" name="gate-rule-4">
            <a:extLst xmlns:a="http://schemas.openxmlformats.org/drawingml/2006/main">
              <a:ext uri="{FF2B5EF4-FFF2-40B4-BE49-F238E27FC236}">
                <a16:creationId xmlns:a16="http://schemas.microsoft.com/office/drawing/2014/main" id="{B5DEE0B4-7C44-4A52-98EA-D5E8A84F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863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gate-number-5">
            <a:extLst xmlns:a="http://schemas.openxmlformats.org/drawingml/2006/main">
              <a:ext uri="{FF2B5EF4-FFF2-40B4-BE49-F238E27FC236}">
                <a16:creationId xmlns:a16="http://schemas.microsoft.com/office/drawing/2014/main" id="{B23B8990-5EC7-46E8-BAA0-33114EFF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gate-text-5">
            <a:extLst xmlns:a="http://schemas.openxmlformats.org/drawingml/2006/main">
              <a:ext uri="{FF2B5EF4-FFF2-40B4-BE49-F238E27FC236}">
                <a16:creationId xmlns:a16="http://schemas.microsoft.com/office/drawing/2014/main" id="{F98F67A9-B12B-46B3-AB9D-C61CA79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重算 TP／FN／FP／TN；拒絕補造</a:t>
            </a:r>
          </a:p>
        </p:txBody>
      </p:sp>
      <p:sp>
        <p:nvSpPr>
          <p:cNvPr id="22" name="gate-rule-5">
            <a:extLst xmlns:a="http://schemas.openxmlformats.org/drawingml/2006/main">
              <a:ext uri="{FF2B5EF4-FFF2-40B4-BE49-F238E27FC236}">
                <a16:creationId xmlns:a16="http://schemas.microsoft.com/office/drawing/2014/main" id="{7D4BECAC-828A-476D-8E55-22B69A6B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768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entest-field">
            <a:extLst xmlns:a="http://schemas.openxmlformats.org/drawingml/2006/main">
              <a:ext uri="{FF2B5EF4-FFF2-40B4-BE49-F238E27FC236}">
                <a16:creationId xmlns:a16="http://schemas.microsoft.com/office/drawing/2014/main" id="{7DCA6514-3851-4DDD-B063-057C868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772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pentest-label">
            <a:extLst xmlns:a="http://schemas.openxmlformats.org/drawingml/2006/main">
              <a:ext uri="{FF2B5EF4-FFF2-40B4-BE49-F238E27FC236}">
                <a16:creationId xmlns:a16="http://schemas.microsoft.com/office/drawing/2014/main" id="{D92E567D-A03C-422E-8DFF-3EC3CC4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LOCAL OUTCOMES</a:t>
            </a:r>
          </a:p>
        </p:txBody>
      </p:sp>
      <p:sp>
        <p:nvSpPr>
          <p:cNvPr id="25" name="pentest-title">
            <a:extLst xmlns:a="http://schemas.openxmlformats.org/drawingml/2006/main">
              <a:ext uri="{FF2B5EF4-FFF2-40B4-BE49-F238E27FC236}">
                <a16:creationId xmlns:a16="http://schemas.microsoft.com/office/drawing/2014/main" id="{6169BA73-4B1A-4E24-9A1E-538E565B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九項驗收群組</a:t>
            </a:r>
          </a:p>
        </p:txBody>
      </p:sp>
      <p:sp>
        <p:nvSpPr>
          <p:cNvPr id="26" name="pentest-timeline">
            <a:extLst xmlns:a="http://schemas.openxmlformats.org/drawingml/2006/main">
              <a:ext uri="{FF2B5EF4-FFF2-40B4-BE49-F238E27FC236}">
                <a16:creationId xmlns:a16="http://schemas.microsoft.com/office/drawing/2014/main" id="{E7DA95F9-8A32-498B-9A8C-2AB00D79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entest-stage-A">
            <a:extLst xmlns:a="http://schemas.openxmlformats.org/drawingml/2006/main">
              <a:ext uri="{FF2B5EF4-FFF2-40B4-BE49-F238E27FC236}">
                <a16:creationId xmlns:a16="http://schemas.microsoft.com/office/drawing/2014/main" id="{0C22CBB5-7ECE-4219-B235-A13EE91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52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8" name="pentest-stage-text-A">
            <a:extLst xmlns:a="http://schemas.openxmlformats.org/drawingml/2006/main">
              <a:ext uri="{FF2B5EF4-FFF2-40B4-BE49-F238E27FC236}">
                <a16:creationId xmlns:a16="http://schemas.microsoft.com/office/drawing/2014/main" id="{1477B7FD-6405-4B60-A61B-99A1E39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正常保留／SROS2</a:t>
            </a:r>
          </a:p>
        </p:txBody>
      </p:sp>
      <p:sp>
        <p:nvSpPr>
          <p:cNvPr id="29" name="pentest-stage-B">
            <a:extLst xmlns:a="http://schemas.openxmlformats.org/drawingml/2006/main">
              <a:ext uri="{FF2B5EF4-FFF2-40B4-BE49-F238E27FC236}">
                <a16:creationId xmlns:a16="http://schemas.microsoft.com/office/drawing/2014/main" id="{EBB94618-215A-413A-B363-B1E814A5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38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30" name="pentest-stage-text-B">
            <a:extLst xmlns:a="http://schemas.openxmlformats.org/drawingml/2006/main">
              <a:ext uri="{FF2B5EF4-FFF2-40B4-BE49-F238E27FC236}">
                <a16:creationId xmlns:a16="http://schemas.microsoft.com/office/drawing/2014/main" id="{68325BE1-40C0-4D02-93D4-377F90B3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480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HMAC／replay／oversize</a:t>
            </a:r>
          </a:p>
        </p:txBody>
      </p:sp>
      <p:sp>
        <p:nvSpPr>
          <p:cNvPr id="31" name="pentest-stage-C">
            <a:extLst xmlns:a="http://schemas.openxmlformats.org/drawingml/2006/main">
              <a:ext uri="{FF2B5EF4-FFF2-40B4-BE49-F238E27FC236}">
                <a16:creationId xmlns:a16="http://schemas.microsoft.com/office/drawing/2014/main" id="{1D3366FC-C3BF-4253-A79A-26F2B27E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24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2" name="pentest-stage-text-C">
            <a:extLst xmlns:a="http://schemas.openxmlformats.org/drawingml/2006/main">
              <a:ext uri="{FF2B5EF4-FFF2-40B4-BE49-F238E27FC236}">
                <a16:creationId xmlns:a16="http://schemas.microsoft.com/office/drawing/2014/main" id="{608CB65A-6B5E-457C-A4E6-6C63A576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parameter／guard zero</a:t>
            </a:r>
          </a:p>
        </p:txBody>
      </p:sp>
      <p:sp>
        <p:nvSpPr>
          <p:cNvPr id="33" name="pentest-stage-D">
            <a:extLst xmlns:a="http://schemas.openxmlformats.org/drawingml/2006/main">
              <a:ext uri="{FF2B5EF4-FFF2-40B4-BE49-F238E27FC236}">
                <a16:creationId xmlns:a16="http://schemas.microsoft.com/office/drawing/2014/main" id="{2BD9EC51-0B66-495C-8BC9-C7F076B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10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4" name="pentest-stage-text-D">
            <a:extLst xmlns:a="http://schemas.openxmlformats.org/drawingml/2006/main">
              <a:ext uri="{FF2B5EF4-FFF2-40B4-BE49-F238E27FC236}">
                <a16:creationId xmlns:a16="http://schemas.microsoft.com/office/drawing/2014/main" id="{5E3B203C-3E0C-46BB-85DA-409E38C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9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recover／graph fail-safe</a:t>
            </a:r>
          </a:p>
        </p:txBody>
      </p:sp>
      <p:sp>
        <p:nvSpPr>
          <p:cNvPr id="35" name="pentest-evidence">
            <a:extLst xmlns:a="http://schemas.openxmlformats.org/drawingml/2006/main">
              <a:ext uri="{FF2B5EF4-FFF2-40B4-BE49-F238E27FC236}">
                <a16:creationId xmlns:a16="http://schemas.microsoft.com/office/drawing/2014/main" id="{8189D79C-CA4B-4084-83A4-40CBEEF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Verifier 與 runbook 已完成；目前 0/9 live pass，direct live archive 尚未產生。</a:t>
            </a:r>
          </a:p>
        </p:txBody>
      </p:sp>
    </p:spTree>
    <p:extLst>
      <p:ext uri="{BB962C8B-B14F-4D97-AF65-F5344CB8AC3E}">
        <p14:creationId xmlns:p14="http://schemas.microsoft.com/office/powerpoint/2010/main" val="3282488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證據總帳與可重現性稽核讓每個主張都能追到檔案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層級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本輪結果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必要證據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安全邊界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Verified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 claims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非空檔＋bytes＋SHA-256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可重驗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Provisional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claims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方法已完成／live 待補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不可當 pass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Blocked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claim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明確 blocker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房間級封鎖未部署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Repro audit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12/12 verified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Python／ROS 檔／pins／hash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未啟 ROS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Regression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583 passed／0 failed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完整測試 runner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268 warnings 已分類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Authorization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永久 false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ledger 不是部署票證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不得自行開門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ail-12">
            <a:extLst xmlns:a="http://schemas.openxmlformats.org/drawingml/2006/main">
              <a:ext uri="{FF2B5EF4-FFF2-40B4-BE49-F238E27FC236}">
                <a16:creationId xmlns:a16="http://schemas.microsoft.com/office/drawing/2014/main" id="{C3B156F7-2D0B-4E96-9EA0-EF2B6C4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05B57784-7151-4E76-9A71-91522AB4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工程與 AI 已成形；剩餘工作集中在真實部署驗收</a:t>
            </a:r>
          </a:p>
        </p:txBody>
      </p:sp>
      <p:sp>
        <p:nvSpPr>
          <p:cNvPr id="5" name="progress-engineering-label">
            <a:extLst xmlns:a="http://schemas.openxmlformats.org/drawingml/2006/main">
              <a:ext uri="{FF2B5EF4-FFF2-40B4-BE49-F238E27FC236}">
                <a16:creationId xmlns:a16="http://schemas.microsoft.com/office/drawing/2014/main" id="{620417A9-ADC6-4D51-A19B-5B39CDC0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工程原型完成度</a:t>
            </a:r>
          </a:p>
        </p:txBody>
      </p:sp>
      <p:sp>
        <p:nvSpPr>
          <p:cNvPr id="6" name="progress-engineering-track">
            <a:extLst xmlns:a="http://schemas.openxmlformats.org/drawingml/2006/main">
              <a:ext uri="{FF2B5EF4-FFF2-40B4-BE49-F238E27FC236}">
                <a16:creationId xmlns:a16="http://schemas.microsoft.com/office/drawing/2014/main" id="{E1B58CF9-B1EB-4A99-A421-BD02FE96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ogress-engineering-value">
            <a:extLst xmlns:a="http://schemas.openxmlformats.org/drawingml/2006/main">
              <a:ext uri="{FF2B5EF4-FFF2-40B4-BE49-F238E27FC236}">
                <a16:creationId xmlns:a16="http://schemas.microsoft.com/office/drawing/2014/main" id="{E07946E8-240A-4DF7-AF44-5FBEFA1D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04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progress-engineering-number">
            <a:extLst xmlns:a="http://schemas.openxmlformats.org/drawingml/2006/main">
              <a:ext uri="{FF2B5EF4-FFF2-40B4-BE49-F238E27FC236}">
                <a16:creationId xmlns:a16="http://schemas.microsoft.com/office/drawing/2014/main" id="{5CA884AA-5D06-4A54-A38B-26EB0F8E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574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9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85%</a:t>
            </a:r>
          </a:p>
        </p:txBody>
      </p:sp>
      <p:sp>
        <p:nvSpPr>
          <p:cNvPr id="9" name="progress-ai-label">
            <a:extLst xmlns:a="http://schemas.openxmlformats.org/drawingml/2006/main">
              <a:ext uri="{FF2B5EF4-FFF2-40B4-BE49-F238E27FC236}">
                <a16:creationId xmlns:a16="http://schemas.microsoft.com/office/drawing/2014/main" id="{DA4B4131-6F64-4DF1-BD66-238B057F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AI 評審成熟度</a:t>
            </a:r>
          </a:p>
        </p:txBody>
      </p:sp>
      <p:sp>
        <p:nvSpPr>
          <p:cNvPr id="10" name="progress-ai-track">
            <a:extLst xmlns:a="http://schemas.openxmlformats.org/drawingml/2006/main">
              <a:ext uri="{FF2B5EF4-FFF2-40B4-BE49-F238E27FC236}">
                <a16:creationId xmlns:a16="http://schemas.microsoft.com/office/drawing/2014/main" id="{B244D555-4BFE-4E5A-B3AA-5E225848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progress-ai-value">
            <a:extLst xmlns:a="http://schemas.openxmlformats.org/drawingml/2006/main">
              <a:ext uri="{FF2B5EF4-FFF2-40B4-BE49-F238E27FC236}">
                <a16:creationId xmlns:a16="http://schemas.microsoft.com/office/drawing/2014/main" id="{A816A113-D7B0-4F3A-BEE1-7ECDA0D3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762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rogress-ai-number">
            <a:extLst xmlns:a="http://schemas.openxmlformats.org/drawingml/2006/main">
              <a:ext uri="{FF2B5EF4-FFF2-40B4-BE49-F238E27FC236}">
                <a16:creationId xmlns:a16="http://schemas.microsoft.com/office/drawing/2014/main" id="{94240EE5-0D71-4CC9-9D80-AECB0ABB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147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9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79%</a:t>
            </a:r>
          </a:p>
        </p:txBody>
      </p:sp>
      <p:sp>
        <p:nvSpPr>
          <p:cNvPr id="13" name="progress-explanation">
            <a:extLst xmlns:a="http://schemas.openxmlformats.org/drawingml/2006/main">
              <a:ext uri="{FF2B5EF4-FFF2-40B4-BE49-F238E27FC236}">
                <a16:creationId xmlns:a16="http://schemas.microsoft.com/office/drawing/2014/main" id="{18E05E60-31B4-4355-A80E-5F257CC9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百分比是工作包估計，不是模型準確率。房間級自動封鎖部署成熟度目前只有 38%。</a:t>
            </a:r>
          </a:p>
        </p:txBody>
      </p:sp>
      <p:sp>
        <p:nvSpPr>
          <p:cNvPr id="14" name="progress-grid-v">
            <a:extLst xmlns:a="http://schemas.openxmlformats.org/drawingml/2006/main">
              <a:ext uri="{FF2B5EF4-FFF2-40B4-BE49-F238E27FC236}">
                <a16:creationId xmlns:a16="http://schemas.microsoft.com/office/drawing/2014/main" id="{BB5E7D10-E6F8-4DE4-B23F-916CBD8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rogress-grid-h">
            <a:extLst xmlns:a="http://schemas.openxmlformats.org/drawingml/2006/main">
              <a:ext uri="{FF2B5EF4-FFF2-40B4-BE49-F238E27FC236}">
                <a16:creationId xmlns:a16="http://schemas.microsoft.com/office/drawing/2014/main" id="{772BD7AE-D664-45B4-B5FA-FB31924D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quality-number-1">
            <a:extLst xmlns:a="http://schemas.openxmlformats.org/drawingml/2006/main">
              <a:ext uri="{FF2B5EF4-FFF2-40B4-BE49-F238E27FC236}">
                <a16:creationId xmlns:a16="http://schemas.microsoft.com/office/drawing/2014/main" id="{6445B160-33AD-48A0-8D45-33D9413D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583 / 0</a:t>
            </a:r>
          </a:p>
        </p:txBody>
      </p:sp>
      <p:sp>
        <p:nvSpPr>
          <p:cNvPr id="17" name="quality-label-1">
            <a:extLst xmlns:a="http://schemas.openxmlformats.org/drawingml/2006/main">
              <a:ext uri="{FF2B5EF4-FFF2-40B4-BE49-F238E27FC236}">
                <a16:creationId xmlns:a16="http://schemas.microsoft.com/office/drawing/2014/main" id="{491841CB-BB2D-4EBF-A4CC-0414948D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tests passed / failed</a:t>
            </a:r>
          </a:p>
        </p:txBody>
      </p:sp>
      <p:sp>
        <p:nvSpPr>
          <p:cNvPr id="18" name="quality-number-2">
            <a:extLst xmlns:a="http://schemas.openxmlformats.org/drawingml/2006/main">
              <a:ext uri="{FF2B5EF4-FFF2-40B4-BE49-F238E27FC236}">
                <a16:creationId xmlns:a16="http://schemas.microsoft.com/office/drawing/2014/main" id="{CF75C31F-A05F-45B0-B242-AC613A51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12 / 12</a:t>
            </a:r>
          </a:p>
        </p:txBody>
      </p:sp>
      <p:sp>
        <p:nvSpPr>
          <p:cNvPr id="19" name="quality-label-2">
            <a:extLst xmlns:a="http://schemas.openxmlformats.org/drawingml/2006/main">
              <a:ext uri="{FF2B5EF4-FFF2-40B4-BE49-F238E27FC236}">
                <a16:creationId xmlns:a16="http://schemas.microsoft.com/office/drawing/2014/main" id="{473D11B4-A529-47F8-AD29-5663B054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repro checks verified</a:t>
            </a:r>
          </a:p>
        </p:txBody>
      </p:sp>
      <p:sp>
        <p:nvSpPr>
          <p:cNvPr id="20" name="quality-number-3">
            <a:extLst xmlns:a="http://schemas.openxmlformats.org/drawingml/2006/main">
              <a:ext uri="{FF2B5EF4-FFF2-40B4-BE49-F238E27FC236}">
                <a16:creationId xmlns:a16="http://schemas.microsoft.com/office/drawing/2014/main" id="{99A32CD0-2E9C-4BFF-85EB-A066F172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1,099</a:t>
            </a:r>
          </a:p>
        </p:txBody>
      </p:sp>
      <p:sp>
        <p:nvSpPr>
          <p:cNvPr id="21" name="quality-label-3">
            <a:extLst xmlns:a="http://schemas.openxmlformats.org/drawingml/2006/main">
              <a:ext uri="{FF2B5EF4-FFF2-40B4-BE49-F238E27FC236}">
                <a16:creationId xmlns:a16="http://schemas.microsoft.com/office/drawing/2014/main" id="{810BAF14-EA01-40D2-BBD4-F140DF4A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434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clean candidate sessions</a:t>
            </a:r>
          </a:p>
        </p:txBody>
      </p:sp>
      <p:sp>
        <p:nvSpPr>
          <p:cNvPr id="22" name="quality-number-4">
            <a:extLst xmlns:a="http://schemas.openxmlformats.org/drawingml/2006/main">
              <a:ext uri="{FF2B5EF4-FFF2-40B4-BE49-F238E27FC236}">
                <a16:creationId xmlns:a16="http://schemas.microsoft.com/office/drawing/2014/main" id="{4BD27898-6F89-4942-A57C-42DE3A3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76%</a:t>
            </a:r>
          </a:p>
        </p:txBody>
      </p:sp>
      <p:sp>
        <p:nvSpPr>
          <p:cNvPr id="23" name="quality-label-4">
            <a:extLst xmlns:a="http://schemas.openxmlformats.org/drawingml/2006/main">
              <a:ext uri="{FF2B5EF4-FFF2-40B4-BE49-F238E27FC236}">
                <a16:creationId xmlns:a16="http://schemas.microsoft.com/office/drawing/2014/main" id="{04612333-5B66-4093-A06B-184610A4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434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專題整體完成度</a:t>
            </a:r>
          </a:p>
        </p:txBody>
      </p:sp>
    </p:spTree>
    <p:extLst>
      <p:ext uri="{BB962C8B-B14F-4D97-AF65-F5344CB8AC3E}">
        <p14:creationId xmlns:p14="http://schemas.microsoft.com/office/powerpoint/2010/main" val="12399425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l-14">
            <a:extLst xmlns:a="http://schemas.openxmlformats.org/drawingml/2006/main">
              <a:ext uri="{FF2B5EF4-FFF2-40B4-BE49-F238E27FC236}">
                <a16:creationId xmlns:a16="http://schemas.microsoft.com/office/drawing/2014/main" id="{85E10557-FE19-4B0B-85A0-B8F01203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BCE46ED8-C6FB-4DE2-8CAE-81F7ADEC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五項評分能力都有工程證據，但外部加分仍需本人完成</a:t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92E673F2-3CC5-444D-8DD1-A84147CF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rubric-label-bg-1">
            <a:extLst xmlns:a="http://schemas.openxmlformats.org/drawingml/2006/main">
              <a:ext uri="{FF2B5EF4-FFF2-40B4-BE49-F238E27FC236}">
                <a16:creationId xmlns:a16="http://schemas.microsoft.com/office/drawing/2014/main" id="{E59EB4FE-8ECA-4423-9EE5-AA921339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ubric-label-1">
            <a:extLst xmlns:a="http://schemas.openxmlformats.org/drawingml/2006/main">
              <a:ext uri="{FF2B5EF4-FFF2-40B4-BE49-F238E27FC236}">
                <a16:creationId xmlns:a16="http://schemas.microsoft.com/office/drawing/2014/main" id="{99576606-23EB-4D90-808F-E805344C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AI 工程軟硬體</a:t>
            </a:r>
          </a:p>
        </p:txBody>
      </p:sp>
      <p:sp>
        <p:nvSpPr>
          <p:cNvPr id="8" name="rubric-evidence-1">
            <a:extLst xmlns:a="http://schemas.openxmlformats.org/drawingml/2006/main">
              <a:ext uri="{FF2B5EF4-FFF2-40B4-BE49-F238E27FC236}">
                <a16:creationId xmlns:a16="http://schemas.microsoft.com/office/drawing/2014/main" id="{C25B173E-7562-4C25-AF24-E5106264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57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Gazebo／SROS2／分層 AI／Pi 5 目標；Pi 實測待硬體到齊</a:t>
            </a:r>
          </a:p>
        </p:txBody>
      </p:sp>
      <p:sp>
        <p:nvSpPr>
          <p:cNvPr id="9" name="rubric-rule-1">
            <a:extLst xmlns:a="http://schemas.openxmlformats.org/drawingml/2006/main">
              <a:ext uri="{FF2B5EF4-FFF2-40B4-BE49-F238E27FC236}">
                <a16:creationId xmlns:a16="http://schemas.microsoft.com/office/drawing/2014/main" id="{28079F14-2983-404C-B647-9E83FCCC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ubric-label-bg-2">
            <a:extLst xmlns:a="http://schemas.openxmlformats.org/drawingml/2006/main">
              <a:ext uri="{FF2B5EF4-FFF2-40B4-BE49-F238E27FC236}">
                <a16:creationId xmlns:a16="http://schemas.microsoft.com/office/drawing/2014/main" id="{9E49499C-27B8-4BA2-BD74-0A233925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ubric-label-2">
            <a:extLst xmlns:a="http://schemas.openxmlformats.org/drawingml/2006/main">
              <a:ext uri="{FF2B5EF4-FFF2-40B4-BE49-F238E27FC236}">
                <a16:creationId xmlns:a16="http://schemas.microsoft.com/office/drawing/2014/main" id="{D3E9370A-3682-4FBF-BE08-0BADE46F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數據分析與數理</a:t>
            </a:r>
          </a:p>
        </p:txBody>
      </p:sp>
      <p:sp>
        <p:nvSpPr>
          <p:cNvPr id="12" name="rubric-evidence-2">
            <a:extLst xmlns:a="http://schemas.openxmlformats.org/drawingml/2006/main">
              <a:ext uri="{FF2B5EF4-FFF2-40B4-BE49-F238E27FC236}">
                <a16:creationId xmlns:a16="http://schemas.microsoft.com/office/drawing/2014/main" id="{B6A33A3D-C3B0-4E89-89E1-E7744EEC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241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1,100 campaign、1,099 clean、grouped split、消融、CI、PR-AUC</a:t>
            </a:r>
          </a:p>
        </p:txBody>
      </p:sp>
      <p:sp>
        <p:nvSpPr>
          <p:cNvPr id="13" name="rubric-rule-2">
            <a:extLst xmlns:a="http://schemas.openxmlformats.org/drawingml/2006/main">
              <a:ext uri="{FF2B5EF4-FFF2-40B4-BE49-F238E27FC236}">
                <a16:creationId xmlns:a16="http://schemas.microsoft.com/office/drawing/2014/main" id="{95E15F38-9549-4EC9-B6AD-3B8D975A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146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ubric-label-bg-3">
            <a:extLst xmlns:a="http://schemas.openxmlformats.org/drawingml/2006/main">
              <a:ext uri="{FF2B5EF4-FFF2-40B4-BE49-F238E27FC236}">
                <a16:creationId xmlns:a16="http://schemas.microsoft.com/office/drawing/2014/main" id="{0B97F51A-99B0-48D8-B99C-B893D710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ubric-label-3">
            <a:extLst xmlns:a="http://schemas.openxmlformats.org/drawingml/2006/main">
              <a:ext uri="{FF2B5EF4-FFF2-40B4-BE49-F238E27FC236}">
                <a16:creationId xmlns:a16="http://schemas.microsoft.com/office/drawing/2014/main" id="{21A762DF-7A06-44C5-8D17-10960831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專案執行與報告</a:t>
            </a:r>
          </a:p>
        </p:txBody>
      </p:sp>
      <p:sp>
        <p:nvSpPr>
          <p:cNvPr id="16" name="rubric-evidence-3">
            <a:extLst xmlns:a="http://schemas.openxmlformats.org/drawingml/2006/main">
              <a:ext uri="{FF2B5EF4-FFF2-40B4-BE49-F238E27FC236}">
                <a16:creationId xmlns:a16="http://schemas.microsoft.com/office/drawing/2014/main" id="{A0485945-94BE-4BA9-AE69-DC5FC20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909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WBS、風險矩陣、evidence ledger、版本與可重現稽核</a:t>
            </a:r>
          </a:p>
        </p:txBody>
      </p:sp>
      <p:sp>
        <p:nvSpPr>
          <p:cNvPr id="17" name="rubric-rule-3">
            <a:extLst xmlns:a="http://schemas.openxmlformats.org/drawingml/2006/main">
              <a:ext uri="{FF2B5EF4-FFF2-40B4-BE49-F238E27FC236}">
                <a16:creationId xmlns:a16="http://schemas.microsoft.com/office/drawing/2014/main" id="{C8BD6BA4-AA38-49EF-B150-23115A98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ubric-label-bg-4">
            <a:extLst xmlns:a="http://schemas.openxmlformats.org/drawingml/2006/main">
              <a:ext uri="{FF2B5EF4-FFF2-40B4-BE49-F238E27FC236}">
                <a16:creationId xmlns:a16="http://schemas.microsoft.com/office/drawing/2014/main" id="{9DE0A6F3-227A-42DB-948D-DF860BE0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ubric-label-4">
            <a:extLst xmlns:a="http://schemas.openxmlformats.org/drawingml/2006/main">
              <a:ext uri="{FF2B5EF4-FFF2-40B4-BE49-F238E27FC236}">
                <a16:creationId xmlns:a16="http://schemas.microsoft.com/office/drawing/2014/main" id="{51487417-9D25-4197-977B-55CC9A6A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溝通與跨領域</a:t>
            </a:r>
          </a:p>
        </p:txBody>
      </p:sp>
      <p:sp>
        <p:nvSpPr>
          <p:cNvPr id="20" name="rubric-evidence-4">
            <a:extLst xmlns:a="http://schemas.openxmlformats.org/drawingml/2006/main">
              <a:ext uri="{FF2B5EF4-FFF2-40B4-BE49-F238E27FC236}">
                <a16:creationId xmlns:a16="http://schemas.microsoft.com/office/drawing/2014/main" id="{0A832A47-DEC6-4772-9AEA-1558CCC1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576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雙語摘要、答辯腳本、ROS／DDS／AI／資安整合與協作紀錄</a:t>
            </a:r>
          </a:p>
        </p:txBody>
      </p:sp>
      <p:sp>
        <p:nvSpPr>
          <p:cNvPr id="21" name="rubric-rule-4">
            <a:extLst xmlns:a="http://schemas.openxmlformats.org/drawingml/2006/main">
              <a:ext uri="{FF2B5EF4-FFF2-40B4-BE49-F238E27FC236}">
                <a16:creationId xmlns:a16="http://schemas.microsoft.com/office/drawing/2014/main" id="{EC3D8955-85CB-4247-8FC6-ABCB3E04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4822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ubric-label-bg-5">
            <a:extLst xmlns:a="http://schemas.openxmlformats.org/drawingml/2006/main">
              <a:ext uri="{FF2B5EF4-FFF2-40B4-BE49-F238E27FC236}">
                <a16:creationId xmlns:a16="http://schemas.microsoft.com/office/drawing/2014/main" id="{7A4B1414-4F6E-47A9-B777-C28E9522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ubric-label-5">
            <a:extLst xmlns:a="http://schemas.openxmlformats.org/drawingml/2006/main">
              <a:ext uri="{FF2B5EF4-FFF2-40B4-BE49-F238E27FC236}">
                <a16:creationId xmlns:a16="http://schemas.microsoft.com/office/drawing/2014/main" id="{70320B54-E3B2-4B9F-9991-20B4C39D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國際與社會關懷</a:t>
            </a:r>
          </a:p>
        </p:txBody>
      </p:sp>
      <p:sp>
        <p:nvSpPr>
          <p:cNvPr id="24" name="rubric-evidence-5">
            <a:extLst xmlns:a="http://schemas.openxmlformats.org/drawingml/2006/main">
              <a:ext uri="{FF2B5EF4-FFF2-40B4-BE49-F238E27FC236}">
                <a16:creationId xmlns:a16="http://schemas.microsoft.com/office/drawing/2014/main" id="{51F26FAE-A974-4B68-8BA9-4E3C6899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2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OMG／ROS／NIST／IEC 對照；誤封、人身安全與可撤銷治理</a:t>
            </a:r>
          </a:p>
        </p:txBody>
      </p:sp>
      <p:sp>
        <p:nvSpPr>
          <p:cNvPr id="25" name="rubric-rule-5">
            <a:extLst xmlns:a="http://schemas.openxmlformats.org/drawingml/2006/main">
              <a:ext uri="{FF2B5EF4-FFF2-40B4-BE49-F238E27FC236}">
                <a16:creationId xmlns:a16="http://schemas.microsoft.com/office/drawing/2014/main" id="{FD24AA4F-CCF7-46F3-888F-A0D3475B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150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0854087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l-14">
            <a:extLst xmlns:a="http://schemas.openxmlformats.org/drawingml/2006/main">
              <a:ext uri="{FF2B5EF4-FFF2-40B4-BE49-F238E27FC236}">
                <a16:creationId xmlns:a16="http://schemas.microsoft.com/office/drawing/2014/main" id="{85E10557-FE19-4B0B-85A0-B8F01203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BCE46ED8-C6FB-4DE2-8CAE-81F7ADEC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國際規範與工程倫理決定何時可以打開封鎖</a:t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92E673F2-3CC5-444D-8DD1-A84147CF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rubric-label-bg-1">
            <a:extLst xmlns:a="http://schemas.openxmlformats.org/drawingml/2006/main">
              <a:ext uri="{FF2B5EF4-FFF2-40B4-BE49-F238E27FC236}">
                <a16:creationId xmlns:a16="http://schemas.microsoft.com/office/drawing/2014/main" id="{E59EB4FE-8ECA-4423-9EE5-AA921339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ubric-label-1">
            <a:extLst xmlns:a="http://schemas.openxmlformats.org/drawingml/2006/main">
              <a:ext uri="{FF2B5EF4-FFF2-40B4-BE49-F238E27FC236}">
                <a16:creationId xmlns:a16="http://schemas.microsoft.com/office/drawing/2014/main" id="{99576606-23EB-4D90-808F-E805344C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OMG DDS Security 1.2</a:t>
            </a:r>
          </a:p>
        </p:txBody>
      </p:sp>
      <p:sp>
        <p:nvSpPr>
          <p:cNvPr id="8" name="rubric-evidence-1">
            <a:extLst xmlns:a="http://schemas.openxmlformats.org/drawingml/2006/main">
              <a:ext uri="{FF2B5EF4-FFF2-40B4-BE49-F238E27FC236}">
                <a16:creationId xmlns:a16="http://schemas.microsoft.com/office/drawing/2014/main" id="{C25B173E-7562-4C25-AF24-E5106264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57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認證、存取控制、加密與 logging 的標準能力模型</a:t>
            </a:r>
          </a:p>
        </p:txBody>
      </p:sp>
      <p:sp>
        <p:nvSpPr>
          <p:cNvPr id="9" name="rubric-rule-1">
            <a:extLst xmlns:a="http://schemas.openxmlformats.org/drawingml/2006/main">
              <a:ext uri="{FF2B5EF4-FFF2-40B4-BE49-F238E27FC236}">
                <a16:creationId xmlns:a16="http://schemas.microsoft.com/office/drawing/2014/main" id="{28079F14-2983-404C-B647-9E83FCCC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ubric-label-bg-2">
            <a:extLst xmlns:a="http://schemas.openxmlformats.org/drawingml/2006/main">
              <a:ext uri="{FF2B5EF4-FFF2-40B4-BE49-F238E27FC236}">
                <a16:creationId xmlns:a16="http://schemas.microsoft.com/office/drawing/2014/main" id="{9E49499C-27B8-4BA2-BD74-0A233925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ubric-label-2">
            <a:extLst xmlns:a="http://schemas.openxmlformats.org/drawingml/2006/main">
              <a:ext uri="{FF2B5EF4-FFF2-40B4-BE49-F238E27FC236}">
                <a16:creationId xmlns:a16="http://schemas.microsoft.com/office/drawing/2014/main" id="{D3E9370A-3682-4FBF-BE08-0BADE46F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ROS 2／SROS2</a:t>
            </a:r>
          </a:p>
        </p:txBody>
      </p:sp>
      <p:sp>
        <p:nvSpPr>
          <p:cNvPr id="12" name="rubric-evidence-2">
            <a:extLst xmlns:a="http://schemas.openxmlformats.org/drawingml/2006/main">
              <a:ext uri="{FF2B5EF4-FFF2-40B4-BE49-F238E27FC236}">
                <a16:creationId xmlns:a16="http://schemas.microsoft.com/office/drawing/2014/main" id="{B6A33A3D-C3B0-4E89-89E1-E7744EEC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241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keystore、enclave、security strategy 與 Enforce 實作路徑</a:t>
            </a:r>
          </a:p>
        </p:txBody>
      </p:sp>
      <p:sp>
        <p:nvSpPr>
          <p:cNvPr id="13" name="rubric-rule-2">
            <a:extLst xmlns:a="http://schemas.openxmlformats.org/drawingml/2006/main">
              <a:ext uri="{FF2B5EF4-FFF2-40B4-BE49-F238E27FC236}">
                <a16:creationId xmlns:a16="http://schemas.microsoft.com/office/drawing/2014/main" id="{95E15F38-9549-4EC9-B6AD-3B8D975A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146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ubric-label-bg-3">
            <a:extLst xmlns:a="http://schemas.openxmlformats.org/drawingml/2006/main">
              <a:ext uri="{FF2B5EF4-FFF2-40B4-BE49-F238E27FC236}">
                <a16:creationId xmlns:a16="http://schemas.microsoft.com/office/drawing/2014/main" id="{0B97F51A-99B0-48D8-B99C-B893D710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ubric-label-3">
            <a:extLst xmlns:a="http://schemas.openxmlformats.org/drawingml/2006/main">
              <a:ext uri="{FF2B5EF4-FFF2-40B4-BE49-F238E27FC236}">
                <a16:creationId xmlns:a16="http://schemas.microsoft.com/office/drawing/2014/main" id="{21A762DF-7A06-44C5-8D17-10960831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NIST AI RMF</a:t>
            </a:r>
          </a:p>
        </p:txBody>
      </p:sp>
      <p:sp>
        <p:nvSpPr>
          <p:cNvPr id="16" name="rubric-evidence-3">
            <a:extLst xmlns:a="http://schemas.openxmlformats.org/drawingml/2006/main">
              <a:ext uri="{FF2B5EF4-FFF2-40B4-BE49-F238E27FC236}">
                <a16:creationId xmlns:a16="http://schemas.microsoft.com/office/drawing/2014/main" id="{A0485945-94BE-4BA9-AE69-DC5FC20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909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Govern／Map／Measure／Manage；把模型風險納入治理</a:t>
            </a:r>
          </a:p>
        </p:txBody>
      </p:sp>
      <p:sp>
        <p:nvSpPr>
          <p:cNvPr id="17" name="rubric-rule-3">
            <a:extLst xmlns:a="http://schemas.openxmlformats.org/drawingml/2006/main">
              <a:ext uri="{FF2B5EF4-FFF2-40B4-BE49-F238E27FC236}">
                <a16:creationId xmlns:a16="http://schemas.microsoft.com/office/drawing/2014/main" id="{C8BD6BA4-AA38-49EF-B150-23115A98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ubric-label-bg-4">
            <a:extLst xmlns:a="http://schemas.openxmlformats.org/drawingml/2006/main">
              <a:ext uri="{FF2B5EF4-FFF2-40B4-BE49-F238E27FC236}">
                <a16:creationId xmlns:a16="http://schemas.microsoft.com/office/drawing/2014/main" id="{9DE0A6F3-227A-42DB-948D-DF860BE0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ubric-label-4">
            <a:extLst xmlns:a="http://schemas.openxmlformats.org/drawingml/2006/main">
              <a:ext uri="{FF2B5EF4-FFF2-40B4-BE49-F238E27FC236}">
                <a16:creationId xmlns:a16="http://schemas.microsoft.com/office/drawing/2014/main" id="{51487417-9D25-4197-977B-55CC9A6A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IEC 62443</a:t>
            </a:r>
          </a:p>
        </p:txBody>
      </p:sp>
      <p:sp>
        <p:nvSpPr>
          <p:cNvPr id="20" name="rubric-evidence-4">
            <a:extLst xmlns:a="http://schemas.openxmlformats.org/drawingml/2006/main">
              <a:ext uri="{FF2B5EF4-FFF2-40B4-BE49-F238E27FC236}">
                <a16:creationId xmlns:a16="http://schemas.microsoft.com/office/drawing/2014/main" id="{0A832A47-DEC6-4772-9AEA-1558CCC1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576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zones、conduits、gateway 與分層防禦的工控安全觀點</a:t>
            </a:r>
          </a:p>
        </p:txBody>
      </p:sp>
      <p:sp>
        <p:nvSpPr>
          <p:cNvPr id="21" name="rubric-rule-4">
            <a:extLst xmlns:a="http://schemas.openxmlformats.org/drawingml/2006/main">
              <a:ext uri="{FF2B5EF4-FFF2-40B4-BE49-F238E27FC236}">
                <a16:creationId xmlns:a16="http://schemas.microsoft.com/office/drawing/2014/main" id="{EC3D8955-85CB-4247-8FC6-ABCB3E04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4822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ubric-label-bg-5">
            <a:extLst xmlns:a="http://schemas.openxmlformats.org/drawingml/2006/main">
              <a:ext uri="{FF2B5EF4-FFF2-40B4-BE49-F238E27FC236}">
                <a16:creationId xmlns:a16="http://schemas.microsoft.com/office/drawing/2014/main" id="{7A4B1414-4F6E-47A9-B777-C28E9522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ubric-label-5">
            <a:extLst xmlns:a="http://schemas.openxmlformats.org/drawingml/2006/main">
              <a:ext uri="{FF2B5EF4-FFF2-40B4-BE49-F238E27FC236}">
                <a16:creationId xmlns:a16="http://schemas.microsoft.com/office/drawing/2014/main" id="{70320B54-E3B2-4B9F-9991-20B4C39D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工程倫理</a:t>
            </a:r>
          </a:p>
        </p:txBody>
      </p:sp>
      <p:sp>
        <p:nvSpPr>
          <p:cNvPr id="24" name="rubric-evidence-5">
            <a:extLst xmlns:a="http://schemas.openxmlformats.org/drawingml/2006/main">
              <a:ext uri="{FF2B5EF4-FFF2-40B4-BE49-F238E27FC236}">
                <a16:creationId xmlns:a16="http://schemas.microsoft.com/office/drawing/2014/main" id="{51F26FAE-A974-4B68-8BA9-4E3C6899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2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低信心只告警、protected source、TTL、自動解除、人工覆寫、最小蒐集</a:t>
            </a:r>
          </a:p>
        </p:txBody>
      </p:sp>
      <p:sp>
        <p:nvSpPr>
          <p:cNvPr id="25" name="rubric-rule-5">
            <a:extLst xmlns:a="http://schemas.openxmlformats.org/drawingml/2006/main">
              <a:ext uri="{FF2B5EF4-FFF2-40B4-BE49-F238E27FC236}">
                <a16:creationId xmlns:a16="http://schemas.microsoft.com/office/drawing/2014/main" id="{FD24AA4F-CCF7-46F3-888F-A0D3475B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150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0854087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8660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right-field">
            <a:extLst xmlns:a="http://schemas.openxmlformats.org/drawingml/2006/main">
              <a:ext uri="{FF2B5EF4-FFF2-40B4-BE49-F238E27FC236}">
                <a16:creationId xmlns:a16="http://schemas.microsoft.com/office/drawing/2014/main" id="{34D901BE-B057-4A4D-9FEE-388D91B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3295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C6B931A-4CF3-4307-9032-6451F887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681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目前交付的是可驗證、可追溯、預設安全的研究原型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不是已取得 production 資格的房間防火牆</a:t>
            </a:r>
          </a:p>
        </p:txBody>
      </p:sp>
      <p:sp>
        <p:nvSpPr>
          <p:cNvPr id="5" name="close-principles">
            <a:extLst xmlns:a="http://schemas.openxmlformats.org/drawingml/2006/main">
              <a:ext uri="{FF2B5EF4-FFF2-40B4-BE49-F238E27FC236}">
                <a16:creationId xmlns:a16="http://schemas.microsoft.com/office/drawing/2014/main" id="{69F469C2-B1BF-4F93-9601-5B04F8DD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證據 &gt; 宣稱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安全 &gt; 激進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可重現 &gt; 一次展示</a:t>
            </a:r>
          </a:p>
        </p:txBody>
      </p:sp>
      <p:sp>
        <p:nvSpPr>
          <p:cNvPr id="6" name="close-right">
            <a:extLst xmlns:a="http://schemas.openxmlformats.org/drawingml/2006/main">
              <a:ext uri="{FF2B5EF4-FFF2-40B4-BE49-F238E27FC236}">
                <a16:creationId xmlns:a16="http://schemas.microsoft.com/office/drawing/2014/main" id="{586514EF-3365-49DA-A7D2-E3DC951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2571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MULTIMODAL AI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BOUNDED RESPONSE</a:t>
            </a:r>
          </a:p>
        </p:txBody>
      </p:sp>
      <p:sp>
        <p:nvSpPr>
          <p:cNvPr id="7" name="close-next-band">
            <a:extLst xmlns:a="http://schemas.openxmlformats.org/drawingml/2006/main">
              <a:ext uri="{FF2B5EF4-FFF2-40B4-BE49-F238E27FC236}">
                <a16:creationId xmlns:a16="http://schemas.microsoft.com/office/drawing/2014/main" id="{96396B0D-42D7-46DA-957A-89405A94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197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lose-next">
            <a:extLst xmlns:a="http://schemas.openxmlformats.org/drawingml/2006/main">
              <a:ext uri="{FF2B5EF4-FFF2-40B4-BE49-F238E27FC236}">
                <a16:creationId xmlns:a16="http://schemas.microsoft.com/office/drawing/2014/main" id="{09CC2951-E130-4DD7-A8B2-C9029E1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625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7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下一個關鍵交付｜direct delivery＋9/9 local outcomes＋paired crossover＋isolated gateway</a:t>
            </a:r>
          </a:p>
        </p:txBody>
      </p:sp>
    </p:spTree>
    <p:extLst>
      <p:ext uri="{BB962C8B-B14F-4D97-AF65-F5344CB8AC3E}">
        <p14:creationId xmlns:p14="http://schemas.microsoft.com/office/powerpoint/2010/main" val="2095719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2026-08-17T09:21:12.0360000Z</dcterms:created>
  <dcterms:modified xsi:type="dcterms:W3CDTF">2026-08-17T09:21:12.0360000Z</dcterms:modified>
</coreProperties>
</file>