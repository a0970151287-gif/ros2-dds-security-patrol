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這份報告專門回答老師對 DDS 架構真實度的要求。重點不是把 AI 放在架構圖上，而是證明資料怎麼流、異常怎麼被判斷、封鎖怎麼安全復原。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C:\Users\Jesse\Documents\專題ROS2\文件\SROS2智慧防火牆_專題主簡報_自動封鎖IP版_2026-07-29.pptx</a:t>
            </a:r>
          </a:p>
          <a:p>
            <a:r>
              <a:t>- C:\Users\Jesse\Documents\專題ROS2\紅隊測試\ARCHITECTURE.md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老師要求的 DDS 規劃可拆成三條鏈：實體封包路徑、DDS 邏輯權限、AI 到安全回應。三條鏈缺任何一條，都只能算概念圖。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teacher feedback screenshot (2026-07-30)</a:t>
            </a:r>
          </a:p>
          <a:p>
            <a:r>
              <a:t>- C:\Users\Jesse\Documents\專題ROS2\文件\系統文件\Topic_發布訂閱規格表.md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目前同機 WSL2 環境可用於開發、SROS2 權限與 local-adversary 檢查，但不能當成跨主機 inline firewall 證據。這是報告必須主動揭露的界線。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C:\Users\Jesse\Documents\專題ROS2\firewall_lab\readiness_evidence\formal_dataset_preflight_2026-07-28_after_plan_audit.json</a:t>
            </a:r>
          </a:p>
          <a:p>
            <a:r>
              <a:t>- C:\Users\Jesse\Documents\專題ROS2\firewall_lab\features_pilot\live_quality_report.json</a:t>
            </a:r>
          </a:p>
          <a:p>
            <a:r>
              <a:t>- C:\Users\Jesse\Documents\專題ROS2\文件\專題執行基準_2026-07-29.md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正式驗證採透明 Layer-2 bridge：eth0 與 USB Ethernet 加入 br0，攻擊端與受保護端留在同一個無外網的 192.168.50.0/24，不做 NAT，因此 Fast DDS 的 SPDP/SEDP multicast 仍可 discovery。Pi 5 用 nftables bridge family 依來源建立短 TTL set；管理位址預定為 .2，攻擊端 .10、受保護主機 .20、機器人 .30，實作時會在 session manifest 凍結。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C:\Users\Jesse\Documents\專題ROS2\文件\專題執行基準_2026-07-29.md</a:t>
            </a:r>
          </a:p>
          <a:p>
            <a:r>
              <a:t>- C:\Users\Jesse\Documents\專題ROS2\文件\智慧防火牆完整計畫與進度_2026-07-27.md</a:t>
            </a:r>
          </a:p>
          <a:p>
            <a:r>
              <a:t>- C:\Users\Jesse\Documents\專題ROS2\展示指令\01b_啟動系統_跨主機.sh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DDS 邏輯面用 ROS 2 Jazzy、rmw_fastrtps_cpp（Fast DDS）、Domain 30、participant identity、publisher/subscriber、topic 與 QoS 表示。TQC 不列為目前攻防主控制器；控制主線是 patrol 到 velocity guard，再到最終 cmd_vel。正式 manifest 會補齊 DDS 套件版本、participant-to-host 對照及 history/depth/durability/liveliness。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C:\Users\Jesse\Documents\專題ROS2\紅隊測試\ARCHITECTURE.md</a:t>
            </a:r>
          </a:p>
          <a:p>
            <a:r>
              <a:t>- C:\Users\Jesse\Documents\專題ROS2\文件\系統文件\Topic_發布訂閱規格表.md</a:t>
            </a:r>
          </a:p>
          <a:p>
            <a:r>
              <a:t>- C:\Users\Jesse\Documents\專題ROS2\src\dds_security_monitor\dds_security_monitor\velocity_guard_node.py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這張矩陣把最小權限具體化。評審可以逐列問：合法身分是誰、可以發布什麼、訂閱什麼、使用哪個 QoS，並用 Enforce 測試驗證。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C:\Users\Jesse\Documents\專題ROS2\文件\系統文件\Topic_發布訂閱規格表.md</a:t>
            </a:r>
          </a:p>
          <a:p>
            <a:r>
              <a:t>- C:\Users\Jesse\Documents\專題ROS2\firewall_lab\readiness_evidence\readiness-20260727T082430197518Z\checks\sros2_audit.json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防禦採分層責任：SROS2 預防未授權加入與發布，HMAC 處理六個 String topic 的完整性，D1 到 D6 看物理行為，Zeek 看網路，AI 做融合與來源歸因。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C:\Users\Jesse\Documents\專題ROS2\紅隊測試\ARCHITECTURE.md</a:t>
            </a:r>
          </a:p>
          <a:p>
            <a:r>
              <a:t>- C:\Users\Jesse\Documents\專題ROS2\Zeek監控\README.md</a:t>
            </a:r>
          </a:p>
          <a:p>
            <a:r>
              <a:t>- C:\Users\Jesse\Documents\專題ROS2\src\dds_security_monitor\dds_security_monitor\intelligent_defense_node.py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32 維是 14 個網路特徵與 18 個 telemetry 特徵的合併。RandomForest 處理已知類別，IsolationForest 補未知異常；但正式 live collector 與同窗對齊尚未完成，因此不能宣稱正式模型已完成。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C:\Users\Jesse\Documents\專題ROS2\firewall_lab\live_multimodal_contract.json</a:t>
            </a:r>
          </a:p>
          <a:p>
            <a:r>
              <a:t>- C:\Users\Jesse\Documents\專題ROS2\firewall_lab\pretrain_dataset\dataset_card.json</a:t>
            </a:r>
          </a:p>
          <a:p>
            <a:r>
              <a:t>- C:\Users\Jesse\Documents\專題ROS2\ML防禦\README.md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合成資料、pilot、formal live 各自回答不同問題。合成資料驗證 schema 與預訓練；pilot 證明收集鏈可跑；只有未碰過的 formal live test 能當最終成績。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C:\Users\Jesse\Documents\專題ROS2\firewall_lab\pretrain_dataset\dataset_card.json</a:t>
            </a:r>
          </a:p>
          <a:p>
            <a:r>
              <a:t>- C:\Users\Jesse\Documents\專題ROS2\firewall_lab\pretrain_dataset\quality_report.json</a:t>
            </a:r>
          </a:p>
          <a:p>
            <a:r>
              <a:t>- C:\Users\Jesse\Documents\專題ROS2\firewall_lab\features_pilot\live_quality_report.json</a:t>
            </a:r>
          </a:p>
          <a:p>
            <a:r>
              <a:t>- C:\Users\Jesse\Documents\專題ROS2\firewall_lab\readiness_evidence\formal_dataset_preflight_2026-07-28_after_plan_audit.json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自動回應預設從 dry-run 開始。跨主機才用 nftables 封來源 IP；同機的 DDS GUID 與 identity 只用於歸因，不能直接當作 nftables 封鎖鍵。實際隔離手段是預先定義的 SROS2 permissions、程序監督器或 network namespace 隔離；目前不宣稱已完成動態 GUID 撤銷。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C:\Users\Jesse\Documents\專題ROS2\ML防禦\README.md</a:t>
            </a:r>
          </a:p>
          <a:p>
            <a:r>
              <a:t>- C:\Users\Jesse\Documents\專題ROS2\Zeek監控\README.md</a:t>
            </a:r>
          </a:p>
          <a:p>
            <a:r>
              <a:t>- C:\Users\Jesse\Documents\專題ROS2\文件\研究設計\未知節點偵測標準與阻斷邏輯.md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實驗順序先驗證流量路徑，再比較安全模式、資料分支、未知攻擊與回應策略。每一組都要保留相同 test split，避免把環境差異誤認為模型效果。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C:\Users\Jesse\Documents\專題ROS2\文件\專題執行基準_2026-07-29.md</a:t>
            </a:r>
          </a:p>
          <a:p>
            <a:r>
              <a:t>- C:\Users\Jesse\Documents\專題ROS2\文件\AI評估_ML-IDS何時有用.md</a:t>
            </a:r>
          </a:p>
          <a:p>
            <a:r>
              <a:t>- C:\Users\Jesse\Documents\專題ROS2\firewall_lab\campaign_1100.json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專題不能只報 accuracy。偵測、回應、機器人安全、Pi 5 資源與證據完整性必須一起量測，才能說這是一個可部署的智慧防火牆。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C:\Users\Jesse\Documents\專題ROS2\文件\智慧防火牆正式評分對齊_2026-07-28.md</a:t>
            </a:r>
          </a:p>
          <a:p>
            <a:r>
              <a:t>- C:\Users\Jesse\Documents\專題ROS2\文件\專題執行基準_2026-07-29.md</a:t>
            </a:r>
          </a:p>
          <a:p>
            <a:r>
              <a:t>- C:\Users\Jesse\Documents\專題ROS2\firewall_lab\evidence.py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執行順序不能顛倒。Pi 5 拓樸與資料契約完成後才開始正式資料；資料凍結後才做正式模型分數；最後才凍結答辯材料。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C:\Users\Jesse\Documents\專題ROS2\文件\計畫表執行與使用者待辦_2026-07-29.md</a:t>
            </a:r>
          </a:p>
          <a:p>
            <a:r>
              <a:t>- C:\Users\Jesse\Documents\專題ROS2\文件\後續計劃表.md</a:t>
            </a:r>
          </a:p>
          <a:p>
            <a:r>
              <a:t>- C:\Users\Jesse\Documents\專題ROS2\文件\專題執行基準_2026-07-29.md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專題的核心不是無條件封鎖，而是以 SROS2 減少攻擊面、以多模態 AI 找出異常、以來源歸因與短 TTL 做可復原隔離，最後用 PCAP、日誌與雜湊證明。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C:\Users\Jesse\Documents\專題ROS2\文件\專題完整總報告.md</a:t>
            </a:r>
          </a:p>
          <a:p>
            <a:r>
              <a:t>- C:\Users\Jesse\Documents\專題ROS2\README.md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7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right-field">
            <a:extLst>
              <a:ext uri="{FF2B5EF4-FFF2-40B4-BE49-F238E27FC236}">
                <a16:creationId xmlns:a16="http://schemas.microsoft.com/office/drawing/2014/main" id="{C8A67A9C-E7AB-42D3-8547-7B85C57B4EBB}"/>
              </a:ext>
            </a:extLst>
          </p:cNvPr>
          <p:cNvSpPr>
            <a:spLocks noGrp="1"/>
          </p:cNvSpPr>
          <p:nvPr/>
        </p:nvSpPr>
        <p:spPr>
          <a:xfrm>
            <a:off x="9620250" y="0"/>
            <a:ext cx="257175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00F62CC6-D104-4207-9320-19E0D9DC240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8191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實驗架構與 AI 偵測規劃</a:t>
            </a:r>
          </a:p>
        </p:txBody>
      </p:sp>
      <p:sp>
        <p:nvSpPr>
          <p:cNvPr id="5" name="cover-title-en">
            <a:extLst>
              <a:ext uri="{FF2B5EF4-FFF2-40B4-BE49-F238E27FC236}">
                <a16:creationId xmlns:a16="http://schemas.microsoft.com/office/drawing/2014/main" id="{7870CAF8-A5F9-4542-A511-C1D6EBD4C343}"/>
              </a:ext>
            </a:extLst>
          </p:cNvPr>
          <p:cNvSpPr>
            <a:spLocks noGrp="1"/>
          </p:cNvSpPr>
          <p:nvPr/>
        </p:nvSpPr>
        <p:spPr>
          <a:xfrm>
            <a:off x="628650" y="283845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rPr>
              <a:t>DDS ARCHITECTURE &amp; AI DETECTION PLAN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46FB8FFA-99D9-4C48-85B1-7FFE38D690B6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從 ROS 2 通訊圖，到 SROS2、AI 偵測與可回滾封鎖</a:t>
            </a:r>
          </a:p>
        </p:txBody>
      </p:sp>
      <p:sp>
        <p:nvSpPr>
          <p:cNvPr id="7" name="cover-meta">
            <a:extLst>
              <a:ext uri="{FF2B5EF4-FFF2-40B4-BE49-F238E27FC236}">
                <a16:creationId xmlns:a16="http://schemas.microsoft.com/office/drawing/2014/main" id="{BFE73AA2-0D12-435C-9A13-7AFC516D4F93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Jesse｜SROS2 智慧防火牆｜2026.07.30</a:t>
            </a:r>
          </a:p>
        </p:txBody>
      </p:sp>
      <p:sp>
        <p:nvSpPr>
          <p:cNvPr id="8" name="cover-right-type">
            <a:extLst>
              <a:ext uri="{FF2B5EF4-FFF2-40B4-BE49-F238E27FC236}">
                <a16:creationId xmlns:a16="http://schemas.microsoft.com/office/drawing/2014/main" id="{BAA5F687-AF92-481F-8400-09C83DF97825}"/>
              </a:ext>
            </a:extLst>
          </p:cNvPr>
          <p:cNvSpPr>
            <a:spLocks noGrp="1"/>
          </p:cNvSpPr>
          <p:nvPr/>
        </p:nvSpPr>
        <p:spPr>
          <a:xfrm>
            <a:off x="9982200" y="1581150"/>
            <a:ext cx="18669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</a:t>
            </a:r>
          </a:p>
          <a:p>
            <a:r>
              <a:t>+</a:t>
            </a:r>
          </a:p>
          <a:p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</a:t>
            </a:r>
          </a:p>
          <a:p>
            <a:r>
              <a:t>+</a:t>
            </a:r>
          </a:p>
          <a:p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FIREWALL</a:t>
            </a:r>
          </a:p>
        </p:txBody>
      </p:sp>
      <p:sp>
        <p:nvSpPr>
          <p:cNvPr id="9" name="cover-swatch-1">
            <a:extLst>
              <a:ext uri="{FF2B5EF4-FFF2-40B4-BE49-F238E27FC236}">
                <a16:creationId xmlns:a16="http://schemas.microsoft.com/office/drawing/2014/main" id="{59EA9E2B-5B30-4B03-BE69-839AE9D75AA3}"/>
              </a:ext>
            </a:extLst>
          </p:cNvPr>
          <p:cNvSpPr>
            <a:spLocks noGrp="1"/>
          </p:cNvSpPr>
          <p:nvPr/>
        </p:nvSpPr>
        <p:spPr>
          <a:xfrm>
            <a:off x="10191750" y="5200650"/>
            <a:ext cx="1447800" cy="17145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ver-swatch-2">
            <a:extLst>
              <a:ext uri="{FF2B5EF4-FFF2-40B4-BE49-F238E27FC236}">
                <a16:creationId xmlns:a16="http://schemas.microsoft.com/office/drawing/2014/main" id="{8E827F19-C7D7-4F31-AD65-B36B8D7D8AD8}"/>
              </a:ext>
            </a:extLst>
          </p:cNvPr>
          <p:cNvSpPr>
            <a:spLocks noGrp="1"/>
          </p:cNvSpPr>
          <p:nvPr/>
        </p:nvSpPr>
        <p:spPr>
          <a:xfrm>
            <a:off x="10191750" y="5505450"/>
            <a:ext cx="1447800" cy="17145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ver-swatch-3">
            <a:extLst>
              <a:ext uri="{FF2B5EF4-FFF2-40B4-BE49-F238E27FC236}">
                <a16:creationId xmlns:a16="http://schemas.microsoft.com/office/drawing/2014/main" id="{502F2800-18A3-40F9-B416-D94DADFCC88D}"/>
              </a:ext>
            </a:extLst>
          </p:cNvPr>
          <p:cNvSpPr>
            <a:spLocks noGrp="1"/>
          </p:cNvSpPr>
          <p:nvPr/>
        </p:nvSpPr>
        <p:spPr>
          <a:xfrm>
            <a:off x="10191750" y="5810250"/>
            <a:ext cx="1447800" cy="171450"/>
          </a:xfrm>
          <a:prstGeom prst="rect">
            <a:avLst/>
          </a:prstGeom>
          <a:solidFill>
            <a:srgbClr val="99988D"/>
          </a:solidFill>
          <a:ln w="9525">
            <a:solidFill>
              <a:srgbClr val="9998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cover-swatch-4">
            <a:extLst>
              <a:ext uri="{FF2B5EF4-FFF2-40B4-BE49-F238E27FC236}">
                <a16:creationId xmlns:a16="http://schemas.microsoft.com/office/drawing/2014/main" id="{7613BBED-C11C-4CBC-97DC-0A0F7ABBFB90}"/>
              </a:ext>
            </a:extLst>
          </p:cNvPr>
          <p:cNvSpPr>
            <a:spLocks noGrp="1"/>
          </p:cNvSpPr>
          <p:nvPr/>
        </p:nvSpPr>
        <p:spPr>
          <a:xfrm>
            <a:off x="10191750" y="6115050"/>
            <a:ext cx="1447800" cy="1714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273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ail-2">
            <a:extLst>
              <a:ext uri="{FF2B5EF4-FFF2-40B4-BE49-F238E27FC236}">
                <a16:creationId xmlns:a16="http://schemas.microsoft.com/office/drawing/2014/main" id="{B991A2E7-350A-4FFA-8439-21C32ADF5B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2">
            <a:extLst>
              <a:ext uri="{FF2B5EF4-FFF2-40B4-BE49-F238E27FC236}">
                <a16:creationId xmlns:a16="http://schemas.microsoft.com/office/drawing/2014/main" id="{CDBF4BF0-7019-4220-90D9-150DE959A9A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老師要看的不是一張架構圖，而是三條證據鏈</a:t>
            </a:r>
          </a:p>
        </p:txBody>
      </p:sp>
      <p:sp>
        <p:nvSpPr>
          <p:cNvPr id="5" name="page-2">
            <a:extLst>
              <a:ext uri="{FF2B5EF4-FFF2-40B4-BE49-F238E27FC236}">
                <a16:creationId xmlns:a16="http://schemas.microsoft.com/office/drawing/2014/main" id="{7F259996-35F0-499A-B0FF-0580EBAEECAA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problem-big-three">
            <a:extLst>
              <a:ext uri="{FF2B5EF4-FFF2-40B4-BE49-F238E27FC236}">
                <a16:creationId xmlns:a16="http://schemas.microsoft.com/office/drawing/2014/main" id="{5EE0A065-E692-4F5D-AEBB-FC19955DEB57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2000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" name="problem-three-label">
            <a:extLst>
              <a:ext uri="{FF2B5EF4-FFF2-40B4-BE49-F238E27FC236}">
                <a16:creationId xmlns:a16="http://schemas.microsoft.com/office/drawing/2014/main" id="{B864F144-E0E9-4164-9B7C-548D3032A733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單一概念圖</a:t>
            </a:r>
          </a:p>
          <a:p>
            <a:pPr algn="ctr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無法完整回答</a:t>
            </a:r>
          </a:p>
        </p:txBody>
      </p:sp>
      <p:sp>
        <p:nvSpPr>
          <p:cNvPr id="8" name="problem-line-1">
            <a:extLst>
              <a:ext uri="{FF2B5EF4-FFF2-40B4-BE49-F238E27FC236}">
                <a16:creationId xmlns:a16="http://schemas.microsoft.com/office/drawing/2014/main" id="{EAA624B4-532E-4800-93FF-83027415BFA4}"/>
              </a:ext>
            </a:extLst>
          </p:cNvPr>
          <p:cNvSpPr>
            <a:spLocks noGrp="1"/>
          </p:cNvSpPr>
          <p:nvPr/>
        </p:nvSpPr>
        <p:spPr>
          <a:xfrm>
            <a:off x="3333750" y="2743200"/>
            <a:ext cx="79438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blem-accent-1">
            <a:extLst>
              <a:ext uri="{FF2B5EF4-FFF2-40B4-BE49-F238E27FC236}">
                <a16:creationId xmlns:a16="http://schemas.microsoft.com/office/drawing/2014/main" id="{5752BA45-87BB-4BC7-8D6C-36A836CBE116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95250" cy="8191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roblem-en-1">
            <a:extLst>
              <a:ext uri="{FF2B5EF4-FFF2-40B4-BE49-F238E27FC236}">
                <a16:creationId xmlns:a16="http://schemas.microsoft.com/office/drawing/2014/main" id="{F4E4D062-70AD-4A0A-A4ED-03D8541C3ACA}"/>
              </a:ext>
            </a:extLst>
          </p:cNvPr>
          <p:cNvSpPr>
            <a:spLocks noGrp="1"/>
          </p:cNvSpPr>
          <p:nvPr/>
        </p:nvSpPr>
        <p:spPr>
          <a:xfrm>
            <a:off x="3676650" y="17526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PHYSICAL</a:t>
            </a:r>
          </a:p>
        </p:txBody>
      </p:sp>
      <p:sp>
        <p:nvSpPr>
          <p:cNvPr id="11" name="problem-zh-1">
            <a:extLst>
              <a:ext uri="{FF2B5EF4-FFF2-40B4-BE49-F238E27FC236}">
                <a16:creationId xmlns:a16="http://schemas.microsoft.com/office/drawing/2014/main" id="{73D6D759-C158-4D2D-BDC6-FEFB5E7EF81E}"/>
              </a:ext>
            </a:extLst>
          </p:cNvPr>
          <p:cNvSpPr>
            <a:spLocks noGrp="1"/>
          </p:cNvSpPr>
          <p:nvPr/>
        </p:nvSpPr>
        <p:spPr>
          <a:xfrm>
            <a:off x="3676650" y="20193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封包實際走過哪些設備？</a:t>
            </a:r>
          </a:p>
        </p:txBody>
      </p:sp>
      <p:sp>
        <p:nvSpPr>
          <p:cNvPr id="12" name="problem-body-1">
            <a:extLst>
              <a:ext uri="{FF2B5EF4-FFF2-40B4-BE49-F238E27FC236}">
                <a16:creationId xmlns:a16="http://schemas.microsoft.com/office/drawing/2014/main" id="{A8F694E2-DF33-4D05-8851-69110E4A3517}"/>
              </a:ext>
            </a:extLst>
          </p:cNvPr>
          <p:cNvSpPr>
            <a:spLocks noGrp="1"/>
          </p:cNvSpPr>
          <p:nvPr/>
        </p:nvSpPr>
        <p:spPr>
          <a:xfrm>
            <a:off x="7667625" y="204787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攻擊端 → Pi 5 → 受保護 DDS 網路；每一跳都可擷取。</a:t>
            </a:r>
          </a:p>
        </p:txBody>
      </p:sp>
      <p:sp>
        <p:nvSpPr>
          <p:cNvPr id="13" name="problem-line-2">
            <a:extLst>
              <a:ext uri="{FF2B5EF4-FFF2-40B4-BE49-F238E27FC236}">
                <a16:creationId xmlns:a16="http://schemas.microsoft.com/office/drawing/2014/main" id="{F7D6F2ED-AC38-4E9C-90C1-785F58BF787F}"/>
              </a:ext>
            </a:extLst>
          </p:cNvPr>
          <p:cNvSpPr>
            <a:spLocks noGrp="1"/>
          </p:cNvSpPr>
          <p:nvPr/>
        </p:nvSpPr>
        <p:spPr>
          <a:xfrm>
            <a:off x="3333750" y="3981450"/>
            <a:ext cx="79438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blem-accent-2">
            <a:extLst>
              <a:ext uri="{FF2B5EF4-FFF2-40B4-BE49-F238E27FC236}">
                <a16:creationId xmlns:a16="http://schemas.microsoft.com/office/drawing/2014/main" id="{D7D88F4D-7DFA-47E9-B5E1-5D44A2C2B43D}"/>
              </a:ext>
            </a:extLst>
          </p:cNvPr>
          <p:cNvSpPr>
            <a:spLocks noGrp="1"/>
          </p:cNvSpPr>
          <p:nvPr/>
        </p:nvSpPr>
        <p:spPr>
          <a:xfrm>
            <a:off x="3333750" y="2990850"/>
            <a:ext cx="95250" cy="81915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problem-en-2">
            <a:extLst>
              <a:ext uri="{FF2B5EF4-FFF2-40B4-BE49-F238E27FC236}">
                <a16:creationId xmlns:a16="http://schemas.microsoft.com/office/drawing/2014/main" id="{3064EC7E-019F-4630-A55C-DE2E03549491}"/>
              </a:ext>
            </a:extLst>
          </p:cNvPr>
          <p:cNvSpPr>
            <a:spLocks noGrp="1"/>
          </p:cNvSpPr>
          <p:nvPr/>
        </p:nvSpPr>
        <p:spPr>
          <a:xfrm>
            <a:off x="3676650" y="2990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DDS LOGIC</a:t>
            </a:r>
          </a:p>
        </p:txBody>
      </p:sp>
      <p:sp>
        <p:nvSpPr>
          <p:cNvPr id="16" name="problem-zh-2">
            <a:extLst>
              <a:ext uri="{FF2B5EF4-FFF2-40B4-BE49-F238E27FC236}">
                <a16:creationId xmlns:a16="http://schemas.microsoft.com/office/drawing/2014/main" id="{7CDE3E02-978C-4AAE-A6CE-538E1D4F1FC5}"/>
              </a:ext>
            </a:extLst>
          </p:cNvPr>
          <p:cNvSpPr>
            <a:spLocks noGrp="1"/>
          </p:cNvSpPr>
          <p:nvPr/>
        </p:nvSpPr>
        <p:spPr>
          <a:xfrm>
            <a:off x="3676650" y="32575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誰能發布或訂閱哪些 Topic？</a:t>
            </a:r>
          </a:p>
        </p:txBody>
      </p:sp>
      <p:sp>
        <p:nvSpPr>
          <p:cNvPr id="17" name="problem-body-2">
            <a:extLst>
              <a:ext uri="{FF2B5EF4-FFF2-40B4-BE49-F238E27FC236}">
                <a16:creationId xmlns:a16="http://schemas.microsoft.com/office/drawing/2014/main" id="{D08D8CBB-3F23-4BDB-8F31-24D605AC6D60}"/>
              </a:ext>
            </a:extLst>
          </p:cNvPr>
          <p:cNvSpPr>
            <a:spLocks noGrp="1"/>
          </p:cNvSpPr>
          <p:nvPr/>
        </p:nvSpPr>
        <p:spPr>
          <a:xfrm>
            <a:off x="7667625" y="328612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Domain 30、participant、topic、QoS 與 SROS2 permissions。</a:t>
            </a:r>
          </a:p>
        </p:txBody>
      </p:sp>
      <p:sp>
        <p:nvSpPr>
          <p:cNvPr id="18" name="problem-line-3">
            <a:extLst>
              <a:ext uri="{FF2B5EF4-FFF2-40B4-BE49-F238E27FC236}">
                <a16:creationId xmlns:a16="http://schemas.microsoft.com/office/drawing/2014/main" id="{26773D95-2981-4886-B4E2-858DDF782891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79438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blem-accent-3">
            <a:extLst>
              <a:ext uri="{FF2B5EF4-FFF2-40B4-BE49-F238E27FC236}">
                <a16:creationId xmlns:a16="http://schemas.microsoft.com/office/drawing/2014/main" id="{369237D0-AD8B-4FAE-B087-883077990A86}"/>
              </a:ext>
            </a:extLst>
          </p:cNvPr>
          <p:cNvSpPr>
            <a:spLocks noGrp="1"/>
          </p:cNvSpPr>
          <p:nvPr/>
        </p:nvSpPr>
        <p:spPr>
          <a:xfrm>
            <a:off x="3333750" y="4229100"/>
            <a:ext cx="95250" cy="8191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problem-en-3">
            <a:extLst>
              <a:ext uri="{FF2B5EF4-FFF2-40B4-BE49-F238E27FC236}">
                <a16:creationId xmlns:a16="http://schemas.microsoft.com/office/drawing/2014/main" id="{64620E31-B531-43A7-A687-23C93A4D004F}"/>
              </a:ext>
            </a:extLst>
          </p:cNvPr>
          <p:cNvSpPr>
            <a:spLocks noGrp="1"/>
          </p:cNvSpPr>
          <p:nvPr/>
        </p:nvSpPr>
        <p:spPr>
          <a:xfrm>
            <a:off x="3676650" y="42291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DETECTION</a:t>
            </a:r>
          </a:p>
        </p:txBody>
      </p:sp>
      <p:sp>
        <p:nvSpPr>
          <p:cNvPr id="21" name="problem-zh-3">
            <a:extLst>
              <a:ext uri="{FF2B5EF4-FFF2-40B4-BE49-F238E27FC236}">
                <a16:creationId xmlns:a16="http://schemas.microsoft.com/office/drawing/2014/main" id="{E45BD70D-346A-4301-AD98-E675B62A6D9B}"/>
              </a:ext>
            </a:extLst>
          </p:cNvPr>
          <p:cNvSpPr>
            <a:spLocks noGrp="1"/>
          </p:cNvSpPr>
          <p:nvPr/>
        </p:nvSpPr>
        <p:spPr>
          <a:xfrm>
            <a:off x="3676650" y="44958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異常如何變成可驗證回應？</a:t>
            </a:r>
          </a:p>
        </p:txBody>
      </p:sp>
      <p:sp>
        <p:nvSpPr>
          <p:cNvPr id="22" name="problem-body-3">
            <a:extLst>
              <a:ext uri="{FF2B5EF4-FFF2-40B4-BE49-F238E27FC236}">
                <a16:creationId xmlns:a16="http://schemas.microsoft.com/office/drawing/2014/main" id="{3648F294-F5FD-412A-B254-9E2FEDC9C631}"/>
              </a:ext>
            </a:extLst>
          </p:cNvPr>
          <p:cNvSpPr>
            <a:spLocks noGrp="1"/>
          </p:cNvSpPr>
          <p:nvPr/>
        </p:nvSpPr>
        <p:spPr>
          <a:xfrm>
            <a:off x="7667625" y="452437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PCAP／telemetry → fusion → block／unblock 日誌。</a:t>
            </a:r>
          </a:p>
        </p:txBody>
      </p:sp>
      <p:sp>
        <p:nvSpPr>
          <p:cNvPr id="23" name="problem-conclusion">
            <a:extLst>
              <a:ext uri="{FF2B5EF4-FFF2-40B4-BE49-F238E27FC236}">
                <a16:creationId xmlns:a16="http://schemas.microsoft.com/office/drawing/2014/main" id="{3B49338C-3592-41C6-A14A-511608A5CE9D}"/>
              </a:ext>
            </a:extLst>
          </p:cNvPr>
          <p:cNvSpPr>
            <a:spLocks noGrp="1"/>
          </p:cNvSpPr>
          <p:nvPr/>
        </p:nvSpPr>
        <p:spPr>
          <a:xfrm>
            <a:off x="3333750" y="5600700"/>
            <a:ext cx="7943850" cy="5143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problem-conclusion-text">
            <a:extLst>
              <a:ext uri="{FF2B5EF4-FFF2-40B4-BE49-F238E27FC236}">
                <a16:creationId xmlns:a16="http://schemas.microsoft.com/office/drawing/2014/main" id="{EA8743AC-2380-4F34-BEEF-3AD1D59F9788}"/>
              </a:ext>
            </a:extLst>
          </p:cNvPr>
          <p:cNvSpPr>
            <a:spLocks noGrp="1"/>
          </p:cNvSpPr>
          <p:nvPr/>
        </p:nvSpPr>
        <p:spPr>
          <a:xfrm>
            <a:off x="3600450" y="56959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本報告把實體拓樸、DDS graph 與 AI 回應連成可重現實驗。</a:t>
            </a:r>
          </a:p>
        </p:txBody>
      </p:sp>
    </p:spTree>
    <p:extLst>
      <p:ext uri="{BB962C8B-B14F-4D97-AF65-F5344CB8AC3E}">
        <p14:creationId xmlns:p14="http://schemas.microsoft.com/office/powerpoint/2010/main" val="62916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hreat-left">
            <a:extLst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10375" cy="68580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hreat-divider">
            <a:extLst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noGrp="1"/>
          </p:cNvSpPr>
          <p:nvPr/>
        </p:nvSpPr>
        <p:spPr>
          <a:xfrm>
            <a:off x="6810375" y="0"/>
            <a:ext cx="13335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hreat-title">
            <a:extLst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5619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現在能證明的，</a:t>
            </a:r>
          </a:p>
          <a:p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與最後要證明的</a:t>
            </a:r>
          </a:p>
        </p:txBody>
      </p:sp>
      <p:sp>
        <p:nvSpPr>
          <p:cNvPr id="5" name="threat-in-label">
            <a:extLst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CURRENT / 已完成</a:t>
            </a:r>
          </a:p>
        </p:txBody>
      </p:sp>
      <p:sp>
        <p:nvSpPr>
          <p:cNvPr id="6" name="threat-in-title">
            <a:extLst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開發與先導證據</a:t>
            </a:r>
          </a:p>
        </p:txBody>
      </p:sp>
      <p:sp>
        <p:nvSpPr>
          <p:cNvPr id="7" name="threat-in-body">
            <a:extLst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5143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Windows 11 + WSL2 same-host</a:t>
            </a:r>
          </a:p>
          <a:p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Gazebo／TurtleBot3，Domain 30</a:t>
            </a:r>
          </a:p>
          <a:p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離線稽核與 Enforce readiness</a:t>
            </a:r>
          </a:p>
          <a:p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HMAC v3、D1–D6、Zeek 規則</a:t>
            </a:r>
          </a:p>
          <a:p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20-session live pilot</a:t>
            </a:r>
          </a:p>
          <a:p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結論：僅 local-adversary claim</a:t>
            </a:r>
          </a:p>
        </p:txBody>
      </p:sp>
      <p:sp>
        <p:nvSpPr>
          <p:cNvPr id="8" name="threat-out-label">
            <a:extLst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noGrp="1"/>
          </p:cNvSpPr>
          <p:nvPr/>
        </p:nvSpPr>
        <p:spPr>
          <a:xfrm>
            <a:off x="7381875" y="7810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TARGET / 規劃中</a:t>
            </a:r>
          </a:p>
        </p:txBody>
      </p:sp>
      <p:sp>
        <p:nvSpPr>
          <p:cNvPr id="9" name="threat-out-title">
            <a:extLst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noGrp="1"/>
          </p:cNvSpPr>
          <p:nvPr/>
        </p:nvSpPr>
        <p:spPr>
          <a:xfrm>
            <a:off x="7381875" y="120015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正式防火牆證據</a:t>
            </a:r>
          </a:p>
        </p:txBody>
      </p:sp>
      <p:sp>
        <p:nvSpPr>
          <p:cNvPr id="10" name="threat-out-body">
            <a:extLst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noGrp="1"/>
          </p:cNvSpPr>
          <p:nvPr/>
        </p:nvSpPr>
        <p:spPr>
          <a:xfrm>
            <a:off x="7381875" y="1924050"/>
            <a:ext cx="4000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自有隔離網路</a:t>
            </a:r>
          </a:p>
          <a:p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攻擊端 → Pi 5 雙介面 → 受保護 DDS</a:t>
            </a:r>
          </a:p>
          <a:p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跨主機 Permissive／Enforce 配對</a:t>
            </a:r>
          </a:p>
          <a:p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live network + telemetry + fusion</a:t>
            </a:r>
          </a:p>
          <a:p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TTL block／auto-unblock／rollback</a:t>
            </a:r>
          </a:p>
          <a:p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Pi 5 資源與長時間穩定性</a:t>
            </a:r>
          </a:p>
        </p:txBody>
      </p:sp>
      <p:sp>
        <p:nvSpPr>
          <p:cNvPr id="11" name="threat-lab-band">
            <a:extLst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noGrp="1"/>
          </p:cNvSpPr>
          <p:nvPr/>
        </p:nvSpPr>
        <p:spPr>
          <a:xfrm>
            <a:off x="7381875" y="4495800"/>
            <a:ext cx="4000500" cy="129540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hreat-lab-text">
            <a:extLst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noGrp="1"/>
          </p:cNvSpPr>
          <p:nvPr/>
        </p:nvSpPr>
        <p:spPr>
          <a:xfrm>
            <a:off x="7667625" y="4705350"/>
            <a:ext cx="3429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判讀規則</a:t>
            </a:r>
          </a:p>
          <a:p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同機結果不能冒充跨主機；</a:t>
            </a:r>
          </a:p>
          <a:p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封鎖必須在封包路徑上發生。</a:t>
            </a:r>
          </a:p>
        </p:txBody>
      </p:sp>
      <p:sp>
        <p:nvSpPr>
          <p:cNvPr id="13" name="threat-page">
            <a:extLst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ail-4">
            <a:extLst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4">
            <a:extLst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最終實體拓樸：所有流量必須先穿過 Pi 5</a:t>
            </a:r>
          </a:p>
        </p:txBody>
      </p:sp>
      <p:sp>
        <p:nvSpPr>
          <p:cNvPr id="5" name="page-4">
            <a:extLst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architecture-subtitle">
            <a:extLst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規劃中｜透明 L2 bridge（eth0＋USB Ethernet）；同機 WSL2 只保留開發測試。</a:t>
            </a:r>
          </a:p>
        </p:txBody>
      </p:sp>
      <p:sp>
        <p:nvSpPr>
          <p:cNvPr id="7" name="architecture-arrow-1">
            <a:extLst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noGrp="1"/>
          </p:cNvSpPr>
          <p:nvPr/>
        </p:nvSpPr>
        <p:spPr>
          <a:xfrm>
            <a:off x="24765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rchitecture-arrow-2">
            <a:extLst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noGrp="1"/>
          </p:cNvSpPr>
          <p:nvPr/>
        </p:nvSpPr>
        <p:spPr>
          <a:xfrm>
            <a:off x="47244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rchitecture-arrow-3">
            <a:extLst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noGrp="1"/>
          </p:cNvSpPr>
          <p:nvPr/>
        </p:nvSpPr>
        <p:spPr>
          <a:xfrm>
            <a:off x="69723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architecture-arrow-4">
            <a:extLst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noGrp="1"/>
          </p:cNvSpPr>
          <p:nvPr/>
        </p:nvSpPr>
        <p:spPr>
          <a:xfrm>
            <a:off x="92202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rchitecture-node-1">
            <a:extLst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architecture-number-1">
            <a:extLst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攻擊端</a:t>
            </a:r>
          </a:p>
        </p:txBody>
      </p:sp>
      <p:sp>
        <p:nvSpPr>
          <p:cNvPr id="14" name="architecture-node-rule-1">
            <a:extLst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rchitecture-body-1">
            <a:extLst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192.168.50.10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Metasploit：host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ROS2 / DDS test node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單一目標</a:t>
            </a:r>
          </a:p>
        </p:txBody>
      </p:sp>
      <p:sp>
        <p:nvSpPr>
          <p:cNvPr id="16" name="architecture-node-2">
            <a:extLst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noGrp="1"/>
          </p:cNvSpPr>
          <p:nvPr/>
        </p:nvSpPr>
        <p:spPr>
          <a:xfrm>
            <a:off x="28003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DCD8D1"/>
          </a:solidFill>
          <a:ln w="9525">
            <a:solidFill>
              <a:srgbClr val="DCD8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architecture-number-2">
            <a:extLst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noGrp="1"/>
          </p:cNvSpPr>
          <p:nvPr/>
        </p:nvSpPr>
        <p:spPr>
          <a:xfrm>
            <a:off x="30099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noGrp="1"/>
          </p:cNvSpPr>
          <p:nvPr/>
        </p:nvSpPr>
        <p:spPr>
          <a:xfrm>
            <a:off x="30099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Pi 5 入口</a:t>
            </a:r>
          </a:p>
        </p:txBody>
      </p:sp>
      <p:sp>
        <p:nvSpPr>
          <p:cNvPr id="19" name="architecture-node-rule-2">
            <a:extLst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architecture-body-2">
            <a:extLst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noGrp="1"/>
          </p:cNvSpPr>
          <p:nvPr/>
        </p:nvSpPr>
        <p:spPr>
          <a:xfrm>
            <a:off x="30099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eth0 → br0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mgmt .2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L2 transparent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capture all</a:t>
            </a:r>
          </a:p>
        </p:txBody>
      </p:sp>
      <p:sp>
        <p:nvSpPr>
          <p:cNvPr id="21" name="architecture-node-3">
            <a:extLst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E4E7E8"/>
          </a:solidFill>
          <a:ln w="9525">
            <a:solidFill>
              <a:srgbClr val="E4E7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architecture-number-3">
            <a:extLst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noGrp="1"/>
          </p:cNvSpPr>
          <p:nvPr/>
        </p:nvSpPr>
        <p:spPr>
          <a:xfrm>
            <a:off x="52578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noGrp="1"/>
          </p:cNvSpPr>
          <p:nvPr/>
        </p:nvSpPr>
        <p:spPr>
          <a:xfrm>
            <a:off x="52578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判斷</a:t>
            </a:r>
          </a:p>
        </p:txBody>
      </p:sp>
      <p:sp>
        <p:nvSpPr>
          <p:cNvPr id="24" name="architecture-node-rule-3">
            <a:extLst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noGrp="1"/>
          </p:cNvSpPr>
          <p:nvPr/>
        </p:nvSpPr>
        <p:spPr>
          <a:xfrm>
            <a:off x="52578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architecture-body-3">
            <a:extLst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noGrp="1"/>
          </p:cNvSpPr>
          <p:nvPr/>
        </p:nvSpPr>
        <p:spPr>
          <a:xfrm>
            <a:off x="52578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14 network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18 telemetry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RF + IF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source / confidence</a:t>
            </a:r>
          </a:p>
        </p:txBody>
      </p:sp>
      <p:sp>
        <p:nvSpPr>
          <p:cNvPr id="26" name="architecture-node-4">
            <a:extLst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noGrp="1"/>
          </p:cNvSpPr>
          <p:nvPr/>
        </p:nvSpPr>
        <p:spPr>
          <a:xfrm>
            <a:off x="72961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architecture-number-4">
            <a:extLst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noGrp="1"/>
          </p:cNvSpPr>
          <p:nvPr/>
        </p:nvSpPr>
        <p:spPr>
          <a:xfrm>
            <a:off x="75057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noGrp="1"/>
          </p:cNvSpPr>
          <p:nvPr/>
        </p:nvSpPr>
        <p:spPr>
          <a:xfrm>
            <a:off x="75057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Pi 5 出口</a:t>
            </a:r>
          </a:p>
        </p:txBody>
      </p:sp>
      <p:sp>
        <p:nvSpPr>
          <p:cNvPr id="29" name="architecture-node-rule-4">
            <a:extLst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noGrp="1"/>
          </p:cNvSpPr>
          <p:nvPr/>
        </p:nvSpPr>
        <p:spPr>
          <a:xfrm>
            <a:off x="7505700" y="3333750"/>
            <a:ext cx="1543050" cy="9525"/>
          </a:xfrm>
          <a:prstGeom prst="rect">
            <a:avLst/>
          </a:prstGeom>
          <a:solidFill>
            <a:srgbClr val="B9BDB7"/>
          </a:solidFill>
          <a:ln w="9525">
            <a:solidFill>
              <a:srgbClr val="B9BD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architecture-body-4">
            <a:extLst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noGrp="1"/>
          </p:cNvSpPr>
          <p:nvPr/>
        </p:nvSpPr>
        <p:spPr>
          <a:xfrm>
            <a:off x="75057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br0 → usb0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nft bridge set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TTL block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rollback</a:t>
            </a:r>
          </a:p>
        </p:txBody>
      </p:sp>
      <p:sp>
        <p:nvSpPr>
          <p:cNvPr id="31" name="architecture-node-5">
            <a:extLst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noGrp="1"/>
          </p:cNvSpPr>
          <p:nvPr/>
        </p:nvSpPr>
        <p:spPr>
          <a:xfrm>
            <a:off x="95440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architecture-number-5">
            <a:extLst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noGrp="1"/>
          </p:cNvSpPr>
          <p:nvPr/>
        </p:nvSpPr>
        <p:spPr>
          <a:xfrm>
            <a:off x="97536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noGrp="1"/>
          </p:cNvSpPr>
          <p:nvPr/>
        </p:nvSpPr>
        <p:spPr>
          <a:xfrm>
            <a:off x="97536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受保護 DDS</a:t>
            </a:r>
          </a:p>
        </p:txBody>
      </p:sp>
      <p:sp>
        <p:nvSpPr>
          <p:cNvPr id="34" name="architecture-node-rule-5">
            <a:extLst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noGrp="1"/>
          </p:cNvSpPr>
          <p:nvPr/>
        </p:nvSpPr>
        <p:spPr>
          <a:xfrm>
            <a:off x="9753600" y="3333750"/>
            <a:ext cx="1543050" cy="9525"/>
          </a:xfrm>
          <a:prstGeom prst="rect">
            <a:avLst/>
          </a:prstGeom>
          <a:solidFill>
            <a:srgbClr val="B9BDB7"/>
          </a:solidFill>
          <a:ln w="9525">
            <a:solidFill>
              <a:srgbClr val="B9BD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architecture-body-5">
            <a:extLst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noGrp="1"/>
          </p:cNvSpPr>
          <p:nvPr/>
        </p:nvSpPr>
        <p:spPr>
          <a:xfrm>
            <a:off x="97536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.20 host / .30 robot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同一隔離 /24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Domain 30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Enforce</a:t>
            </a:r>
          </a:p>
        </p:txBody>
      </p:sp>
      <p:sp>
        <p:nvSpPr>
          <p:cNvPr id="36" name="architecture-evidence">
            <a:extLst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noGrp="1"/>
          </p:cNvSpPr>
          <p:nvPr/>
        </p:nvSpPr>
        <p:spPr>
          <a:xfrm>
            <a:off x="552450" y="54864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預定 192.168.50.0/24、無 NAT；br0 保留 SPDP/SEDP multicast；nftables bridge family 暫封來源。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ail-4">
            <a:extLst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4">
            <a:extLst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DDS 邏輯圖：Domain 30 中每條 Topic 都有明確責任</a:t>
            </a:r>
          </a:p>
        </p:txBody>
      </p:sp>
      <p:sp>
        <p:nvSpPr>
          <p:cNvPr id="5" name="page-4">
            <a:extLst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architecture-subtitle">
            <a:extLst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已完成核心節點與 Topic 規格；QoS、permissions 與跨主機流向將在正式設備到齊後凍結。</a:t>
            </a:r>
          </a:p>
        </p:txBody>
      </p:sp>
      <p:sp>
        <p:nvSpPr>
          <p:cNvPr id="7" name="architecture-arrow-1">
            <a:extLst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noGrp="1"/>
          </p:cNvSpPr>
          <p:nvPr/>
        </p:nvSpPr>
        <p:spPr>
          <a:xfrm>
            <a:off x="24765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rchitecture-arrow-2">
            <a:extLst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noGrp="1"/>
          </p:cNvSpPr>
          <p:nvPr/>
        </p:nvSpPr>
        <p:spPr>
          <a:xfrm>
            <a:off x="47244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rchitecture-arrow-3">
            <a:extLst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noGrp="1"/>
          </p:cNvSpPr>
          <p:nvPr/>
        </p:nvSpPr>
        <p:spPr>
          <a:xfrm>
            <a:off x="69723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architecture-arrow-4">
            <a:extLst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noGrp="1"/>
          </p:cNvSpPr>
          <p:nvPr/>
        </p:nvSpPr>
        <p:spPr>
          <a:xfrm>
            <a:off x="92202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rchitecture-node-1">
            <a:extLst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architecture-number-1">
            <a:extLst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感測發布</a:t>
            </a:r>
          </a:p>
        </p:txBody>
      </p:sp>
      <p:sp>
        <p:nvSpPr>
          <p:cNvPr id="14" name="architecture-node-rule-1">
            <a:extLst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rchitecture-body-1">
            <a:extLst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ros_gz_bridge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/scan BE 5 Hz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/odom BE 30 Hz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/imu BE 50 Hz</a:t>
            </a:r>
          </a:p>
        </p:txBody>
      </p:sp>
      <p:sp>
        <p:nvSpPr>
          <p:cNvPr id="16" name="architecture-node-2">
            <a:extLst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noGrp="1"/>
          </p:cNvSpPr>
          <p:nvPr/>
        </p:nvSpPr>
        <p:spPr>
          <a:xfrm>
            <a:off x="28003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DCD8D1"/>
          </a:solidFill>
          <a:ln w="9525">
            <a:solidFill>
              <a:srgbClr val="DCD8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architecture-number-2">
            <a:extLst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noGrp="1"/>
          </p:cNvSpPr>
          <p:nvPr/>
        </p:nvSpPr>
        <p:spPr>
          <a:xfrm>
            <a:off x="30099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noGrp="1"/>
          </p:cNvSpPr>
          <p:nvPr/>
        </p:nvSpPr>
        <p:spPr>
          <a:xfrm>
            <a:off x="30099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控制路徑</a:t>
            </a:r>
          </a:p>
        </p:txBody>
      </p:sp>
      <p:sp>
        <p:nvSpPr>
          <p:cNvPr id="19" name="architecture-node-rule-2">
            <a:extLst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architecture-body-2">
            <a:extLst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noGrp="1"/>
          </p:cNvSpPr>
          <p:nvPr/>
        </p:nvSpPr>
        <p:spPr>
          <a:xfrm>
            <a:off x="30099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patrol_node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/cmd_vel/patrol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velocity_guard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/cmd_vel RELIABLE</a:t>
            </a:r>
          </a:p>
        </p:txBody>
      </p:sp>
      <p:sp>
        <p:nvSpPr>
          <p:cNvPr id="21" name="architecture-node-3">
            <a:extLst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E4E7E8"/>
          </a:solidFill>
          <a:ln w="9525">
            <a:solidFill>
              <a:srgbClr val="E4E7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architecture-number-3">
            <a:extLst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noGrp="1"/>
          </p:cNvSpPr>
          <p:nvPr/>
        </p:nvSpPr>
        <p:spPr>
          <a:xfrm>
            <a:off x="52578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noGrp="1"/>
          </p:cNvSpPr>
          <p:nvPr/>
        </p:nvSpPr>
        <p:spPr>
          <a:xfrm>
            <a:off x="52578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狀態服務</a:t>
            </a:r>
          </a:p>
        </p:txBody>
      </p:sp>
      <p:sp>
        <p:nvSpPr>
          <p:cNvPr id="24" name="architecture-node-rule-3">
            <a:extLst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noGrp="1"/>
          </p:cNvSpPr>
          <p:nvPr/>
        </p:nvSpPr>
        <p:spPr>
          <a:xfrm>
            <a:off x="52578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architecture-body-3">
            <a:extLst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noGrp="1"/>
          </p:cNvSpPr>
          <p:nvPr/>
        </p:nvSpPr>
        <p:spPr>
          <a:xfrm>
            <a:off x="52578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sensor_hub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mission_manager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system_status</a:t>
            </a:r>
          </a:p>
          <a:p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6 signed topics</a:t>
            </a:r>
          </a:p>
        </p:txBody>
      </p:sp>
      <p:sp>
        <p:nvSpPr>
          <p:cNvPr id="26" name="architecture-node-4">
            <a:extLst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noGrp="1"/>
          </p:cNvSpPr>
          <p:nvPr/>
        </p:nvSpPr>
        <p:spPr>
          <a:xfrm>
            <a:off x="72961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architecture-number-4">
            <a:extLst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noGrp="1"/>
          </p:cNvSpPr>
          <p:nvPr/>
        </p:nvSpPr>
        <p:spPr>
          <a:xfrm>
            <a:off x="75057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noGrp="1"/>
          </p:cNvSpPr>
          <p:nvPr/>
        </p:nvSpPr>
        <p:spPr>
          <a:xfrm>
            <a:off x="75057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安全觀測</a:t>
            </a:r>
          </a:p>
        </p:txBody>
      </p:sp>
      <p:sp>
        <p:nvSpPr>
          <p:cNvPr id="29" name="architecture-node-rule-4">
            <a:extLst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noGrp="1"/>
          </p:cNvSpPr>
          <p:nvPr/>
        </p:nvSpPr>
        <p:spPr>
          <a:xfrm>
            <a:off x="7505700" y="3333750"/>
            <a:ext cx="1543050" cy="9525"/>
          </a:xfrm>
          <a:prstGeom prst="rect">
            <a:avLst/>
          </a:prstGeom>
          <a:solidFill>
            <a:srgbClr val="B9BDB7"/>
          </a:solidFill>
          <a:ln w="9525">
            <a:solidFill>
              <a:srgbClr val="B9BD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architecture-body-4">
            <a:extLst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noGrp="1"/>
          </p:cNvSpPr>
          <p:nvPr/>
        </p:nvSpPr>
        <p:spPr>
          <a:xfrm>
            <a:off x="75057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monitor + IDS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D1–D6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Zeek events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telemetry</a:t>
            </a:r>
          </a:p>
        </p:txBody>
      </p:sp>
      <p:sp>
        <p:nvSpPr>
          <p:cNvPr id="31" name="architecture-node-5">
            <a:extLst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noGrp="1"/>
          </p:cNvSpPr>
          <p:nvPr/>
        </p:nvSpPr>
        <p:spPr>
          <a:xfrm>
            <a:off x="95440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architecture-number-5">
            <a:extLst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noGrp="1"/>
          </p:cNvSpPr>
          <p:nvPr/>
        </p:nvSpPr>
        <p:spPr>
          <a:xfrm>
            <a:off x="97536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noGrp="1"/>
          </p:cNvSpPr>
          <p:nvPr/>
        </p:nvSpPr>
        <p:spPr>
          <a:xfrm>
            <a:off x="97536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受保護端</a:t>
            </a:r>
          </a:p>
        </p:txBody>
      </p:sp>
      <p:sp>
        <p:nvSpPr>
          <p:cNvPr id="34" name="architecture-node-rule-5">
            <a:extLst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noGrp="1"/>
          </p:cNvSpPr>
          <p:nvPr/>
        </p:nvSpPr>
        <p:spPr>
          <a:xfrm>
            <a:off x="9753600" y="3333750"/>
            <a:ext cx="1543050" cy="9525"/>
          </a:xfrm>
          <a:prstGeom prst="rect">
            <a:avLst/>
          </a:prstGeom>
          <a:solidFill>
            <a:srgbClr val="B9BDB7"/>
          </a:solidFill>
          <a:ln w="9525">
            <a:solidFill>
              <a:srgbClr val="B9BD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architecture-body-5">
            <a:extLst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noGrp="1"/>
          </p:cNvSpPr>
          <p:nvPr/>
        </p:nvSpPr>
        <p:spPr>
          <a:xfrm>
            <a:off x="97536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robot base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alarms / audit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operator view</a:t>
            </a:r>
          </a:p>
          <a:p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PCAP evidence</a:t>
            </a:r>
          </a:p>
        </p:txBody>
      </p:sp>
      <p:sp>
        <p:nvSpPr>
          <p:cNvPr id="36" name="architecture-evidence">
            <a:extLst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noGrp="1"/>
          </p:cNvSpPr>
          <p:nvPr/>
        </p:nvSpPr>
        <p:spPr>
          <a:xfrm>
            <a:off x="552450" y="54864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同機攻擊不能只靠 IP：SROS2 identity、DDS GUID、permissions 與單一 writer 共同辨識來源。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il-10">
            <a:extLst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10">
            <a:extLst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ROS 2 Jazzy／Fast DDS 權限矩陣：誰能發、誰能收</a:t>
            </a:r>
          </a:p>
        </p:txBody>
      </p:sp>
      <p:sp>
        <p:nvSpPr>
          <p:cNvPr id="5" name="page-10">
            <a:extLst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600200"/>
          <a:ext cx="10972800" cy="434340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節點／身分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Publish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Subscribe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QoS／SROS2／host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ros_gz_bridge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/scan /odom /imu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/cmd_vel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感測 BE；bridge@.20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patrol_node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/cmd_vel/patrol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/scan /odom /alerts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private input；app@.20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velocity_guard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/cmd_vel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/cmd_vel/* /alerts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writer；app@.20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monitor + IDS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/alerts /heartbeat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graph /cmd /scan /odom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RELIABLE v3；security@.20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status nodes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sensor / mission / health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scan / imu / alerts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HMAC；app@.20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robot base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/joint_states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/cmd_vel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RELIABLE；robot@.30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il-10">
            <a:extLst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10">
            <a:extLst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DDS 攻擊面：每種風險交給正確的防線</a:t>
            </a:r>
          </a:p>
        </p:txBody>
      </p:sp>
      <p:sp>
        <p:nvSpPr>
          <p:cNvPr id="5" name="page-10">
            <a:extLst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600200"/>
          <a:ext cx="10972800" cy="434340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攻擊面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入口／目標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主要預防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偵測與回應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Discovery 偵察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SPDP / participant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SROS2 身分＋discovery 保護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Zeek 異常 → 稽核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Rogue publisher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/cmd_vel /scan /odom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逐節點 ACL＋velocity_guard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D1/D4/D6 → AI → TTL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Replay / cross-channel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 個 String topics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HMAC v3：channel / ts / nonce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verify + ReplayCache → 拒絕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參數竄改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set_parameters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read-only＋service permission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Zeek 事件 → 稽核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流量／來源異常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注入、spoof、異常 rate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 5 inline 隔離（目標）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RF / IF → 歸因 → TTL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Heartbeat 失效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/security/heartbeat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簽章心跳＋QoS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D5 fault / clear → 安全停車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ail-9">
            <a:extLst>
              <a:ext uri="{FF2B5EF4-FFF2-40B4-BE49-F238E27FC236}">
                <a16:creationId xmlns:a16="http://schemas.microsoft.com/office/drawing/2014/main" id="{E74F51EE-1961-44C0-B2A7-71FE6A03A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9">
            <a:extLst>
              <a:ext uri="{FF2B5EF4-FFF2-40B4-BE49-F238E27FC236}">
                <a16:creationId xmlns:a16="http://schemas.microsoft.com/office/drawing/2014/main" id="{A958235B-C9E6-457F-8C22-5A34122FE52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多模態管線：32 維輸入還要接上來源歸因</a:t>
            </a:r>
          </a:p>
        </p:txBody>
      </p:sp>
      <p:sp>
        <p:nvSpPr>
          <p:cNvPr id="5" name="page-9">
            <a:extLst>
              <a:ext uri="{FF2B5EF4-FFF2-40B4-BE49-F238E27FC236}">
                <a16:creationId xmlns:a16="http://schemas.microsoft.com/office/drawing/2014/main" id="{C349AD79-C29A-4A80-B947-BE56FEC982CB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ai-network-panel">
            <a:extLst>
              <a:ext uri="{FF2B5EF4-FFF2-40B4-BE49-F238E27FC236}">
                <a16:creationId xmlns:a16="http://schemas.microsoft.com/office/drawing/2014/main" id="{CB1BA9DB-C3A7-4A6A-A407-AEF77A6AB87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4714875" cy="3276600"/>
          </a:xfrm>
          <a:prstGeom prst="rect">
            <a:avLst/>
          </a:prstGeom>
          <a:solidFill>
            <a:srgbClr val="E4E7E8"/>
          </a:solidFill>
          <a:ln w="9525">
            <a:solidFill>
              <a:srgbClr val="E4E7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ai-telemetry-panel">
            <a:extLst>
              <a:ext uri="{FF2B5EF4-FFF2-40B4-BE49-F238E27FC236}">
                <a16:creationId xmlns:a16="http://schemas.microsoft.com/office/drawing/2014/main" id="{EE7298DB-F6D2-465D-AA68-8CDA94B63086}"/>
              </a:ext>
            </a:extLst>
          </p:cNvPr>
          <p:cNvSpPr>
            <a:spLocks noGrp="1"/>
          </p:cNvSpPr>
          <p:nvPr/>
        </p:nvSpPr>
        <p:spPr>
          <a:xfrm>
            <a:off x="6867525" y="1695450"/>
            <a:ext cx="4714875" cy="327660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i-fusion-panel">
            <a:extLst>
              <a:ext uri="{FF2B5EF4-FFF2-40B4-BE49-F238E27FC236}">
                <a16:creationId xmlns:a16="http://schemas.microsoft.com/office/drawing/2014/main" id="{D9D1D5AD-9072-493F-9E97-28132AB8DA2C}"/>
              </a:ext>
            </a:extLst>
          </p:cNvPr>
          <p:cNvSpPr>
            <a:spLocks noGrp="1"/>
          </p:cNvSpPr>
          <p:nvPr/>
        </p:nvSpPr>
        <p:spPr>
          <a:xfrm>
            <a:off x="5324475" y="2228850"/>
            <a:ext cx="1543050" cy="22288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i-network-number">
            <a:extLst>
              <a:ext uri="{FF2B5EF4-FFF2-40B4-BE49-F238E27FC236}">
                <a16:creationId xmlns:a16="http://schemas.microsoft.com/office/drawing/2014/main" id="{325D7D34-33AB-4F94-A146-FCBEC95851D8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142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0" name="ai-network-title">
            <a:extLst>
              <a:ext uri="{FF2B5EF4-FFF2-40B4-BE49-F238E27FC236}">
                <a16:creationId xmlns:a16="http://schemas.microsoft.com/office/drawing/2014/main" id="{58EF713F-A789-43AB-B380-D73C4B71D695}"/>
              </a:ext>
            </a:extLst>
          </p:cNvPr>
          <p:cNvSpPr>
            <a:spLocks noGrp="1"/>
          </p:cNvSpPr>
          <p:nvPr/>
        </p:nvSpPr>
        <p:spPr>
          <a:xfrm>
            <a:off x="971550" y="29337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DDS NETWORK｜14</a:t>
            </a:r>
          </a:p>
        </p:txBody>
      </p:sp>
      <p:sp>
        <p:nvSpPr>
          <p:cNvPr id="11" name="ai-network-body">
            <a:extLst>
              <a:ext uri="{FF2B5EF4-FFF2-40B4-BE49-F238E27FC236}">
                <a16:creationId xmlns:a16="http://schemas.microsoft.com/office/drawing/2014/main" id="{CCF01C69-254D-40E2-ADC9-A994D1185A4F}"/>
              </a:ext>
            </a:extLst>
          </p:cNvPr>
          <p:cNvSpPr>
            <a:spLocks noGrp="1"/>
          </p:cNvSpPr>
          <p:nvPr/>
        </p:nvSpPr>
        <p:spPr>
          <a:xfrm>
            <a:off x="971550" y="3409950"/>
            <a:ext cx="3810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packet／byte rate、src／dst、port／protocol、participant churn、Zeek alerts。</a:t>
            </a:r>
          </a:p>
          <a:p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已完成 schema 與 live network 產出。</a:t>
            </a:r>
          </a:p>
        </p:txBody>
      </p:sp>
      <p:sp>
        <p:nvSpPr>
          <p:cNvPr id="12" name="ai-fusion-text">
            <a:extLst>
              <a:ext uri="{FF2B5EF4-FFF2-40B4-BE49-F238E27FC236}">
                <a16:creationId xmlns:a16="http://schemas.microsoft.com/office/drawing/2014/main" id="{23277CB1-FD53-41E6-B9BD-8C69D04B9384}"/>
              </a:ext>
            </a:extLst>
          </p:cNvPr>
          <p:cNvSpPr>
            <a:spLocks noGrp="1"/>
          </p:cNvSpPr>
          <p:nvPr/>
        </p:nvSpPr>
        <p:spPr>
          <a:xfrm>
            <a:off x="5476875" y="2524125"/>
            <a:ext cx="12382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FUSION</a:t>
            </a:r>
          </a:p>
          <a:p>
            <a:endParaRPr sz="165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14 + 18</a:t>
            </a:r>
          </a:p>
          <a:p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= 32</a:t>
            </a:r>
          </a:p>
          <a:p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endParaRPr sz="165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RF + IF</a:t>
            </a:r>
          </a:p>
        </p:txBody>
      </p:sp>
      <p:sp>
        <p:nvSpPr>
          <p:cNvPr id="13" name="ai-telemetry-number">
            <a:extLst>
              <a:ext uri="{FF2B5EF4-FFF2-40B4-BE49-F238E27FC236}">
                <a16:creationId xmlns:a16="http://schemas.microsoft.com/office/drawing/2014/main" id="{BA147F41-0BA6-4E4A-8F23-CA4EA3D4259B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142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4" name="ai-telemetry-title">
            <a:extLst>
              <a:ext uri="{FF2B5EF4-FFF2-40B4-BE49-F238E27FC236}">
                <a16:creationId xmlns:a16="http://schemas.microsoft.com/office/drawing/2014/main" id="{09C22F3D-1A2B-4284-97E7-AE72B5D8C13A}"/>
              </a:ext>
            </a:extLst>
          </p:cNvPr>
          <p:cNvSpPr>
            <a:spLocks noGrp="1"/>
          </p:cNvSpPr>
          <p:nvPr/>
        </p:nvSpPr>
        <p:spPr>
          <a:xfrm>
            <a:off x="7239000" y="29337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ROS / SROS2 TELEMETRY｜18</a:t>
            </a:r>
          </a:p>
        </p:txBody>
      </p:sp>
      <p:sp>
        <p:nvSpPr>
          <p:cNvPr id="15" name="ai-telemetry-body">
            <a:extLst>
              <a:ext uri="{FF2B5EF4-FFF2-40B4-BE49-F238E27FC236}">
                <a16:creationId xmlns:a16="http://schemas.microsoft.com/office/drawing/2014/main" id="{A31A91D5-F693-478D-9118-90D499B37F37}"/>
              </a:ext>
            </a:extLst>
          </p:cNvPr>
          <p:cNvSpPr>
            <a:spLocks noGrp="1"/>
          </p:cNvSpPr>
          <p:nvPr/>
        </p:nvSpPr>
        <p:spPr>
          <a:xfrm>
            <a:off x="7239000" y="3409950"/>
            <a:ext cx="3810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 deny、unknown node、HMAC fail、nonce／channel、heartbeat、control conflict、scan static、odom／cmd mismatch。</a:t>
            </a:r>
          </a:p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r>
              <a:t>18 項；live collector 尚未完成。</a:t>
            </a:r>
          </a:p>
        </p:txBody>
      </p:sp>
      <p:sp>
        <p:nvSpPr>
          <p:cNvPr id="16" name="ai-blocker-band">
            <a:extLst>
              <a:ext uri="{FF2B5EF4-FFF2-40B4-BE49-F238E27FC236}">
                <a16:creationId xmlns:a16="http://schemas.microsoft.com/office/drawing/2014/main" id="{5B0A61CE-4994-4E7F-9153-11CA5C39D089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6096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ai-blocker-text">
            <a:extLst>
              <a:ext uri="{FF2B5EF4-FFF2-40B4-BE49-F238E27FC236}">
                <a16:creationId xmlns:a16="http://schemas.microsoft.com/office/drawing/2014/main" id="{919E45A1-D8DE-4E71-BCD2-E90F1DB1634C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現況：合成 32 維已完成；正式 live 仍被 collector、同窗對齊與 fusion quality gate 三項阻擋。</a:t>
            </a:r>
          </a:p>
        </p:txBody>
      </p:sp>
    </p:spTree>
    <p:extLst>
      <p:ext uri="{BB962C8B-B14F-4D97-AF65-F5344CB8AC3E}">
        <p14:creationId xmlns:p14="http://schemas.microsoft.com/office/powerpoint/2010/main" val="1157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ail-7">
            <a:extLst>
              <a:ext uri="{FF2B5EF4-FFF2-40B4-BE49-F238E27FC236}">
                <a16:creationId xmlns:a16="http://schemas.microsoft.com/office/drawing/2014/main" id="{F4C55ED1-A8B7-4E29-9244-4E0643AEE1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7">
            <a:extLst>
              <a:ext uri="{FF2B5EF4-FFF2-40B4-BE49-F238E27FC236}">
                <a16:creationId xmlns:a16="http://schemas.microsoft.com/office/drawing/2014/main" id="{21327D03-913D-4CD7-BFD7-189A4C6CE17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資料分三層：合成預訓練、先導實測、正式驗證</a:t>
            </a:r>
          </a:p>
        </p:txBody>
      </p:sp>
      <p:sp>
        <p:nvSpPr>
          <p:cNvPr id="5" name="page-7">
            <a:extLst>
              <a:ext uri="{FF2B5EF4-FFF2-40B4-BE49-F238E27FC236}">
                <a16:creationId xmlns:a16="http://schemas.microsoft.com/office/drawing/2014/main" id="{C3EB467F-8EBC-4956-AD82-6438171E40E4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synthetic-sessions-value">
            <a:extLst>
              <a:ext uri="{FF2B5EF4-FFF2-40B4-BE49-F238E27FC236}">
                <a16:creationId xmlns:a16="http://schemas.microsoft.com/office/drawing/2014/main" id="{56F289AD-8CC4-4914-8D30-B69628992AF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2,500</a:t>
            </a:r>
          </a:p>
        </p:txBody>
      </p:sp>
      <p:sp>
        <p:nvSpPr>
          <p:cNvPr id="7" name="synthetic-sessions-label">
            <a:extLst>
              <a:ext uri="{FF2B5EF4-FFF2-40B4-BE49-F238E27FC236}">
                <a16:creationId xmlns:a16="http://schemas.microsoft.com/office/drawing/2014/main" id="{7CFF3641-AAF3-461D-B9E7-0CB2BABDFAE4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合成 sessions｜已完成</a:t>
            </a:r>
          </a:p>
        </p:txBody>
      </p:sp>
      <p:sp>
        <p:nvSpPr>
          <p:cNvPr id="8" name="synthetic-windows-value">
            <a:extLst>
              <a:ext uri="{FF2B5EF4-FFF2-40B4-BE49-F238E27FC236}">
                <a16:creationId xmlns:a16="http://schemas.microsoft.com/office/drawing/2014/main" id="{85001741-B906-42A2-BCEC-B8DB0191D505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9" name="synthetic-windows-label">
            <a:extLst>
              <a:ext uri="{FF2B5EF4-FFF2-40B4-BE49-F238E27FC236}">
                <a16:creationId xmlns:a16="http://schemas.microsoft.com/office/drawing/2014/main" id="{3F230871-FA5F-459B-8E4B-E76FFB25CFEA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live pilot｜已完成</a:t>
            </a:r>
          </a:p>
        </p:txBody>
      </p:sp>
      <p:sp>
        <p:nvSpPr>
          <p:cNvPr id="10" name="synthetic-classes-value">
            <a:extLst>
              <a:ext uri="{FF2B5EF4-FFF2-40B4-BE49-F238E27FC236}">
                <a16:creationId xmlns:a16="http://schemas.microsoft.com/office/drawing/2014/main" id="{D6A4B8C9-09E6-4459-99DD-A824ADDA6163}"/>
              </a:ext>
            </a:extLst>
          </p:cNvPr>
          <p:cNvSpPr>
            <a:spLocks noGrp="1"/>
          </p:cNvSpPr>
          <p:nvPr/>
        </p:nvSpPr>
        <p:spPr>
          <a:xfrm>
            <a:off x="8524875" y="16192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 / 1,100</a:t>
            </a:r>
          </a:p>
        </p:txBody>
      </p:sp>
      <p:sp>
        <p:nvSpPr>
          <p:cNvPr id="11" name="synthetic-classes-label">
            <a:extLst>
              <a:ext uri="{FF2B5EF4-FFF2-40B4-BE49-F238E27FC236}">
                <a16:creationId xmlns:a16="http://schemas.microsoft.com/office/drawing/2014/main" id="{BAD0D16F-FE38-491D-A6E0-13FD6FD161A3}"/>
              </a:ext>
            </a:extLst>
          </p:cNvPr>
          <p:cNvSpPr>
            <a:spLocks noGrp="1"/>
          </p:cNvSpPr>
          <p:nvPr/>
        </p:nvSpPr>
        <p:spPr>
          <a:xfrm>
            <a:off x="8524875" y="2266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正式 sessions｜BLOCKED</a:t>
            </a:r>
          </a:p>
        </p:txBody>
      </p:sp>
      <p:sp>
        <p:nvSpPr>
          <p:cNvPr id="12" name="data-flow-line">
            <a:extLst>
              <a:ext uri="{FF2B5EF4-FFF2-40B4-BE49-F238E27FC236}">
                <a16:creationId xmlns:a16="http://schemas.microsoft.com/office/drawing/2014/main" id="{2646C302-2424-41F0-A0C6-38D01E99E0F5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10477500" cy="1905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ata-dot-1">
            <a:extLst>
              <a:ext uri="{FF2B5EF4-FFF2-40B4-BE49-F238E27FC236}">
                <a16:creationId xmlns:a16="http://schemas.microsoft.com/office/drawing/2014/main" id="{E2ACFED4-73BB-4C22-B366-B00CDA9834E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19100" cy="419100"/>
          </a:xfrm>
          <a:prstGeom prst="ellipse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data-stage-title-1">
            <a:extLst>
              <a:ext uri="{FF2B5EF4-FFF2-40B4-BE49-F238E27FC236}">
                <a16:creationId xmlns:a16="http://schemas.microsoft.com/office/drawing/2014/main" id="{10F24C00-59CC-4B18-8296-C4105886BEAD}"/>
              </a:ext>
            </a:extLst>
          </p:cNvPr>
          <p:cNvSpPr>
            <a:spLocks noGrp="1"/>
          </p:cNvSpPr>
          <p:nvPr/>
        </p:nvSpPr>
        <p:spPr>
          <a:xfrm>
            <a:off x="3429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contract</a:t>
            </a:r>
          </a:p>
        </p:txBody>
      </p:sp>
      <p:sp>
        <p:nvSpPr>
          <p:cNvPr id="15" name="data-stage-body-1">
            <a:extLst>
              <a:ext uri="{FF2B5EF4-FFF2-40B4-BE49-F238E27FC236}">
                <a16:creationId xmlns:a16="http://schemas.microsoft.com/office/drawing/2014/main" id="{826E9071-4650-4743-8DD3-1A6792F83F4A}"/>
              </a:ext>
            </a:extLst>
          </p:cNvPr>
          <p:cNvSpPr>
            <a:spLocks noGrp="1"/>
          </p:cNvSpPr>
          <p:nvPr/>
        </p:nvSpPr>
        <p:spPr>
          <a:xfrm>
            <a:off x="952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schema · mode · label</a:t>
            </a:r>
          </a:p>
        </p:txBody>
      </p:sp>
      <p:sp>
        <p:nvSpPr>
          <p:cNvPr id="16" name="data-dot-2">
            <a:extLst>
              <a:ext uri="{FF2B5EF4-FFF2-40B4-BE49-F238E27FC236}">
                <a16:creationId xmlns:a16="http://schemas.microsoft.com/office/drawing/2014/main" id="{0582A6C3-A261-4A06-89E2-D395745441E9}"/>
              </a:ext>
            </a:extLst>
          </p:cNvPr>
          <p:cNvSpPr>
            <a:spLocks noGrp="1"/>
          </p:cNvSpPr>
          <p:nvPr/>
        </p:nvSpPr>
        <p:spPr>
          <a:xfrm>
            <a:off x="2362200" y="3619500"/>
            <a:ext cx="419100" cy="419100"/>
          </a:xfrm>
          <a:prstGeom prst="ellipse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data-stage-title-2">
            <a:extLst>
              <a:ext uri="{FF2B5EF4-FFF2-40B4-BE49-F238E27FC236}">
                <a16:creationId xmlns:a16="http://schemas.microsoft.com/office/drawing/2014/main" id="{10FDE371-F7DC-4806-858A-91CBD723007A}"/>
              </a:ext>
            </a:extLst>
          </p:cNvPr>
          <p:cNvSpPr>
            <a:spLocks noGrp="1"/>
          </p:cNvSpPr>
          <p:nvPr/>
        </p:nvSpPr>
        <p:spPr>
          <a:xfrm>
            <a:off x="20955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capture</a:t>
            </a:r>
          </a:p>
        </p:txBody>
      </p:sp>
      <p:sp>
        <p:nvSpPr>
          <p:cNvPr id="18" name="data-stage-body-2">
            <a:extLst>
              <a:ext uri="{FF2B5EF4-FFF2-40B4-BE49-F238E27FC236}">
                <a16:creationId xmlns:a16="http://schemas.microsoft.com/office/drawing/2014/main" id="{7981DF5B-B282-4F10-BF9D-9E69B7FAC004}"/>
              </a:ext>
            </a:extLst>
          </p:cNvPr>
          <p:cNvSpPr>
            <a:spLocks noGrp="1"/>
          </p:cNvSpPr>
          <p:nvPr/>
        </p:nvSpPr>
        <p:spPr>
          <a:xfrm>
            <a:off x="18478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 + telemetry</a:t>
            </a:r>
          </a:p>
        </p:txBody>
      </p:sp>
      <p:sp>
        <p:nvSpPr>
          <p:cNvPr id="19" name="data-dot-3">
            <a:extLst>
              <a:ext uri="{FF2B5EF4-FFF2-40B4-BE49-F238E27FC236}">
                <a16:creationId xmlns:a16="http://schemas.microsoft.com/office/drawing/2014/main" id="{1E2E39FD-FFEC-4B70-BC9C-E22435CD4F85}"/>
              </a:ext>
            </a:extLst>
          </p:cNvPr>
          <p:cNvSpPr>
            <a:spLocks noGrp="1"/>
          </p:cNvSpPr>
          <p:nvPr/>
        </p:nvSpPr>
        <p:spPr>
          <a:xfrm>
            <a:off x="4114800" y="3619500"/>
            <a:ext cx="419100" cy="419100"/>
          </a:xfrm>
          <a:prstGeom prst="ellipse">
            <a:avLst/>
          </a:prstGeom>
          <a:solidFill>
            <a:srgbClr val="99988D"/>
          </a:solidFill>
          <a:ln w="9525">
            <a:solidFill>
              <a:srgbClr val="99988D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data-stage-title-3">
            <a:extLst>
              <a:ext uri="{FF2B5EF4-FFF2-40B4-BE49-F238E27FC236}">
                <a16:creationId xmlns:a16="http://schemas.microsoft.com/office/drawing/2014/main" id="{53F43E4B-8DD5-467B-9D4D-E579C2A1DF94}"/>
              </a:ext>
            </a:extLst>
          </p:cNvPr>
          <p:cNvSpPr>
            <a:spLocks noGrp="1"/>
          </p:cNvSpPr>
          <p:nvPr/>
        </p:nvSpPr>
        <p:spPr>
          <a:xfrm>
            <a:off x="38481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align</a:t>
            </a:r>
          </a:p>
        </p:txBody>
      </p:sp>
      <p:sp>
        <p:nvSpPr>
          <p:cNvPr id="21" name="data-stage-body-3">
            <a:extLst>
              <a:ext uri="{FF2B5EF4-FFF2-40B4-BE49-F238E27FC236}">
                <a16:creationId xmlns:a16="http://schemas.microsoft.com/office/drawing/2014/main" id="{9E135925-285D-400C-B788-13D725A83F64}"/>
              </a:ext>
            </a:extLst>
          </p:cNvPr>
          <p:cNvSpPr>
            <a:spLocks noGrp="1"/>
          </p:cNvSpPr>
          <p:nvPr/>
        </p:nvSpPr>
        <p:spPr>
          <a:xfrm>
            <a:off x="36004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session + 8s window</a:t>
            </a:r>
          </a:p>
        </p:txBody>
      </p:sp>
      <p:sp>
        <p:nvSpPr>
          <p:cNvPr id="22" name="data-dot-4">
            <a:extLst>
              <a:ext uri="{FF2B5EF4-FFF2-40B4-BE49-F238E27FC236}">
                <a16:creationId xmlns:a16="http://schemas.microsoft.com/office/drawing/2014/main" id="{F797B6B1-8AEF-438A-9583-FB52DC495E0A}"/>
              </a:ext>
            </a:extLst>
          </p:cNvPr>
          <p:cNvSpPr>
            <a:spLocks noGrp="1"/>
          </p:cNvSpPr>
          <p:nvPr/>
        </p:nvSpPr>
        <p:spPr>
          <a:xfrm>
            <a:off x="5867400" y="3619500"/>
            <a:ext cx="419100" cy="419100"/>
          </a:xfrm>
          <a:prstGeom prst="ellipse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data-stage-title-4">
            <a:extLst>
              <a:ext uri="{FF2B5EF4-FFF2-40B4-BE49-F238E27FC236}">
                <a16:creationId xmlns:a16="http://schemas.microsoft.com/office/drawing/2014/main" id="{CAF3D415-B922-4FCB-BB2A-1FDD7145E327}"/>
              </a:ext>
            </a:extLst>
          </p:cNvPr>
          <p:cNvSpPr>
            <a:spLocks noGrp="1"/>
          </p:cNvSpPr>
          <p:nvPr/>
        </p:nvSpPr>
        <p:spPr>
          <a:xfrm>
            <a:off x="56007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24" name="data-stage-body-4">
            <a:extLst>
              <a:ext uri="{FF2B5EF4-FFF2-40B4-BE49-F238E27FC236}">
                <a16:creationId xmlns:a16="http://schemas.microsoft.com/office/drawing/2014/main" id="{BB3923BF-CF47-41D6-ABDE-4EAF926D848A}"/>
              </a:ext>
            </a:extLst>
          </p:cNvPr>
          <p:cNvSpPr>
            <a:spLocks noGrp="1"/>
          </p:cNvSpPr>
          <p:nvPr/>
        </p:nvSpPr>
        <p:spPr>
          <a:xfrm>
            <a:off x="53530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14 / 18 / fusion</a:t>
            </a:r>
          </a:p>
        </p:txBody>
      </p:sp>
      <p:sp>
        <p:nvSpPr>
          <p:cNvPr id="25" name="data-dot-5">
            <a:extLst>
              <a:ext uri="{FF2B5EF4-FFF2-40B4-BE49-F238E27FC236}">
                <a16:creationId xmlns:a16="http://schemas.microsoft.com/office/drawing/2014/main" id="{A8FB7A3E-977F-4337-AA78-E6DAC1878FA4}"/>
              </a:ext>
            </a:extLst>
          </p:cNvPr>
          <p:cNvSpPr>
            <a:spLocks noGrp="1"/>
          </p:cNvSpPr>
          <p:nvPr/>
        </p:nvSpPr>
        <p:spPr>
          <a:xfrm>
            <a:off x="7620000" y="3619500"/>
            <a:ext cx="419100" cy="419100"/>
          </a:xfrm>
          <a:prstGeom prst="ellipse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data-stage-title-5">
            <a:extLst>
              <a:ext uri="{FF2B5EF4-FFF2-40B4-BE49-F238E27FC236}">
                <a16:creationId xmlns:a16="http://schemas.microsoft.com/office/drawing/2014/main" id="{61D0DD25-3D0C-41DF-87BA-1A4447E639EA}"/>
              </a:ext>
            </a:extLst>
          </p:cNvPr>
          <p:cNvSpPr>
            <a:spLocks noGrp="1"/>
          </p:cNvSpPr>
          <p:nvPr/>
        </p:nvSpPr>
        <p:spPr>
          <a:xfrm>
            <a:off x="73533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label</a:t>
            </a:r>
          </a:p>
        </p:txBody>
      </p:sp>
      <p:sp>
        <p:nvSpPr>
          <p:cNvPr id="27" name="data-stage-body-5">
            <a:extLst>
              <a:ext uri="{FF2B5EF4-FFF2-40B4-BE49-F238E27FC236}">
                <a16:creationId xmlns:a16="http://schemas.microsoft.com/office/drawing/2014/main" id="{4AE8F904-100B-42A2-B6B8-3706599EAF10}"/>
              </a:ext>
            </a:extLst>
          </p:cNvPr>
          <p:cNvSpPr>
            <a:spLocks noGrp="1"/>
          </p:cNvSpPr>
          <p:nvPr/>
        </p:nvSpPr>
        <p:spPr>
          <a:xfrm>
            <a:off x="71056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known / unknown / response</a:t>
            </a:r>
          </a:p>
        </p:txBody>
      </p:sp>
      <p:sp>
        <p:nvSpPr>
          <p:cNvPr id="28" name="data-dot-6">
            <a:extLst>
              <a:ext uri="{FF2B5EF4-FFF2-40B4-BE49-F238E27FC236}">
                <a16:creationId xmlns:a16="http://schemas.microsoft.com/office/drawing/2014/main" id="{6EA45BE9-17AD-4ED8-B2DC-439D58DEB447}"/>
              </a:ext>
            </a:extLst>
          </p:cNvPr>
          <p:cNvSpPr>
            <a:spLocks noGrp="1"/>
          </p:cNvSpPr>
          <p:nvPr/>
        </p:nvSpPr>
        <p:spPr>
          <a:xfrm>
            <a:off x="9372600" y="3619500"/>
            <a:ext cx="419100" cy="419100"/>
          </a:xfrm>
          <a:prstGeom prst="ellipse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data-stage-title-6">
            <a:extLst>
              <a:ext uri="{FF2B5EF4-FFF2-40B4-BE49-F238E27FC236}">
                <a16:creationId xmlns:a16="http://schemas.microsoft.com/office/drawing/2014/main" id="{3FB0AD03-3007-49D3-B312-8AC906644D1A}"/>
              </a:ext>
            </a:extLst>
          </p:cNvPr>
          <p:cNvSpPr>
            <a:spLocks noGrp="1"/>
          </p:cNvSpPr>
          <p:nvPr/>
        </p:nvSpPr>
        <p:spPr>
          <a:xfrm>
            <a:off x="91059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</p:txBody>
      </p:sp>
      <p:sp>
        <p:nvSpPr>
          <p:cNvPr id="30" name="data-stage-body-6">
            <a:extLst>
              <a:ext uri="{FF2B5EF4-FFF2-40B4-BE49-F238E27FC236}">
                <a16:creationId xmlns:a16="http://schemas.microsoft.com/office/drawing/2014/main" id="{10CE57C7-31B1-489A-864F-237A4FE61055}"/>
              </a:ext>
            </a:extLst>
          </p:cNvPr>
          <p:cNvSpPr>
            <a:spLocks noGrp="1"/>
          </p:cNvSpPr>
          <p:nvPr/>
        </p:nvSpPr>
        <p:spPr>
          <a:xfrm>
            <a:off x="88582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split / duplicate / gates</a:t>
            </a:r>
          </a:p>
        </p:txBody>
      </p:sp>
      <p:sp>
        <p:nvSpPr>
          <p:cNvPr id="31" name="data-dot-7">
            <a:extLst>
              <a:ext uri="{FF2B5EF4-FFF2-40B4-BE49-F238E27FC236}">
                <a16:creationId xmlns:a16="http://schemas.microsoft.com/office/drawing/2014/main" id="{7727BAE9-9808-4EF0-8BE5-7AA07BC62F3A}"/>
              </a:ext>
            </a:extLst>
          </p:cNvPr>
          <p:cNvSpPr>
            <a:spLocks noGrp="1"/>
          </p:cNvSpPr>
          <p:nvPr/>
        </p:nvSpPr>
        <p:spPr>
          <a:xfrm>
            <a:off x="11125200" y="3619500"/>
            <a:ext cx="419100" cy="419100"/>
          </a:xfrm>
          <a:prstGeom prst="ellipse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data-stage-title-7">
            <a:extLst>
              <a:ext uri="{FF2B5EF4-FFF2-40B4-BE49-F238E27FC236}">
                <a16:creationId xmlns:a16="http://schemas.microsoft.com/office/drawing/2014/main" id="{522B5B83-2FB3-436B-B694-0D3D16B1BE0C}"/>
              </a:ext>
            </a:extLst>
          </p:cNvPr>
          <p:cNvSpPr>
            <a:spLocks noGrp="1"/>
          </p:cNvSpPr>
          <p:nvPr/>
        </p:nvSpPr>
        <p:spPr>
          <a:xfrm>
            <a:off x="108585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release</a:t>
            </a:r>
          </a:p>
        </p:txBody>
      </p:sp>
      <p:sp>
        <p:nvSpPr>
          <p:cNvPr id="33" name="data-stage-body-7">
            <a:extLst>
              <a:ext uri="{FF2B5EF4-FFF2-40B4-BE49-F238E27FC236}">
                <a16:creationId xmlns:a16="http://schemas.microsoft.com/office/drawing/2014/main" id="{B708DEA2-F44B-40C1-9999-59CBFCD8A9B8}"/>
              </a:ext>
            </a:extLst>
          </p:cNvPr>
          <p:cNvSpPr>
            <a:spLocks noGrp="1"/>
          </p:cNvSpPr>
          <p:nvPr/>
        </p:nvSpPr>
        <p:spPr>
          <a:xfrm>
            <a:off x="106108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hash / card / freeze</a:t>
            </a:r>
          </a:p>
        </p:txBody>
      </p:sp>
      <p:sp>
        <p:nvSpPr>
          <p:cNvPr id="34" name="data-warning-band">
            <a:extLst>
              <a:ext uri="{FF2B5EF4-FFF2-40B4-BE49-F238E27FC236}">
                <a16:creationId xmlns:a16="http://schemas.microsoft.com/office/drawing/2014/main" id="{0C348408-DFA5-4771-B6F5-236E4FEE27B3}"/>
              </a:ext>
            </a:extLst>
          </p:cNvPr>
          <p:cNvSpPr>
            <a:spLocks noGrp="1"/>
          </p:cNvSpPr>
          <p:nvPr/>
        </p:nvSpPr>
        <p:spPr>
          <a:xfrm>
            <a:off x="1695450" y="5467350"/>
            <a:ext cx="8801100" cy="55245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data-warning">
            <a:extLst>
              <a:ext uri="{FF2B5EF4-FFF2-40B4-BE49-F238E27FC236}">
                <a16:creationId xmlns:a16="http://schemas.microsoft.com/office/drawing/2014/main" id="{207DAB57-0B21-40BA-BAF2-EE02A59FD866}"/>
              </a:ext>
            </a:extLst>
          </p:cNvPr>
          <p:cNvSpPr>
            <a:spLocks noGrp="1"/>
          </p:cNvSpPr>
          <p:nvPr/>
        </p:nvSpPr>
        <p:spPr>
          <a:xfrm>
            <a:off x="1952625" y="5600700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合成資料只做預訓練；20 場 pilot 只證明管線可跑；最終分數只由未碰過的隔離 live test 產生。</a:t>
            </a:r>
          </a:p>
        </p:txBody>
      </p:sp>
    </p:spTree>
    <p:extLst>
      <p:ext uri="{BB962C8B-B14F-4D97-AF65-F5344CB8AC3E}">
        <p14:creationId xmlns:p14="http://schemas.microsoft.com/office/powerpoint/2010/main" val="1441287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ail-11">
            <a:extLst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11">
            <a:extLst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自動封鎖不是開關，而是可回滾的安全決策</a:t>
            </a:r>
          </a:p>
        </p:txBody>
      </p:sp>
      <p:sp>
        <p:nvSpPr>
          <p:cNvPr id="5" name="page-11">
            <a:extLst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response-label">
            <a:extLst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7" name="response-title">
            <a:extLst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五道閘門都通過才執行</a:t>
            </a:r>
          </a:p>
        </p:txBody>
      </p:sp>
      <p:sp>
        <p:nvSpPr>
          <p:cNvPr id="8" name="gate-number-1">
            <a:extLst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noGrp="1"/>
          </p:cNvSpPr>
          <p:nvPr/>
        </p:nvSpPr>
        <p:spPr>
          <a:xfrm>
            <a:off x="1123950" y="27146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來源 IP／identity／GUID 歸因可信</a:t>
            </a:r>
          </a:p>
        </p:txBody>
      </p:sp>
      <p:sp>
        <p:nvSpPr>
          <p:cNvPr id="10" name="gate-rule-1">
            <a:extLst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noGrp="1"/>
          </p:cNvSpPr>
          <p:nvPr/>
        </p:nvSpPr>
        <p:spPr>
          <a:xfrm>
            <a:off x="1123950" y="311467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gate-number-2">
            <a:extLst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noGrp="1"/>
          </p:cNvSpPr>
          <p:nvPr/>
        </p:nvSpPr>
        <p:spPr>
          <a:xfrm>
            <a:off x="1123950" y="33051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白名單與保護來源先排除</a:t>
            </a:r>
          </a:p>
        </p:txBody>
      </p:sp>
      <p:sp>
        <p:nvSpPr>
          <p:cNvPr id="13" name="gate-rule-2">
            <a:extLst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noGrp="1"/>
          </p:cNvSpPr>
          <p:nvPr/>
        </p:nvSpPr>
        <p:spPr>
          <a:xfrm>
            <a:off x="1123950" y="370522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gate-number-3">
            <a:extLst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noGrp="1"/>
          </p:cNvSpPr>
          <p:nvPr/>
        </p:nvSpPr>
        <p:spPr>
          <a:xfrm>
            <a:off x="1123950" y="38957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信心門檻＋重複確認＋cooldown</a:t>
            </a:r>
          </a:p>
        </p:txBody>
      </p:sp>
      <p:sp>
        <p:nvSpPr>
          <p:cNvPr id="16" name="gate-rule-3">
            <a:extLst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noGrp="1"/>
          </p:cNvSpPr>
          <p:nvPr/>
        </p:nvSpPr>
        <p:spPr>
          <a:xfrm>
            <a:off x="1123950" y="429577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gate-number-4">
            <a:extLst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noGrp="1"/>
          </p:cNvSpPr>
          <p:nvPr/>
        </p:nvSpPr>
        <p:spPr>
          <a:xfrm>
            <a:off x="1123950" y="44862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先 dry-run，再短 TTL 封鎖</a:t>
            </a:r>
          </a:p>
        </p:txBody>
      </p:sp>
      <p:sp>
        <p:nvSpPr>
          <p:cNvPr id="19" name="gate-rule-4">
            <a:extLst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noGrp="1"/>
          </p:cNvSpPr>
          <p:nvPr/>
        </p:nvSpPr>
        <p:spPr>
          <a:xfrm>
            <a:off x="1123950" y="488632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gate-number-5">
            <a:extLst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323850" cy="323850"/>
          </a:xfrm>
          <a:prstGeom prst="ellipse">
            <a:avLst/>
          </a:prstGeom>
          <a:solidFill>
            <a:srgbClr val="86605F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noGrp="1"/>
          </p:cNvSpPr>
          <p:nvPr/>
        </p:nvSpPr>
        <p:spPr>
          <a:xfrm>
            <a:off x="1123950" y="50768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自動解封、人工 rollback、完整稽核</a:t>
            </a:r>
          </a:p>
        </p:txBody>
      </p:sp>
      <p:sp>
        <p:nvSpPr>
          <p:cNvPr id="22" name="gate-rule-5">
            <a:extLst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noGrp="1"/>
          </p:cNvSpPr>
          <p:nvPr/>
        </p:nvSpPr>
        <p:spPr>
          <a:xfrm>
            <a:off x="1123950" y="547687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pentest-field">
            <a:extLst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noGrp="1"/>
          </p:cNvSpPr>
          <p:nvPr/>
        </p:nvSpPr>
        <p:spPr>
          <a:xfrm>
            <a:off x="5810250" y="1600200"/>
            <a:ext cx="5772150" cy="44958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pentest-label">
            <a:extLst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noGrp="1"/>
          </p:cNvSpPr>
          <p:nvPr/>
        </p:nvSpPr>
        <p:spPr>
          <a:xfrm>
            <a:off x="6191250" y="1924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ISOLATED PENTEST</a:t>
            </a:r>
          </a:p>
        </p:txBody>
      </p:sp>
      <p:sp>
        <p:nvSpPr>
          <p:cNvPr id="25" name="pentest-title">
            <a:extLst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不同拓樸使用不同隔離手段</a:t>
            </a:r>
          </a:p>
        </p:txBody>
      </p:sp>
      <p:sp>
        <p:nvSpPr>
          <p:cNvPr id="26" name="pentest-timeline">
            <a:extLst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19050" cy="209550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pentest-stage-A">
            <a:extLst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noGrp="1"/>
          </p:cNvSpPr>
          <p:nvPr/>
        </p:nvSpPr>
        <p:spPr>
          <a:xfrm>
            <a:off x="6257925" y="2952750"/>
            <a:ext cx="381000" cy="381000"/>
          </a:xfrm>
          <a:prstGeom prst="ellipse">
            <a:avLst/>
          </a:prstGeom>
          <a:solidFill>
            <a:srgbClr val="A18F83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noGrp="1"/>
          </p:cNvSpPr>
          <p:nvPr/>
        </p:nvSpPr>
        <p:spPr>
          <a:xfrm>
            <a:off x="6896100" y="29622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離線 PCAP／replay：驗證決策</a:t>
            </a:r>
          </a:p>
        </p:txBody>
      </p:sp>
      <p:sp>
        <p:nvSpPr>
          <p:cNvPr id="29" name="pentest-stage-B">
            <a:extLst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noGrp="1"/>
          </p:cNvSpPr>
          <p:nvPr/>
        </p:nvSpPr>
        <p:spPr>
          <a:xfrm>
            <a:off x="6257925" y="3638550"/>
            <a:ext cx="381000" cy="381000"/>
          </a:xfrm>
          <a:prstGeom prst="ellipse">
            <a:avLst/>
          </a:prstGeom>
          <a:solidFill>
            <a:srgbClr val="A18F83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noGrp="1"/>
          </p:cNvSpPr>
          <p:nvPr/>
        </p:nvSpPr>
        <p:spPr>
          <a:xfrm>
            <a:off x="6896100" y="36480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同機：GUID 只歸因；permissions／程序隔離</a:t>
            </a:r>
          </a:p>
        </p:txBody>
      </p:sp>
      <p:sp>
        <p:nvSpPr>
          <p:cNvPr id="31" name="pentest-stage-C">
            <a:extLst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noGrp="1"/>
          </p:cNvSpPr>
          <p:nvPr/>
        </p:nvSpPr>
        <p:spPr>
          <a:xfrm>
            <a:off x="6257925" y="4324350"/>
            <a:ext cx="381000" cy="381000"/>
          </a:xfrm>
          <a:prstGeom prst="ellipse">
            <a:avLst/>
          </a:prstGeom>
          <a:solidFill>
            <a:srgbClr val="A18F83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noGrp="1"/>
          </p:cNvSpPr>
          <p:nvPr/>
        </p:nvSpPr>
        <p:spPr>
          <a:xfrm>
            <a:off x="6896100" y="43338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Pi 5 inline：封來源 IP＋TTL</a:t>
            </a:r>
          </a:p>
        </p:txBody>
      </p:sp>
      <p:sp>
        <p:nvSpPr>
          <p:cNvPr id="33" name="pentest-stage-D">
            <a:extLst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noGrp="1"/>
          </p:cNvSpPr>
          <p:nvPr/>
        </p:nvSpPr>
        <p:spPr>
          <a:xfrm>
            <a:off x="6257925" y="5010150"/>
            <a:ext cx="381000" cy="381000"/>
          </a:xfrm>
          <a:prstGeom prst="ellipse">
            <a:avLst/>
          </a:prstGeom>
          <a:solidFill>
            <a:srgbClr val="86605F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noGrp="1"/>
          </p:cNvSpPr>
          <p:nvPr/>
        </p:nvSpPr>
        <p:spPr>
          <a:xfrm>
            <a:off x="6896100" y="50196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正式驗收：解封、回滾、誤封測試</a:t>
            </a:r>
          </a:p>
        </p:txBody>
      </p:sp>
      <p:sp>
        <p:nvSpPr>
          <p:cNvPr id="35" name="pentest-evidence">
            <a:extLst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noGrp="1"/>
          </p:cNvSpPr>
          <p:nvPr/>
        </p:nvSpPr>
        <p:spPr>
          <a:xfrm>
            <a:off x="6191250" y="55245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811"/>
          </a:bodyPr>
          <a:lstStyle/>
          <a:p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decision · source · confidence · rule before/after · block/unblock UTC · rollback · SHA-256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il-10">
            <a:extLst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10">
            <a:extLst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正式實驗矩陣：先證明路徑，再比較模型與封鎖</a:t>
            </a:r>
          </a:p>
        </p:txBody>
      </p:sp>
      <p:sp>
        <p:nvSpPr>
          <p:cNvPr id="5" name="page-10">
            <a:extLst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600200"/>
          <a:ext cx="10972800" cy="434340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案例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控制變因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測試內容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主要輸出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X0 拓樸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 5 inline / bypass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 DDS baseline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PCAP 路徑、介面、延遲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X1 SROS2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Permissive / Enforce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rogue participant / publisher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加入、發布成功／拒絕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X2 Fusion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network / telemetry / fusion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已知攻擊＋正常操作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F1、FPR、每類 recall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X3 Unknown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leave-one-attack-class-out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完全未見攻擊類別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unknown recall、AUPRC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X4 Response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alert / dry-run / TTL block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可歸因異常來源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TTD、TTB、誤封、解封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X5 Robust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 seed / 負載 / 時長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正常＋攻擊混合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95% CI、P95、Pi 5 資源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ail-14">
            <a:extLst>
              <a:ext uri="{FF2B5EF4-FFF2-40B4-BE49-F238E27FC236}">
                <a16:creationId xmlns:a16="http://schemas.microsoft.com/office/drawing/2014/main" id="{85E10557-FE19-4B0B-85A0-B8F0120393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14">
            <a:extLst>
              <a:ext uri="{FF2B5EF4-FFF2-40B4-BE49-F238E27FC236}">
                <a16:creationId xmlns:a16="http://schemas.microsoft.com/office/drawing/2014/main" id="{BCE46ED8-C6FB-4DE2-8CAE-81F7ADECDFC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評審可查驗的五組指標與證據</a:t>
            </a:r>
          </a:p>
        </p:txBody>
      </p:sp>
      <p:sp>
        <p:nvSpPr>
          <p:cNvPr id="5" name="page-14">
            <a:extLst>
              <a:ext uri="{FF2B5EF4-FFF2-40B4-BE49-F238E27FC236}">
                <a16:creationId xmlns:a16="http://schemas.microsoft.com/office/drawing/2014/main" id="{92E673F2-3CC5-444D-8DD1-A84147CF3BE6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rubric-label-bg-1">
            <a:extLst>
              <a:ext uri="{FF2B5EF4-FFF2-40B4-BE49-F238E27FC236}">
                <a16:creationId xmlns:a16="http://schemas.microsoft.com/office/drawing/2014/main" id="{E59EB4FE-8ECA-4423-9EE5-AA921339A094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2571750" cy="6667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ubric-label-1">
            <a:extLst>
              <a:ext uri="{FF2B5EF4-FFF2-40B4-BE49-F238E27FC236}">
                <a16:creationId xmlns:a16="http://schemas.microsoft.com/office/drawing/2014/main" id="{99576606-23EB-4D90-808F-E805344C1017}"/>
              </a:ext>
            </a:extLst>
          </p:cNvPr>
          <p:cNvSpPr>
            <a:spLocks noGrp="1"/>
          </p:cNvSpPr>
          <p:nvPr/>
        </p:nvSpPr>
        <p:spPr>
          <a:xfrm>
            <a:off x="800100" y="17049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偵測成效</a:t>
            </a:r>
          </a:p>
        </p:txBody>
      </p:sp>
      <p:sp>
        <p:nvSpPr>
          <p:cNvPr id="8" name="rubric-evidence-1">
            <a:extLst>
              <a:ext uri="{FF2B5EF4-FFF2-40B4-BE49-F238E27FC236}">
                <a16:creationId xmlns:a16="http://schemas.microsoft.com/office/drawing/2014/main" id="{C25B173E-7562-4C25-AF24-E5106264C141}"/>
              </a:ext>
            </a:extLst>
          </p:cNvPr>
          <p:cNvSpPr>
            <a:spLocks noGrp="1"/>
          </p:cNvSpPr>
          <p:nvPr/>
        </p:nvSpPr>
        <p:spPr>
          <a:xfrm>
            <a:off x="3581400" y="16573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Precision／Recall／macro-F1／PR-AUC／FPR／unknown recall；session-grouped split</a:t>
            </a:r>
          </a:p>
        </p:txBody>
      </p:sp>
      <p:sp>
        <p:nvSpPr>
          <p:cNvPr id="9" name="rubric-rule-1">
            <a:extLst>
              <a:ext uri="{FF2B5EF4-FFF2-40B4-BE49-F238E27FC236}">
                <a16:creationId xmlns:a16="http://schemas.microsoft.com/office/drawing/2014/main" id="{28079F14-2983-404C-B647-9E83FCCC4DD7}"/>
              </a:ext>
            </a:extLst>
          </p:cNvPr>
          <p:cNvSpPr>
            <a:spLocks noGrp="1"/>
          </p:cNvSpPr>
          <p:nvPr/>
        </p:nvSpPr>
        <p:spPr>
          <a:xfrm>
            <a:off x="3581400" y="2247900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ubric-label-bg-2">
            <a:extLst>
              <a:ext uri="{FF2B5EF4-FFF2-40B4-BE49-F238E27FC236}">
                <a16:creationId xmlns:a16="http://schemas.microsoft.com/office/drawing/2014/main" id="{9E49499C-27B8-4BA2-BD74-0A23392519B6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2571750" cy="66675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ubric-label-2">
            <a:extLst>
              <a:ext uri="{FF2B5EF4-FFF2-40B4-BE49-F238E27FC236}">
                <a16:creationId xmlns:a16="http://schemas.microsoft.com/office/drawing/2014/main" id="{D3E9370A-3682-4FBF-BE08-0BADE46F4DCA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回應成效</a:t>
            </a:r>
          </a:p>
        </p:txBody>
      </p:sp>
      <p:sp>
        <p:nvSpPr>
          <p:cNvPr id="12" name="rubric-evidence-2">
            <a:extLst>
              <a:ext uri="{FF2B5EF4-FFF2-40B4-BE49-F238E27FC236}">
                <a16:creationId xmlns:a16="http://schemas.microsoft.com/office/drawing/2014/main" id="{B6A33A3D-C3B0-4E89-89E1-E7744EEC79E8}"/>
              </a:ext>
            </a:extLst>
          </p:cNvPr>
          <p:cNvSpPr>
            <a:spLocks noGrp="1"/>
          </p:cNvSpPr>
          <p:nvPr/>
        </p:nvSpPr>
        <p:spPr>
          <a:xfrm>
            <a:off x="3581400" y="2524125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TTD、TTB、block success、false-block、TTL 解封率、rollback 成功率</a:t>
            </a:r>
          </a:p>
        </p:txBody>
      </p:sp>
      <p:sp>
        <p:nvSpPr>
          <p:cNvPr id="13" name="rubric-rule-2">
            <a:extLst>
              <a:ext uri="{FF2B5EF4-FFF2-40B4-BE49-F238E27FC236}">
                <a16:creationId xmlns:a16="http://schemas.microsoft.com/office/drawing/2014/main" id="{95E15F38-9549-4EC9-B6AD-3B8D975AE6AC}"/>
              </a:ext>
            </a:extLst>
          </p:cNvPr>
          <p:cNvSpPr>
            <a:spLocks noGrp="1"/>
          </p:cNvSpPr>
          <p:nvPr/>
        </p:nvSpPr>
        <p:spPr>
          <a:xfrm>
            <a:off x="3581400" y="3114675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ubric-label-bg-3">
            <a:extLst>
              <a:ext uri="{FF2B5EF4-FFF2-40B4-BE49-F238E27FC236}">
                <a16:creationId xmlns:a16="http://schemas.microsoft.com/office/drawing/2014/main" id="{0B97F51A-99B0-48D8-B99C-B893D710A6CE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2571750" cy="666750"/>
          </a:xfrm>
          <a:prstGeom prst="rect">
            <a:avLst/>
          </a:prstGeom>
          <a:solidFill>
            <a:srgbClr val="99988D"/>
          </a:solidFill>
          <a:ln w="9525">
            <a:solidFill>
              <a:srgbClr val="9998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ubric-label-3">
            <a:extLst>
              <a:ext uri="{FF2B5EF4-FFF2-40B4-BE49-F238E27FC236}">
                <a16:creationId xmlns:a16="http://schemas.microsoft.com/office/drawing/2014/main" id="{21A762DF-7A06-44C5-8D17-10960831513E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機器人安全</a:t>
            </a:r>
          </a:p>
        </p:txBody>
      </p:sp>
      <p:sp>
        <p:nvSpPr>
          <p:cNvPr id="16" name="rubric-evidence-3">
            <a:extLst>
              <a:ext uri="{FF2B5EF4-FFF2-40B4-BE49-F238E27FC236}">
                <a16:creationId xmlns:a16="http://schemas.microsoft.com/office/drawing/2014/main" id="{A0485945-94BE-4BA9-AE69-DC5FC2093741}"/>
              </a:ext>
            </a:extLst>
          </p:cNvPr>
          <p:cNvSpPr>
            <a:spLocks noGrp="1"/>
          </p:cNvSpPr>
          <p:nvPr/>
        </p:nvSpPr>
        <p:spPr>
          <a:xfrm>
            <a:off x="3581400" y="339090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/cmd_vel 延遲、感測遺失、停止／恢復時間、任務連續性</a:t>
            </a:r>
          </a:p>
        </p:txBody>
      </p:sp>
      <p:sp>
        <p:nvSpPr>
          <p:cNvPr id="17" name="rubric-rule-3">
            <a:extLst>
              <a:ext uri="{FF2B5EF4-FFF2-40B4-BE49-F238E27FC236}">
                <a16:creationId xmlns:a16="http://schemas.microsoft.com/office/drawing/2014/main" id="{C8BD6BA4-AA38-49EF-B150-23115A988C5B}"/>
              </a:ext>
            </a:extLst>
          </p:cNvPr>
          <p:cNvSpPr>
            <a:spLocks noGrp="1"/>
          </p:cNvSpPr>
          <p:nvPr/>
        </p:nvSpPr>
        <p:spPr>
          <a:xfrm>
            <a:off x="3581400" y="3981450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ubric-label-bg-4">
            <a:extLst>
              <a:ext uri="{FF2B5EF4-FFF2-40B4-BE49-F238E27FC236}">
                <a16:creationId xmlns:a16="http://schemas.microsoft.com/office/drawing/2014/main" id="{9DE0A6F3-227A-42DB-948D-DF860BE0CBF0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2571750" cy="6667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ubric-label-4">
            <a:extLst>
              <a:ext uri="{FF2B5EF4-FFF2-40B4-BE49-F238E27FC236}">
                <a16:creationId xmlns:a16="http://schemas.microsoft.com/office/drawing/2014/main" id="{51487417-9D25-4197-977B-55CC9A6ACD7A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Pi 5 資源</a:t>
            </a:r>
          </a:p>
        </p:txBody>
      </p:sp>
      <p:sp>
        <p:nvSpPr>
          <p:cNvPr id="20" name="rubric-evidence-4">
            <a:extLst>
              <a:ext uri="{FF2B5EF4-FFF2-40B4-BE49-F238E27FC236}">
                <a16:creationId xmlns:a16="http://schemas.microsoft.com/office/drawing/2014/main" id="{0A832A47-DEC6-4772-9AEA-1558CCC1C540}"/>
              </a:ext>
            </a:extLst>
          </p:cNvPr>
          <p:cNvSpPr>
            <a:spLocks noGrp="1"/>
          </p:cNvSpPr>
          <p:nvPr/>
        </p:nvSpPr>
        <p:spPr>
          <a:xfrm>
            <a:off x="3581400" y="4257675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吞吐量、P95 inference、CPU、RAM、溫度、長時間穩定性</a:t>
            </a:r>
          </a:p>
        </p:txBody>
      </p:sp>
      <p:sp>
        <p:nvSpPr>
          <p:cNvPr id="21" name="rubric-rule-4">
            <a:extLst>
              <a:ext uri="{FF2B5EF4-FFF2-40B4-BE49-F238E27FC236}">
                <a16:creationId xmlns:a16="http://schemas.microsoft.com/office/drawing/2014/main" id="{EC3D8955-85CB-4247-8FC6-ABCB3E04D500}"/>
              </a:ext>
            </a:extLst>
          </p:cNvPr>
          <p:cNvSpPr>
            <a:spLocks noGrp="1"/>
          </p:cNvSpPr>
          <p:nvPr/>
        </p:nvSpPr>
        <p:spPr>
          <a:xfrm>
            <a:off x="3581400" y="4848225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ubric-label-bg-5">
            <a:extLst>
              <a:ext uri="{FF2B5EF4-FFF2-40B4-BE49-F238E27FC236}">
                <a16:creationId xmlns:a16="http://schemas.microsoft.com/office/drawing/2014/main" id="{7A4B1414-4F6E-47A9-B777-C28E9522D29B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571750" cy="66675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ubric-label-5">
            <a:extLst>
              <a:ext uri="{FF2B5EF4-FFF2-40B4-BE49-F238E27FC236}">
                <a16:creationId xmlns:a16="http://schemas.microsoft.com/office/drawing/2014/main" id="{70320B54-E3B2-4B9F-9991-20B4C39DD830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完整證據鏈</a:t>
            </a:r>
          </a:p>
        </p:txBody>
      </p:sp>
      <p:sp>
        <p:nvSpPr>
          <p:cNvPr id="24" name="rubric-evidence-5">
            <a:extLst>
              <a:ext uri="{FF2B5EF4-FFF2-40B4-BE49-F238E27FC236}">
                <a16:creationId xmlns:a16="http://schemas.microsoft.com/office/drawing/2014/main" id="{51F26FAE-A974-4B68-8BA9-4E3C6899ADA1}"/>
              </a:ext>
            </a:extLst>
          </p:cNvPr>
          <p:cNvSpPr>
            <a:spLocks noGrp="1"/>
          </p:cNvSpPr>
          <p:nvPr/>
        </p:nvSpPr>
        <p:spPr>
          <a:xfrm>
            <a:off x="3581400" y="51244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PCAP、Zeek、telemetry、prediction、block/unblock、版本、UTC、SHA-256</a:t>
            </a:r>
          </a:p>
        </p:txBody>
      </p:sp>
      <p:sp>
        <p:nvSpPr>
          <p:cNvPr id="25" name="rubric-rule-5">
            <a:extLst>
              <a:ext uri="{FF2B5EF4-FFF2-40B4-BE49-F238E27FC236}">
                <a16:creationId xmlns:a16="http://schemas.microsoft.com/office/drawing/2014/main" id="{FD24AA4F-CCF7-46F3-888F-A0D3475BE804}"/>
              </a:ext>
            </a:extLst>
          </p:cNvPr>
          <p:cNvSpPr>
            <a:spLocks noGrp="1"/>
          </p:cNvSpPr>
          <p:nvPr/>
        </p:nvSpPr>
        <p:spPr>
          <a:xfrm>
            <a:off x="3581400" y="5715000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5408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ail-13">
            <a:extLst>
              <a:ext uri="{FF2B5EF4-FFF2-40B4-BE49-F238E27FC236}">
                <a16:creationId xmlns:a16="http://schemas.microsoft.com/office/drawing/2014/main" id="{32F213CE-6CAB-4535-A217-4627118140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13">
            <a:extLst>
              <a:ext uri="{FF2B5EF4-FFF2-40B4-BE49-F238E27FC236}">
                <a16:creationId xmlns:a16="http://schemas.microsoft.com/office/drawing/2014/main" id="{5DFCD90A-9B4F-4113-B380-60868513713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驗收路線：先證明 DDS 流向，再評模型成效</a:t>
            </a:r>
          </a:p>
        </p:txBody>
      </p:sp>
      <p:sp>
        <p:nvSpPr>
          <p:cNvPr id="5" name="page-13">
            <a:extLst>
              <a:ext uri="{FF2B5EF4-FFF2-40B4-BE49-F238E27FC236}">
                <a16:creationId xmlns:a16="http://schemas.microsoft.com/office/drawing/2014/main" id="{CA700CFA-7AF1-43C3-835C-36CE3EC05B8D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roadmap-deadline">
            <a:extLst>
              <a:ext uri="{FF2B5EF4-FFF2-40B4-BE49-F238E27FC236}">
                <a16:creationId xmlns:a16="http://schemas.microsoft.com/office/drawing/2014/main" id="{BCE88B58-E42A-428D-B26A-DBBFC18AE7A6}"/>
              </a:ext>
            </a:extLst>
          </p:cNvPr>
          <p:cNvSpPr>
            <a:spLocks noGrp="1"/>
          </p:cNvSpPr>
          <p:nvPr/>
        </p:nvSpPr>
        <p:spPr>
          <a:xfrm>
            <a:off x="8286750" y="4191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內部目標日  2027-05-31</a:t>
            </a:r>
          </a:p>
        </p:txBody>
      </p:sp>
      <p:sp>
        <p:nvSpPr>
          <p:cNvPr id="7" name="roadmap-line">
            <a:extLst>
              <a:ext uri="{FF2B5EF4-FFF2-40B4-BE49-F238E27FC236}">
                <a16:creationId xmlns:a16="http://schemas.microsoft.com/office/drawing/2014/main" id="{DADD0ECC-A3C7-4804-8C70-29F0974870EB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9906000" cy="1905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admap-dot-1">
            <a:extLst>
              <a:ext uri="{FF2B5EF4-FFF2-40B4-BE49-F238E27FC236}">
                <a16:creationId xmlns:a16="http://schemas.microsoft.com/office/drawing/2014/main" id="{56CFCC54-D181-4DD6-BE04-8CBCCE410041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38150" cy="438150"/>
          </a:xfrm>
          <a:prstGeom prst="ellipse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roadmap-date-1">
            <a:extLst>
              <a:ext uri="{FF2B5EF4-FFF2-40B4-BE49-F238E27FC236}">
                <a16:creationId xmlns:a16="http://schemas.microsoft.com/office/drawing/2014/main" id="{BBDF6967-9509-42C9-B860-6F54DC80342E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2026.08–12</a:t>
            </a:r>
          </a:p>
        </p:txBody>
      </p:sp>
      <p:sp>
        <p:nvSpPr>
          <p:cNvPr id="10" name="roadmap-title-1">
            <a:extLst>
              <a:ext uri="{FF2B5EF4-FFF2-40B4-BE49-F238E27FC236}">
                <a16:creationId xmlns:a16="http://schemas.microsoft.com/office/drawing/2014/main" id="{03B0F020-196C-4512-B227-C6F8EF2E5E08}"/>
              </a:ext>
            </a:extLst>
          </p:cNvPr>
          <p:cNvSpPr>
            <a:spLocks noGrp="1"/>
          </p:cNvSpPr>
          <p:nvPr/>
        </p:nvSpPr>
        <p:spPr>
          <a:xfrm>
            <a:off x="857250" y="35814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拓樸與契約</a:t>
            </a:r>
          </a:p>
        </p:txBody>
      </p:sp>
      <p:sp>
        <p:nvSpPr>
          <p:cNvPr id="11" name="roadmap-body-1">
            <a:extLst>
              <a:ext uri="{FF2B5EF4-FFF2-40B4-BE49-F238E27FC236}">
                <a16:creationId xmlns:a16="http://schemas.microsoft.com/office/drawing/2014/main" id="{5C6D27D5-EFDB-4735-B817-F800C52A21A3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85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完成 Pi 5 雙介面隔離拓樸；凍結 Domain、QoS、permissions；完成 live collector、同窗對齊與 fusion gate。</a:t>
            </a:r>
          </a:p>
        </p:txBody>
      </p:sp>
      <p:sp>
        <p:nvSpPr>
          <p:cNvPr id="12" name="roadmap-dot-2">
            <a:extLst>
              <a:ext uri="{FF2B5EF4-FFF2-40B4-BE49-F238E27FC236}">
                <a16:creationId xmlns:a16="http://schemas.microsoft.com/office/drawing/2014/main" id="{6AF2596D-D623-44E8-83BD-540A1A82EDC9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438150" cy="438150"/>
          </a:xfrm>
          <a:prstGeom prst="ellipse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roadmap-date-2">
            <a:extLst>
              <a:ext uri="{FF2B5EF4-FFF2-40B4-BE49-F238E27FC236}">
                <a16:creationId xmlns:a16="http://schemas.microsoft.com/office/drawing/2014/main" id="{464C92FE-75D0-4482-AD7F-F9CE26213963}"/>
              </a:ext>
            </a:extLst>
          </p:cNvPr>
          <p:cNvSpPr>
            <a:spLocks noGrp="1"/>
          </p:cNvSpPr>
          <p:nvPr/>
        </p:nvSpPr>
        <p:spPr>
          <a:xfrm>
            <a:off x="4857750" y="22288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2027.01–03</a:t>
            </a:r>
          </a:p>
        </p:txBody>
      </p:sp>
      <p:sp>
        <p:nvSpPr>
          <p:cNvPr id="14" name="roadmap-title-2">
            <a:extLst>
              <a:ext uri="{FF2B5EF4-FFF2-40B4-BE49-F238E27FC236}">
                <a16:creationId xmlns:a16="http://schemas.microsoft.com/office/drawing/2014/main" id="{2298D996-5A15-4699-BB0D-EBA3F0C98173}"/>
              </a:ext>
            </a:extLst>
          </p:cNvPr>
          <p:cNvSpPr>
            <a:spLocks noGrp="1"/>
          </p:cNvSpPr>
          <p:nvPr/>
        </p:nvSpPr>
        <p:spPr>
          <a:xfrm>
            <a:off x="4857750" y="35814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資料、模型與回應</a:t>
            </a:r>
          </a:p>
        </p:txBody>
      </p:sp>
      <p:sp>
        <p:nvSpPr>
          <p:cNvPr id="15" name="roadmap-body-2">
            <a:extLst>
              <a:ext uri="{FF2B5EF4-FFF2-40B4-BE49-F238E27FC236}">
                <a16:creationId xmlns:a16="http://schemas.microsoft.com/office/drawing/2014/main" id="{36F5B3B2-253F-4B53-8DEA-5715CD027B37}"/>
              </a:ext>
            </a:extLst>
          </p:cNvPr>
          <p:cNvSpPr>
            <a:spLocks noGrp="1"/>
          </p:cNvSpPr>
          <p:nvPr/>
        </p:nvSpPr>
        <p:spPr>
          <a:xfrm>
            <a:off x="4857750" y="4095750"/>
            <a:ext cx="285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蒐集 1,100 場；完成 baseline、消融、未知攻擊；量測 TTD／TTB、誤封、TTL 解封、Pi 5 資源與穩定性。</a:t>
            </a:r>
          </a:p>
        </p:txBody>
      </p:sp>
      <p:sp>
        <p:nvSpPr>
          <p:cNvPr id="16" name="roadmap-dot-3">
            <a:extLst>
              <a:ext uri="{FF2B5EF4-FFF2-40B4-BE49-F238E27FC236}">
                <a16:creationId xmlns:a16="http://schemas.microsoft.com/office/drawing/2014/main" id="{E4F4AD20-1912-45A6-8F55-02A50B9F97DB}"/>
              </a:ext>
            </a:extLst>
          </p:cNvPr>
          <p:cNvSpPr>
            <a:spLocks noGrp="1"/>
          </p:cNvSpPr>
          <p:nvPr/>
        </p:nvSpPr>
        <p:spPr>
          <a:xfrm>
            <a:off x="8953500" y="2857500"/>
            <a:ext cx="438150" cy="438150"/>
          </a:xfrm>
          <a:prstGeom prst="ellipse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oadmap-date-3">
            <a:extLst>
              <a:ext uri="{FF2B5EF4-FFF2-40B4-BE49-F238E27FC236}">
                <a16:creationId xmlns:a16="http://schemas.microsoft.com/office/drawing/2014/main" id="{C1F69A29-EFEE-4A46-87BF-012CADAC93F1}"/>
              </a:ext>
            </a:extLst>
          </p:cNvPr>
          <p:cNvSpPr>
            <a:spLocks noGrp="1"/>
          </p:cNvSpPr>
          <p:nvPr/>
        </p:nvSpPr>
        <p:spPr>
          <a:xfrm>
            <a:off x="8858250" y="22288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2027.04–05</a:t>
            </a:r>
          </a:p>
        </p:txBody>
      </p:sp>
      <p:sp>
        <p:nvSpPr>
          <p:cNvPr id="18" name="roadmap-title-3">
            <a:extLst>
              <a:ext uri="{FF2B5EF4-FFF2-40B4-BE49-F238E27FC236}">
                <a16:creationId xmlns:a16="http://schemas.microsoft.com/office/drawing/2014/main" id="{D40648F3-F6C0-4CFC-8960-58ED9A33AAE0}"/>
              </a:ext>
            </a:extLst>
          </p:cNvPr>
          <p:cNvSpPr>
            <a:spLocks noGrp="1"/>
          </p:cNvSpPr>
          <p:nvPr/>
        </p:nvSpPr>
        <p:spPr>
          <a:xfrm>
            <a:off x="8858250" y="35814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凍結與答辯</a:t>
            </a:r>
          </a:p>
        </p:txBody>
      </p:sp>
      <p:sp>
        <p:nvSpPr>
          <p:cNvPr id="19" name="roadmap-body-3">
            <a:extLst>
              <a:ext uri="{FF2B5EF4-FFF2-40B4-BE49-F238E27FC236}">
                <a16:creationId xmlns:a16="http://schemas.microsoft.com/office/drawing/2014/main" id="{2EFD07BE-F6B2-4D29-ADCA-7D9A873D6EF1}"/>
              </a:ext>
            </a:extLst>
          </p:cNvPr>
          <p:cNvSpPr>
            <a:spLocks noGrp="1"/>
          </p:cNvSpPr>
          <p:nvPr/>
        </p:nvSpPr>
        <p:spPr>
          <a:xfrm>
            <a:off x="8858250" y="4095750"/>
            <a:ext cx="285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凍結資料與模型；整理完整證據包；完成報告、簡報、海報、影片與兩輪答辯；5 月底提交。</a:t>
            </a:r>
          </a:p>
        </p:txBody>
      </p:sp>
    </p:spTree>
    <p:extLst>
      <p:ext uri="{BB962C8B-B14F-4D97-AF65-F5344CB8AC3E}">
        <p14:creationId xmlns:p14="http://schemas.microsoft.com/office/powerpoint/2010/main" val="50995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60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se-right-field">
            <a:extLst>
              <a:ext uri="{FF2B5EF4-FFF2-40B4-BE49-F238E27FC236}">
                <a16:creationId xmlns:a16="http://schemas.microsoft.com/office/drawing/2014/main" id="{34D901BE-B057-4A4D-9FEE-388D91B14F59}"/>
              </a:ext>
            </a:extLst>
          </p:cNvPr>
          <p:cNvSpPr>
            <a:spLocks noGrp="1"/>
          </p:cNvSpPr>
          <p:nvPr/>
        </p:nvSpPr>
        <p:spPr>
          <a:xfrm>
            <a:off x="8896350" y="0"/>
            <a:ext cx="3295650" cy="68580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EC6B931A-4CF3-4307-9032-6451F8874B27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7429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95"/>
          </a:bodyPr>
          <a:lstStyle/>
          <a:p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不是「模型說有攻擊就封鎖」</a:t>
            </a:r>
          </a:p>
          <a:p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而是「有證據地隔離，能安全復原」</a:t>
            </a:r>
          </a:p>
        </p:txBody>
      </p:sp>
      <p:sp>
        <p:nvSpPr>
          <p:cNvPr id="5" name="close-principles">
            <a:extLst>
              <a:ext uri="{FF2B5EF4-FFF2-40B4-BE49-F238E27FC236}">
                <a16:creationId xmlns:a16="http://schemas.microsoft.com/office/drawing/2014/main" id="{69F469C2-B1BF-4F93-9601-5B04F8DD8020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預防  &gt;  SROS2 最小權限</a:t>
            </a:r>
          </a:p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偵測  &gt;  network + telemetry</a:t>
            </a:r>
          </a:p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回應  &gt;  來源歸因 + TTL</a:t>
            </a:r>
          </a:p>
          <a:p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驗證  &gt;  PCAP + log + hash</a:t>
            </a:r>
          </a:p>
        </p:txBody>
      </p:sp>
      <p:sp>
        <p:nvSpPr>
          <p:cNvPr id="6" name="close-right">
            <a:extLst>
              <a:ext uri="{FF2B5EF4-FFF2-40B4-BE49-F238E27FC236}">
                <a16:creationId xmlns:a16="http://schemas.microsoft.com/office/drawing/2014/main" id="{586514EF-3365-49DA-A7D2-E3DC951788C8}"/>
              </a:ext>
            </a:extLst>
          </p:cNvPr>
          <p:cNvSpPr>
            <a:spLocks noGrp="1"/>
          </p:cNvSpPr>
          <p:nvPr/>
        </p:nvSpPr>
        <p:spPr>
          <a:xfrm>
            <a:off x="9258300" y="1828800"/>
            <a:ext cx="25717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/ SROS2</a:t>
            </a:r>
          </a:p>
          <a:p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MULTIMODAL AI</a:t>
            </a:r>
          </a:p>
          <a:p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Pi 5 INLINE</a:t>
            </a:r>
          </a:p>
        </p:txBody>
      </p:sp>
      <p:sp>
        <p:nvSpPr>
          <p:cNvPr id="7" name="close-next-band">
            <a:extLst>
              <a:ext uri="{FF2B5EF4-FFF2-40B4-BE49-F238E27FC236}">
                <a16:creationId xmlns:a16="http://schemas.microsoft.com/office/drawing/2014/main" id="{96396B0D-42D7-46DA-957A-89405A944E1A}"/>
              </a:ext>
            </a:extLst>
          </p:cNvPr>
          <p:cNvSpPr>
            <a:spLocks noGrp="1"/>
          </p:cNvSpPr>
          <p:nvPr/>
        </p:nvSpPr>
        <p:spPr>
          <a:xfrm>
            <a:off x="9258300" y="5219700"/>
            <a:ext cx="2571750" cy="8191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ose-next">
            <a:extLst>
              <a:ext uri="{FF2B5EF4-FFF2-40B4-BE49-F238E27FC236}">
                <a16:creationId xmlns:a16="http://schemas.microsoft.com/office/drawing/2014/main" id="{09CC2951-E130-4DD7-A8B2-C9029E15DFFD}"/>
              </a:ext>
            </a:extLst>
          </p:cNvPr>
          <p:cNvSpPr>
            <a:spLocks noGrp="1"/>
          </p:cNvSpPr>
          <p:nvPr/>
        </p:nvSpPr>
        <p:spPr>
          <a:xfrm>
            <a:off x="9429750" y="5362575"/>
            <a:ext cx="2228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下一個關鍵交付</a:t>
            </a:r>
          </a:p>
          <a:p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Pi 5 隔離拓樸</a:t>
            </a:r>
          </a:p>
          <a:p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＋ live multimodal data</a:t>
            </a:r>
          </a:p>
        </p:txBody>
      </p:sp>
    </p:spTree>
    <p:extLst>
      <p:ext uri="{BB962C8B-B14F-4D97-AF65-F5344CB8AC3E}">
        <p14:creationId xmlns:p14="http://schemas.microsoft.com/office/powerpoint/2010/main" val="20957190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2492</Words>
  <Application>Microsoft Office PowerPoint</Application>
  <DocSecurity>0</DocSecurity>
  <PresentationFormat>寬螢幕</PresentationFormat>
  <Paragraphs>415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希杰 朱</cp:lastModifiedBy>
  <cp:revision>1</cp:revision>
  <dcterms:created xsi:type="dcterms:W3CDTF">2026-07-30T05:26:04Z</dcterms:created>
  <dcterms:modified xsi:type="dcterms:W3CDTF">2026-07-30T05:29:45Z</dcterms:modified>
</cp:coreProperties>
</file>