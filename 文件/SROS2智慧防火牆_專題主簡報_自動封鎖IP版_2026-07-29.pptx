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7aab1c92342c7" /><Relationship Type="http://schemas.openxmlformats.org/officeDocument/2006/relationships/extended-properties" Target="/docProps/app.xml" Id="Rbea6f3b0a3e64fd3" /><Relationship Type="http://schemas.openxmlformats.org/officeDocument/2006/relationships/officeDocument" Target="/ppt/presentation.xml" Id="R54e2d2f12a764c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b0dadd0a34878"/>
  </p:sldMasterIdLst>
  <p:notesMasterIdLst>
    <p:notesMasterId xmlns:r="http://schemas.openxmlformats.org/officeDocument/2006/relationships" r:id="R46c83330accf48e1"/>
  </p:notesMasterIdLst>
  <p:sldIdLst>
    <p:sldId xmlns:r="http://schemas.openxmlformats.org/officeDocument/2006/relationships" id="256" r:id="R8b901b8c4f624dd2"/>
    <p:sldId xmlns:r="http://schemas.openxmlformats.org/officeDocument/2006/relationships" id="257" r:id="R03bf31f97ecd45ef"/>
    <p:sldId xmlns:r="http://schemas.openxmlformats.org/officeDocument/2006/relationships" id="258" r:id="Rbf4ce9b3a9814e65"/>
    <p:sldId xmlns:r="http://schemas.openxmlformats.org/officeDocument/2006/relationships" id="259" r:id="R87f799a0e4ba4407"/>
    <p:sldId xmlns:r="http://schemas.openxmlformats.org/officeDocument/2006/relationships" id="260" r:id="R458c53b0152f420a"/>
    <p:sldId xmlns:r="http://schemas.openxmlformats.org/officeDocument/2006/relationships" id="261" r:id="R3539e30a43f04547"/>
    <p:sldId xmlns:r="http://schemas.openxmlformats.org/officeDocument/2006/relationships" id="262" r:id="R3f1dd2162b7b46fb"/>
    <p:sldId xmlns:r="http://schemas.openxmlformats.org/officeDocument/2006/relationships" id="263" r:id="R8da849c11247476e"/>
    <p:sldId xmlns:r="http://schemas.openxmlformats.org/officeDocument/2006/relationships" id="264" r:id="R30d654700c564096"/>
    <p:sldId xmlns:r="http://schemas.openxmlformats.org/officeDocument/2006/relationships" id="265" r:id="R88fcc997c3274875"/>
    <p:sldId xmlns:r="http://schemas.openxmlformats.org/officeDocument/2006/relationships" id="266" r:id="R2965a3637c3140e4"/>
    <p:sldId xmlns:r="http://schemas.openxmlformats.org/officeDocument/2006/relationships" id="267" r:id="Ref386e1d309346ab"/>
    <p:sldId xmlns:r="http://schemas.openxmlformats.org/officeDocument/2006/relationships" id="268" r:id="Rebf32d38410549b0"/>
    <p:sldId xmlns:r="http://schemas.openxmlformats.org/officeDocument/2006/relationships" id="269" r:id="R9fd2a29ab06447d2"/>
    <p:sldId xmlns:r="http://schemas.openxmlformats.org/officeDocument/2006/relationships" id="270" r:id="R7e4df415e1c044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ff360c4f14ae1" /><Relationship Type="http://schemas.openxmlformats.org/officeDocument/2006/relationships/slideMaster" Target="/ppt/slideMasters/slideMaster1.xml" Id="Rd03b0dadd0a34878" /><Relationship Type="http://schemas.openxmlformats.org/officeDocument/2006/relationships/notesMaster" Target="/ppt/notesMasters/notesMaster1.xml" Id="R46c83330accf48e1" /><Relationship Type="http://schemas.openxmlformats.org/officeDocument/2006/relationships/presProps" Target="/ppt/presProps.xml" Id="Rad42205519d841d4" /><Relationship Type="http://schemas.openxmlformats.org/officeDocument/2006/relationships/viewProps" Target="/ppt/viewProps.xml" Id="Rcc65c3286aa14126" /><Relationship Type="http://schemas.openxmlformats.org/officeDocument/2006/relationships/tableStyles" Target="/ppt/tableStyles.xml" Id="Rfec1b629172040d0" /><Relationship Type="http://schemas.openxmlformats.org/officeDocument/2006/relationships/slide" Target="/ppt/slides/slide1.xml" Id="R8b901b8c4f624dd2" /><Relationship Type="http://schemas.openxmlformats.org/officeDocument/2006/relationships/slide" Target="/ppt/slides/slide2.xml" Id="R03bf31f97ecd45ef" /><Relationship Type="http://schemas.openxmlformats.org/officeDocument/2006/relationships/slide" Target="/ppt/slides/slide3.xml" Id="Rbf4ce9b3a9814e65" /><Relationship Type="http://schemas.openxmlformats.org/officeDocument/2006/relationships/slide" Target="/ppt/slides/slide4.xml" Id="R87f799a0e4ba4407" /><Relationship Type="http://schemas.openxmlformats.org/officeDocument/2006/relationships/slide" Target="/ppt/slides/slide5.xml" Id="R458c53b0152f420a" /><Relationship Type="http://schemas.openxmlformats.org/officeDocument/2006/relationships/slide" Target="/ppt/slides/slide6.xml" Id="R3539e30a43f04547" /><Relationship Type="http://schemas.openxmlformats.org/officeDocument/2006/relationships/slide" Target="/ppt/slides/slide7.xml" Id="R3f1dd2162b7b46fb" /><Relationship Type="http://schemas.openxmlformats.org/officeDocument/2006/relationships/slide" Target="/ppt/slides/slide8.xml" Id="R8da849c11247476e" /><Relationship Type="http://schemas.openxmlformats.org/officeDocument/2006/relationships/slide" Target="/ppt/slides/slide9.xml" Id="R30d654700c564096" /><Relationship Type="http://schemas.openxmlformats.org/officeDocument/2006/relationships/slide" Target="/ppt/slides/slide10.xml" Id="R88fcc997c3274875" /><Relationship Type="http://schemas.openxmlformats.org/officeDocument/2006/relationships/slide" Target="/ppt/slides/slide11.xml" Id="R2965a3637c3140e4" /><Relationship Type="http://schemas.openxmlformats.org/officeDocument/2006/relationships/slide" Target="/ppt/slides/slide12.xml" Id="Ref386e1d309346ab" /><Relationship Type="http://schemas.openxmlformats.org/officeDocument/2006/relationships/slide" Target="/ppt/slides/slide13.xml" Id="Rebf32d38410549b0" /><Relationship Type="http://schemas.openxmlformats.org/officeDocument/2006/relationships/slide" Target="/ppt/slides/slide14.xml" Id="R9fd2a29ab06447d2" /><Relationship Type="http://schemas.openxmlformats.org/officeDocument/2006/relationships/slide" Target="/ppt/slides/slide15.xml" Id="R7e4df415e1c044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c8db39bfe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7498891ea146e3" /><Relationship Type="http://schemas.openxmlformats.org/officeDocument/2006/relationships/notesMaster" Target="/ppt/notesMasters/notesMaster1.xml" Id="R1e51ba72e9a84a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11eb2a18df4031" /><Relationship Type="http://schemas.openxmlformats.org/officeDocument/2006/relationships/notesMaster" Target="/ppt/notesMasters/notesMaster1.xml" Id="R91834caf53e548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dbfd765f8f4fc9" /><Relationship Type="http://schemas.openxmlformats.org/officeDocument/2006/relationships/notesMaster" Target="/ppt/notesMasters/notesMaster1.xml" Id="Rc2f901a539ce49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d294931f2f4267" /><Relationship Type="http://schemas.openxmlformats.org/officeDocument/2006/relationships/notesMaster" Target="/ppt/notesMasters/notesMaster1.xml" Id="R9f50ea9d4d524d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d2d1a35bf744b8" /><Relationship Type="http://schemas.openxmlformats.org/officeDocument/2006/relationships/notesMaster" Target="/ppt/notesMasters/notesMaster1.xml" Id="R82bc4864fa324a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f35ea48fda4ec6" /><Relationship Type="http://schemas.openxmlformats.org/officeDocument/2006/relationships/notesMaster" Target="/ppt/notesMasters/notesMaster1.xml" Id="R888eb075dfaa49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3596c8e98f4904" /><Relationship Type="http://schemas.openxmlformats.org/officeDocument/2006/relationships/notesMaster" Target="/ppt/notesMasters/notesMaster1.xml" Id="R0eaf09b9864e48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01470cfec3478b" /><Relationship Type="http://schemas.openxmlformats.org/officeDocument/2006/relationships/notesMaster" Target="/ppt/notesMasters/notesMaster1.xml" Id="Rfd280c24d9b043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a52adb3e3f45fc" /><Relationship Type="http://schemas.openxmlformats.org/officeDocument/2006/relationships/notesMaster" Target="/ppt/notesMasters/notesMaster1.xml" Id="R4191989f176648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4dc8c96f1b4f7f" /><Relationship Type="http://schemas.openxmlformats.org/officeDocument/2006/relationships/notesMaster" Target="/ppt/notesMasters/notesMaster1.xml" Id="R4690e35bb26d4f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9de1774bc04326" /><Relationship Type="http://schemas.openxmlformats.org/officeDocument/2006/relationships/notesMaster" Target="/ppt/notesMasters/notesMaster1.xml" Id="R30ac1b4a61c649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eff655231f4a7b" /><Relationship Type="http://schemas.openxmlformats.org/officeDocument/2006/relationships/notesMaster" Target="/ppt/notesMasters/notesMaster1.xml" Id="R9fcb2fe4c6dd4a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22d51adb134027" /><Relationship Type="http://schemas.openxmlformats.org/officeDocument/2006/relationships/notesMaster" Target="/ppt/notesMasters/notesMaster1.xml" Id="R7cf554c7fd2a4c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f1532ed4244878" /><Relationship Type="http://schemas.openxmlformats.org/officeDocument/2006/relationships/notesMaster" Target="/ppt/notesMasters/notesMaster1.xml" Id="R79040314290441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f990cd58a242d1" /><Relationship Type="http://schemas.openxmlformats.org/officeDocument/2006/relationships/notesMaster" Target="/ppt/notesMasters/notesMaster1.xml" Id="R45530f437b4a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開場只講一句：這是一個把 SROS2 預防、ROS2 行為、DDS 網路與 AI 回應整合成可驗證防火牆的個人專題。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評審要先理解：本題不是把 nmap 或 Metasploit 接到 ROS2，而是處理一般 perimeter firewall 看不到的 DDS 身分與機器人行為風險。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- C:\Users\Jesse\Documents\專題ROS2\文件\系統文件\系統架構規格書.md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這頁是整份報告的骨架。後面每個資料、模型與驗收項目都要能回到 RQ1–RQ4。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講解順序由左到右。特別說明 Pi 5 是目標硬體，不要讓評審誤以為已完成實機部署。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C:\Users\Jesse\Documents\專題ROS2\文件\系統文件\系統架構規格書.md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 AI 說成萬能。這個設計的強點是 defense in depth：SROS2 先預防、規則提供可解釋證據、AI 補未知模式、回應層保護機器人。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C:\Users\Jesse\Documents\專題ROS2\文件\防禦對照_預防優於反應.md</a:t>
            </a:r>
          </a:p>
          <a:p xmlns:a="http://schemas.openxmlformats.org/drawingml/2006/main">
            <a:r>
              <a:t>- C:\Users\Jesse\Documents\專題ROS2\文件\專題完整總報告.md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滲透測試會做，但現在的共享 10.1.0.0/16 不能當作實驗室。評審會更重視範圍、可復原性與證據鏈，而不是攻擊工具數量。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C:\Users\Jesse\Documents\專題ROS2\紅隊測試\12_紅隊攻擊報告.md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這頁先展示規模，再主動揭露 synthetic 邊界。資料量大不代表真實攻防成效，品質 gate 與 live test 才是重點。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C:\Users\Jesse\Documents\專題ROS2\firewall_lab\pretrain_dataset\DATASET_CARD.md</a:t>
            </a:r>
          </a:p>
          <a:p xmlns:a="http://schemas.openxmlformats.org/drawingml/2006/main">
            <a:r>
              <a:t>- C:\Users\Jesse\Documents\專題ROS2\firewall_lab\pretrain_dataset\quality_report.json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這是目前最扎實的 live 數字。不要把 20 sessions 說成模型準確率，也不要把 pilot 外推成企業成熟度。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C:\Users\Jesse\Documents\專題ROS2\firewall_lab\features_pilot\live_quality_report.json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這不是失敗，而是研究誠信：若先收 1,100 場只有 network features，之後無法回答 RQ1。現在的 fail-closed gate 避免昂貴返工。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C:\Users\Jesse\Documents\專題ROS2\firewall_lab\live_multimodal_contract.json</a:t>
            </a:r>
          </a:p>
          <a:p xmlns:a="http://schemas.openxmlformats.org/drawingml/2006/main">
            <a:r>
              <a:t>- C:\Users\Jesse\Documents\專題ROS2\firewall_lab\readiness_evidence\formal_dataset_preflight_2026-07-28_after_plan_audit.json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所有模型必須共用 session-grouped split，untouched test 只能最後開一次。若融合沒有贏 RF，也要誠實把貢獻定位為資料與安全實驗。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只說會做滲透測試不夠；要說明升級階梯、停止條件、證據與復原。Metasploit 只是主機入口層工具，DDS／SROS2 仍需各自的協定驗證。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C:\Users\Jesse\Documents\專題ROS2\文件\防禦對照_預防優於反應.md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 68.5% 與 55.3% 是工作包加權進度，不是模型準確率。47/47 是最新工程紀錄，但正式答辯前要重跑並保存原始 log，且清理舊文件 28/47 的衝突。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C:\Users\Jesse\Documents\專題ROS2\文件\智慧防火牆工程進度_2026-07-27.md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- C:\Users\Jesse\Documents\專題ROS2\文件\正式資料集啟動紀錄_2026-07-28.md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截止日先作為內部控制日，仍要取得系辦正式公告。若缺件延遲，先完成模擬與 Pi 5 資源量測，不讓整個研究停住。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- C:\Users\Jesse\Documents\專題ROS2\文件\智慧防火牆正式評分對齊_2026-07-28.md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這頁直接對齊系上評分。個人專題的溝通協調證據改為需求訪談、教授回饋、決策紀錄、公開展示與多層次說明，不假裝有團隊分工。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C:\Users\Jesse\Documents\專題ROS2\文件\智慧防火牆正式評分對齊_2026-07-28.md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收尾不要承諾防住所有攻擊。承諾一條可重現的研究證據鏈，以及一個不會因 AI 誤判就讓機器人失控的安全回應系統。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C:\Users\Jesse\Documents\專題ROS2\文件\智慧防火牆完整計畫與進度_2026-07-27.md</a:t>
            </a:r>
          </a:p>
          <a:p xmlns:a="http://schemas.openxmlformats.org/drawingml/2006/main">
            <a:r>
              <a:t>- C:\Users\Jesse\Documents\專題ROS2\文件\專題執行基準_2026-07-29.md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ff1a02cc640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c15e84d51642a8" /><Relationship Type="http://schemas.openxmlformats.org/officeDocument/2006/relationships/slideLayout" Target="/ppt/slideLayouts/slideLayout1.xml" Id="R92d9aa759f9e44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d9aa759f9e44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59d1b1b04335" /><Relationship Type="http://schemas.openxmlformats.org/officeDocument/2006/relationships/notesSlide" Target="/ppt/notesSlides/notesSlide1.xml" Id="R677ac14f4b5d43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911b60d964339" /><Relationship Type="http://schemas.openxmlformats.org/officeDocument/2006/relationships/notesSlide" Target="/ppt/notesSlides/notesSlide2.xml" Id="R4acd50aff0a146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08b701f154ebd" /><Relationship Type="http://schemas.openxmlformats.org/officeDocument/2006/relationships/notesSlide" Target="/ppt/notesSlides/notesSlide3.xml" Id="Rc2dd7b4e52b047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07c8b5ab40a4" /><Relationship Type="http://schemas.openxmlformats.org/officeDocument/2006/relationships/notesSlide" Target="/ppt/notesSlides/notesSlide4.xml" Id="R126d4e60352b4f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0df3ac8d4e30" /><Relationship Type="http://schemas.openxmlformats.org/officeDocument/2006/relationships/notesSlide" Target="/ppt/notesSlides/notesSlide5.xml" Id="Re6c404aafe7f4e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0a3837ecf4a64" /><Relationship Type="http://schemas.openxmlformats.org/officeDocument/2006/relationships/notesSlide" Target="/ppt/notesSlides/notesSlide6.xml" Id="Rd49faa3791f245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2f6923e55484a" /><Relationship Type="http://schemas.openxmlformats.org/officeDocument/2006/relationships/notesSlide" Target="/ppt/notesSlides/notesSlide7.xml" Id="R34cab3121c904d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3c257f1894d7b" /><Relationship Type="http://schemas.openxmlformats.org/officeDocument/2006/relationships/notesSlide" Target="/ppt/notesSlides/notesSlide8.xml" Id="R3818ea908dfb41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26412e2134a1c" /><Relationship Type="http://schemas.openxmlformats.org/officeDocument/2006/relationships/notesSlide" Target="/ppt/notesSlides/notesSlide9.xml" Id="Rf1dbb77770cc44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d7536736d49a3" /><Relationship Type="http://schemas.openxmlformats.org/officeDocument/2006/relationships/notesSlide" Target="/ppt/notesSlides/notesSlide10.xml" Id="Rcdc3575e25d247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fc4a331b34d1d" /><Relationship Type="http://schemas.openxmlformats.org/officeDocument/2006/relationships/notesSlide" Target="/ppt/notesSlides/notesSlide11.xml" Id="Rd6547638ccc74f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659f0c9b648c4" /><Relationship Type="http://schemas.openxmlformats.org/officeDocument/2006/relationships/notesSlide" Target="/ppt/notesSlides/notesSlide12.xml" Id="Rb4f587f7ec1f4f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2d3c5644443a7" /><Relationship Type="http://schemas.openxmlformats.org/officeDocument/2006/relationships/notesSlide" Target="/ppt/notesSlides/notesSlide13.xml" Id="R25cc4dbdbeb644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0c78e9cbf41ae" /><Relationship Type="http://schemas.openxmlformats.org/officeDocument/2006/relationships/notesSlide" Target="/ppt/notesSlides/notesSlide14.xml" Id="R8179459ba23040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bb60de33a40f9" /><Relationship Type="http://schemas.openxmlformats.org/officeDocument/2006/relationships/notesSlide" Target="/ppt/notesSlides/notesSlide15.xml" Id="R11388d76191b4b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570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right-field">
            <a:extLst xmlns:a="http://schemas.openxmlformats.org/drawingml/2006/main">
              <a:ext uri="{FF2B5EF4-FFF2-40B4-BE49-F238E27FC236}">
                <a16:creationId xmlns:a16="http://schemas.microsoft.com/office/drawing/2014/main" id="{C8A67A9C-E7AB-42D3-8547-7B85C57B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F62CC6-D104-4207-9320-19E0D9D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 智慧防火牆</a:t>
            </a:r>
          </a:p>
        </p:txBody>
      </p:sp>
      <p:sp>
        <p:nvSpPr>
          <p:cNvPr id="5" name="cover-title-en">
            <a:extLst xmlns:a="http://schemas.openxmlformats.org/drawingml/2006/main">
              <a:ext uri="{FF2B5EF4-FFF2-40B4-BE49-F238E27FC236}">
                <a16:creationId xmlns:a16="http://schemas.microsoft.com/office/drawing/2014/main" id="{7870CAF8-A5F9-4542-A511-C1D6EBD4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384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A9A8A2"/>
                </a:solidFill>
                <a:latin typeface="Microsoft JhengHei"/>
                <a:ea typeface="Microsoft JhengHei"/>
                <a:cs typeface="Microsoft JhengHei"/>
              </a:rPr>
              <a:t>SROS2 INTELLIGENT FIREWALL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FB8FFA-99D9-4C48-85B1-7FFE38D6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偵測異常來源，自動暫時封鎖 IP，並能安全解封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BFE73AA2-0D12-435C-9A13-7AFC516D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Jesse｜Raspberry Pi 5 部署目標｜2027.05</a:t>
            </a:r>
          </a:p>
        </p:txBody>
      </p:sp>
      <p:sp>
        <p:nvSpPr>
          <p:cNvPr id="8" name="cover-right-type">
            <a:extLst xmlns:a="http://schemas.openxmlformats.org/drawingml/2006/main">
              <a:ext uri="{FF2B5EF4-FFF2-40B4-BE49-F238E27FC236}">
                <a16:creationId xmlns:a16="http://schemas.microsoft.com/office/drawing/2014/main" id="{BAA5F687-AF92-481F-8400-09C83DF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81150"/>
            <a:ext cx="1866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PREVENT</a:t>
            </a:r>
          </a:p>
          <a:p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DETECT</a:t>
            </a:r>
          </a:p>
          <a:p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RESPOND</a:t>
            </a:r>
          </a:p>
        </p:txBody>
      </p:sp>
      <p:sp>
        <p:nvSpPr>
          <p:cNvPr id="9" name="cover-swatch-1">
            <a:extLst xmlns:a="http://schemas.openxmlformats.org/drawingml/2006/main">
              <a:ext uri="{FF2B5EF4-FFF2-40B4-BE49-F238E27FC236}">
                <a16:creationId xmlns:a16="http://schemas.microsoft.com/office/drawing/2014/main" id="{59EA9E2B-5B30-4B03-BE69-839AE9D7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006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cover-swatch-2">
            <a:extLst xmlns:a="http://schemas.openxmlformats.org/drawingml/2006/main">
              <a:ext uri="{FF2B5EF4-FFF2-40B4-BE49-F238E27FC236}">
                <a16:creationId xmlns:a16="http://schemas.microsoft.com/office/drawing/2014/main" id="{8E827F19-C7D7-4F31-AD65-B36B8D7D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054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cover-swatch-3">
            <a:extLst xmlns:a="http://schemas.openxmlformats.org/drawingml/2006/main">
              <a:ext uri="{FF2B5EF4-FFF2-40B4-BE49-F238E27FC236}">
                <a16:creationId xmlns:a16="http://schemas.microsoft.com/office/drawing/2014/main" id="{502F2800-18A3-40F9-B416-D94DADFC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cover-swatch-4">
            <a:extLst xmlns:a="http://schemas.openxmlformats.org/drawingml/2006/main">
              <a:ext uri="{FF2B5EF4-FFF2-40B4-BE49-F238E27FC236}">
                <a16:creationId xmlns:a16="http://schemas.microsoft.com/office/drawing/2014/main" id="{7613BBED-C11C-4CBC-97DC-0A0F7ABB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150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512734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il-2">
            <a:extLst xmlns:a="http://schemas.openxmlformats.org/drawingml/2006/main">
              <a:ext uri="{FF2B5EF4-FFF2-40B4-BE49-F238E27FC236}">
                <a16:creationId xmlns:a16="http://schemas.microsoft.com/office/drawing/2014/main" id="{B991A2E7-350A-4FFA-8439-21C32AD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DBF4BF0-7019-4220-90D9-150DE95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ROS2 防火牆必須同時看見三種風險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7F259996-35F0-499A-B0FF-0580EBAE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problem-big-three">
            <a:extLst xmlns:a="http://schemas.openxmlformats.org/drawingml/2006/main">
              <a:ext uri="{FF2B5EF4-FFF2-40B4-BE49-F238E27FC236}">
                <a16:creationId xmlns:a16="http://schemas.microsoft.com/office/drawing/2014/main" id="{5EE0A065-E692-4F5D-AEBB-FC19955D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00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200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" name="problem-three-label">
            <a:extLst xmlns:a="http://schemas.openxmlformats.org/drawingml/2006/main">
              <a:ext uri="{FF2B5EF4-FFF2-40B4-BE49-F238E27FC236}">
                <a16:creationId xmlns:a16="http://schemas.microsoft.com/office/drawing/2014/main" id="{B864F144-E0E9-4164-9B7C-548D3032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一般 perimeter firewall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通常無法同時回答</a:t>
            </a:r>
          </a:p>
        </p:txBody>
      </p:sp>
      <p:sp>
        <p:nvSpPr>
          <p:cNvPr id="8" name="problem-line-1">
            <a:extLst xmlns:a="http://schemas.openxmlformats.org/drawingml/2006/main">
              <a:ext uri="{FF2B5EF4-FFF2-40B4-BE49-F238E27FC236}">
                <a16:creationId xmlns:a16="http://schemas.microsoft.com/office/drawing/2014/main" id="{EAA624B4-532E-4800-93FF-83027415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problem-accent-1">
            <a:extLst xmlns:a="http://schemas.openxmlformats.org/drawingml/2006/main">
              <a:ext uri="{FF2B5EF4-FFF2-40B4-BE49-F238E27FC236}">
                <a16:creationId xmlns:a16="http://schemas.microsoft.com/office/drawing/2014/main" id="{5752BA45-87BB-4BC7-8D6C-36A836C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problem-en-1">
            <a:extLst xmlns:a="http://schemas.openxmlformats.org/drawingml/2006/main">
              <a:ext uri="{FF2B5EF4-FFF2-40B4-BE49-F238E27FC236}">
                <a16:creationId xmlns:a16="http://schemas.microsoft.com/office/drawing/2014/main" id="{F4E4D062-70AD-4A0A-A4ED-03D8541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IDENTITY</a:t>
            </a:r>
          </a:p>
        </p:txBody>
      </p:sp>
      <p:sp>
        <p:nvSpPr>
          <p:cNvPr id="11" name="problem-zh-1">
            <a:extLst xmlns:a="http://schemas.openxmlformats.org/drawingml/2006/main">
              <a:ext uri="{FF2B5EF4-FFF2-40B4-BE49-F238E27FC236}">
                <a16:creationId xmlns:a16="http://schemas.microsoft.com/office/drawing/2014/main" id="{73D6D759-C158-4D2D-BDC6-FEFB5E7E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19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誰能加入 DDS graph？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A8F694E2-DF33-4D05-8851-69110E4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SROS2 憑證、權限與 publisher 身分。</a:t>
            </a:r>
          </a:p>
        </p:txBody>
      </p:sp>
      <p:sp>
        <p:nvSpPr>
          <p:cNvPr id="13" name="problem-line-2">
            <a:extLst xmlns:a="http://schemas.openxmlformats.org/drawingml/2006/main">
              <a:ext uri="{FF2B5EF4-FFF2-40B4-BE49-F238E27FC236}">
                <a16:creationId xmlns:a16="http://schemas.microsoft.com/office/drawing/2014/main" id="{F7D6F2ED-AC38-4E9C-90C1-785F58BF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problem-accent-2">
            <a:extLst xmlns:a="http://schemas.openxmlformats.org/drawingml/2006/main">
              <a:ext uri="{FF2B5EF4-FFF2-40B4-BE49-F238E27FC236}">
                <a16:creationId xmlns:a16="http://schemas.microsoft.com/office/drawing/2014/main" id="{D7D88F4D-7DFA-47E9-B5E1-5D44A2C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problem-en-2">
            <a:extLst xmlns:a="http://schemas.openxmlformats.org/drawingml/2006/main">
              <a:ext uri="{FF2B5EF4-FFF2-40B4-BE49-F238E27FC236}">
                <a16:creationId xmlns:a16="http://schemas.microsoft.com/office/drawing/2014/main" id="{3064EC7E-019F-4630-A55C-DE2E0354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NETWORK</a:t>
            </a:r>
          </a:p>
        </p:txBody>
      </p:sp>
      <p:sp>
        <p:nvSpPr>
          <p:cNvPr id="16" name="problem-zh-2">
            <a:extLst xmlns:a="http://schemas.openxmlformats.org/drawingml/2006/main">
              <a:ext uri="{FF2B5EF4-FFF2-40B4-BE49-F238E27FC236}">
                <a16:creationId xmlns:a16="http://schemas.microsoft.com/office/drawing/2014/main" id="{7CDE3E02-978C-4AAE-A6CE-538E1D4F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57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封包是否呈現攻擊模式？</a:t>
            </a:r>
          </a:p>
        </p:txBody>
      </p:sp>
      <p:sp>
        <p:nvSpPr>
          <p:cNvPr id="17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D08D8CBB-3F23-4BDB-8F31-24D605AC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DDS discovery、注入、來源偽造與異常流量。</a:t>
            </a:r>
          </a:p>
        </p:txBody>
      </p:sp>
      <p:sp>
        <p:nvSpPr>
          <p:cNvPr id="18" name="problem-line-3">
            <a:extLst xmlns:a="http://schemas.openxmlformats.org/drawingml/2006/main">
              <a:ext uri="{FF2B5EF4-FFF2-40B4-BE49-F238E27FC236}">
                <a16:creationId xmlns:a16="http://schemas.microsoft.com/office/drawing/2014/main" id="{26773D95-2981-4886-B4E2-858DDF7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794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problem-accent-3">
            <a:extLst xmlns:a="http://schemas.openxmlformats.org/drawingml/2006/main">
              <a:ext uri="{FF2B5EF4-FFF2-40B4-BE49-F238E27FC236}">
                <a16:creationId xmlns:a16="http://schemas.microsoft.com/office/drawing/2014/main" id="{369237D0-AD8B-4FAE-B087-88307799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problem-en-3">
            <a:extLst xmlns:a="http://schemas.openxmlformats.org/drawingml/2006/main">
              <a:ext uri="{FF2B5EF4-FFF2-40B4-BE49-F238E27FC236}">
                <a16:creationId xmlns:a16="http://schemas.microsoft.com/office/drawing/2014/main" id="{64620E31-B531-43A7-A687-23C93A4D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BEHAVIOR</a:t>
            </a:r>
          </a:p>
        </p:txBody>
      </p:sp>
      <p:sp>
        <p:nvSpPr>
          <p:cNvPr id="21" name="problem-zh-3">
            <a:extLst xmlns:a="http://schemas.openxmlformats.org/drawingml/2006/main">
              <a:ext uri="{FF2B5EF4-FFF2-40B4-BE49-F238E27FC236}">
                <a16:creationId xmlns:a16="http://schemas.microsoft.com/office/drawing/2014/main" id="{E45BD70D-346A-4301-AD98-E675B62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95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機器人動作是否合理？</a:t>
            </a:r>
          </a:p>
        </p:txBody>
      </p:sp>
      <p:sp>
        <p:nvSpPr>
          <p:cNvPr id="22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3648F294-F5FD-412A-B254-9E2FEDC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速度、方向、LiDAR、heartbeat 與感測／控制一致性。</a:t>
            </a:r>
          </a:p>
        </p:txBody>
      </p:sp>
      <p:sp>
        <p:nvSpPr>
          <p:cNvPr id="23" name="problem-conclusion">
            <a:extLst xmlns:a="http://schemas.openxmlformats.org/drawingml/2006/main">
              <a:ext uri="{FF2B5EF4-FFF2-40B4-BE49-F238E27FC236}">
                <a16:creationId xmlns:a16="http://schemas.microsoft.com/office/drawing/2014/main" id="{3B49338C-3592-41C6-A14A-511608A5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00700"/>
            <a:ext cx="7943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problem-conclusion-text">
            <a:extLst xmlns:a="http://schemas.openxmlformats.org/drawingml/2006/main">
              <a:ext uri="{FF2B5EF4-FFF2-40B4-BE49-F238E27FC236}">
                <a16:creationId xmlns:a16="http://schemas.microsoft.com/office/drawing/2014/main" id="{EA8743AC-2380-4F34-BEEF-3AD1D59F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959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身分、網路與行為融合後，才決定是否暫時封鎖來源 IP。</a:t>
            </a:r>
          </a:p>
        </p:txBody>
      </p:sp>
    </p:spTree>
    <p:extLst>
      <p:ext uri="{BB962C8B-B14F-4D97-AF65-F5344CB8AC3E}">
        <p14:creationId xmlns:p14="http://schemas.microsoft.com/office/powerpoint/2010/main" val="629166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il-3">
            <a:extLst xmlns:a="http://schemas.openxmlformats.org/drawingml/2006/main">
              <a:ext uri="{FF2B5EF4-FFF2-40B4-BE49-F238E27FC236}">
                <a16:creationId xmlns:a16="http://schemas.microsoft.com/office/drawing/2014/main" id="{61219FF8-5F24-4FFD-A40E-D3358F19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588356C-D8D0-4162-B3AF-F27C6A24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四個研究問題，決定 AI 是否真的有價值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88619A1-1E9F-45EF-A87C-8BE98816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rq-number-1">
            <a:extLst xmlns:a="http://schemas.openxmlformats.org/drawingml/2006/main">
              <a:ext uri="{FF2B5EF4-FFF2-40B4-BE49-F238E27FC236}">
                <a16:creationId xmlns:a16="http://schemas.microsoft.com/office/drawing/2014/main" id="{CE2060FD-3B38-4ED9-8BF1-F6B917E1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7" name="rq-title-1">
            <a:extLst xmlns:a="http://schemas.openxmlformats.org/drawingml/2006/main">
              <a:ext uri="{FF2B5EF4-FFF2-40B4-BE49-F238E27FC236}">
                <a16:creationId xmlns:a16="http://schemas.microsoft.com/office/drawing/2014/main" id="{1E94AD40-7099-46A8-8E82-AA806054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融合有效嗎？</a:t>
            </a:r>
          </a:p>
        </p:txBody>
      </p:sp>
      <p:sp>
        <p:nvSpPr>
          <p:cNvPr id="8" name="rq-body-1">
            <a:extLst xmlns:a="http://schemas.openxmlformats.org/drawingml/2006/main">
              <a:ext uri="{FF2B5EF4-FFF2-40B4-BE49-F238E27FC236}">
                <a16:creationId xmlns:a16="http://schemas.microsoft.com/office/drawing/2014/main" id="{2E39D1B8-0028-47EC-8251-C56A78B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network-only、telemetry-only、fusion 在相同 split 比較 macro-F1、FPR 與重要攻擊 recall。</a:t>
            </a:r>
          </a:p>
        </p:txBody>
      </p:sp>
      <p:sp>
        <p:nvSpPr>
          <p:cNvPr id="9" name="rq-rule-1">
            <a:extLst xmlns:a="http://schemas.openxmlformats.org/drawingml/2006/main">
              <a:ext uri="{FF2B5EF4-FFF2-40B4-BE49-F238E27FC236}">
                <a16:creationId xmlns:a16="http://schemas.microsoft.com/office/drawing/2014/main" id="{7707C419-4156-430D-BC42-0E3BB5F4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q-number-2">
            <a:extLst xmlns:a="http://schemas.openxmlformats.org/drawingml/2006/main">
              <a:ext uri="{FF2B5EF4-FFF2-40B4-BE49-F238E27FC236}">
                <a16:creationId xmlns:a16="http://schemas.microsoft.com/office/drawing/2014/main" id="{6E301A82-D1CC-4654-AB22-1080985F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1" name="rq-title-2">
            <a:extLst xmlns:a="http://schemas.openxmlformats.org/drawingml/2006/main">
              <a:ext uri="{FF2B5EF4-FFF2-40B4-BE49-F238E27FC236}">
                <a16:creationId xmlns:a16="http://schemas.microsoft.com/office/drawing/2014/main" id="{9BB8CFD2-8AE9-4A9F-AD7A-5CFC8C2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未知攻擊呢？</a:t>
            </a:r>
          </a:p>
        </p:txBody>
      </p:sp>
      <p:sp>
        <p:nvSpPr>
          <p:cNvPr id="12" name="rq-body-2">
            <a:extLst xmlns:a="http://schemas.openxmlformats.org/drawingml/2006/main">
              <a:ext uri="{FF2B5EF4-FFF2-40B4-BE49-F238E27FC236}">
                <a16:creationId xmlns:a16="http://schemas.microsoft.com/office/drawing/2014/main" id="{43A32F7A-5D7B-48F3-990A-FF8DB83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將攻擊類別完全排除於訓練，量測 anomaly detector 的 unknown recall 與 AUPRC。</a:t>
            </a:r>
          </a:p>
        </p:txBody>
      </p:sp>
      <p:sp>
        <p:nvSpPr>
          <p:cNvPr id="13" name="rq-rule-2">
            <a:extLst xmlns:a="http://schemas.openxmlformats.org/drawingml/2006/main">
              <a:ext uri="{FF2B5EF4-FFF2-40B4-BE49-F238E27FC236}">
                <a16:creationId xmlns:a16="http://schemas.microsoft.com/office/drawing/2014/main" id="{E43A03D2-9BDC-49AF-8681-1C0DDA2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q-number-3">
            <a:extLst xmlns:a="http://schemas.openxmlformats.org/drawingml/2006/main">
              <a:ext uri="{FF2B5EF4-FFF2-40B4-BE49-F238E27FC236}">
                <a16:creationId xmlns:a16="http://schemas.microsoft.com/office/drawing/2014/main" id="{C0F60988-00D6-42C2-A5BE-3DF8B98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rq-title-3">
            <a:extLst xmlns:a="http://schemas.openxmlformats.org/drawingml/2006/main">
              <a:ext uri="{FF2B5EF4-FFF2-40B4-BE49-F238E27FC236}">
                <a16:creationId xmlns:a16="http://schemas.microsoft.com/office/drawing/2014/main" id="{EF87CBC4-860F-4D3A-8B4F-8DBABE9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改變了什麼？</a:t>
            </a:r>
          </a:p>
        </p:txBody>
      </p:sp>
      <p:sp>
        <p:nvSpPr>
          <p:cNvPr id="16" name="rq-body-3">
            <a:extLst xmlns:a="http://schemas.openxmlformats.org/drawingml/2006/main">
              <a:ext uri="{FF2B5EF4-FFF2-40B4-BE49-F238E27FC236}">
                <a16:creationId xmlns:a16="http://schemas.microsoft.com/office/drawing/2014/main" id="{3DB901DB-7388-4891-A153-0C82A47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5762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配對比較 Permissive／Enforce，避免模型只記住安全模式而不是攻擊行為。</a:t>
            </a:r>
          </a:p>
        </p:txBody>
      </p:sp>
      <p:sp>
        <p:nvSpPr>
          <p:cNvPr id="17" name="rq-rule-3">
            <a:extLst xmlns:a="http://schemas.openxmlformats.org/drawingml/2006/main">
              <a:ext uri="{FF2B5EF4-FFF2-40B4-BE49-F238E27FC236}">
                <a16:creationId xmlns:a16="http://schemas.microsoft.com/office/drawing/2014/main" id="{17298416-7DF4-4932-A23F-6C667EA6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q-number-4">
            <a:extLst xmlns:a="http://schemas.openxmlformats.org/drawingml/2006/main">
              <a:ext uri="{FF2B5EF4-FFF2-40B4-BE49-F238E27FC236}">
                <a16:creationId xmlns:a16="http://schemas.microsoft.com/office/drawing/2014/main" id="{FD723E84-A501-4EBE-AFD2-C9D7BC7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00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rq-title-4">
            <a:extLst xmlns:a="http://schemas.openxmlformats.org/drawingml/2006/main">
              <a:ext uri="{FF2B5EF4-FFF2-40B4-BE49-F238E27FC236}">
                <a16:creationId xmlns:a16="http://schemas.microsoft.com/office/drawing/2014/main" id="{5B5C0B87-F48E-4A00-8F1C-274CF39F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815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封鎖安全嗎？</a:t>
            </a:r>
          </a:p>
        </p:txBody>
      </p:sp>
      <p:sp>
        <p:nvSpPr>
          <p:cNvPr id="20" name="rq-body-4">
            <a:extLst xmlns:a="http://schemas.openxmlformats.org/drawingml/2006/main">
              <a:ext uri="{FF2B5EF4-FFF2-40B4-BE49-F238E27FC236}">
                <a16:creationId xmlns:a16="http://schemas.microsoft.com/office/drawing/2014/main" id="{EBF401C9-DC13-468B-AED3-C2F9851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81575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量測來源歸因、信心門檻、TTL、白名單與 dry-run 對誤封、TTB 和解封率的影響。</a:t>
            </a:r>
          </a:p>
        </p:txBody>
      </p:sp>
      <p:sp>
        <p:nvSpPr>
          <p:cNvPr id="21" name="rq-rule-4">
            <a:extLst xmlns:a="http://schemas.openxmlformats.org/drawingml/2006/main">
              <a:ext uri="{FF2B5EF4-FFF2-40B4-BE49-F238E27FC236}">
                <a16:creationId xmlns:a16="http://schemas.microsoft.com/office/drawing/2014/main" id="{FF5179CD-AC5F-4185-AC8B-B51B0E6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105863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ail-4">
            <a:extLst xmlns:a="http://schemas.openxmlformats.org/drawingml/2006/main">
              <a:ext uri="{FF2B5EF4-FFF2-40B4-BE49-F238E27FC236}">
                <a16:creationId xmlns:a16="http://schemas.microsoft.com/office/drawing/2014/main" id="{B85B79E5-68FD-4521-9C9C-7CB5117C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72CFD4E5-8BEB-460D-9C49-0C16FBD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整體架構：異常來源最後進入可回滾隔離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AA6B4CF-FC7C-4521-92C4-8736D13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A824570B-B420-4BDA-8B97-A199CBB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目標部署：Raspberry Pi 5；校方其餘硬體待補。現階段以 Gazebo／TurtleBot3 建立可重現平台。</a:t>
            </a:r>
          </a:p>
        </p:txBody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BDDF5001-AEAC-4CCE-918F-BF846E7B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D78AC9B7-9E37-465A-9C29-58D286AE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55E014E2-17D1-47CF-A16F-190899CA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architecture-arrow-4">
            <a:extLst xmlns:a="http://schemas.openxmlformats.org/drawingml/2006/main">
              <a:ext uri="{FF2B5EF4-FFF2-40B4-BE49-F238E27FC236}">
                <a16:creationId xmlns:a16="http://schemas.microsoft.com/office/drawing/2014/main" id="{19FE8BB1-D986-406E-95FB-4D4BF6E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8610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0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3C847825-4317-492F-A82B-4EE3E5F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architecture-number-1">
            <a:extLst xmlns:a="http://schemas.openxmlformats.org/drawingml/2006/main">
              <a:ext uri="{FF2B5EF4-FFF2-40B4-BE49-F238E27FC236}">
                <a16:creationId xmlns:a16="http://schemas.microsoft.com/office/drawing/2014/main" id="{7507B939-3ADB-49DB-B566-9C77B76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D104A880-613B-42D7-B1F1-377B0DF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機器人</a:t>
            </a:r>
          </a:p>
        </p:txBody>
      </p:sp>
      <p:sp>
        <p:nvSpPr>
          <p:cNvPr id="14" name="architecture-node-rule-1">
            <a:extLst xmlns:a="http://schemas.openxmlformats.org/drawingml/2006/main">
              <a:ext uri="{FF2B5EF4-FFF2-40B4-BE49-F238E27FC236}">
                <a16:creationId xmlns:a16="http://schemas.microsoft.com/office/drawing/2014/main" id="{5C939F5F-E07B-4BCE-81DF-88E37B0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956C3699-913E-4D93-9BB7-D651021B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Gazebo / TB3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scan · odom · imu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cmd_vel</a:t>
            </a:r>
          </a:p>
        </p:txBody>
      </p:sp>
      <p:sp>
        <p:nvSpPr>
          <p:cNvPr id="16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D86426C2-8403-4C37-9DC9-B6EC436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DCD8D1"/>
          </a:solidFill>
          <a:ln xmlns:a="http://schemas.openxmlformats.org/drawingml/2006/main" w="9525">
            <a:solidFill>
              <a:srgbClr val="DCD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architecture-number-2">
            <a:extLst xmlns:a="http://schemas.openxmlformats.org/drawingml/2006/main">
              <a:ext uri="{FF2B5EF4-FFF2-40B4-BE49-F238E27FC236}">
                <a16:creationId xmlns:a16="http://schemas.microsoft.com/office/drawing/2014/main" id="{685147F4-A59F-49C2-BEAA-6BA153F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8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63675792-DF2A-4021-9618-B8F364C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預防</a:t>
            </a:r>
          </a:p>
        </p:txBody>
      </p:sp>
      <p:sp>
        <p:nvSpPr>
          <p:cNvPr id="19" name="architecture-node-rule-2">
            <a:extLst xmlns:a="http://schemas.openxmlformats.org/drawingml/2006/main">
              <a:ext uri="{FF2B5EF4-FFF2-40B4-BE49-F238E27FC236}">
                <a16:creationId xmlns:a16="http://schemas.microsoft.com/office/drawing/2014/main" id="{12E5AF00-FB45-4C2A-9744-B758CF1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DB16A78F-68AF-4F3B-B1D6-3BE1AB7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Enforce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雙 CA · ACL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v3</a:t>
            </a:r>
          </a:p>
        </p:txBody>
      </p:sp>
      <p:sp>
        <p:nvSpPr>
          <p:cNvPr id="21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A0A432B9-0E35-4EAB-A705-007FFFF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architecture-number-3">
            <a:extLst xmlns:a="http://schemas.openxmlformats.org/drawingml/2006/main">
              <a:ext uri="{FF2B5EF4-FFF2-40B4-BE49-F238E27FC236}">
                <a16:creationId xmlns:a16="http://schemas.microsoft.com/office/drawing/2014/main" id="{8E667195-D36D-46F0-9098-5180B0B4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3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FA534B62-7AB0-4723-82CB-A43FBD5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觀測</a:t>
            </a:r>
          </a:p>
        </p:txBody>
      </p:sp>
      <p:sp>
        <p:nvSpPr>
          <p:cNvPr id="24" name="architecture-node-rule-3">
            <a:extLst xmlns:a="http://schemas.openxmlformats.org/drawingml/2006/main">
              <a:ext uri="{FF2B5EF4-FFF2-40B4-BE49-F238E27FC236}">
                <a16:creationId xmlns:a16="http://schemas.microsoft.com/office/drawing/2014/main" id="{BB1BD410-48D1-42B5-B498-6D2ADD0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14D31D5E-5109-482D-BE62-7C2ECB68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 / DDS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事件與流量</a:t>
            </a:r>
          </a:p>
        </p:txBody>
      </p:sp>
      <p:sp>
        <p:nvSpPr>
          <p:cNvPr id="26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03A37CA8-2191-463B-850F-7538A6C5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architecture-number-4">
            <a:extLst xmlns:a="http://schemas.openxmlformats.org/drawingml/2006/main">
              <a:ext uri="{FF2B5EF4-FFF2-40B4-BE49-F238E27FC236}">
                <a16:creationId xmlns:a16="http://schemas.microsoft.com/office/drawing/2014/main" id="{17F7F90C-E59C-4B5D-8C5B-03DF603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8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1499A45A-3CDD-429F-8943-5F41A8E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融合</a:t>
            </a:r>
          </a:p>
        </p:txBody>
      </p:sp>
      <p:sp>
        <p:nvSpPr>
          <p:cNvPr id="29" name="architecture-node-rule-4">
            <a:extLst xmlns:a="http://schemas.openxmlformats.org/drawingml/2006/main">
              <a:ext uri="{FF2B5EF4-FFF2-40B4-BE49-F238E27FC236}">
                <a16:creationId xmlns:a16="http://schemas.microsoft.com/office/drawing/2014/main" id="{F5C73755-5FCE-4443-B780-4D271BCD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architecture-body-4">
            <a:extLst xmlns:a="http://schemas.openxmlformats.org/drawingml/2006/main">
              <a:ext uri="{FF2B5EF4-FFF2-40B4-BE49-F238E27FC236}">
                <a16:creationId xmlns:a16="http://schemas.microsoft.com/office/drawing/2014/main" id="{63A3C993-022D-4273-9784-78B9A01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network branch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telemetry branch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anomaly score</a:t>
            </a:r>
          </a:p>
        </p:txBody>
      </p:sp>
      <p:sp>
        <p:nvSpPr>
          <p:cNvPr id="31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933BC75A-FDCB-44BF-B795-F6277CC3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962150" cy="28575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architecture-number-5">
            <a:extLst xmlns:a="http://schemas.openxmlformats.org/drawingml/2006/main">
              <a:ext uri="{FF2B5EF4-FFF2-40B4-BE49-F238E27FC236}">
                <a16:creationId xmlns:a16="http://schemas.microsoft.com/office/drawing/2014/main" id="{7A395725-D53C-4797-9FE4-1713F4F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3" name="architecture-title-5">
            <a:extLst xmlns:a="http://schemas.openxmlformats.org/drawingml/2006/main">
              <a:ext uri="{FF2B5EF4-FFF2-40B4-BE49-F238E27FC236}">
                <a16:creationId xmlns:a16="http://schemas.microsoft.com/office/drawing/2014/main" id="{971F64B3-58D8-4078-B455-B18BC5A0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0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隔離</a:t>
            </a:r>
          </a:p>
        </p:txBody>
      </p:sp>
      <p:sp>
        <p:nvSpPr>
          <p:cNvPr id="34" name="architecture-node-rule-5">
            <a:extLst xmlns:a="http://schemas.openxmlformats.org/drawingml/2006/main">
              <a:ext uri="{FF2B5EF4-FFF2-40B4-BE49-F238E27FC236}">
                <a16:creationId xmlns:a16="http://schemas.microsoft.com/office/drawing/2014/main" id="{6D8367D4-E24B-43F7-BEE0-35B4DF8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7"/>
          </a:solidFill>
          <a:ln xmlns:a="http://schemas.openxmlformats.org/drawingml/2006/main" w="9525">
            <a:solidFill>
              <a:srgbClr val="B9BD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architecture-body-5">
            <a:extLst xmlns:a="http://schemas.openxmlformats.org/drawingml/2006/main">
              <a:ext uri="{FF2B5EF4-FFF2-40B4-BE49-F238E27FC236}">
                <a16:creationId xmlns:a16="http://schemas.microsoft.com/office/drawing/2014/main" id="{3DBBB6B1-5388-4F6C-AD00-6B076F7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81400"/>
            <a:ext cx="1543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來源 IP／身分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信心門檻 · 白名單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TTL 封鎖 · 自動解封</a:t>
            </a:r>
          </a:p>
        </p:txBody>
      </p:sp>
      <p:sp>
        <p:nvSpPr>
          <p:cNvPr id="36" name="architecture-evidence">
            <a:extLst xmlns:a="http://schemas.openxmlformats.org/drawingml/2006/main">
              <a:ext uri="{FF2B5EF4-FFF2-40B4-BE49-F238E27FC236}">
                <a16:creationId xmlns:a16="http://schemas.microsoft.com/office/drawing/2014/main" id="{B314C20C-37A6-4C74-A8AB-47E07AB9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每場實驗保留 PCAP、Zeek、telemetry、封鎖／解封日誌、版本與 SHA-256。</a:t>
            </a:r>
          </a:p>
        </p:txBody>
      </p:sp>
    </p:spTree>
    <p:extLst>
      <p:ext uri="{BB962C8B-B14F-4D97-AF65-F5344CB8AC3E}">
        <p14:creationId xmlns:p14="http://schemas.microsoft.com/office/powerpoint/2010/main" val="306298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ail-5">
            <a:extLst xmlns:a="http://schemas.openxmlformats.org/drawingml/2006/main">
              <a:ext uri="{FF2B5EF4-FFF2-40B4-BE49-F238E27FC236}">
                <a16:creationId xmlns:a16="http://schemas.microsoft.com/office/drawing/2014/main" id="{082A4696-33CB-4F87-8408-EB213930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95BFBDC1-BCFE-42C8-B055-0AAEC35F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五層防禦互補，AI 不是唯一防線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99B0DEA-57BC-42B2-A904-B610B24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layers-big">
            <a:extLst xmlns:a="http://schemas.openxmlformats.org/drawingml/2006/main">
              <a:ext uri="{FF2B5EF4-FFF2-40B4-BE49-F238E27FC236}">
                <a16:creationId xmlns:a16="http://schemas.microsoft.com/office/drawing/2014/main" id="{DC8F0EC9-356F-4688-B5FA-C72DFAB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4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layers-intro">
            <a:extLst xmlns:a="http://schemas.openxmlformats.org/drawingml/2006/main">
              <a:ext uri="{FF2B5EF4-FFF2-40B4-BE49-F238E27FC236}">
                <a16:creationId xmlns:a16="http://schemas.microsoft.com/office/drawing/2014/main" id="{D3D6B639-F279-4CB2-93C9-C03202D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90875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先減少攻擊面，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再偵測與歸因，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最後暫封並能解封。</a:t>
            </a:r>
          </a:p>
        </p:txBody>
      </p:sp>
      <p:sp>
        <p:nvSpPr>
          <p:cNvPr id="8" name="layers-foot">
            <a:extLst xmlns:a="http://schemas.openxmlformats.org/drawingml/2006/main">
              <a:ext uri="{FF2B5EF4-FFF2-40B4-BE49-F238E27FC236}">
                <a16:creationId xmlns:a16="http://schemas.microsoft.com/office/drawing/2014/main" id="{BD05A33B-820B-4380-978D-AF82817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PREVENT → DETECT → RESPOND</a:t>
            </a:r>
          </a:p>
        </p:txBody>
      </p:sp>
      <p:sp>
        <p:nvSpPr>
          <p:cNvPr id="9" name="layer-color-1">
            <a:extLst xmlns:a="http://schemas.openxmlformats.org/drawingml/2006/main">
              <a:ext uri="{FF2B5EF4-FFF2-40B4-BE49-F238E27FC236}">
                <a16:creationId xmlns:a16="http://schemas.microsoft.com/office/drawing/2014/main" id="{23994E31-063E-4ACB-85B2-1AF79378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layer-number-1">
            <a:extLst xmlns:a="http://schemas.openxmlformats.org/drawingml/2006/main">
              <a:ext uri="{FF2B5EF4-FFF2-40B4-BE49-F238E27FC236}">
                <a16:creationId xmlns:a16="http://schemas.microsoft.com/office/drawing/2014/main" id="{EA395769-4536-484C-AC98-9A0A4F27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7FDDB04E-FFB0-472C-828D-D56D9276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38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SROS2 權限</a:t>
            </a:r>
          </a:p>
        </p:txBody>
      </p:sp>
      <p:sp>
        <p:nvSpPr>
          <p:cNvPr id="12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BEAFB584-BF14-45F7-867D-250A56B9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287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雙 CA、逐節點最小權限、DDS discovery/data 保護</a:t>
            </a:r>
          </a:p>
        </p:txBody>
      </p:sp>
      <p:sp>
        <p:nvSpPr>
          <p:cNvPr id="13" name="layer-rule-1">
            <a:extLst xmlns:a="http://schemas.openxmlformats.org/drawingml/2006/main">
              <a:ext uri="{FF2B5EF4-FFF2-40B4-BE49-F238E27FC236}">
                <a16:creationId xmlns:a16="http://schemas.microsoft.com/office/drawing/2014/main" id="{D11DA018-3CCD-49E6-B76B-9B5D617E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layer-color-2">
            <a:extLst xmlns:a="http://schemas.openxmlformats.org/drawingml/2006/main">
              <a:ext uri="{FF2B5EF4-FFF2-40B4-BE49-F238E27FC236}">
                <a16:creationId xmlns:a16="http://schemas.microsoft.com/office/drawing/2014/main" id="{29A36B8F-8410-467E-8658-AB6B76C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6697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layer-number-2">
            <a:extLst xmlns:a="http://schemas.openxmlformats.org/drawingml/2006/main">
              <a:ext uri="{FF2B5EF4-FFF2-40B4-BE49-F238E27FC236}">
                <a16:creationId xmlns:a16="http://schemas.microsoft.com/office/drawing/2014/main" id="{399AC7C3-49EE-4542-91A6-0B0DF86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050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18F8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51001922-274C-4F70-855F-9DB677C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050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 完整性</a:t>
            </a:r>
          </a:p>
        </p:txBody>
      </p:sp>
      <p:sp>
        <p:nvSpPr>
          <p:cNvPr id="17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3289CEFA-F505-4B2A-8B3E-4DEB20A3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channel、timestamp、nonce 防偽造、重放與跨頻道轉貼</a:t>
            </a:r>
          </a:p>
        </p:txBody>
      </p:sp>
      <p:sp>
        <p:nvSpPr>
          <p:cNvPr id="18" name="layer-rule-2">
            <a:extLst xmlns:a="http://schemas.openxmlformats.org/drawingml/2006/main">
              <a:ext uri="{FF2B5EF4-FFF2-40B4-BE49-F238E27FC236}">
                <a16:creationId xmlns:a16="http://schemas.microsoft.com/office/drawing/2014/main" id="{341F705A-E0FE-4C04-88C5-C20DAB4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ayer-color-3">
            <a:extLst xmlns:a="http://schemas.openxmlformats.org/drawingml/2006/main">
              <a:ext uri="{FF2B5EF4-FFF2-40B4-BE49-F238E27FC236}">
                <a16:creationId xmlns:a16="http://schemas.microsoft.com/office/drawing/2014/main" id="{3C1A62AA-FF49-4826-96D9-91332C6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ayer-number-3">
            <a:extLst xmlns:a="http://schemas.openxmlformats.org/drawingml/2006/main">
              <a:ext uri="{FF2B5EF4-FFF2-40B4-BE49-F238E27FC236}">
                <a16:creationId xmlns:a16="http://schemas.microsoft.com/office/drawing/2014/main" id="{A2DCAB5F-71D6-45DE-8264-9E1CF397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718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1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E6B769F8-1EAF-4E5D-91B0-CD0739B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D1–D6 行為</a:t>
            </a:r>
          </a:p>
        </p:txBody>
      </p:sp>
      <p:sp>
        <p:nvSpPr>
          <p:cNvPr id="22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7AC03C09-4223-474C-92E9-B7863686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速度、方向、雷射、publisher、heartbeat、控制一致性</a:t>
            </a:r>
          </a:p>
        </p:txBody>
      </p:sp>
      <p:sp>
        <p:nvSpPr>
          <p:cNvPr id="23" name="layer-rule-3">
            <a:extLst xmlns:a="http://schemas.openxmlformats.org/drawingml/2006/main">
              <a:ext uri="{FF2B5EF4-FFF2-40B4-BE49-F238E27FC236}">
                <a16:creationId xmlns:a16="http://schemas.microsoft.com/office/drawing/2014/main" id="{2E6EF79F-BDE2-4BF0-84DF-3E82C71E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4812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ayer-color-4">
            <a:extLst xmlns:a="http://schemas.openxmlformats.org/drawingml/2006/main">
              <a:ext uri="{FF2B5EF4-FFF2-40B4-BE49-F238E27FC236}">
                <a16:creationId xmlns:a16="http://schemas.microsoft.com/office/drawing/2014/main" id="{832F1665-CFDB-46B4-9425-E2E02B7C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ayer-number-4">
            <a:extLst xmlns:a="http://schemas.openxmlformats.org/drawingml/2006/main">
              <a:ext uri="{FF2B5EF4-FFF2-40B4-BE49-F238E27FC236}">
                <a16:creationId xmlns:a16="http://schemas.microsoft.com/office/drawing/2014/main" id="{AAF0709C-AD51-49A2-B219-5BC6165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386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99988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layer-title-4">
            <a:extLst xmlns:a="http://schemas.openxmlformats.org/drawingml/2006/main">
              <a:ext uri="{FF2B5EF4-FFF2-40B4-BE49-F238E27FC236}">
                <a16:creationId xmlns:a16="http://schemas.microsoft.com/office/drawing/2014/main" id="{A6B4F274-77B8-4F5E-BFDA-7097823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38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 網路</a:t>
            </a:r>
          </a:p>
        </p:txBody>
      </p:sp>
      <p:sp>
        <p:nvSpPr>
          <p:cNvPr id="27" name="layer-body-4">
            <a:extLst xmlns:a="http://schemas.openxmlformats.org/drawingml/2006/main">
              <a:ext uri="{FF2B5EF4-FFF2-40B4-BE49-F238E27FC236}">
                <a16:creationId xmlns:a16="http://schemas.microsoft.com/office/drawing/2014/main" id="{F53856B7-2FFE-401F-B05A-7F0D31D5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9100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偵察、注入、SPDP 異常、參數竄改與來源偽造</a:t>
            </a:r>
          </a:p>
        </p:txBody>
      </p:sp>
      <p:sp>
        <p:nvSpPr>
          <p:cNvPr id="28" name="layer-rule-4">
            <a:extLst xmlns:a="http://schemas.openxmlformats.org/drawingml/2006/main">
              <a:ext uri="{FF2B5EF4-FFF2-40B4-BE49-F238E27FC236}">
                <a16:creationId xmlns:a16="http://schemas.microsoft.com/office/drawing/2014/main" id="{BDCE574A-ADE7-467A-95FD-17012828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1490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layer-color-5">
            <a:extLst xmlns:a="http://schemas.openxmlformats.org/drawingml/2006/main">
              <a:ext uri="{FF2B5EF4-FFF2-40B4-BE49-F238E27FC236}">
                <a16:creationId xmlns:a16="http://schemas.microsoft.com/office/drawing/2014/main" id="{ACB8D6D5-7D67-4860-A556-717BF7C0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673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layer-number-5">
            <a:extLst xmlns:a="http://schemas.openxmlformats.org/drawingml/2006/main">
              <a:ext uri="{FF2B5EF4-FFF2-40B4-BE49-F238E27FC236}">
                <a16:creationId xmlns:a16="http://schemas.microsoft.com/office/drawing/2014/main" id="{E5F0E37C-9C0D-4941-B96F-3C90660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054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1" name="layer-title-5">
            <a:extLst xmlns:a="http://schemas.openxmlformats.org/drawingml/2006/main">
              <a:ext uri="{FF2B5EF4-FFF2-40B4-BE49-F238E27FC236}">
                <a16:creationId xmlns:a16="http://schemas.microsoft.com/office/drawing/2014/main" id="{507B168A-D95C-4051-A947-A423BC61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05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封鎖回應</a:t>
            </a:r>
          </a:p>
        </p:txBody>
      </p:sp>
      <p:sp>
        <p:nvSpPr>
          <p:cNvPr id="32" name="layer-body-5">
            <a:extLst xmlns:a="http://schemas.openxmlformats.org/drawingml/2006/main">
              <a:ext uri="{FF2B5EF4-FFF2-40B4-BE49-F238E27FC236}">
                <a16:creationId xmlns:a16="http://schemas.microsoft.com/office/drawing/2014/main" id="{DB60EB9E-A355-4AA1-B166-0AD10EF5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95875"/>
            <a:ext cx="4524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分類＋anomaly；來源歸因、白名單、TTL 封鎖、自動解封</a:t>
            </a:r>
          </a:p>
        </p:txBody>
      </p:sp>
      <p:sp>
        <p:nvSpPr>
          <p:cNvPr id="33" name="layer-rule-5">
            <a:extLst xmlns:a="http://schemas.openxmlformats.org/drawingml/2006/main">
              <a:ext uri="{FF2B5EF4-FFF2-40B4-BE49-F238E27FC236}">
                <a16:creationId xmlns:a16="http://schemas.microsoft.com/office/drawing/2014/main" id="{416FB286-6B7F-4B31-942B-09093FFC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81675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859774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reat-left">
            <a:extLst xmlns:a="http://schemas.openxmlformats.org/drawingml/2006/main">
              <a:ext uri="{FF2B5EF4-FFF2-40B4-BE49-F238E27FC236}">
                <a16:creationId xmlns:a16="http://schemas.microsoft.com/office/drawing/2014/main" id="{7EBB5E65-64EC-4D47-9BC8-868DB3B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threat-divider">
            <a:extLst xmlns:a="http://schemas.openxmlformats.org/drawingml/2006/main">
              <a:ext uri="{FF2B5EF4-FFF2-40B4-BE49-F238E27FC236}">
                <a16:creationId xmlns:a16="http://schemas.microsoft.com/office/drawing/2014/main" id="{F9BABD9D-E753-4077-8548-9437748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hreat-title">
            <a:extLst xmlns:a="http://schemas.openxmlformats.org/drawingml/2006/main">
              <a:ext uri="{FF2B5EF4-FFF2-40B4-BE49-F238E27FC236}">
                <a16:creationId xmlns:a16="http://schemas.microsoft.com/office/drawing/2014/main" id="{2060D033-4016-4B2C-8F68-E291D873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威脅模型清楚，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滲透測試才有證據價值</a:t>
            </a:r>
          </a:p>
        </p:txBody>
      </p:sp>
      <p:sp>
        <p:nvSpPr>
          <p:cNvPr id="5" name="threat-in-label">
            <a:extLst xmlns:a="http://schemas.openxmlformats.org/drawingml/2006/main">
              <a:ext uri="{FF2B5EF4-FFF2-40B4-BE49-F238E27FC236}">
                <a16:creationId xmlns:a16="http://schemas.microsoft.com/office/drawing/2014/main" id="{31946D24-5524-42D9-8862-7AE85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IN SCOPE</a:t>
            </a:r>
          </a:p>
        </p:txBody>
      </p:sp>
      <p:sp>
        <p:nvSpPr>
          <p:cNvPr id="6" name="threat-in-title">
            <a:extLst xmlns:a="http://schemas.openxmlformats.org/drawingml/2006/main">
              <a:ext uri="{FF2B5EF4-FFF2-40B4-BE49-F238E27FC236}">
                <a16:creationId xmlns:a16="http://schemas.microsoft.com/office/drawing/2014/main" id="{88331D2A-9ADD-41B0-8CE5-D6A1E32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本專題要驗證</a:t>
            </a:r>
          </a:p>
        </p:txBody>
      </p:sp>
      <p:sp>
        <p:nvSpPr>
          <p:cNvPr id="7" name="threat-in-body">
            <a:extLst xmlns:a="http://schemas.openxmlformats.org/drawingml/2006/main">
              <a:ext uri="{FF2B5EF4-FFF2-40B4-BE49-F238E27FC236}">
                <a16:creationId xmlns:a16="http://schemas.microsoft.com/office/drawing/2014/main" id="{86C08828-8F56-44A2-94C4-26D99A0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偽造／非法 publisher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replay 與 cross-channel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DDS discovery 異常與來源偽造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命令注入、參數竄改、心跳失效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感測／控制不一致</a:t>
            </a:r>
          </a:p>
        </p:txBody>
      </p:sp>
      <p:sp>
        <p:nvSpPr>
          <p:cNvPr id="8" name="threat-out-label">
            <a:extLst xmlns:a="http://schemas.openxmlformats.org/drawingml/2006/main">
              <a:ext uri="{FF2B5EF4-FFF2-40B4-BE49-F238E27FC236}">
                <a16:creationId xmlns:a16="http://schemas.microsoft.com/office/drawing/2014/main" id="{BFE987FB-26BA-47D1-A447-F95D686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81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OUT OF SCOPE</a:t>
            </a:r>
          </a:p>
        </p:txBody>
      </p:sp>
      <p:sp>
        <p:nvSpPr>
          <p:cNvPr id="9" name="threat-out-title">
            <a:extLst xmlns:a="http://schemas.openxmlformats.org/drawingml/2006/main">
              <a:ext uri="{FF2B5EF4-FFF2-40B4-BE49-F238E27FC236}">
                <a16:creationId xmlns:a16="http://schemas.microsoft.com/office/drawing/2014/main" id="{9DD2171C-7309-42B2-B225-234CF86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2001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本專題明確不做</a:t>
            </a:r>
          </a:p>
        </p:txBody>
      </p:sp>
      <p:sp>
        <p:nvSpPr>
          <p:cNvPr id="10" name="threat-out-body">
            <a:extLst xmlns:a="http://schemas.openxmlformats.org/drawingml/2006/main">
              <a:ext uri="{FF2B5EF4-FFF2-40B4-BE49-F238E27FC236}">
                <a16:creationId xmlns:a16="http://schemas.microsoft.com/office/drawing/2014/main" id="{175E505F-4E37-4848-BE41-8E28BBF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24050"/>
            <a:ext cx="4000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共享校園／辦公室網段主動掃描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憑證、私鑰與密碼存取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DoS、flood、持久化、提權與 shell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破壞性修改或不可復原操作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可能讓機器人失控的連續輸出</a:t>
            </a:r>
          </a:p>
        </p:txBody>
      </p:sp>
      <p:sp>
        <p:nvSpPr>
          <p:cNvPr id="11" name="threat-lab-band">
            <a:extLst xmlns:a="http://schemas.openxmlformats.org/drawingml/2006/main">
              <a:ext uri="{FF2B5EF4-FFF2-40B4-BE49-F238E27FC236}">
                <a16:creationId xmlns:a16="http://schemas.microsoft.com/office/drawing/2014/main" id="{72D0A695-3720-45A4-A807-74DB0D00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9580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hreat-lab-text">
            <a:extLst xmlns:a="http://schemas.openxmlformats.org/drawingml/2006/main">
              <a:ext uri="{FF2B5EF4-FFF2-40B4-BE49-F238E27FC236}">
                <a16:creationId xmlns:a16="http://schemas.microsoft.com/office/drawing/2014/main" id="{AB4DD33C-1214-45E9-9715-90D07F2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053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後期滲透驗收</a:t>
            </a:r>
          </a:p>
          <a:p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自有隔離／host-only</a:t>
            </a: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網路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書面範圍＋快照＋逐案</a:t>
            </a: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 PCAP </a:t>
            </a:r>
            <a:r>
              <a:rPr sz="13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與雜湊</a:t>
            </a:r>
          </a:p>
        </p:txBody>
      </p:sp>
      <p:sp>
        <p:nvSpPr>
          <p:cNvPr id="13" name="threat-page">
            <a:extLst xmlns:a="http://schemas.openxmlformats.org/drawingml/2006/main">
              <a:ext uri="{FF2B5EF4-FFF2-40B4-BE49-F238E27FC236}">
                <a16:creationId xmlns:a16="http://schemas.microsoft.com/office/drawing/2014/main" id="{119AB2BE-2A15-42F2-B88E-1502DA8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8151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7">
            <a:extLst xmlns:a="http://schemas.openxmlformats.org/drawingml/2006/main">
              <a:ext uri="{FF2B5EF4-FFF2-40B4-BE49-F238E27FC236}">
                <a16:creationId xmlns:a16="http://schemas.microsoft.com/office/drawing/2014/main" id="{F4C55ED1-A8B7-4E29-9244-4E0643A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21327D03-913D-4CD7-BFD7-189A4C6C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資料工廠：每一筆資料都要能追溯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C3EB467F-8EBC-4956-AD82-6438171E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synthetic-sessions-value">
            <a:extLst xmlns:a="http://schemas.openxmlformats.org/drawingml/2006/main">
              <a:ext uri="{FF2B5EF4-FFF2-40B4-BE49-F238E27FC236}">
                <a16:creationId xmlns:a16="http://schemas.microsoft.com/office/drawing/2014/main" id="{56F289AD-8CC4-4914-8D30-B696289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2,500</a:t>
            </a:r>
          </a:p>
        </p:txBody>
      </p:sp>
      <p:sp>
        <p:nvSpPr>
          <p:cNvPr id="7" name="synthetic-sessions-label">
            <a:extLst xmlns:a="http://schemas.openxmlformats.org/drawingml/2006/main">
              <a:ext uri="{FF2B5EF4-FFF2-40B4-BE49-F238E27FC236}">
                <a16:creationId xmlns:a16="http://schemas.microsoft.com/office/drawing/2014/main" id="{7CFF3641-AAF3-461D-B9E7-0CB2BABD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synthetic sessions</a:t>
            </a:r>
          </a:p>
        </p:txBody>
      </p:sp>
      <p:sp>
        <p:nvSpPr>
          <p:cNvPr id="8" name="synthetic-windows-value">
            <a:extLst xmlns:a="http://schemas.openxmlformats.org/drawingml/2006/main">
              <a:ext uri="{FF2B5EF4-FFF2-40B4-BE49-F238E27FC236}">
                <a16:creationId xmlns:a16="http://schemas.microsoft.com/office/drawing/2014/main" id="{85001741-B906-42A2-BCEC-B8DB0191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90,000</a:t>
            </a:r>
          </a:p>
        </p:txBody>
      </p:sp>
      <p:sp>
        <p:nvSpPr>
          <p:cNvPr id="9" name="synthetic-windows-label">
            <a:extLst xmlns:a="http://schemas.openxmlformats.org/drawingml/2006/main">
              <a:ext uri="{FF2B5EF4-FFF2-40B4-BE49-F238E27FC236}">
                <a16:creationId xmlns:a16="http://schemas.microsoft.com/office/drawing/2014/main" id="{3F230871-FA5F-459B-8E4B-E76FFB2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synthetic windows</a:t>
            </a:r>
          </a:p>
        </p:txBody>
      </p:sp>
      <p:sp>
        <p:nvSpPr>
          <p:cNvPr id="10" name="synthetic-classes-value">
            <a:extLst xmlns:a="http://schemas.openxmlformats.org/drawingml/2006/main">
              <a:ext uri="{FF2B5EF4-FFF2-40B4-BE49-F238E27FC236}">
                <a16:creationId xmlns:a16="http://schemas.microsoft.com/office/drawing/2014/main" id="{D6A4B8C9-09E6-4459-99DD-A824ADD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11" name="synthetic-classes-label">
            <a:extLst xmlns:a="http://schemas.openxmlformats.org/drawingml/2006/main">
              <a:ext uri="{FF2B5EF4-FFF2-40B4-BE49-F238E27FC236}">
                <a16:creationId xmlns:a16="http://schemas.microsoft.com/office/drawing/2014/main" id="{BAD0D16F-FE38-491D-A6E0-13FD6FD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類別（normal＋22 attacks）</a:t>
            </a:r>
          </a:p>
        </p:txBody>
      </p:sp>
      <p:sp>
        <p:nvSpPr>
          <p:cNvPr id="12" name="data-flow-line">
            <a:extLst xmlns:a="http://schemas.openxmlformats.org/drawingml/2006/main">
              <a:ext uri="{FF2B5EF4-FFF2-40B4-BE49-F238E27FC236}">
                <a16:creationId xmlns:a16="http://schemas.microsoft.com/office/drawing/2014/main" id="{2646C302-2424-41F0-A0C6-38D01E9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data-dot-1">
            <a:extLst xmlns:a="http://schemas.openxmlformats.org/drawingml/2006/main">
              <a:ext uri="{FF2B5EF4-FFF2-40B4-BE49-F238E27FC236}">
                <a16:creationId xmlns:a16="http://schemas.microsoft.com/office/drawing/2014/main" id="{E2ACFED4-73BB-4C22-B366-B00CDA9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data-stage-title-1">
            <a:extLst xmlns:a="http://schemas.openxmlformats.org/drawingml/2006/main">
              <a:ext uri="{FF2B5EF4-FFF2-40B4-BE49-F238E27FC236}">
                <a16:creationId xmlns:a16="http://schemas.microsoft.com/office/drawing/2014/main" id="{10F24C00-59CC-4B18-8296-C410588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manifest</a:t>
            </a:r>
          </a:p>
        </p:txBody>
      </p:sp>
      <p:sp>
        <p:nvSpPr>
          <p:cNvPr id="15" name="data-stage-body-1">
            <a:extLst xmlns:a="http://schemas.openxmlformats.org/drawingml/2006/main">
              <a:ext uri="{FF2B5EF4-FFF2-40B4-BE49-F238E27FC236}">
                <a16:creationId xmlns:a16="http://schemas.microsoft.com/office/drawing/2014/main" id="{826E9071-4650-4743-8DD3-1A6792F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seed · mode · label</a:t>
            </a:r>
          </a:p>
        </p:txBody>
      </p:sp>
      <p:sp>
        <p:nvSpPr>
          <p:cNvPr id="16" name="data-dot-2">
            <a:extLst xmlns:a="http://schemas.openxmlformats.org/drawingml/2006/main">
              <a:ext uri="{FF2B5EF4-FFF2-40B4-BE49-F238E27FC236}">
                <a16:creationId xmlns:a16="http://schemas.microsoft.com/office/drawing/2014/main" id="{0582A6C3-A261-4A06-89E2-D395745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data-stage-title-2">
            <a:extLst xmlns:a="http://schemas.openxmlformats.org/drawingml/2006/main">
              <a:ext uri="{FF2B5EF4-FFF2-40B4-BE49-F238E27FC236}">
                <a16:creationId xmlns:a16="http://schemas.microsoft.com/office/drawing/2014/main" id="{10FDE371-F7DC-4806-858A-91CBD723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capture</a:t>
            </a:r>
          </a:p>
        </p:txBody>
      </p:sp>
      <p:sp>
        <p:nvSpPr>
          <p:cNvPr id="18" name="data-stage-body-2">
            <a:extLst xmlns:a="http://schemas.openxmlformats.org/drawingml/2006/main">
              <a:ext uri="{FF2B5EF4-FFF2-40B4-BE49-F238E27FC236}">
                <a16:creationId xmlns:a16="http://schemas.microsoft.com/office/drawing/2014/main" id="{7981DF5B-B282-4F10-BF9D-9E69B7FA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PCAP + telemetry</a:t>
            </a:r>
          </a:p>
        </p:txBody>
      </p:sp>
      <p:sp>
        <p:nvSpPr>
          <p:cNvPr id="19" name="data-dot-3">
            <a:extLst xmlns:a="http://schemas.openxmlformats.org/drawingml/2006/main">
              <a:ext uri="{FF2B5EF4-FFF2-40B4-BE49-F238E27FC236}">
                <a16:creationId xmlns:a16="http://schemas.microsoft.com/office/drawing/2014/main" id="{1E2E39FD-FFEC-4B70-BC9C-E22435C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data-stage-title-3">
            <a:extLst xmlns:a="http://schemas.openxmlformats.org/drawingml/2006/main">
              <a:ext uri="{FF2B5EF4-FFF2-40B4-BE49-F238E27FC236}">
                <a16:creationId xmlns:a16="http://schemas.microsoft.com/office/drawing/2014/main" id="{53F43E4B-8DD5-467B-9D4D-E579C2A1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Zeek</a:t>
            </a:r>
          </a:p>
        </p:txBody>
      </p:sp>
      <p:sp>
        <p:nvSpPr>
          <p:cNvPr id="21" name="data-stage-body-3">
            <a:extLst xmlns:a="http://schemas.openxmlformats.org/drawingml/2006/main">
              <a:ext uri="{FF2B5EF4-FFF2-40B4-BE49-F238E27FC236}">
                <a16:creationId xmlns:a16="http://schemas.microsoft.com/office/drawing/2014/main" id="{9E135925-285D-400C-B788-13D725A8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events</a:t>
            </a:r>
          </a:p>
        </p:txBody>
      </p:sp>
      <p:sp>
        <p:nvSpPr>
          <p:cNvPr id="22" name="data-dot-4">
            <a:extLst xmlns:a="http://schemas.openxmlformats.org/drawingml/2006/main">
              <a:ext uri="{FF2B5EF4-FFF2-40B4-BE49-F238E27FC236}">
                <a16:creationId xmlns:a16="http://schemas.microsoft.com/office/drawing/2014/main" id="{F797B6B1-8AEF-438A-9583-FB52DC4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data-stage-title-4">
            <a:extLst xmlns:a="http://schemas.openxmlformats.org/drawingml/2006/main">
              <a:ext uri="{FF2B5EF4-FFF2-40B4-BE49-F238E27FC236}">
                <a16:creationId xmlns:a16="http://schemas.microsoft.com/office/drawing/2014/main" id="{CAF3D415-B922-4FCB-BB2A-1FDD7145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align</a:t>
            </a:r>
          </a:p>
        </p:txBody>
      </p:sp>
      <p:sp>
        <p:nvSpPr>
          <p:cNvPr id="24" name="data-stage-body-4">
            <a:extLst xmlns:a="http://schemas.openxmlformats.org/drawingml/2006/main">
              <a:ext uri="{FF2B5EF4-FFF2-40B4-BE49-F238E27FC236}">
                <a16:creationId xmlns:a16="http://schemas.microsoft.com/office/drawing/2014/main" id="{BB3923BF-CF47-41D6-ABDE-4EAF926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session + window</a:t>
            </a:r>
          </a:p>
        </p:txBody>
      </p:sp>
      <p:sp>
        <p:nvSpPr>
          <p:cNvPr id="25" name="data-dot-5">
            <a:extLst xmlns:a="http://schemas.openxmlformats.org/drawingml/2006/main">
              <a:ext uri="{FF2B5EF4-FFF2-40B4-BE49-F238E27FC236}">
                <a16:creationId xmlns:a16="http://schemas.microsoft.com/office/drawing/2014/main" id="{A8FB7A3E-977F-4337-AA78-E6DAC187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data-stage-title-5">
            <a:extLst xmlns:a="http://schemas.openxmlformats.org/drawingml/2006/main">
              <a:ext uri="{FF2B5EF4-FFF2-40B4-BE49-F238E27FC236}">
                <a16:creationId xmlns:a16="http://schemas.microsoft.com/office/drawing/2014/main" id="{61D0DD25-3D0C-41DF-87BA-1A4447E6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27" name="data-stage-body-5">
            <a:extLst xmlns:a="http://schemas.openxmlformats.org/drawingml/2006/main">
              <a:ext uri="{FF2B5EF4-FFF2-40B4-BE49-F238E27FC236}">
                <a16:creationId xmlns:a16="http://schemas.microsoft.com/office/drawing/2014/main" id="{4AE8F904-100B-42A2-B6B8-3706599E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network / telemetry / fusion</a:t>
            </a:r>
          </a:p>
        </p:txBody>
      </p:sp>
      <p:sp>
        <p:nvSpPr>
          <p:cNvPr id="28" name="data-dot-6">
            <a:extLst xmlns:a="http://schemas.openxmlformats.org/drawingml/2006/main">
              <a:ext uri="{FF2B5EF4-FFF2-40B4-BE49-F238E27FC236}">
                <a16:creationId xmlns:a16="http://schemas.microsoft.com/office/drawing/2014/main" id="{6EA45BE9-17AD-4ED8-B2DC-439D58D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data-stage-title-6">
            <a:extLst xmlns:a="http://schemas.openxmlformats.org/drawingml/2006/main">
              <a:ext uri="{FF2B5EF4-FFF2-40B4-BE49-F238E27FC236}">
                <a16:creationId xmlns:a16="http://schemas.microsoft.com/office/drawing/2014/main" id="{3FB0AD03-3007-49D3-B312-8AC90664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</p:txBody>
      </p:sp>
      <p:sp>
        <p:nvSpPr>
          <p:cNvPr id="30" name="data-stage-body-6">
            <a:extLst xmlns:a="http://schemas.openxmlformats.org/drawingml/2006/main">
              <a:ext uri="{FF2B5EF4-FFF2-40B4-BE49-F238E27FC236}">
                <a16:creationId xmlns:a16="http://schemas.microsoft.com/office/drawing/2014/main" id="{10CE57C7-31B1-489A-864F-237A4FE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quality gates</a:t>
            </a:r>
          </a:p>
        </p:txBody>
      </p:sp>
      <p:sp>
        <p:nvSpPr>
          <p:cNvPr id="31" name="data-dot-7">
            <a:extLst xmlns:a="http://schemas.openxmlformats.org/drawingml/2006/main">
              <a:ext uri="{FF2B5EF4-FFF2-40B4-BE49-F238E27FC236}">
                <a16:creationId xmlns:a16="http://schemas.microsoft.com/office/drawing/2014/main" id="{7727BAE9-9808-4EF0-8BE5-7AA07BC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data-stage-title-7">
            <a:extLst xmlns:a="http://schemas.openxmlformats.org/drawingml/2006/main">
              <a:ext uri="{FF2B5EF4-FFF2-40B4-BE49-F238E27FC236}">
                <a16:creationId xmlns:a16="http://schemas.microsoft.com/office/drawing/2014/main" id="{522B5B83-2FB3-436B-B694-0D3D16B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248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release</a:t>
            </a:r>
          </a:p>
        </p:txBody>
      </p:sp>
      <p:sp>
        <p:nvSpPr>
          <p:cNvPr id="33" name="data-stage-body-7">
            <a:extLst xmlns:a="http://schemas.openxmlformats.org/drawingml/2006/main">
              <a:ext uri="{FF2B5EF4-FFF2-40B4-BE49-F238E27FC236}">
                <a16:creationId xmlns:a16="http://schemas.microsoft.com/office/drawing/2014/main" id="{B708DEA2-F44B-40C1-9999-59CBFCD8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529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hash / response labels</a:t>
            </a:r>
          </a:p>
        </p:txBody>
      </p:sp>
      <p:sp>
        <p:nvSpPr>
          <p:cNvPr id="34" name="data-warning-band">
            <a:extLst xmlns:a="http://schemas.openxmlformats.org/drawingml/2006/main">
              <a:ext uri="{FF2B5EF4-FFF2-40B4-BE49-F238E27FC236}">
                <a16:creationId xmlns:a16="http://schemas.microsoft.com/office/drawing/2014/main" id="{0C348408-DFA5-4771-B6F5-236E4FEE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880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data-warning">
            <a:extLst xmlns:a="http://schemas.openxmlformats.org/drawingml/2006/main">
              <a:ext uri="{FF2B5EF4-FFF2-40B4-BE49-F238E27FC236}">
                <a16:creationId xmlns:a16="http://schemas.microsoft.com/office/drawing/2014/main" id="{207DAB57-0B21-40BA-BAF2-EE02A59F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0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正式資料集須另保留 would_block、block_ttl 與封鎖原因；成效仍由 untouched live test 決定。</a:t>
            </a:r>
          </a:p>
        </p:txBody>
      </p:sp>
    </p:spTree>
    <p:extLst>
      <p:ext uri="{BB962C8B-B14F-4D97-AF65-F5344CB8AC3E}">
        <p14:creationId xmlns:p14="http://schemas.microsoft.com/office/powerpoint/2010/main" val="14412871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8">
            <a:extLst xmlns:a="http://schemas.openxmlformats.org/drawingml/2006/main">
              <a:ext uri="{FF2B5EF4-FFF2-40B4-BE49-F238E27FC236}">
                <a16:creationId xmlns:a16="http://schemas.microsoft.com/office/drawing/2014/main" id="{02C73E74-F270-4BB2-BA39-4A6F29A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3DEC183-E8ED-4A52-B91D-03541993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Live pilot 證明收集鏈能跑，但還不是最終成績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C3BAA59D-87FF-47F3-B4E6-0645440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pilot-20">
            <a:extLst xmlns:a="http://schemas.openxmlformats.org/drawingml/2006/main">
              <a:ext uri="{FF2B5EF4-FFF2-40B4-BE49-F238E27FC236}">
                <a16:creationId xmlns:a16="http://schemas.microsoft.com/office/drawing/2014/main" id="{5B30C10E-7A36-47FA-9BAC-BA7E52D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3238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7" name="pilot-label">
            <a:extLst xmlns:a="http://schemas.openxmlformats.org/drawingml/2006/main">
              <a:ext uri="{FF2B5EF4-FFF2-40B4-BE49-F238E27FC236}">
                <a16:creationId xmlns:a16="http://schemas.microsoft.com/office/drawing/2014/main" id="{30093C3B-2247-4D76-8CF8-582A8F9F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LIVE SESSIONS</a:t>
            </a:r>
          </a:p>
        </p:txBody>
      </p:sp>
      <p:sp>
        <p:nvSpPr>
          <p:cNvPr id="8" name="pilot-split">
            <a:extLst xmlns:a="http://schemas.openxmlformats.org/drawingml/2006/main">
              <a:ext uri="{FF2B5EF4-FFF2-40B4-BE49-F238E27FC236}">
                <a16:creationId xmlns:a16="http://schemas.microsoft.com/office/drawing/2014/main" id="{E3D1D66B-F79D-40AC-A2FB-92F9F3F9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10 Permissive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10 Enforce</a:t>
            </a:r>
          </a:p>
        </p:txBody>
      </p:sp>
      <p:sp>
        <p:nvSpPr>
          <p:cNvPr id="9" name="pilot-metric-1">
            <a:extLst xmlns:a="http://schemas.openxmlformats.org/drawingml/2006/main">
              <a:ext uri="{FF2B5EF4-FFF2-40B4-BE49-F238E27FC236}">
                <a16:creationId xmlns:a16="http://schemas.microsoft.com/office/drawing/2014/main" id="{0D27329A-E787-440C-94B6-91002204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168,507</a:t>
            </a:r>
          </a:p>
        </p:txBody>
      </p:sp>
      <p:sp>
        <p:nvSpPr>
          <p:cNvPr id="10" name="pilot-metric-label-1">
            <a:extLst xmlns:a="http://schemas.openxmlformats.org/drawingml/2006/main">
              <a:ext uri="{FF2B5EF4-FFF2-40B4-BE49-F238E27FC236}">
                <a16:creationId xmlns:a16="http://schemas.microsoft.com/office/drawing/2014/main" id="{70C8DCB3-4D9D-47BF-BD0B-0633E67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packets</a:t>
            </a:r>
          </a:p>
        </p:txBody>
      </p:sp>
      <p:sp>
        <p:nvSpPr>
          <p:cNvPr id="11" name="pilot-separator-1">
            <a:extLst xmlns:a="http://schemas.openxmlformats.org/drawingml/2006/main">
              <a:ext uri="{FF2B5EF4-FFF2-40B4-BE49-F238E27FC236}">
                <a16:creationId xmlns:a16="http://schemas.microsoft.com/office/drawing/2014/main" id="{4CE5B702-1D8E-4A61-9220-E52715CF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pilot-metric-2">
            <a:extLst xmlns:a="http://schemas.openxmlformats.org/drawingml/2006/main">
              <a:ext uri="{FF2B5EF4-FFF2-40B4-BE49-F238E27FC236}">
                <a16:creationId xmlns:a16="http://schemas.microsoft.com/office/drawing/2014/main" id="{57D28980-F6FC-4C86-A59B-0399360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69.0 MB</a:t>
            </a:r>
          </a:p>
        </p:txBody>
      </p:sp>
      <p:sp>
        <p:nvSpPr>
          <p:cNvPr id="13" name="pilot-metric-label-2">
            <a:extLst xmlns:a="http://schemas.openxmlformats.org/drawingml/2006/main">
              <a:ext uri="{FF2B5EF4-FFF2-40B4-BE49-F238E27FC236}">
                <a16:creationId xmlns:a16="http://schemas.microsoft.com/office/drawing/2014/main" id="{93BA81E2-FD4F-4393-9482-FF508FDD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captured bytes</a:t>
            </a:r>
          </a:p>
        </p:txBody>
      </p:sp>
      <p:sp>
        <p:nvSpPr>
          <p:cNvPr id="14" name="pilot-separator-2">
            <a:extLst xmlns:a="http://schemas.openxmlformats.org/drawingml/2006/main">
              <a:ext uri="{FF2B5EF4-FFF2-40B4-BE49-F238E27FC236}">
                <a16:creationId xmlns:a16="http://schemas.microsoft.com/office/drawing/2014/main" id="{8294DCB3-F750-4DC4-BA0B-B4AD8DA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95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pilot-metric-3">
            <a:extLst xmlns:a="http://schemas.openxmlformats.org/drawingml/2006/main">
              <a:ext uri="{FF2B5EF4-FFF2-40B4-BE49-F238E27FC236}">
                <a16:creationId xmlns:a16="http://schemas.microsoft.com/office/drawing/2014/main" id="{8DC3A233-A7BE-4D3F-B813-34C55CEE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3,036</a:t>
            </a:r>
          </a:p>
        </p:txBody>
      </p:sp>
      <p:sp>
        <p:nvSpPr>
          <p:cNvPr id="16" name="pilot-metric-label-3">
            <a:extLst xmlns:a="http://schemas.openxmlformats.org/drawingml/2006/main">
              <a:ext uri="{FF2B5EF4-FFF2-40B4-BE49-F238E27FC236}">
                <a16:creationId xmlns:a16="http://schemas.microsoft.com/office/drawing/2014/main" id="{C44F6613-9A85-4BB3-8E03-64891666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Zeek rows</a:t>
            </a:r>
          </a:p>
        </p:txBody>
      </p:sp>
      <p:sp>
        <p:nvSpPr>
          <p:cNvPr id="17" name="pilot-meaning">
            <a:extLst xmlns:a="http://schemas.openxmlformats.org/drawingml/2006/main">
              <a:ext uri="{FF2B5EF4-FFF2-40B4-BE49-F238E27FC236}">
                <a16:creationId xmlns:a16="http://schemas.microsoft.com/office/drawing/2014/main" id="{0DE0BA5D-4C3D-4BC0-AB5F-936703B5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20/20 training eligible，capture drops = 0。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這證明資料管線可用，但樣本不足以外推企業環境防護率。</a:t>
            </a:r>
          </a:p>
        </p:txBody>
      </p:sp>
      <p:sp>
        <p:nvSpPr>
          <p:cNvPr id="18" name="pilot-boundary-band">
            <a:extLst xmlns:a="http://schemas.openxmlformats.org/drawingml/2006/main">
              <a:ext uri="{FF2B5EF4-FFF2-40B4-BE49-F238E27FC236}">
                <a16:creationId xmlns:a16="http://schemas.microsoft.com/office/drawing/2014/main" id="{B43F88C1-5FBF-43BA-AE7B-48A95A6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7000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pilot-boundary">
            <a:extLst xmlns:a="http://schemas.openxmlformats.org/drawingml/2006/main">
              <a:ext uri="{FF2B5EF4-FFF2-40B4-BE49-F238E27FC236}">
                <a16:creationId xmlns:a16="http://schemas.microsoft.com/office/drawing/2014/main" id="{4AABAAC1-BC15-4E45-BE34-D8FEDF6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53050"/>
            <a:ext cx="652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PILOT ≠ 正式模型成績</a:t>
            </a:r>
          </a:p>
        </p:txBody>
      </p:sp>
    </p:spTree>
    <p:extLst>
      <p:ext uri="{BB962C8B-B14F-4D97-AF65-F5344CB8AC3E}">
        <p14:creationId xmlns:p14="http://schemas.microsoft.com/office/powerpoint/2010/main" val="456440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ail-9">
            <a:extLst xmlns:a="http://schemas.openxmlformats.org/drawingml/2006/main">
              <a:ext uri="{FF2B5EF4-FFF2-40B4-BE49-F238E27FC236}">
                <a16:creationId xmlns:a16="http://schemas.microsoft.com/office/drawing/2014/main" id="{E74F51EE-1961-44C0-B2A7-71FE6A03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A958235B-C9E6-457F-8C22-5A34122F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AI 核心：32 維融合仍差最後一段 live 管線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C349AD79-C29A-4A80-B947-BE56FEC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ai-network-panel">
            <a:extLst xmlns:a="http://schemas.openxmlformats.org/drawingml/2006/main">
              <a:ext uri="{FF2B5EF4-FFF2-40B4-BE49-F238E27FC236}">
                <a16:creationId xmlns:a16="http://schemas.microsoft.com/office/drawing/2014/main" id="{CB1BA9DB-C3A7-4A6A-A407-AEF77A6A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8"/>
          </a:solidFill>
          <a:ln xmlns:a="http://schemas.openxmlformats.org/drawingml/2006/main" w="9525">
            <a:solidFill>
              <a:srgbClr val="E4E7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ai-telemetry-panel">
            <a:extLst xmlns:a="http://schemas.openxmlformats.org/drawingml/2006/main">
              <a:ext uri="{FF2B5EF4-FFF2-40B4-BE49-F238E27FC236}">
                <a16:creationId xmlns:a16="http://schemas.microsoft.com/office/drawing/2014/main" id="{EE7298DB-F6D2-465D-AA68-8CDA94B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69545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i-fusion-panel">
            <a:extLst xmlns:a="http://schemas.openxmlformats.org/drawingml/2006/main">
              <a:ext uri="{FF2B5EF4-FFF2-40B4-BE49-F238E27FC236}">
                <a16:creationId xmlns:a16="http://schemas.microsoft.com/office/drawing/2014/main" id="{D9D1D5AD-9072-493F-9E97-28132AB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28850"/>
            <a:ext cx="15430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ai-network-number">
            <a:extLst xmlns:a="http://schemas.openxmlformats.org/drawingml/2006/main">
              <a:ext uri="{FF2B5EF4-FFF2-40B4-BE49-F238E27FC236}">
                <a16:creationId xmlns:a16="http://schemas.microsoft.com/office/drawing/2014/main" id="{325D7D34-33AB-4F94-A146-FCBEC95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10" name="ai-network-title">
            <a:extLst xmlns:a="http://schemas.openxmlformats.org/drawingml/2006/main">
              <a:ext uri="{FF2B5EF4-FFF2-40B4-BE49-F238E27FC236}">
                <a16:creationId xmlns:a16="http://schemas.microsoft.com/office/drawing/2014/main" id="{58EF713F-A789-43AB-B380-D73C4B7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DDS NETWORK</a:t>
            </a:r>
          </a:p>
        </p:txBody>
      </p:sp>
      <p:sp>
        <p:nvSpPr>
          <p:cNvPr id="11" name="ai-network-body">
            <a:extLst xmlns:a="http://schemas.openxmlformats.org/drawingml/2006/main">
              <a:ext uri="{FF2B5EF4-FFF2-40B4-BE49-F238E27FC236}">
                <a16:creationId xmlns:a16="http://schemas.microsoft.com/office/drawing/2014/main" id="{CCF01C69-254D-40E2-ADC9-A994D11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封包率、位元組率、來源／目的、埠與 protocol 統計、Zeek 事件。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正式 live 已可產生 network features。</a:t>
            </a:r>
          </a:p>
        </p:txBody>
      </p:sp>
      <p:sp>
        <p:nvSpPr>
          <p:cNvPr id="12" name="ai-fusion-text">
            <a:extLst xmlns:a="http://schemas.openxmlformats.org/drawingml/2006/main">
              <a:ext uri="{FF2B5EF4-FFF2-40B4-BE49-F238E27FC236}">
                <a16:creationId xmlns:a16="http://schemas.microsoft.com/office/drawing/2014/main" id="{23277CB1-FD53-41E6-B9BD-8C69D04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24125"/>
            <a:ext cx="1238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FUSION</a:t>
            </a:r>
          </a:p>
          <a:p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14 + 18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=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13" name="ai-telemetry-number">
            <a:extLst xmlns:a="http://schemas.openxmlformats.org/drawingml/2006/main">
              <a:ext uri="{FF2B5EF4-FFF2-40B4-BE49-F238E27FC236}">
                <a16:creationId xmlns:a16="http://schemas.microsoft.com/office/drawing/2014/main" id="{BA147F41-0BA6-4E4A-8F23-CA4EA3D4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14" name="ai-telemetry-title">
            <a:extLst xmlns:a="http://schemas.openxmlformats.org/drawingml/2006/main">
              <a:ext uri="{FF2B5EF4-FFF2-40B4-BE49-F238E27FC236}">
                <a16:creationId xmlns:a16="http://schemas.microsoft.com/office/drawing/2014/main" id="{09C22F3D-1A2B-4284-97E7-AE72B5D8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ROS / SROS2 TELEMETRY</a:t>
            </a:r>
          </a:p>
        </p:txBody>
      </p:sp>
      <p:sp>
        <p:nvSpPr>
          <p:cNvPr id="15" name="ai-telemetry-body">
            <a:extLst xmlns:a="http://schemas.openxmlformats.org/drawingml/2006/main">
              <a:ext uri="{FF2B5EF4-FFF2-40B4-BE49-F238E27FC236}">
                <a16:creationId xmlns:a16="http://schemas.microsoft.com/office/drawing/2014/main" id="{A31A91D5-F693-478D-9118-90D499B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HMAC、nonce／channel、publisher、心跳。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scan／odom／cmd 跨感測一致性。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schema 已有；live collector 與同窗對齊未完成。</a:t>
            </a:r>
          </a:p>
        </p:txBody>
      </p:sp>
      <p:sp>
        <p:nvSpPr>
          <p:cNvPr id="16" name="ai-blocker-band">
            <a:extLst xmlns:a="http://schemas.openxmlformats.org/drawingml/2006/main">
              <a:ext uri="{FF2B5EF4-FFF2-40B4-BE49-F238E27FC236}">
                <a16:creationId xmlns:a16="http://schemas.microsoft.com/office/drawing/2014/main" id="{5B0A61CE-4994-4E7F-9153-11CA5C3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ai-blocker-text">
            <a:extLst xmlns:a="http://schemas.openxmlformats.org/drawingml/2006/main">
              <a:ext uri="{FF2B5EF4-FFF2-40B4-BE49-F238E27FC236}">
                <a16:creationId xmlns:a16="http://schemas.microsoft.com/office/drawing/2014/main" id="{919E45A1-D8DE-4E71-BCD2-E90F1DB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Preflight 正確地 BLOCKED：live_multimodal_contract＋source_snapshot_clean 未通過前，1,100 場不得啟動。</a:t>
            </a:r>
          </a:p>
        </p:txBody>
      </p:sp>
    </p:spTree>
    <p:extLst>
      <p:ext uri="{BB962C8B-B14F-4D97-AF65-F5344CB8AC3E}">
        <p14:creationId xmlns:p14="http://schemas.microsoft.com/office/powerpoint/2010/main" val="11573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ail-10">
            <a:extLst xmlns:a="http://schemas.openxmlformats.org/drawingml/2006/main">
              <a:ext uri="{FF2B5EF4-FFF2-40B4-BE49-F238E27FC236}">
                <a16:creationId xmlns:a16="http://schemas.microsoft.com/office/drawing/2014/main" id="{7652D2E9-03D1-4BE9-9543-8AC6849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B8A8975B-146B-46FD-8933-D4935AB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正式實驗：同一份 live test，公平比較六組問題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F8A0CEB-BE54-449D-BFDC-5BC796F0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43434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619500"/>
                <a:gridCol w="3238500"/>
                <a:gridCol w="2590800"/>
              </a:tblGrid>
              <a:tr h="62048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主要指標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AF8F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</a:t>
                      </a:r>
                    </a:p>
                  </a:txBody>
                  <a:tcPr marL="76200" marR="76200" marT="76200" marB="76200" anchor="ctr">
                    <a:solidFill>
                      <a:srgbClr val="657065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E1 Baseline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Zeek / LR / RF / IF / MLP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macro-F1、FPR、PR-AUC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簡單模型是否足夠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E2 Feature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network / telemetry / fusion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每類 recall、ΔF1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融合是否有效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E3 Model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branch / anomaly / gate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效能、延遲、誤封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各模組的貢獻</a:t>
                      </a:r>
                    </a:p>
                  </a:txBody>
                  <a:tcPr marL="76200" marR="76200" marT="76200" marB="76200" anchor="ctr">
                    <a:solidFill>
                      <a:srgbClr val="F4F1EC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E4 Unknown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leave-one-attack-class-out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unknown recall、AUPRC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能否偵測新攻擊</a:t>
                      </a:r>
                    </a:p>
                  </a:txBody>
                  <a:tcPr marL="76200" marR="76200" marT="76200" marB="76200" anchor="ctr">
                    <a:solidFill>
                      <a:srgbClr val="E4E7E8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E5 SROS2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Permissive / Enforce 配對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成功／拒絕、分布差異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模式如何改變風險</a:t>
                      </a:r>
                    </a:p>
                  </a:txBody>
                  <a:tcPr marL="76200" marR="76200" marT="76200" marB="76200" anchor="ctr">
                    <a:solidFill>
                      <a:srgbClr val="DED7D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E6–E7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alert-only / IP block / 多 seed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誤封率、TTB、解封率、P95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F302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封鎖是否安全可用</a:t>
                      </a:r>
                    </a:p>
                  </a:txBody>
                  <a:tcPr marL="76200" marR="76200" marT="76200" marB="76200" anchor="ctr">
                    <a:solidFill>
                      <a:srgbClr val="EAE6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567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ail-11">
            <a:extLst xmlns:a="http://schemas.openxmlformats.org/drawingml/2006/main">
              <a:ext uri="{FF2B5EF4-FFF2-40B4-BE49-F238E27FC236}">
                <a16:creationId xmlns:a16="http://schemas.microsoft.com/office/drawing/2014/main" id="{113CC95A-9A37-427E-944E-2A9442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F3DF618F-6F3F-4D18-8F66-2F02FC7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安全回應：高信心異常來源會被暫時封鎖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DE745242-998F-45B0-AAA5-AE71DB77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response-label">
            <a:extLst xmlns:a="http://schemas.openxmlformats.org/drawingml/2006/main">
              <a:ext uri="{FF2B5EF4-FFF2-40B4-BE49-F238E27FC236}">
                <a16:creationId xmlns:a16="http://schemas.microsoft.com/office/drawing/2014/main" id="{BB3E06E3-4654-4019-B5E9-419FADF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SAFE RESPONSE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E3AC8758-E9E0-4C75-AC72-16AC9354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封鎖決策的五道閘門</a:t>
            </a:r>
          </a:p>
        </p:txBody>
      </p:sp>
      <p:sp>
        <p:nvSpPr>
          <p:cNvPr id="8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6E42D0BD-BAE4-494D-8838-A1F3A26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gate-text-1">
            <a:extLst xmlns:a="http://schemas.openxmlformats.org/drawingml/2006/main">
              <a:ext uri="{FF2B5EF4-FFF2-40B4-BE49-F238E27FC236}">
                <a16:creationId xmlns:a16="http://schemas.microsoft.com/office/drawing/2014/main" id="{50B50E53-158D-4467-B574-A3FB82C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14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來源 IP／身分歸因可信</a:t>
            </a:r>
          </a:p>
        </p:txBody>
      </p:sp>
      <p:sp>
        <p:nvSpPr>
          <p:cNvPr id="10" name="gate-rule-1">
            <a:extLst xmlns:a="http://schemas.openxmlformats.org/drawingml/2006/main">
              <a:ext uri="{FF2B5EF4-FFF2-40B4-BE49-F238E27FC236}">
                <a16:creationId xmlns:a16="http://schemas.microsoft.com/office/drawing/2014/main" id="{016DCD14-75C9-42D5-A5FF-CD350E6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146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7F8D795E-8867-4BA5-A0E7-560F509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gate-text-2">
            <a:extLst xmlns:a="http://schemas.openxmlformats.org/drawingml/2006/main">
              <a:ext uri="{FF2B5EF4-FFF2-40B4-BE49-F238E27FC236}">
                <a16:creationId xmlns:a16="http://schemas.microsoft.com/office/drawing/2014/main" id="{7A17991C-9B31-43DC-ADD4-22F5E00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白名單／保護來源先排除</a:t>
            </a:r>
          </a:p>
        </p:txBody>
      </p:sp>
      <p:sp>
        <p:nvSpPr>
          <p:cNvPr id="13" name="gate-rule-2">
            <a:extLst xmlns:a="http://schemas.openxmlformats.org/drawingml/2006/main">
              <a:ext uri="{FF2B5EF4-FFF2-40B4-BE49-F238E27FC236}">
                <a16:creationId xmlns:a16="http://schemas.microsoft.com/office/drawing/2014/main" id="{9B98A44F-1DC9-4DFB-8E99-FFDADF7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8211B74B-3093-406D-9C61-942DFD91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gate-text-3">
            <a:extLst xmlns:a="http://schemas.openxmlformats.org/drawingml/2006/main">
              <a:ext uri="{FF2B5EF4-FFF2-40B4-BE49-F238E27FC236}">
                <a16:creationId xmlns:a16="http://schemas.microsoft.com/office/drawing/2014/main" id="{CD77E529-0600-4C3B-A399-4A6AB8E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信心門檻＋重複確認</a:t>
            </a:r>
          </a:p>
        </p:txBody>
      </p:sp>
      <p:sp>
        <p:nvSpPr>
          <p:cNvPr id="16" name="gate-rule-3">
            <a:extLst xmlns:a="http://schemas.openxmlformats.org/drawingml/2006/main">
              <a:ext uri="{FF2B5EF4-FFF2-40B4-BE49-F238E27FC236}">
                <a16:creationId xmlns:a16="http://schemas.microsoft.com/office/drawing/2014/main" id="{4E4E374E-8E9F-4199-8088-108E3D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gate-number-4">
            <a:extLst xmlns:a="http://schemas.openxmlformats.org/drawingml/2006/main">
              <a:ext uri="{FF2B5EF4-FFF2-40B4-BE49-F238E27FC236}">
                <a16:creationId xmlns:a16="http://schemas.microsoft.com/office/drawing/2014/main" id="{719E8D94-93F1-4B85-9A87-7BAAB9D4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gate-text-4">
            <a:extLst xmlns:a="http://schemas.openxmlformats.org/drawingml/2006/main">
              <a:ext uri="{FF2B5EF4-FFF2-40B4-BE49-F238E27FC236}">
                <a16:creationId xmlns:a16="http://schemas.microsoft.com/office/drawing/2014/main" id="{AE0E6115-C508-4547-BEBE-3C2203E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862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暫時封鎖（TTL）</a:t>
            </a:r>
          </a:p>
        </p:txBody>
      </p:sp>
      <p:sp>
        <p:nvSpPr>
          <p:cNvPr id="19" name="gate-rule-4">
            <a:extLst xmlns:a="http://schemas.openxmlformats.org/drawingml/2006/main">
              <a:ext uri="{FF2B5EF4-FFF2-40B4-BE49-F238E27FC236}">
                <a16:creationId xmlns:a16="http://schemas.microsoft.com/office/drawing/2014/main" id="{B5DEE0B4-7C44-4A52-98EA-D5E8A84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gate-number-5">
            <a:extLst xmlns:a="http://schemas.openxmlformats.org/drawingml/2006/main">
              <a:ext uri="{FF2B5EF4-FFF2-40B4-BE49-F238E27FC236}">
                <a16:creationId xmlns:a16="http://schemas.microsoft.com/office/drawing/2014/main" id="{B23B8990-5EC7-46E8-BAA0-33114EF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54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gate-text-5">
            <a:extLst xmlns:a="http://schemas.openxmlformats.org/drawingml/2006/main">
              <a:ext uri="{FF2B5EF4-FFF2-40B4-BE49-F238E27FC236}">
                <a16:creationId xmlns:a16="http://schemas.microsoft.com/office/drawing/2014/main" id="{F98F67A9-B12B-46B3-AB9D-C61CA793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自動解封、回滾、稽核</a:t>
            </a:r>
          </a:p>
        </p:txBody>
      </p:sp>
      <p:sp>
        <p:nvSpPr>
          <p:cNvPr id="22" name="gate-rule-5">
            <a:extLst xmlns:a="http://schemas.openxmlformats.org/drawingml/2006/main">
              <a:ext uri="{FF2B5EF4-FFF2-40B4-BE49-F238E27FC236}">
                <a16:creationId xmlns:a16="http://schemas.microsoft.com/office/drawing/2014/main" id="{7D4BECAC-828A-476D-8E55-22B69A6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pentest-field">
            <a:extLst xmlns:a="http://schemas.openxmlformats.org/drawingml/2006/main">
              <a:ext uri="{FF2B5EF4-FFF2-40B4-BE49-F238E27FC236}">
                <a16:creationId xmlns:a16="http://schemas.microsoft.com/office/drawing/2014/main" id="{7DCA6514-3851-4DDD-B063-057C868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721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pentest-label">
            <a:extLst xmlns:a="http://schemas.openxmlformats.org/drawingml/2006/main">
              <a:ext uri="{FF2B5EF4-FFF2-40B4-BE49-F238E27FC236}">
                <a16:creationId xmlns:a16="http://schemas.microsoft.com/office/drawing/2014/main" id="{D92E567D-A03C-422E-8DFF-3EC3CC4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ISOLATED PENTEST</a:t>
            </a:r>
          </a:p>
        </p:txBody>
      </p:sp>
      <p:sp>
        <p:nvSpPr>
          <p:cNvPr id="25" name="pentest-title">
            <a:extLst xmlns:a="http://schemas.openxmlformats.org/drawingml/2006/main">
              <a:ext uri="{FF2B5EF4-FFF2-40B4-BE49-F238E27FC236}">
                <a16:creationId xmlns:a16="http://schemas.microsoft.com/office/drawing/2014/main" id="{6169BA73-4B1A-4E24-9A1E-538E565B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驗證封鎖是否真的生效</a:t>
            </a:r>
          </a:p>
        </p:txBody>
      </p:sp>
      <p:sp>
        <p:nvSpPr>
          <p:cNvPr id="26" name="pentest-timeline">
            <a:extLst xmlns:a="http://schemas.openxmlformats.org/drawingml/2006/main">
              <a:ext uri="{FF2B5EF4-FFF2-40B4-BE49-F238E27FC236}">
                <a16:creationId xmlns:a16="http://schemas.microsoft.com/office/drawing/2014/main" id="{E7DA95F9-8A32-498B-9A8C-2AB00D7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190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pentest-stage-A">
            <a:extLst xmlns:a="http://schemas.openxmlformats.org/drawingml/2006/main">
              <a:ext uri="{FF2B5EF4-FFF2-40B4-BE49-F238E27FC236}">
                <a16:creationId xmlns:a16="http://schemas.microsoft.com/office/drawing/2014/main" id="{0C22CBB5-7ECE-4219-B235-A13EE91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28" name="pentest-stage-text-A">
            <a:extLst xmlns:a="http://schemas.openxmlformats.org/drawingml/2006/main">
              <a:ext uri="{FF2B5EF4-FFF2-40B4-BE49-F238E27FC236}">
                <a16:creationId xmlns:a16="http://schemas.microsoft.com/office/drawing/2014/main" id="{1477B7FD-6405-4B60-A61B-99A1E39A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離線 PCAP／replay</a:t>
            </a:r>
          </a:p>
        </p:txBody>
      </p:sp>
      <p:sp>
        <p:nvSpPr>
          <p:cNvPr id="29" name="pentest-stage-B">
            <a:extLst xmlns:a="http://schemas.openxmlformats.org/drawingml/2006/main">
              <a:ext uri="{FF2B5EF4-FFF2-40B4-BE49-F238E27FC236}">
                <a16:creationId xmlns:a16="http://schemas.microsoft.com/office/drawing/2014/main" id="{EBB94618-215A-413A-B363-B1E814A5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385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30" name="pentest-stage-text-B">
            <a:extLst xmlns:a="http://schemas.openxmlformats.org/drawingml/2006/main">
              <a:ext uri="{FF2B5EF4-FFF2-40B4-BE49-F238E27FC236}">
                <a16:creationId xmlns:a16="http://schemas.microsoft.com/office/drawing/2014/main" id="{68325BE1-40C0-4D02-93D4-377F90B3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同機 host-only：封身分／GUID</a:t>
            </a:r>
          </a:p>
        </p:txBody>
      </p:sp>
      <p:sp>
        <p:nvSpPr>
          <p:cNvPr id="31" name="pentest-stage-C">
            <a:extLst xmlns:a="http://schemas.openxmlformats.org/drawingml/2006/main">
              <a:ext uri="{FF2B5EF4-FFF2-40B4-BE49-F238E27FC236}">
                <a16:creationId xmlns:a16="http://schemas.microsoft.com/office/drawing/2014/main" id="{1D3366FC-C3BF-4253-A79A-26F2B27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24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32" name="pentest-stage-text-C">
            <a:extLst xmlns:a="http://schemas.openxmlformats.org/drawingml/2006/main">
              <a:ext uri="{FF2B5EF4-FFF2-40B4-BE49-F238E27FC236}">
                <a16:creationId xmlns:a16="http://schemas.microsoft.com/office/drawing/2014/main" id="{608CB65A-6B5E-457C-A4E6-6C63A576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兩台自有隔離設備：封來源 IP</a:t>
            </a:r>
          </a:p>
        </p:txBody>
      </p:sp>
      <p:sp>
        <p:nvSpPr>
          <p:cNvPr id="33" name="pentest-stage-D">
            <a:extLst xmlns:a="http://schemas.openxmlformats.org/drawingml/2006/main">
              <a:ext uri="{FF2B5EF4-FFF2-40B4-BE49-F238E27FC236}">
                <a16:creationId xmlns:a16="http://schemas.microsoft.com/office/drawing/2014/main" id="{2BD9EC51-0B66-495C-8BC9-C7F076B3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10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34" name="pentest-stage-text-D">
            <a:extLst xmlns:a="http://schemas.openxmlformats.org/drawingml/2006/main">
              <a:ext uri="{FF2B5EF4-FFF2-40B4-BE49-F238E27FC236}">
                <a16:creationId xmlns:a16="http://schemas.microsoft.com/office/drawing/2014/main" id="{5E3B203C-3E0C-46BB-85DA-409E38C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受限、非破壞的 Metasploit／DDS／ROS2 驗收</a:t>
            </a:r>
          </a:p>
        </p:txBody>
      </p:sp>
      <p:sp>
        <p:nvSpPr>
          <p:cNvPr id="35" name="pentest-evidence">
            <a:extLst xmlns:a="http://schemas.openxmlformats.org/drawingml/2006/main">
              <a:ext uri="{FF2B5EF4-FFF2-40B4-BE49-F238E27FC236}">
                <a16:creationId xmlns:a16="http://schemas.microsoft.com/office/drawing/2014/main" id="{8189D79C-CA4B-4084-83A4-40CBEEF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24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BC1CA"/>
                </a:solidFill>
                <a:latin typeface="Microsoft JhengHei"/>
                <a:ea typeface="Microsoft JhengHei"/>
                <a:cs typeface="Microsoft JhengHei"/>
              </a:rPr>
              <a:t>scope · commands · stdout/stderr · PCAP · SHA-256 · observations · rollback</a:t>
            </a:r>
          </a:p>
        </p:txBody>
      </p:sp>
    </p:spTree>
    <p:extLst>
      <p:ext uri="{BB962C8B-B14F-4D97-AF65-F5344CB8AC3E}">
        <p14:creationId xmlns:p14="http://schemas.microsoft.com/office/powerpoint/2010/main" val="3282488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ail-12">
            <a:extLst xmlns:a="http://schemas.openxmlformats.org/drawingml/2006/main">
              <a:ext uri="{FF2B5EF4-FFF2-40B4-BE49-F238E27FC236}">
                <a16:creationId xmlns:a16="http://schemas.microsoft.com/office/drawing/2014/main" id="{C3B156F7-2D0B-4E96-9EA0-EF2B6C4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05B57784-7151-4E76-9A71-91522AB4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工程品質已成形，AI 研究證據仍在中段</a:t>
            </a:r>
          </a:p>
        </p:txBody>
      </p:sp>
      <p:sp>
        <p:nvSpPr>
          <p:cNvPr id="5" name="progress-engineering-label">
            <a:extLst xmlns:a="http://schemas.openxmlformats.org/drawingml/2006/main">
              <a:ext uri="{FF2B5EF4-FFF2-40B4-BE49-F238E27FC236}">
                <a16:creationId xmlns:a16="http://schemas.microsoft.com/office/drawing/2014/main" id="{620417A9-ADC6-4D51-A19B-5B39CDC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工程實作進度</a:t>
            </a:r>
          </a:p>
        </p:txBody>
      </p:sp>
      <p:sp>
        <p:nvSpPr>
          <p:cNvPr id="6" name="progress-engineering-track">
            <a:extLst xmlns:a="http://schemas.openxmlformats.org/drawingml/2006/main">
              <a:ext uri="{FF2B5EF4-FFF2-40B4-BE49-F238E27FC236}">
                <a16:creationId xmlns:a16="http://schemas.microsoft.com/office/drawing/2014/main" id="{E1B58CF9-B1EB-4A99-A421-BD02FE96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progress-engineering-value">
            <a:extLst xmlns:a="http://schemas.openxmlformats.org/drawingml/2006/main">
              <a:ext uri="{FF2B5EF4-FFF2-40B4-BE49-F238E27FC236}">
                <a16:creationId xmlns:a16="http://schemas.microsoft.com/office/drawing/2014/main" id="{E07946E8-240A-4DF7-AF44-5FBEFA1D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267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progress-engineering-number">
            <a:extLst xmlns:a="http://schemas.openxmlformats.org/drawingml/2006/main">
              <a:ext uri="{FF2B5EF4-FFF2-40B4-BE49-F238E27FC236}">
                <a16:creationId xmlns:a16="http://schemas.microsoft.com/office/drawing/2014/main" id="{5CA884AA-5D06-4A54-A38B-26EB0F8E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574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68.5%</a:t>
            </a:r>
          </a:p>
        </p:txBody>
      </p:sp>
      <p:sp>
        <p:nvSpPr>
          <p:cNvPr id="9" name="progress-ai-label">
            <a:extLst xmlns:a="http://schemas.openxmlformats.org/drawingml/2006/main">
              <a:ext uri="{FF2B5EF4-FFF2-40B4-BE49-F238E27FC236}">
                <a16:creationId xmlns:a16="http://schemas.microsoft.com/office/drawing/2014/main" id="{DA4B4131-6F64-4DF1-BD66-238B057F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AI 過關成熟度</a:t>
            </a:r>
          </a:p>
        </p:txBody>
      </p:sp>
      <p:sp>
        <p:nvSpPr>
          <p:cNvPr id="10" name="progress-ai-track">
            <a:extLst xmlns:a="http://schemas.openxmlformats.org/drawingml/2006/main">
              <a:ext uri="{FF2B5EF4-FFF2-40B4-BE49-F238E27FC236}">
                <a16:creationId xmlns:a16="http://schemas.microsoft.com/office/drawing/2014/main" id="{B244D555-4BFE-4E5A-B3AA-5E225848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6DF"/>
          </a:solidFill>
          <a:ln xmlns:a="http://schemas.openxmlformats.org/drawingml/2006/main" w="9525">
            <a:solidFill>
              <a:srgbClr val="EAE6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progress-ai-value">
            <a:extLst xmlns:a="http://schemas.openxmlformats.org/drawingml/2006/main">
              <a:ext uri="{FF2B5EF4-FFF2-40B4-BE49-F238E27FC236}">
                <a16:creationId xmlns:a16="http://schemas.microsoft.com/office/drawing/2014/main" id="{A816A113-D7B0-4F3A-BEE1-7ECDA0D3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progress-ai-number">
            <a:extLst xmlns:a="http://schemas.openxmlformats.org/drawingml/2006/main">
              <a:ext uri="{FF2B5EF4-FFF2-40B4-BE49-F238E27FC236}">
                <a16:creationId xmlns:a16="http://schemas.microsoft.com/office/drawing/2014/main" id="{94240EE5-0D71-4CC9-9D80-AECB0ABB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147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55.3%</a:t>
            </a:r>
          </a:p>
        </p:txBody>
      </p:sp>
      <p:sp>
        <p:nvSpPr>
          <p:cNvPr id="13" name="progress-explanation">
            <a:extLst xmlns:a="http://schemas.openxmlformats.org/drawingml/2006/main">
              <a:ext uri="{FF2B5EF4-FFF2-40B4-BE49-F238E27FC236}">
                <a16:creationId xmlns:a16="http://schemas.microsoft.com/office/drawing/2014/main" id="{18E05E60-31B4-4355-A80E-5F257CC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兩個百分比不是模型準確率：前者衡量系統與測試，後者衡量資料、模型、消融、未知攻擊與統計證據。</a:t>
            </a:r>
          </a:p>
        </p:txBody>
      </p:sp>
      <p:sp>
        <p:nvSpPr>
          <p:cNvPr id="14" name="progress-grid-v">
            <a:extLst xmlns:a="http://schemas.openxmlformats.org/drawingml/2006/main">
              <a:ext uri="{FF2B5EF4-FFF2-40B4-BE49-F238E27FC236}">
                <a16:creationId xmlns:a16="http://schemas.microsoft.com/office/drawing/2014/main" id="{BB5E7D10-E6F8-4DE4-B23F-916CBD8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progress-grid-h">
            <a:extLst xmlns:a="http://schemas.openxmlformats.org/drawingml/2006/main">
              <a:ext uri="{FF2B5EF4-FFF2-40B4-BE49-F238E27FC236}">
                <a16:creationId xmlns:a16="http://schemas.microsoft.com/office/drawing/2014/main" id="{772BD7AE-D664-45B4-B5FA-FB31924D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quality-number-1">
            <a:extLst xmlns:a="http://schemas.openxmlformats.org/drawingml/2006/main">
              <a:ext uri="{FF2B5EF4-FFF2-40B4-BE49-F238E27FC236}">
                <a16:creationId xmlns:a16="http://schemas.microsoft.com/office/drawing/2014/main" id="{6445B160-33AD-48A0-8D45-33D9413D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256 / 0 / 0</a:t>
            </a:r>
          </a:p>
        </p:txBody>
      </p:sp>
      <p:sp>
        <p:nvSpPr>
          <p:cNvPr id="17" name="quality-label-1">
            <a:extLst xmlns:a="http://schemas.openxmlformats.org/drawingml/2006/main">
              <a:ext uri="{FF2B5EF4-FFF2-40B4-BE49-F238E27FC236}">
                <a16:creationId xmlns:a16="http://schemas.microsoft.com/office/drawing/2014/main" id="{491841CB-BB2D-4EBF-A4CC-0414948D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passed / skipped / failed</a:t>
            </a:r>
          </a:p>
        </p:txBody>
      </p:sp>
      <p:sp>
        <p:nvSpPr>
          <p:cNvPr id="18" name="quality-number-2">
            <a:extLst xmlns:a="http://schemas.openxmlformats.org/drawingml/2006/main">
              <a:ext uri="{FF2B5EF4-FFF2-40B4-BE49-F238E27FC236}">
                <a16:creationId xmlns:a16="http://schemas.microsoft.com/office/drawing/2014/main" id="{CF75C31F-A05F-45B0-B242-AC613A5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47 / 47</a:t>
            </a:r>
          </a:p>
        </p:txBody>
      </p:sp>
      <p:sp>
        <p:nvSpPr>
          <p:cNvPr id="19" name="quality-label-2">
            <a:extLst xmlns:a="http://schemas.openxmlformats.org/drawingml/2006/main">
              <a:ext uri="{FF2B5EF4-FFF2-40B4-BE49-F238E27FC236}">
                <a16:creationId xmlns:a16="http://schemas.microsoft.com/office/drawing/2014/main" id="{473D11B4-A529-47F8-AD29-5663B05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最新 SROS2 稽核通過</a:t>
            </a:r>
          </a:p>
        </p:txBody>
      </p:sp>
      <p:sp>
        <p:nvSpPr>
          <p:cNvPr id="20" name="quality-number-3">
            <a:extLst xmlns:a="http://schemas.openxmlformats.org/drawingml/2006/main">
              <a:ext uri="{FF2B5EF4-FFF2-40B4-BE49-F238E27FC236}">
                <a16:creationId xmlns:a16="http://schemas.microsoft.com/office/drawing/2014/main" id="{99A32CD0-2E9C-4BFF-85EB-A066F17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13 / 15</a:t>
            </a:r>
          </a:p>
        </p:txBody>
      </p:sp>
      <p:sp>
        <p:nvSpPr>
          <p:cNvPr id="21" name="quality-label-3">
            <a:extLst xmlns:a="http://schemas.openxmlformats.org/drawingml/2006/main">
              <a:ext uri="{FF2B5EF4-FFF2-40B4-BE49-F238E27FC236}">
                <a16:creationId xmlns:a16="http://schemas.microsoft.com/office/drawing/2014/main" id="{810BAF14-EA01-40D2-BBD4-F140DF4A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434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formal preflight</a:t>
            </a:r>
          </a:p>
        </p:txBody>
      </p:sp>
      <p:sp>
        <p:nvSpPr>
          <p:cNvPr id="22" name="quality-number-4">
            <a:extLst xmlns:a="http://schemas.openxmlformats.org/drawingml/2006/main">
              <a:ext uri="{FF2B5EF4-FFF2-40B4-BE49-F238E27FC236}">
                <a16:creationId xmlns:a16="http://schemas.microsoft.com/office/drawing/2014/main" id="{4BD27898-6F89-4942-A57C-42DE3A3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0 / 1,100</a:t>
            </a:r>
          </a:p>
        </p:txBody>
      </p:sp>
      <p:sp>
        <p:nvSpPr>
          <p:cNvPr id="23" name="quality-label-4">
            <a:extLst xmlns:a="http://schemas.openxmlformats.org/drawingml/2006/main">
              <a:ext uri="{FF2B5EF4-FFF2-40B4-BE49-F238E27FC236}">
                <a16:creationId xmlns:a16="http://schemas.microsoft.com/office/drawing/2014/main" id="{04612333-5B66-4093-A06B-184610A4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正式 live sessions</a:t>
            </a:r>
          </a:p>
        </p:txBody>
      </p:sp>
    </p:spTree>
    <p:extLst>
      <p:ext uri="{BB962C8B-B14F-4D97-AF65-F5344CB8AC3E}">
        <p14:creationId xmlns:p14="http://schemas.microsoft.com/office/powerpoint/2010/main" val="12399425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ail-13">
            <a:extLst xmlns:a="http://schemas.openxmlformats.org/drawingml/2006/main">
              <a:ext uri="{FF2B5EF4-FFF2-40B4-BE49-F238E27FC236}">
                <a16:creationId xmlns:a16="http://schemas.microsoft.com/office/drawing/2014/main" id="{32F213CE-6CAB-4535-A217-46271181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DFCD90A-9B4F-4113-B380-60868513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執行路線：2026.08 到 2027.05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CA700CFA-7AF1-43C3-835C-36CE3EC0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roadmap-deadline">
            <a:extLst xmlns:a="http://schemas.openxmlformats.org/drawingml/2006/main">
              <a:ext uri="{FF2B5EF4-FFF2-40B4-BE49-F238E27FC236}">
                <a16:creationId xmlns:a16="http://schemas.microsoft.com/office/drawing/2014/main" id="{BCE88B58-E42A-428D-B26A-DBBFC18A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內部目標日  2027-05-31</a:t>
            </a:r>
          </a:p>
        </p:txBody>
      </p:sp>
      <p:sp>
        <p:nvSpPr>
          <p:cNvPr id="7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DADD0ECC-A3C7-4804-8C70-29F0974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8A2"/>
          </a:solidFill>
          <a:ln xmlns:a="http://schemas.openxmlformats.org/drawingml/2006/main" w="9525">
            <a:solidFill>
              <a:srgbClr val="A9A8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56CFCC54-D181-4DD6-BE04-8CBCCE4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roadmap-date-1">
            <a:extLst xmlns:a="http://schemas.openxmlformats.org/drawingml/2006/main">
              <a:ext uri="{FF2B5EF4-FFF2-40B4-BE49-F238E27FC236}">
                <a16:creationId xmlns:a16="http://schemas.microsoft.com/office/drawing/2014/main" id="{BBDF6967-9509-42C9-B860-6F54DC8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657065"/>
                </a:solidFill>
                <a:latin typeface="Microsoft JhengHei"/>
                <a:ea typeface="Microsoft JhengHei"/>
                <a:cs typeface="Microsoft JhengHei"/>
              </a:rPr>
              <a:t>2026.08–12</a:t>
            </a:r>
          </a:p>
        </p:txBody>
      </p:sp>
      <p:sp>
        <p:nvSpPr>
          <p:cNvPr id="10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03B0F020-196C-4512-B227-C6F8EF2E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資料與契約</a:t>
            </a:r>
          </a:p>
        </p:txBody>
      </p:sp>
      <p:sp>
        <p:nvSpPr>
          <p:cNvPr id="11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5C6D27D5-EFDB-4735-B817-F800C52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完成 telemetry、fusion、source freeze 與第一批正式資料；缺件到貨後建立 Pi5 資源基線。</a:t>
            </a:r>
          </a:p>
        </p:txBody>
      </p:sp>
      <p:sp>
        <p:nvSpPr>
          <p:cNvPr id="12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6AF2596D-D623-44E8-83BD-540A1A82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roadmap-date-2">
            <a:extLst xmlns:a="http://schemas.openxmlformats.org/drawingml/2006/main">
              <a:ext uri="{FF2B5EF4-FFF2-40B4-BE49-F238E27FC236}">
                <a16:creationId xmlns:a16="http://schemas.microsoft.com/office/drawing/2014/main" id="{464C92FE-75D0-4482-AD7F-F9CE262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28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6605F"/>
                </a:solidFill>
                <a:latin typeface="Microsoft JhengHei"/>
                <a:ea typeface="Microsoft JhengHei"/>
                <a:cs typeface="Microsoft JhengHei"/>
              </a:rPr>
              <a:t>2027.01–03</a:t>
            </a:r>
          </a:p>
        </p:txBody>
      </p:sp>
      <p:sp>
        <p:nvSpPr>
          <p:cNvPr id="14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2298D996-5A15-4699-BB0D-EBA3F0C9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模型與驗收</a:t>
            </a:r>
          </a:p>
        </p:txBody>
      </p:sp>
      <p:sp>
        <p:nvSpPr>
          <p:cNvPr id="15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36F5B3B2-253F-4B53-8DEA-5715CD02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957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完成 baseline、未知攻擊、95% CI、TTB、誤封率與解封率；隔離環境完成 Pi5 與非破壞驗收。</a:t>
            </a:r>
          </a:p>
        </p:txBody>
      </p:sp>
      <p:sp>
        <p:nvSpPr>
          <p:cNvPr id="16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E4F4AD20-1912-45A6-8F55-02A50B9F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7870"/>
          </a:solidFill>
          <a:ln xmlns:a="http://schemas.openxmlformats.org/drawingml/2006/main" w="9525">
            <a:solidFill>
              <a:srgbClr val="827870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roadmap-date-3">
            <a:extLst xmlns:a="http://schemas.openxmlformats.org/drawingml/2006/main">
              <a:ext uri="{FF2B5EF4-FFF2-40B4-BE49-F238E27FC236}">
                <a16:creationId xmlns:a16="http://schemas.microsoft.com/office/drawing/2014/main" id="{C1F69A29-EFEE-4A46-87BF-012CADAC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27870"/>
                </a:solidFill>
                <a:latin typeface="Microsoft JhengHei"/>
                <a:ea typeface="Microsoft JhengHei"/>
                <a:cs typeface="Microsoft JhengHei"/>
              </a:rPr>
              <a:t>2027.04–05</a:t>
            </a:r>
          </a:p>
        </p:txBody>
      </p:sp>
      <p:sp>
        <p:nvSpPr>
          <p:cNvPr id="18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D40648F3-F6C0-4CFC-8960-58ED9A33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交付與答辯</a:t>
            </a:r>
          </a:p>
        </p:txBody>
      </p:sp>
      <p:sp>
        <p:nvSpPr>
          <p:cNvPr id="19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2EFD07BE-F6B2-4D29-ADCA-7D9A873D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凍結資料與模型；完成報告、簡報、海報與影片；參加作品展、兩輪答辯；5 月底提交。</a:t>
            </a:r>
          </a:p>
        </p:txBody>
      </p:sp>
    </p:spTree>
    <p:extLst>
      <p:ext uri="{BB962C8B-B14F-4D97-AF65-F5344CB8AC3E}">
        <p14:creationId xmlns:p14="http://schemas.microsoft.com/office/powerpoint/2010/main" val="509951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l-14">
            <a:extLst xmlns:a="http://schemas.openxmlformats.org/drawingml/2006/main">
              <a:ext uri="{FF2B5EF4-FFF2-40B4-BE49-F238E27FC236}">
                <a16:creationId xmlns:a16="http://schemas.microsoft.com/office/drawing/2014/main" id="{85E10557-FE19-4B0B-85A0-B8F0120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BCE46ED8-C6FB-4DE2-8CAE-81F7ADE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五項評分能力，都要有可查驗的作品證據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92E673F2-3CC5-444D-8DD1-A84147CF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6665F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rubric-label-bg-1">
            <a:extLst xmlns:a="http://schemas.openxmlformats.org/drawingml/2006/main">
              <a:ext uri="{FF2B5EF4-FFF2-40B4-BE49-F238E27FC236}">
                <a16:creationId xmlns:a16="http://schemas.microsoft.com/office/drawing/2014/main" id="{E59EB4FE-8ECA-4423-9EE5-AA92133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ubric-label-1">
            <a:extLst xmlns:a="http://schemas.openxmlformats.org/drawingml/2006/main">
              <a:ext uri="{FF2B5EF4-FFF2-40B4-BE49-F238E27FC236}">
                <a16:creationId xmlns:a16="http://schemas.microsoft.com/office/drawing/2014/main" id="{99576606-23EB-4D90-808F-E805344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AI 工程軟硬體</a:t>
            </a:r>
          </a:p>
        </p:txBody>
      </p:sp>
      <p:sp>
        <p:nvSpPr>
          <p:cNvPr id="8" name="rubric-evidence-1">
            <a:extLst xmlns:a="http://schemas.openxmlformats.org/drawingml/2006/main">
              <a:ext uri="{FF2B5EF4-FFF2-40B4-BE49-F238E27FC236}">
                <a16:creationId xmlns:a16="http://schemas.microsoft.com/office/drawing/2014/main" id="{C25B173E-7562-4C25-AF24-E5106264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57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融合模型＋SROS2＋Raspberry Pi 5；異常後暫封來源 IP，同機改封節點身分</a:t>
            </a:r>
          </a:p>
        </p:txBody>
      </p:sp>
      <p:sp>
        <p:nvSpPr>
          <p:cNvPr id="9" name="rubric-rule-1">
            <a:extLst xmlns:a="http://schemas.openxmlformats.org/drawingml/2006/main">
              <a:ext uri="{FF2B5EF4-FFF2-40B4-BE49-F238E27FC236}">
                <a16:creationId xmlns:a16="http://schemas.microsoft.com/office/drawing/2014/main" id="{28079F14-2983-404C-B647-9E83FCCC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ubric-label-bg-2">
            <a:extLst xmlns:a="http://schemas.openxmlformats.org/drawingml/2006/main">
              <a:ext uri="{FF2B5EF4-FFF2-40B4-BE49-F238E27FC236}">
                <a16:creationId xmlns:a16="http://schemas.microsoft.com/office/drawing/2014/main" id="{9E49499C-27B8-4BA2-BD74-0A23392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8F83"/>
          </a:solidFill>
          <a:ln xmlns:a="http://schemas.openxmlformats.org/drawingml/2006/main" w="9525">
            <a:solidFill>
              <a:srgbClr val="A18F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ubric-label-2">
            <a:extLst xmlns:a="http://schemas.openxmlformats.org/drawingml/2006/main">
              <a:ext uri="{FF2B5EF4-FFF2-40B4-BE49-F238E27FC236}">
                <a16:creationId xmlns:a16="http://schemas.microsoft.com/office/drawing/2014/main" id="{D3E9370A-3682-4FBF-BE08-0BADE46F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數據分析與數理</a:t>
            </a:r>
          </a:p>
        </p:txBody>
      </p:sp>
      <p:sp>
        <p:nvSpPr>
          <p:cNvPr id="12" name="rubric-evidence-2">
            <a:extLst xmlns:a="http://schemas.openxmlformats.org/drawingml/2006/main">
              <a:ext uri="{FF2B5EF4-FFF2-40B4-BE49-F238E27FC236}">
                <a16:creationId xmlns:a16="http://schemas.microsoft.com/office/drawing/2014/main" id="{B6A33A3D-C3B0-4E89-89E1-E7744EEC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241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session-grouped split、消融、未知攻擊、PR-AUC、95% CI</a:t>
            </a:r>
          </a:p>
        </p:txBody>
      </p:sp>
      <p:sp>
        <p:nvSpPr>
          <p:cNvPr id="13" name="rubric-rule-2">
            <a:extLst xmlns:a="http://schemas.openxmlformats.org/drawingml/2006/main">
              <a:ext uri="{FF2B5EF4-FFF2-40B4-BE49-F238E27FC236}">
                <a16:creationId xmlns:a16="http://schemas.microsoft.com/office/drawing/2014/main" id="{95E15F38-9549-4EC9-B6AD-3B8D975A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146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ubric-label-bg-3">
            <a:extLst xmlns:a="http://schemas.openxmlformats.org/drawingml/2006/main">
              <a:ext uri="{FF2B5EF4-FFF2-40B4-BE49-F238E27FC236}">
                <a16:creationId xmlns:a16="http://schemas.microsoft.com/office/drawing/2014/main" id="{0B97F51A-99B0-48D8-B99C-B893D710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988D"/>
          </a:solidFill>
          <a:ln xmlns:a="http://schemas.openxmlformats.org/drawingml/2006/main" w="9525">
            <a:solidFill>
              <a:srgbClr val="9998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ubric-label-3">
            <a:extLst xmlns:a="http://schemas.openxmlformats.org/drawingml/2006/main">
              <a:ext uri="{FF2B5EF4-FFF2-40B4-BE49-F238E27FC236}">
                <a16:creationId xmlns:a16="http://schemas.microsoft.com/office/drawing/2014/main" id="{21A762DF-7A06-44C5-8D17-10960831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專案執行與報告</a:t>
            </a:r>
          </a:p>
        </p:txBody>
      </p:sp>
      <p:sp>
        <p:nvSpPr>
          <p:cNvPr id="16" name="rubric-evidence-3">
            <a:extLst xmlns:a="http://schemas.openxmlformats.org/drawingml/2006/main">
              <a:ext uri="{FF2B5EF4-FFF2-40B4-BE49-F238E27FC236}">
                <a16:creationId xmlns:a16="http://schemas.microsoft.com/office/drawing/2014/main" id="{A0485945-94BE-4BA9-AE69-DC5FC20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90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單人 WBS、版本凍結、封鎖／解封 decision ledger、可重現 release</a:t>
            </a:r>
          </a:p>
        </p:txBody>
      </p:sp>
      <p:sp>
        <p:nvSpPr>
          <p:cNvPr id="17" name="rubric-rule-3">
            <a:extLst xmlns:a="http://schemas.openxmlformats.org/drawingml/2006/main">
              <a:ext uri="{FF2B5EF4-FFF2-40B4-BE49-F238E27FC236}">
                <a16:creationId xmlns:a16="http://schemas.microsoft.com/office/drawing/2014/main" id="{C8BD6BA4-AA38-49EF-B150-23115A98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ubric-label-bg-4">
            <a:extLst xmlns:a="http://schemas.openxmlformats.org/drawingml/2006/main">
              <a:ext uri="{FF2B5EF4-FFF2-40B4-BE49-F238E27FC236}">
                <a16:creationId xmlns:a16="http://schemas.microsoft.com/office/drawing/2014/main" id="{9DE0A6F3-227A-42DB-948D-DF860BE0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ubric-label-4">
            <a:extLst xmlns:a="http://schemas.openxmlformats.org/drawingml/2006/main">
              <a:ext uri="{FF2B5EF4-FFF2-40B4-BE49-F238E27FC236}">
                <a16:creationId xmlns:a16="http://schemas.microsoft.com/office/drawing/2014/main" id="{51487417-9D25-4197-977B-55CC9A6A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溝通與跨領域</a:t>
            </a:r>
          </a:p>
        </p:txBody>
      </p:sp>
      <p:sp>
        <p:nvSpPr>
          <p:cNvPr id="20" name="rubric-evidence-4">
            <a:extLst xmlns:a="http://schemas.openxmlformats.org/drawingml/2006/main">
              <a:ext uri="{FF2B5EF4-FFF2-40B4-BE49-F238E27FC236}">
                <a16:creationId xmlns:a16="http://schemas.microsoft.com/office/drawing/2014/main" id="{0A832A47-DEC6-4772-9AEA-1558CCC1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576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30 秒／3 分鐘／10 分鐘說法、術語表、教授回饋與決策紀錄</a:t>
            </a:r>
          </a:p>
        </p:txBody>
      </p:sp>
      <p:sp>
        <p:nvSpPr>
          <p:cNvPr id="21" name="rubric-rule-4">
            <a:extLst xmlns:a="http://schemas.openxmlformats.org/drawingml/2006/main">
              <a:ext uri="{FF2B5EF4-FFF2-40B4-BE49-F238E27FC236}">
                <a16:creationId xmlns:a16="http://schemas.microsoft.com/office/drawing/2014/main" id="{EC3D8955-85CB-4247-8FC6-ABCB3E04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4822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ubric-label-bg-5">
            <a:extLst xmlns:a="http://schemas.openxmlformats.org/drawingml/2006/main">
              <a:ext uri="{FF2B5EF4-FFF2-40B4-BE49-F238E27FC236}">
                <a16:creationId xmlns:a16="http://schemas.microsoft.com/office/drawing/2014/main" id="{7A4B1414-4F6E-47A9-B777-C28E9522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05F"/>
          </a:solidFill>
          <a:ln xmlns:a="http://schemas.openxmlformats.org/drawingml/2006/main" w="9525">
            <a:solidFill>
              <a:srgbClr val="8660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ubric-label-5">
            <a:extLst xmlns:a="http://schemas.openxmlformats.org/drawingml/2006/main">
              <a:ext uri="{FF2B5EF4-FFF2-40B4-BE49-F238E27FC236}">
                <a16:creationId xmlns:a16="http://schemas.microsoft.com/office/drawing/2014/main" id="{70320B54-E3B2-4B9F-9991-20B4C39D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國際與社會關懷</a:t>
            </a:r>
          </a:p>
        </p:txBody>
      </p:sp>
      <p:sp>
        <p:nvSpPr>
          <p:cNvPr id="24" name="rubric-evidence-5">
            <a:extLst xmlns:a="http://schemas.openxmlformats.org/drawingml/2006/main">
              <a:ext uri="{FF2B5EF4-FFF2-40B4-BE49-F238E27FC236}">
                <a16:creationId xmlns:a16="http://schemas.microsoft.com/office/drawing/2014/main" id="{51F26FAE-A974-4B68-8BA9-4E3C689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2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DDS Security／ROS2／NIST／IEC 概念對照、人身安全與誤封治理</a:t>
            </a:r>
          </a:p>
        </p:txBody>
      </p:sp>
      <p:sp>
        <p:nvSpPr>
          <p:cNvPr id="25" name="rubric-rule-5">
            <a:extLst xmlns:a="http://schemas.openxmlformats.org/drawingml/2006/main">
              <a:ext uri="{FF2B5EF4-FFF2-40B4-BE49-F238E27FC236}">
                <a16:creationId xmlns:a16="http://schemas.microsoft.com/office/drawing/2014/main" id="{FD24AA4F-CCF7-46F3-888F-A0D3475B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15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CC4"/>
          </a:solidFill>
          <a:ln xmlns:a="http://schemas.openxmlformats.org/drawingml/2006/main" w="9525">
            <a:solidFill>
              <a:srgbClr val="D1C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0854087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8660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lose-right-field">
            <a:extLst xmlns:a="http://schemas.openxmlformats.org/drawingml/2006/main">
              <a:ext uri="{FF2B5EF4-FFF2-40B4-BE49-F238E27FC236}">
                <a16:creationId xmlns:a16="http://schemas.microsoft.com/office/drawing/2014/main" id="{34D901BE-B057-4A4D-9FEE-388D91B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065"/>
          </a:solidFill>
          <a:ln xmlns:a="http://schemas.openxmlformats.org/drawingml/2006/main" w="9525">
            <a:solidFill>
              <a:srgbClr val="65706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C6B931A-4CF3-4307-9032-6451F887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不是「永久封鎖所有 IP」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而是「異常先隔離，再解封」</a:t>
            </a:r>
          </a:p>
        </p:txBody>
      </p:sp>
      <p:sp>
        <p:nvSpPr>
          <p:cNvPr id="5" name="close-principles">
            <a:extLst xmlns:a="http://schemas.openxmlformats.org/drawingml/2006/main">
              <a:ext uri="{FF2B5EF4-FFF2-40B4-BE49-F238E27FC236}">
                <a16:creationId xmlns:a16="http://schemas.microsoft.com/office/drawing/2014/main" id="{69F469C2-B1BF-4F93-9601-5B04F8DD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偵測  &gt;  定位來源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封鎖  &gt;  暫時可控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復原  &gt;  自動解封</a:t>
            </a:r>
          </a:p>
        </p:txBody>
      </p:sp>
      <p:sp>
        <p:nvSpPr>
          <p:cNvPr id="6" name="close-right">
            <a:extLst xmlns:a="http://schemas.openxmlformats.org/drawingml/2006/main">
              <a:ext uri="{FF2B5EF4-FFF2-40B4-BE49-F238E27FC236}">
                <a16:creationId xmlns:a16="http://schemas.microsoft.com/office/drawing/2014/main" id="{586514EF-3365-49DA-A7D2-E3DC951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2571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SROS2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MULTIMODAL AI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AF8F3"/>
                </a:solidFill>
                <a:latin typeface="Microsoft JhengHei"/>
                <a:ea typeface="Microsoft JhengHei"/>
                <a:cs typeface="Microsoft JhengHei"/>
              </a:rPr>
              <a:t>IP QUARANTINE</a:t>
            </a:r>
          </a:p>
        </p:txBody>
      </p:sp>
      <p:sp>
        <p:nvSpPr>
          <p:cNvPr id="7" name="close-next-band">
            <a:extLst xmlns:a="http://schemas.openxmlformats.org/drawingml/2006/main">
              <a:ext uri="{FF2B5EF4-FFF2-40B4-BE49-F238E27FC236}">
                <a16:creationId xmlns:a16="http://schemas.microsoft.com/office/drawing/2014/main" id="{96396B0D-42D7-46DA-957A-89405A94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197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CA"/>
          </a:solidFill>
          <a:ln xmlns:a="http://schemas.openxmlformats.org/drawingml/2006/main" w="9525">
            <a:solidFill>
              <a:srgbClr val="BBC1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09CC2951-E130-4DD7-A8B2-C9029E15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6257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下一個關鍵交付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live telemetry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302D"/>
                </a:solidFill>
                <a:latin typeface="Microsoft JhengHei"/>
                <a:ea typeface="Microsoft JhengHei"/>
                <a:cs typeface="Microsoft JhengHei"/>
              </a:rPr>
              <a:t>＋ block / rollback</a:t>
            </a:r>
          </a:p>
        </p:txBody>
      </p:sp>
    </p:spTree>
    <p:extLst>
      <p:ext uri="{BB962C8B-B14F-4D97-AF65-F5344CB8AC3E}">
        <p14:creationId xmlns:p14="http://schemas.microsoft.com/office/powerpoint/2010/main" val="2095719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2026-07-29T05:33:49.7730000Z</dcterms:created>
  <dcterms:modified xsi:type="dcterms:W3CDTF">2026-07-29T05:33:49.7730000Z</dcterms:modified>
</coreProperties>
</file>