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圖 1 ／ 3　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系統架構圖｜軟體元件,以及它們跑在哪一台機器上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7830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硬體是容器,軟體元件畫在容器裡面。實線是已跑過且有證據的路徑;虛線是機制存在但尚未啟用的路徑。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395728"/>
            <a:ext cx="2468880" cy="1920240"/>
          </a:xfrm>
          <a:prstGeom prst="roundRect">
            <a:avLst>
              <a:gd name="adj" fmla="val 4000"/>
            </a:avLst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93008" y="2395728"/>
            <a:ext cx="4480560" cy="2980944"/>
          </a:xfrm>
          <a:prstGeom prst="roundRect">
            <a:avLst>
              <a:gd name="adj" fmla="val 4000"/>
            </a:avLst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85048" y="2395728"/>
            <a:ext cx="2560320" cy="1920240"/>
          </a:xfrm>
          <a:prstGeom prst="roundRect">
            <a:avLst>
              <a:gd name="adj" fmla="val 4000"/>
            </a:avLst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496312"/>
            <a:ext cx="22128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40" b="1">
                <a:solidFill>
                  <a:srgbClr val="86605F"/>
                </a:solidFill>
                <a:latin typeface="Microsoft JhengHei"/>
              </a:rPr>
              <a:t>攻擊端　桌機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2496312"/>
            <a:ext cx="42245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40" b="1">
                <a:solidFill>
                  <a:srgbClr val="2F302D"/>
                </a:solidFill>
                <a:latin typeface="Microsoft JhengHei"/>
              </a:rPr>
              <a:t>防守端　Raspberry Pi 5　Ubuntu 24.04 ＋ ROS 2 Jazzy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064" y="2496312"/>
            <a:ext cx="23042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40" b="1">
                <a:solidFill>
                  <a:srgbClr val="86605F"/>
                </a:solidFill>
                <a:latin typeface="Microsoft JhengHei"/>
              </a:rPr>
              <a:t>實驗工廠　筆電 WSL2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" y="2816352"/>
            <a:ext cx="2212848" cy="1280160"/>
          </a:xfrm>
          <a:prstGeom prst="roundRect">
            <a:avLst>
              <a:gd name="adj" fmla="val 10000"/>
            </a:avLst>
          </a:prstGeom>
          <a:solidFill>
            <a:srgbClr val="FAF8F3"/>
          </a:solidFill>
          <a:ln w="15875">
            <a:solidFill>
              <a:srgbClr val="A1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00" b="1">
                <a:solidFill>
                  <a:srgbClr val="2F302D"/>
                </a:solidFill>
                <a:latin typeface="Microsoft JhengHei"/>
              </a:rPr>
              <a:t>N28 wrong-CA participant</a:t>
            </a:r>
          </a:p>
          <a:p>
            <a:pPr algn="ctr">
              <a:lnSpc>
                <a:spcPct val="122000"/>
              </a:lnSpc>
            </a:pPr>
            <a:r>
              <a:rPr sz="900" b="0">
                <a:solidFill>
                  <a:srgbClr val="66665F"/>
                </a:solidFill>
                <a:latin typeface="Microsoft JhengHei"/>
              </a:rPr>
              <a:t>自己生 CA、自己簽憑證</a:t>
            </a:r>
          </a:p>
          <a:p>
            <a:pPr algn="ctr">
              <a:lnSpc>
                <a:spcPct val="122000"/>
              </a:lnSpc>
            </a:pPr>
            <a:r>
              <a:rPr sz="900" b="0">
                <a:solidFill>
                  <a:srgbClr val="66665F"/>
                </a:solidFill>
                <a:latin typeface="Microsoft JhengHei"/>
              </a:rPr>
              <a:t>沒有防守方的任何秘密</a:t>
            </a:r>
          </a:p>
          <a:p>
            <a:pPr algn="ctr">
              <a:lnSpc>
                <a:spcPct val="122000"/>
              </a:lnSpc>
            </a:pPr>
          </a:p>
          <a:p>
            <a:pPr algn="ctr">
              <a:lnSpc>
                <a:spcPct val="122000"/>
              </a:lnSpc>
            </a:pPr>
            <a:r>
              <a:rPr sz="900" b="0">
                <a:solidFill>
                  <a:srgbClr val="66665F"/>
                </a:solidFill>
                <a:latin typeface="Microsoft JhengHei"/>
              </a:rPr>
              <a:t>36 支攻擊 PoC</a:t>
            </a:r>
          </a:p>
          <a:p>
            <a:pPr algn="ctr">
              <a:lnSpc>
                <a:spcPct val="122000"/>
              </a:lnSpc>
            </a:pPr>
            <a:r>
              <a:rPr sz="900" b="0">
                <a:solidFill>
                  <a:srgbClr val="66665F"/>
                </a:solidFill>
                <a:latin typeface="Microsoft JhengHei"/>
              </a:rPr>
              <a:t>出貨 catalog 20 個攻擊類別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21024" y="2816352"/>
            <a:ext cx="4224528" cy="512064"/>
          </a:xfrm>
          <a:prstGeom prst="roundRect">
            <a:avLst>
              <a:gd name="adj" fmla="val 10000"/>
            </a:avLst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00" b="1">
                <a:solidFill>
                  <a:srgbClr val="A18F83"/>
                </a:solidFill>
                <a:latin typeface="Microsoft JhengHei"/>
              </a:rPr>
              <a:t>應用層　</a:t>
            </a:r>
            <a:r>
              <a:rPr sz="900" b="0">
                <a:solidFill>
                  <a:srgbClr val="2F302D"/>
                </a:solidFill>
                <a:latin typeface="Microsoft JhengHei"/>
              </a:rPr>
              <a:t>patrol_node ・ mission_manager ・ sensor_hub ・ system_status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21024" y="3383280"/>
            <a:ext cx="4224528" cy="512064"/>
          </a:xfrm>
          <a:prstGeom prst="roundRect">
            <a:avLst>
              <a:gd name="adj" fmla="val 10000"/>
            </a:avLst>
          </a:prstGeom>
          <a:solidFill>
            <a:srgbClr val="BBC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00" b="1">
                <a:solidFill>
                  <a:srgbClr val="A18F83"/>
                </a:solidFill>
                <a:latin typeface="Microsoft JhengHei"/>
              </a:rPr>
              <a:t>防禦層　</a:t>
            </a:r>
            <a:r>
              <a:rPr sz="900" b="0">
                <a:solidFill>
                  <a:srgbClr val="2F302D"/>
                </a:solidFill>
                <a:latin typeface="Microsoft JhengHei"/>
              </a:rPr>
              <a:t>monitor_node（HMAC 簽章）・ intelligent_defense_node（D1–D6,任 2 個觸發;D1／D4／D5 可單獨發 alert）</a:t>
            </a:r>
          </a:p>
          <a:p>
            <a:pPr algn="ctr">
              <a:lnSpc>
                <a:spcPct val="122000"/>
              </a:lnSpc>
            </a:pPr>
            <a:r>
              <a:rPr sz="900" b="0">
                <a:solidFill>
                  <a:srgbClr val="2F302D"/>
                </a:solidFill>
                <a:latin typeface="Microsoft JhengHei"/>
              </a:rPr>
              <a:t>velocity_guard_node　— /cmd_vel 的唯一合法 publisher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21024" y="3950208"/>
            <a:ext cx="4224528" cy="512064"/>
          </a:xfrm>
          <a:prstGeom prst="roundRect">
            <a:avLst>
              <a:gd name="adj" fmla="val 10000"/>
            </a:avLst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00" b="1">
                <a:solidFill>
                  <a:srgbClr val="A18F83"/>
                </a:solidFill>
                <a:latin typeface="Microsoft JhengHei"/>
              </a:rPr>
              <a:t>觀測層　</a:t>
            </a:r>
            <a:r>
              <a:rPr sz="900" b="0">
                <a:solidFill>
                  <a:srgbClr val="2F302D"/>
                </a:solidFill>
                <a:latin typeface="Microsoft JhengHei"/>
              </a:rPr>
              <a:t>security_observer（C++,直接用 Fast DDS API 記 RTPS 認證事件）</a:t>
            </a:r>
          </a:p>
          <a:p>
            <a:pPr algn="ctr">
              <a:lnSpc>
                <a:spcPct val="122000"/>
              </a:lnSpc>
            </a:pPr>
            <a:r>
              <a:rPr sz="900" b="0">
                <a:solidFill>
                  <a:srgbClr val="2F302D"/>
                </a:solidFill>
                <a:latin typeface="Microsoft JhengHei"/>
              </a:rPr>
              <a:t>dumpcap　— 封包層擷取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21024" y="4517136"/>
            <a:ext cx="4224528" cy="512064"/>
          </a:xfrm>
          <a:prstGeom prst="roundRect">
            <a:avLst>
              <a:gd name="adj" fmla="val 10000"/>
            </a:avLst>
          </a:prstGeom>
          <a:solidFill>
            <a:srgbClr val="FAF8F3"/>
          </a:solidFill>
          <a:ln w="15875">
            <a:solidFill>
              <a:srgbClr val="8660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00" b="1">
                <a:solidFill>
                  <a:srgbClr val="A18F83"/>
                </a:solidFill>
                <a:latin typeface="Microsoft JhengHei"/>
              </a:rPr>
              <a:t>回應層　</a:t>
            </a:r>
            <a:r>
              <a:rPr sz="900" b="0">
                <a:solidFill>
                  <a:srgbClr val="2F302D"/>
                </a:solidFill>
                <a:latin typeface="Microsoft JhengHei"/>
              </a:rPr>
              <a:t>ResponseAuthorizer → ResponseBackend → 核心 nftables</a:t>
            </a:r>
          </a:p>
          <a:p>
            <a:pPr algn="ctr">
              <a:lnSpc>
                <a:spcPct val="122000"/>
              </a:lnSpc>
            </a:pPr>
            <a:r>
              <a:rPr sz="900" b="0">
                <a:solidFill>
                  <a:srgbClr val="2F302D"/>
                </a:solidFill>
                <a:latin typeface="Microsoft JhengHei"/>
              </a:rPr>
              <a:t>（這三個就是圖 2 展開的物件、圖 3 右邊三條 lifeline）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5093208"/>
            <a:ext cx="42245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66665F"/>
                </a:solidFill>
                <a:latin typeface="Microsoft JhengHei"/>
              </a:rPr>
              <a:t>SROS2 keystore ＋ 14 個 enclave ・ HMAC 金鑰由 Pi 自己產生,未從筆電複製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13064" y="2816352"/>
            <a:ext cx="2304288" cy="1280160"/>
          </a:xfrm>
          <a:prstGeom prst="roundRect">
            <a:avLst>
              <a:gd name="adj" fmla="val 10000"/>
            </a:avLst>
          </a:prstGeom>
          <a:solidFill>
            <a:srgbClr val="FAF8F3"/>
          </a:solidFill>
          <a:ln w="15875">
            <a:solidFill>
              <a:srgbClr val="A1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00" b="1">
                <a:solidFill>
                  <a:srgbClr val="2F302D"/>
                </a:solidFill>
                <a:latin typeface="Microsoft JhengHei"/>
              </a:rPr>
              <a:t>campaign orchestrator</a:t>
            </a:r>
          </a:p>
          <a:p>
            <a:pPr algn="ctr">
              <a:lnSpc>
                <a:spcPct val="122000"/>
              </a:lnSpc>
            </a:pPr>
            <a:r>
              <a:rPr sz="900" b="0">
                <a:solidFill>
                  <a:srgbClr val="66665F"/>
                </a:solidFill>
                <a:latin typeface="Microsoft JhengHei"/>
              </a:rPr>
              <a:t>Gazebo 模擬 ＋ 20 類攻擊排程</a:t>
            </a:r>
          </a:p>
          <a:p>
            <a:pPr algn="ctr">
              <a:lnSpc>
                <a:spcPct val="122000"/>
              </a:lnSpc>
            </a:pPr>
            <a:r>
              <a:rPr sz="900" b="0">
                <a:solidFill>
                  <a:srgbClr val="66665F"/>
                </a:solidFill>
                <a:latin typeface="Microsoft JhengHei"/>
              </a:rPr>
              <a:t>features.py 特徵抽取</a:t>
            </a:r>
          </a:p>
          <a:p>
            <a:pPr algn="ctr">
              <a:lnSpc>
                <a:spcPct val="122000"/>
              </a:lnSpc>
            </a:pPr>
            <a:r>
              <a:rPr sz="900" b="0">
                <a:solidFill>
                  <a:srgbClr val="66665F"/>
                </a:solidFill>
                <a:latin typeface="Microsoft JhengHei"/>
              </a:rPr>
              <a:t>訓練與封印 holdout</a:t>
            </a:r>
          </a:p>
          <a:p>
            <a:pPr algn="ctr">
              <a:lnSpc>
                <a:spcPct val="122000"/>
              </a:lnSpc>
            </a:pPr>
          </a:p>
          <a:p>
            <a:pPr algn="ctr">
              <a:lnSpc>
                <a:spcPct val="122000"/>
              </a:lnSpc>
            </a:pPr>
            <a:r>
              <a:rPr sz="900" b="0">
                <a:solidFill>
                  <a:srgbClr val="66665F"/>
                </a:solidFill>
                <a:latin typeface="Microsoft JhengHei"/>
              </a:rPr>
              <a:t>3,841 場・3,553 場合格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81528" y="3255264"/>
            <a:ext cx="411480" cy="0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81528" y="3044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657065"/>
                </a:solidFill>
                <a:latin typeface="Microsoft JhengHei"/>
              </a:rPr>
              <a:t>攻擊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973568" y="3255264"/>
            <a:ext cx="411480" cy="0"/>
          </a:xfrm>
          <a:prstGeom prst="line">
            <a:avLst/>
          </a:prstGeom>
          <a:ln w="15875">
            <a:solidFill>
              <a:srgbClr val="A18F8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973568" y="30449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66665F"/>
                </a:solidFill>
                <a:latin typeface="Microsoft JhengHei"/>
              </a:rPr>
              <a:t>SSH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5504688"/>
            <a:ext cx="10332720" cy="715899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5641848"/>
            <a:ext cx="9930384" cy="441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實驗網　</a:t>
            </a:r>
            <a:r>
              <a:rPr sz="1050" b="0">
                <a:solidFill>
                  <a:srgbClr val="2F302D"/>
                </a:solidFill>
                <a:latin typeface="Microsoft JhengHei"/>
              </a:rPr>
              <a:t>Wi-Fi・192.168.0.x・RTPS domain 41　— 攻擊流量與 DDS 探索都走這裡。　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管理網　</a:t>
            </a:r>
            <a:r>
              <a:rPr sz="1050" b="0">
                <a:solidFill>
                  <a:srgbClr val="2F302D"/>
                </a:solidFill>
                <a:latin typeface="Microsoft JhengHei"/>
              </a:rPr>
              <a:t>直連網路線・192.168.137.x　— out-of-band SSH。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兩者刻意分開:nft 封鎖實驗若把控制通道自己封掉就救不回來（sudo 的 env_reset 會剝掉 SSH_CONNECTION,讓防鎖死閘變成 no-op）。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1">
                <a:solidFill>
                  <a:srgbClr val="99988D"/>
                </a:solidFill>
                <a:latin typeface="Microsoft JhengHei"/>
              </a:rPr>
              <a:t>虛線的回應層　</a:t>
            </a:r>
            <a:r>
              <a:rPr sz="819" b="0">
                <a:solidFill>
                  <a:srgbClr val="99988D"/>
                </a:solidFill>
                <a:latin typeface="Microsoft JhengHei"/>
              </a:rPr>
              <a:t>機制九項全過,但 executable_classes 仍為空清單 ⇒ 沒有任何模型判定到得了 backend。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圖 2 ／ 3　OBJECT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物件圖｜從一份歸因證據到一條核心規則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7830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圖 1 回應層那一格的展開。實線箭頭是資料流,空心箭頭是繼承;三個 TimeoutSetAdapter 實作裡,出貨預設是停用的那一個。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340864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40" b="1">
                <a:solidFill>
                  <a:srgbClr val="2F302D"/>
                </a:solidFill>
                <a:latin typeface="Microsoft JhengHei"/>
              </a:rPr>
              <a:t>AttributionEvidence</a:t>
            </a:r>
          </a:p>
          <a:p>
            <a:pPr algn="ctr">
              <a:lnSpc>
                <a:spcPct val="122000"/>
              </a:lnSpc>
            </a:pPr>
            <a:r>
              <a:rPr sz="940" b="0">
                <a:solidFill>
                  <a:srgbClr val="66665F"/>
                </a:solidFill>
                <a:latin typeface="Microsoft JhengHei"/>
              </a:rPr>
              <a:t>四條判定的輸出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81528" y="2340864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40" b="1">
                <a:solidFill>
                  <a:srgbClr val="2F302D"/>
                </a:solidFill>
                <a:latin typeface="Microsoft JhengHei"/>
              </a:rPr>
              <a:t>ResponseContext</a:t>
            </a:r>
          </a:p>
          <a:p>
            <a:pPr algn="ctr">
              <a:lnSpc>
                <a:spcPct val="122000"/>
              </a:lnSpc>
            </a:pPr>
            <a:r>
              <a:rPr sz="940" b="0">
                <a:solidFill>
                  <a:srgbClr val="66665F"/>
                </a:solidFill>
                <a:latin typeface="Microsoft JhengHei"/>
              </a:rPr>
              <a:t>模式・信心・來源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50408" y="2340864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40" b="1">
                <a:solidFill>
                  <a:srgbClr val="2F302D"/>
                </a:solidFill>
                <a:latin typeface="Microsoft JhengHei"/>
              </a:rPr>
              <a:t>ResponseAuthorizer</a:t>
            </a:r>
          </a:p>
          <a:p>
            <a:pPr algn="ctr">
              <a:lnSpc>
                <a:spcPct val="122000"/>
              </a:lnSpc>
            </a:pPr>
            <a:r>
              <a:rPr sz="940" b="0">
                <a:solidFill>
                  <a:srgbClr val="66665F"/>
                </a:solidFill>
                <a:latin typeface="Microsoft JhengHei"/>
              </a:rPr>
              <a:t>兩個訊號・兩個窗・0.95 下限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2168" y="2340864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40" b="1">
                <a:solidFill>
                  <a:srgbClr val="2F302D"/>
                </a:solidFill>
                <a:latin typeface="Microsoft JhengHei"/>
              </a:rPr>
              <a:t>AuthorizedResponse</a:t>
            </a:r>
          </a:p>
          <a:p>
            <a:pPr algn="ctr">
              <a:lnSpc>
                <a:spcPct val="122000"/>
              </a:lnSpc>
            </a:pPr>
            <a:r>
              <a:rPr sz="940" b="0">
                <a:solidFill>
                  <a:srgbClr val="86605F"/>
                </a:solidFill>
                <a:latin typeface="Microsoft JhengHei"/>
              </a:rPr>
              <a:t>executable = False（出貨值）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15768" y="2615184"/>
            <a:ext cx="365760" cy="0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84648" y="2615184"/>
            <a:ext cx="365760" cy="0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36408" y="2615184"/>
            <a:ext cx="365760" cy="0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02168" y="3090672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FAF8F3"/>
          </a:solidFill>
          <a:ln w="15875">
            <a:solidFill>
              <a:srgbClr val="A1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40" b="1">
                <a:solidFill>
                  <a:srgbClr val="2F302D"/>
                </a:solidFill>
                <a:latin typeface="Microsoft JhengHei"/>
              </a:rPr>
              <a:t>Ed25519TicketIssuer</a:t>
            </a:r>
          </a:p>
          <a:p>
            <a:pPr algn="ctr">
              <a:lnSpc>
                <a:spcPct val="122000"/>
              </a:lnSpc>
            </a:pPr>
            <a:r>
              <a:rPr sz="940" b="0">
                <a:solidFill>
                  <a:srgbClr val="66665F"/>
                </a:solidFill>
                <a:latin typeface="Microsoft JhengHei"/>
              </a:rPr>
              <a:t>evidence_id = sha256(報告)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3090672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AF8F3"/>
          </a:solidFill>
          <a:ln w="15875">
            <a:solidFill>
              <a:srgbClr val="A1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40" b="1">
                <a:solidFill>
                  <a:srgbClr val="2F302D"/>
                </a:solidFill>
                <a:latin typeface="Microsoft JhengHei"/>
              </a:rPr>
              <a:t>ticket</a:t>
            </a:r>
          </a:p>
          <a:p>
            <a:pPr algn="ctr">
              <a:lnSpc>
                <a:spcPct val="122000"/>
              </a:lnSpc>
            </a:pPr>
            <a:r>
              <a:rPr sz="940" b="0">
                <a:solidFill>
                  <a:srgbClr val="66665F"/>
                </a:solidFill>
                <a:latin typeface="Microsoft JhengHei"/>
              </a:rPr>
              <a:t>簽章字串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30168" y="3090672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FAF8F3"/>
          </a:solidFill>
          <a:ln w="15875">
            <a:solidFill>
              <a:srgbClr val="A1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40" b="1">
                <a:solidFill>
                  <a:srgbClr val="2F302D"/>
                </a:solidFill>
                <a:latin typeface="Microsoft JhengHei"/>
              </a:rPr>
              <a:t>Ed25519TicketVerifier</a:t>
            </a:r>
          </a:p>
          <a:p>
            <a:pPr algn="ctr">
              <a:lnSpc>
                <a:spcPct val="122000"/>
              </a:lnSpc>
            </a:pPr>
            <a:r>
              <a:rPr sz="940" b="0">
                <a:solidFill>
                  <a:srgbClr val="66665F"/>
                </a:solidFill>
                <a:latin typeface="Microsoft JhengHei"/>
              </a:rPr>
              <a:t>驗章・防重放・檢查到期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3090672"/>
            <a:ext cx="2468880" cy="548640"/>
          </a:xfrm>
          <a:prstGeom prst="roundRect">
            <a:avLst>
              <a:gd name="adj" fmla="val 10000"/>
            </a:avLst>
          </a:prstGeom>
          <a:solidFill>
            <a:srgbClr val="FAF8F3"/>
          </a:solidFill>
          <a:ln w="15875">
            <a:solidFill>
              <a:srgbClr val="A1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40" b="1">
                <a:solidFill>
                  <a:srgbClr val="2F302D"/>
                </a:solidFill>
                <a:latin typeface="Microsoft JhengHei"/>
              </a:rPr>
              <a:t>VerifiedResponseTicket</a:t>
            </a:r>
          </a:p>
          <a:p>
            <a:pPr algn="ctr">
              <a:lnSpc>
                <a:spcPct val="122000"/>
              </a:lnSpc>
            </a:pPr>
            <a:r>
              <a:rPr sz="940" b="0">
                <a:solidFill>
                  <a:srgbClr val="66665F"/>
                </a:solidFill>
                <a:latin typeface="Microsoft JhengHei"/>
              </a:rPr>
              <a:t>唯一能驅動 backend 的憑據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836408" y="3364991"/>
            <a:ext cx="365760" cy="0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916168" y="3364991"/>
            <a:ext cx="365760" cy="0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264408" y="3364991"/>
            <a:ext cx="365760" cy="0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345168" y="2889504"/>
            <a:ext cx="0" cy="201168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749039" y="384048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40" b="1">
                <a:solidFill>
                  <a:srgbClr val="2F302D"/>
                </a:solidFill>
                <a:latin typeface="Microsoft JhengHei"/>
              </a:rPr>
              <a:t>ResponseBackend</a:t>
            </a:r>
          </a:p>
          <a:p>
            <a:pPr algn="ctr">
              <a:lnSpc>
                <a:spcPct val="122000"/>
              </a:lnSpc>
            </a:pPr>
            <a:r>
              <a:rPr sz="940" b="0">
                <a:solidFill>
                  <a:srgbClr val="66665F"/>
                </a:solidFill>
                <a:latin typeface="Microsoft JhengHei"/>
              </a:rPr>
              <a:t>套用・對帳・撤銷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847088" y="3639312"/>
            <a:ext cx="1901951" cy="475488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280160" y="4590288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40" b="1">
                <a:solidFill>
                  <a:srgbClr val="2F302D"/>
                </a:solidFill>
                <a:latin typeface="Microsoft JhengHei"/>
              </a:rPr>
              <a:t>SQLiteResponseState</a:t>
            </a:r>
          </a:p>
          <a:p>
            <a:pPr algn="ctr">
              <a:lnSpc>
                <a:spcPct val="122000"/>
              </a:lnSpc>
            </a:pPr>
            <a:r>
              <a:rPr sz="940" b="0">
                <a:solidFill>
                  <a:srgbClr val="66665F"/>
                </a:solidFill>
                <a:latin typeface="Microsoft JhengHei"/>
              </a:rPr>
              <a:t>DesiredResponse ／ StagedResponse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4590288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40" b="1">
                <a:solidFill>
                  <a:srgbClr val="A18F83"/>
                </a:solidFill>
                <a:latin typeface="Microsoft JhengHei"/>
              </a:rPr>
              <a:t>TimeoutSetAdapter</a:t>
            </a:r>
          </a:p>
          <a:p>
            <a:pPr algn="ctr">
              <a:lnSpc>
                <a:spcPct val="122000"/>
              </a:lnSpc>
            </a:pPr>
            <a:r>
              <a:rPr sz="940" b="0">
                <a:solidFill>
                  <a:srgbClr val="66665F"/>
                </a:solidFill>
                <a:latin typeface="Microsoft JhengHei"/>
              </a:rPr>
              <a:t>«abstract»　到期由核心自己執行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2743200" y="4389120"/>
            <a:ext cx="2377440" cy="201168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120640" y="4389120"/>
            <a:ext cx="2377439" cy="201168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931920" y="5340096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AF8F3"/>
          </a:solidFill>
          <a:ln w="15875">
            <a:solidFill>
              <a:srgbClr val="6570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40" b="1">
                <a:solidFill>
                  <a:srgbClr val="2F302D"/>
                </a:solidFill>
                <a:latin typeface="Microsoft JhengHei"/>
              </a:rPr>
              <a:t>NftablesTimeout…</a:t>
            </a:r>
          </a:p>
          <a:p>
            <a:pPr algn="ctr">
              <a:lnSpc>
                <a:spcPct val="122000"/>
              </a:lnSpc>
            </a:pPr>
            <a:r>
              <a:rPr sz="940" b="0">
                <a:solidFill>
                  <a:srgbClr val="66665F"/>
                </a:solidFill>
                <a:latin typeface="Microsoft JhengHei"/>
              </a:rPr>
              <a:t>真核心・9／9 通過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5340096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AF8F3"/>
          </a:solidFill>
          <a:ln w="15875">
            <a:solidFill>
              <a:srgbClr val="A1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40" b="1">
                <a:solidFill>
                  <a:srgbClr val="2F302D"/>
                </a:solidFill>
                <a:latin typeface="Microsoft JhengHei"/>
              </a:rPr>
              <a:t>InMemoryTimeout…</a:t>
            </a:r>
          </a:p>
          <a:p>
            <a:pPr algn="ctr">
              <a:lnSpc>
                <a:spcPct val="122000"/>
              </a:lnSpc>
            </a:pPr>
            <a:r>
              <a:rPr sz="940" b="0">
                <a:solidFill>
                  <a:srgbClr val="66665F"/>
                </a:solidFill>
                <a:latin typeface="Microsoft JhengHei"/>
              </a:rPr>
              <a:t>測試用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9680" y="5340096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AF8F3"/>
          </a:solidFill>
          <a:ln w="15875">
            <a:solidFill>
              <a:srgbClr val="8660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940" b="1">
                <a:solidFill>
                  <a:srgbClr val="2F302D"/>
                </a:solidFill>
                <a:latin typeface="Microsoft JhengHei"/>
              </a:rPr>
              <a:t>DisabledProduction…</a:t>
            </a:r>
          </a:p>
          <a:p>
            <a:pPr algn="ctr">
              <a:lnSpc>
                <a:spcPct val="122000"/>
              </a:lnSpc>
            </a:pPr>
            <a:r>
              <a:rPr sz="940" b="1">
                <a:solidFill>
                  <a:srgbClr val="86605F"/>
                </a:solidFill>
                <a:latin typeface="Microsoft JhengHei"/>
              </a:rPr>
              <a:t>出貨預設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5120640" y="5138927"/>
            <a:ext cx="2377439" cy="201169"/>
          </a:xfrm>
          <a:prstGeom prst="line">
            <a:avLst/>
          </a:prstGeom>
          <a:ln w="15875">
            <a:headEnd type="triangle" w="med" len="med"/>
            <a:solidFill>
              <a:srgbClr val="A1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7498079" y="5138927"/>
            <a:ext cx="91441" cy="201169"/>
          </a:xfrm>
          <a:prstGeom prst="line">
            <a:avLst/>
          </a:prstGeom>
          <a:ln w="15875">
            <a:headEnd type="triangle" w="med" len="med"/>
            <a:solidFill>
              <a:srgbClr val="A1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7498079" y="5138927"/>
            <a:ext cx="2468881" cy="201169"/>
          </a:xfrm>
          <a:prstGeom prst="line">
            <a:avLst/>
          </a:prstGeom>
          <a:ln w="15875">
            <a:headEnd type="triangle" w="med" len="med"/>
            <a:solidFill>
              <a:srgbClr val="A1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1">
                <a:solidFill>
                  <a:srgbClr val="99988D"/>
                </a:solidFill>
                <a:latin typeface="Microsoft JhengHei"/>
              </a:rPr>
              <a:t>對應圖 1　</a:t>
            </a:r>
            <a:r>
              <a:rPr sz="819" b="0">
                <a:solidFill>
                  <a:srgbClr val="99988D"/>
                </a:solidFill>
                <a:latin typeface="Microsoft JhengHei"/>
              </a:rPr>
              <a:t>這一整張是「回應層」那一格的內容;ResponseAuthorizer／ResponseBackend／nftables 三個物件,就是圖 3 最右邊三條 lifeline。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圖 3 ／ 3　SEQUENCE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循序圖｜一次跨主機的攻擊 → 歸因 → 封鎖 → 撤銷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7830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2026-10-07 與 10-08 各跑過一次,九項檢查全過。10-08 那一次的核准片語由本人親手輸入。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6653" y="2304288"/>
            <a:ext cx="1207008" cy="658368"/>
          </a:xfrm>
          <a:prstGeom prst="roundRect">
            <a:avLst>
              <a:gd name="adj" fmla="val 10000"/>
            </a:avLst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860" b="1">
                <a:solidFill>
                  <a:srgbClr val="86605F"/>
                </a:solidFill>
                <a:latin typeface="Microsoft JhengHei"/>
              </a:rPr>
              <a:t>攻擊端 N28</a:t>
            </a:r>
          </a:p>
          <a:p>
            <a:pPr algn="ctr">
              <a:lnSpc>
                <a:spcPct val="122000"/>
              </a:lnSpc>
            </a:pPr>
            <a:r>
              <a:rPr sz="860" b="1">
                <a:solidFill>
                  <a:srgbClr val="86605F"/>
                </a:solidFill>
                <a:latin typeface="Microsoft JhengHei"/>
              </a:rPr>
              <a:t>wrong-CA</a:t>
            </a:r>
          </a:p>
          <a:p>
            <a:pPr algn="ctr">
              <a:lnSpc>
                <a:spcPct val="122000"/>
              </a:lnSpc>
            </a:pPr>
            <a:r>
              <a:rPr sz="860" b="1">
                <a:solidFill>
                  <a:srgbClr val="86605F"/>
                </a:solidFill>
                <a:latin typeface="Microsoft JhengHei"/>
              </a:rPr>
              <a:t>桌機 .141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60157" y="2962656"/>
            <a:ext cx="0" cy="2912364"/>
          </a:xfrm>
          <a:prstGeom prst="line">
            <a:avLst/>
          </a:prstGeom>
          <a:ln w="12700">
            <a:solidFill>
              <a:srgbClr val="A18F8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951672" y="2304288"/>
            <a:ext cx="1207008" cy="658368"/>
          </a:xfrm>
          <a:prstGeom prst="roundRect">
            <a:avLst>
              <a:gd name="adj" fmla="val 10000"/>
            </a:avLst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860" b="1">
                <a:solidFill>
                  <a:srgbClr val="657065"/>
                </a:solidFill>
                <a:latin typeface="Microsoft JhengHei"/>
              </a:rPr>
              <a:t>security_</a:t>
            </a:r>
          </a:p>
          <a:p>
            <a:pPr algn="ctr">
              <a:lnSpc>
                <a:spcPct val="122000"/>
              </a:lnSpc>
            </a:pPr>
            <a:r>
              <a:rPr sz="860" b="1">
                <a:solidFill>
                  <a:srgbClr val="657065"/>
                </a:solidFill>
                <a:latin typeface="Microsoft JhengHei"/>
              </a:rPr>
              <a:t>observer</a:t>
            </a:r>
          </a:p>
          <a:p>
            <a:pPr algn="ctr">
              <a:lnSpc>
                <a:spcPct val="122000"/>
              </a:lnSpc>
            </a:pPr>
            <a:r>
              <a:rPr sz="860" b="1">
                <a:solidFill>
                  <a:srgbClr val="657065"/>
                </a:solidFill>
                <a:latin typeface="Microsoft JhengHei"/>
              </a:rPr>
              <a:t>Pi・C++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55176" y="2962656"/>
            <a:ext cx="0" cy="2912364"/>
          </a:xfrm>
          <a:prstGeom prst="line">
            <a:avLst/>
          </a:prstGeom>
          <a:ln w="12700">
            <a:solidFill>
              <a:srgbClr val="A18F8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46691" y="2304288"/>
            <a:ext cx="1207008" cy="658368"/>
          </a:xfrm>
          <a:prstGeom prst="roundRect">
            <a:avLst>
              <a:gd name="adj" fmla="val 10000"/>
            </a:avLst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860" b="1">
                <a:solidFill>
                  <a:srgbClr val="657065"/>
                </a:solidFill>
                <a:latin typeface="Microsoft JhengHei"/>
              </a:rPr>
              <a:t>dumpcap ＋</a:t>
            </a:r>
          </a:p>
          <a:p>
            <a:pPr algn="ctr">
              <a:lnSpc>
                <a:spcPct val="122000"/>
              </a:lnSpc>
            </a:pPr>
            <a:r>
              <a:rPr sz="860" b="1">
                <a:solidFill>
                  <a:srgbClr val="657065"/>
                </a:solidFill>
                <a:latin typeface="Microsoft JhengHei"/>
              </a:rPr>
              <a:t>RTPS 解析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0195" y="2962656"/>
            <a:ext cx="0" cy="2912364"/>
          </a:xfrm>
          <a:prstGeom prst="line">
            <a:avLst/>
          </a:prstGeom>
          <a:ln w="12700">
            <a:solidFill>
              <a:srgbClr val="A18F8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41710" y="2304288"/>
            <a:ext cx="1207008" cy="658368"/>
          </a:xfrm>
          <a:prstGeom prst="roundRect">
            <a:avLst>
              <a:gd name="adj" fmla="val 10000"/>
            </a:avLst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860" b="1">
                <a:solidFill>
                  <a:srgbClr val="657065"/>
                </a:solidFill>
                <a:latin typeface="Microsoft JhengHei"/>
              </a:rPr>
              <a:t>crosscheck</a:t>
            </a:r>
          </a:p>
          <a:p>
            <a:pPr algn="ctr">
              <a:lnSpc>
                <a:spcPct val="122000"/>
              </a:lnSpc>
            </a:pPr>
            <a:r>
              <a:rPr sz="860" b="1">
                <a:solidFill>
                  <a:srgbClr val="657065"/>
                </a:solidFill>
                <a:latin typeface="Microsoft JhengHei"/>
              </a:rPr>
              <a:t>四條判定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45214" y="2962656"/>
            <a:ext cx="0" cy="2912364"/>
          </a:xfrm>
          <a:prstGeom prst="line">
            <a:avLst/>
          </a:prstGeom>
          <a:ln w="12700">
            <a:solidFill>
              <a:srgbClr val="A18F8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836729" y="2304288"/>
            <a:ext cx="1207008" cy="658368"/>
          </a:xfrm>
          <a:prstGeom prst="roundRect">
            <a:avLst>
              <a:gd name="adj" fmla="val 10000"/>
            </a:avLst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860" b="1">
                <a:solidFill>
                  <a:srgbClr val="86605F"/>
                </a:solidFill>
                <a:latin typeface="Microsoft JhengHei"/>
              </a:rPr>
              <a:t>人</a:t>
            </a:r>
          </a:p>
          <a:p>
            <a:pPr algn="ctr">
              <a:lnSpc>
                <a:spcPct val="122000"/>
              </a:lnSpc>
            </a:pPr>
            <a:r>
              <a:rPr sz="860" b="1">
                <a:solidFill>
                  <a:srgbClr val="86605F"/>
                </a:solidFill>
                <a:latin typeface="Microsoft JhengHei"/>
              </a:rPr>
              <a:t>（核准）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40233" y="2962656"/>
            <a:ext cx="0" cy="2912364"/>
          </a:xfrm>
          <a:prstGeom prst="line">
            <a:avLst/>
          </a:prstGeom>
          <a:ln w="12700">
            <a:solidFill>
              <a:srgbClr val="A18F8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31748" y="2304288"/>
            <a:ext cx="1207008" cy="658368"/>
          </a:xfrm>
          <a:prstGeom prst="roundRect">
            <a:avLst>
              <a:gd name="adj" fmla="val 10000"/>
            </a:avLst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860" b="1">
                <a:solidFill>
                  <a:srgbClr val="2F302D"/>
                </a:solidFill>
                <a:latin typeface="Microsoft JhengHei"/>
              </a:rPr>
              <a:t>Response</a:t>
            </a:r>
          </a:p>
          <a:p>
            <a:pPr algn="ctr">
              <a:lnSpc>
                <a:spcPct val="122000"/>
              </a:lnSpc>
            </a:pPr>
            <a:r>
              <a:rPr sz="860" b="1">
                <a:solidFill>
                  <a:srgbClr val="2F302D"/>
                </a:solidFill>
                <a:latin typeface="Microsoft JhengHei"/>
              </a:rPr>
              <a:t>Authorizer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35252" y="2962656"/>
            <a:ext cx="0" cy="2912364"/>
          </a:xfrm>
          <a:prstGeom prst="line">
            <a:avLst/>
          </a:prstGeom>
          <a:ln w="12700">
            <a:solidFill>
              <a:srgbClr val="A18F8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426767" y="2304288"/>
            <a:ext cx="1207008" cy="658368"/>
          </a:xfrm>
          <a:prstGeom prst="roundRect">
            <a:avLst>
              <a:gd name="adj" fmla="val 10000"/>
            </a:avLst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860" b="1">
                <a:solidFill>
                  <a:srgbClr val="2F302D"/>
                </a:solidFill>
                <a:latin typeface="Microsoft JhengHei"/>
              </a:rPr>
              <a:t>Response</a:t>
            </a:r>
          </a:p>
          <a:p>
            <a:pPr algn="ctr">
              <a:lnSpc>
                <a:spcPct val="122000"/>
              </a:lnSpc>
            </a:pPr>
            <a:r>
              <a:rPr sz="860" b="1">
                <a:solidFill>
                  <a:srgbClr val="2F302D"/>
                </a:solidFill>
                <a:latin typeface="Microsoft JhengHei"/>
              </a:rPr>
              <a:t>Backend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30271" y="2962656"/>
            <a:ext cx="0" cy="2912364"/>
          </a:xfrm>
          <a:prstGeom prst="line">
            <a:avLst/>
          </a:prstGeom>
          <a:ln w="12700">
            <a:solidFill>
              <a:srgbClr val="A18F8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21786" y="2304288"/>
            <a:ext cx="1207008" cy="658368"/>
          </a:xfrm>
          <a:prstGeom prst="roundRect">
            <a:avLst>
              <a:gd name="adj" fmla="val 10000"/>
            </a:avLst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2000"/>
              </a:lnSpc>
            </a:pPr>
            <a:r>
              <a:rPr sz="860" b="1">
                <a:solidFill>
                  <a:srgbClr val="2F302D"/>
                </a:solidFill>
                <a:latin typeface="Microsoft JhengHei"/>
              </a:rPr>
              <a:t>核心</a:t>
            </a:r>
          </a:p>
          <a:p>
            <a:pPr algn="ctr">
              <a:lnSpc>
                <a:spcPct val="122000"/>
              </a:lnSpc>
            </a:pPr>
            <a:r>
              <a:rPr sz="860" b="1">
                <a:solidFill>
                  <a:srgbClr val="2F302D"/>
                </a:solidFill>
                <a:latin typeface="Microsoft JhengHei"/>
              </a:rPr>
              <a:t>nftables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325290" y="2962656"/>
            <a:ext cx="0" cy="2912364"/>
          </a:xfrm>
          <a:prstGeom prst="line">
            <a:avLst/>
          </a:prstGeom>
          <a:ln w="12700">
            <a:solidFill>
              <a:srgbClr val="A18F8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60157" y="3182112"/>
            <a:ext cx="1295019" cy="0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41603" y="2985516"/>
            <a:ext cx="15321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2F302D"/>
                </a:solidFill>
                <a:latin typeface="Microsoft JhengHei"/>
              </a:rPr>
              <a:t>1. RTPS SPDP ＋ 自簽 CA 憑證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028" y="3355848"/>
            <a:ext cx="82296" cy="118872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37472" y="3218688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2F302D"/>
                </a:solidFill>
                <a:latin typeface="Microsoft JhengHei"/>
              </a:rPr>
              <a:t>2. 認證失敗 ⇒ 記 UNAUTHORIZED ＋ GUID（0 bytes 的稽核檔記不到這件事）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60157" y="3648456"/>
            <a:ext cx="2590038" cy="0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260157" y="3451860"/>
            <a:ext cx="259003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2F302D"/>
                </a:solidFill>
                <a:latin typeface="Microsoft JhengHei"/>
              </a:rPr>
              <a:t>3. 同一批封包進 pcap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850195" y="3881628"/>
            <a:ext cx="1295019" cy="0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833241" y="3685032"/>
            <a:ext cx="13289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2F302D"/>
                </a:solidFill>
                <a:latin typeface="Microsoft JhengHei"/>
              </a:rPr>
              <a:t>4. GUID ↔ IP ＋ 來源 MAC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55176" y="4114800"/>
            <a:ext cx="2590038" cy="0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55176" y="3918204"/>
            <a:ext cx="259003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2F302D"/>
                </a:solidFill>
                <a:latin typeface="Microsoft JhengHei"/>
              </a:rPr>
              <a:t>5. 觀測者的拒絕記錄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04066" y="4288536"/>
            <a:ext cx="82296" cy="118872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27510" y="4151376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2F302D"/>
                </a:solidFill>
                <a:latin typeface="Microsoft JhengHei"/>
              </a:rPr>
              <a:t>6. 四條判定 ⇒ blockable_ips = [192.168.0.141]（Pi 自己被正確拒絕）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40233" y="4581144"/>
            <a:ext cx="1295019" cy="0"/>
          </a:xfrm>
          <a:prstGeom prst="line">
            <a:avLst/>
          </a:prstGeom>
          <a:ln w="15875">
            <a:solidFill>
              <a:srgbClr val="8660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13119" y="4384548"/>
            <a:ext cx="13492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2F302D"/>
                </a:solidFill>
                <a:latin typeface="Microsoft JhengHei"/>
              </a:rPr>
              <a:t>7. 核准片語（人親手輸入）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35252" y="4814316"/>
            <a:ext cx="1295019" cy="0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405370" y="4617720"/>
            <a:ext cx="19547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2F302D"/>
                </a:solidFill>
                <a:latin typeface="Microsoft JhengHei"/>
              </a:rPr>
              <a:t>8. 票:evidence_id = sha256(歸因報告)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30271" y="5047488"/>
            <a:ext cx="1295019" cy="0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795892" y="4850892"/>
            <a:ext cx="17637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2F302D"/>
                </a:solidFill>
                <a:latin typeface="Microsoft JhengHei"/>
              </a:rPr>
              <a:t>9. add element {IP, timeout 90s}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84142" y="5221224"/>
            <a:ext cx="82296" cy="118872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2354" y="5084064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2F302D"/>
                </a:solidFill>
                <a:latin typeface="Microsoft JhengHei"/>
              </a:rPr>
              <a:t>10. counter 0 → 1 ⇒ 封包被丟棄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030271" y="5513832"/>
            <a:ext cx="1295019" cy="0"/>
          </a:xfrm>
          <a:prstGeom prst="line">
            <a:avLst/>
          </a:prstGeom>
          <a:ln w="15875">
            <a:solidFill>
              <a:srgbClr val="6570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743060" y="5317236"/>
            <a:ext cx="186943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2F302D"/>
                </a:solidFill>
                <a:latin typeface="Microsoft JhengHei"/>
              </a:rPr>
              <a:t>11. revoke_source ⇒ delete element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84142" y="5687568"/>
            <a:ext cx="82296" cy="118872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2354" y="5550408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2F302D"/>
                </a:solidFill>
                <a:latin typeface="Microsoft JhengHei"/>
              </a:rPr>
              <a:t>12. 之後封包 +0 ⇒ 恢復通過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1">
                <a:solidFill>
                  <a:srgbClr val="99988D"/>
                </a:solidFill>
                <a:latin typeface="Microsoft JhengHei"/>
              </a:rPr>
              <a:t>仍不可宣稱　</a:t>
            </a:r>
            <a:r>
              <a:rPr sz="819" b="0">
                <a:solidFill>
                  <a:srgbClr val="99988D"/>
                </a:solidFill>
                <a:latin typeface="Microsoft JhengHei"/>
              </a:rPr>
              <a:t>沒有任何模型判定參與（票的對象來自證據,權限來自人）・一次不是 soak・一種攻擊・無正向對照・第 10、12 項用 ICMP 驗核心的 drop 路徑。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