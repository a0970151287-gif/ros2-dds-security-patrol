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622231" y="0"/>
            <a:ext cx="2569464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2648" y="1847088"/>
            <a:ext cx="8138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379" b="1">
                <a:solidFill>
                  <a:srgbClr val="2F302D"/>
                </a:solidFill>
                <a:latin typeface="Microsoft JhengHei"/>
              </a:rPr>
              <a:t>SROS2 智慧防火牆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798064"/>
            <a:ext cx="7315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6605F"/>
                </a:solidFill>
                <a:latin typeface="Microsoft JhengHei"/>
              </a:rPr>
              <a:t>PROGRESS SUPPLEMENT  ·  2026-08-21 → 2026-10-16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3383280"/>
            <a:ext cx="384048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12648" y="3639312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三台機器、一條鏈、三個被推翻的假設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645152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端到端回應鏈第一次連著跑完;四階段重訓 runbook 第一次整條跑完;</a:t>
            </a:r>
          </a:p>
          <a:p>
            <a:pPr algn="l">
              <a:lnSpc>
                <a:spcPct val="142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而先前那個 1.0000 被量出來是單批次上限。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870448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27870"/>
                </a:solidFill>
                <a:latin typeface="Microsoft JhengHei"/>
              </a:rPr>
              <a:t>人工智慧系專題｜Jesse｜目標 2027.05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85248" y="1581912"/>
            <a:ext cx="18288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PREVENT</a:t>
            </a:r>
          </a:p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DETECT</a:t>
            </a:r>
          </a:p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RESPOND</a:t>
            </a:r>
          </a:p>
          <a:p>
            <a:pPr algn="l">
              <a:lnSpc>
                <a:spcPct val="162000"/>
              </a:lnSpc>
            </a:pPr>
          </a:p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EVIDENCE</a:t>
            </a:r>
          </a:p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95560" y="5202936"/>
            <a:ext cx="1444752" cy="173736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195560" y="5504688"/>
            <a:ext cx="1444752" cy="17373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0195560" y="5806440"/>
            <a:ext cx="1444752" cy="173736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195560" y="6108192"/>
            <a:ext cx="1444752" cy="17373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九項分開計分,而拉低整體的從來不是程式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21408"/>
            <a:ext cx="3399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組件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3827" y="2121408"/>
            <a:ext cx="40983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8/21 前後  →  2026-10-16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395727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523744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資料集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3827" y="2523744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95%  →  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25496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攻擊偵測（二元）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3827" y="2825496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90%  →  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127248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攻擊識別（多類）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3827" y="3127248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70%  →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60%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 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429000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未知攻擊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3827" y="3429000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70%  →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55%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 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30752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回應／執行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3827" y="3730752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78%  →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95%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 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032504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本機防禦驗證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3827" y="4032504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67%  →  89%  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跨主機／硬體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3827" y="4334256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0%  →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95%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 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636008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攻擊面覆蓋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03827" y="4636008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74%  →  87%  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937760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文件／簡報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3827" y="4937760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95%  →  95%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5303520"/>
            <a:ext cx="758952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2648" y="543153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整體  71%  →  </a:t>
            </a:r>
            <a:r>
              <a:rPr sz="1880" b="1">
                <a:solidFill>
                  <a:srgbClr val="2F302D"/>
                </a:solidFill>
                <a:latin typeface="Microsoft JhengHei"/>
              </a:rPr>
              <a:t>84.56%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" y="5943600"/>
            <a:ext cx="758952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3816" y="6080760"/>
            <a:ext cx="71871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兩列是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下修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:識別與未知攻擊第一次有處女 holdout 的數字,而門檻一個字未改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⇒ 不是放寬或收緊標準,是讓百分比跟上證據（而幅度是判斷,可以被否決）。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本機 OUTCOME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505456"/>
            <a:ext cx="2340864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8 / 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攻擊面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3730752"/>
            <a:ext cx="2340864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20 / 23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EAE6DF"/>
                </a:solidFill>
                <a:latin typeface="Microsoft JhengHei"/>
              </a:rPr>
              <a:t>部署資格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4956048"/>
            <a:ext cx="2340864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FALSE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85216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CLAUDE.md 進度百分比表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THE MISSING SEAM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四個零件各自驗過,從來沒有連成一條鏈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2194560"/>
            <a:ext cx="2596896" cy="111556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12648" y="2194560"/>
            <a:ext cx="2596896" cy="64008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身份歸因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79 / 80 輪 · 8 小時 soak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3401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020" b="1">
                <a:solidFill>
                  <a:srgbClr val="657065"/>
                </a:solidFill>
                <a:latin typeface="Microsoft JhengHei"/>
              </a:rP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2194560"/>
            <a:ext cx="2596896" cy="111556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374136" y="2194560"/>
            <a:ext cx="2596896" cy="64008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38728" y="2395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可撤銷票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7249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7 / 7 · 啟用 36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401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020" b="1">
                <a:solidFill>
                  <a:srgbClr val="657065"/>
                </a:solidFill>
                <a:latin typeface="Microsoft JhengHei"/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2194560"/>
            <a:ext cx="2596896" cy="111556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35624" y="2194560"/>
            <a:ext cx="2596896" cy="64008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00216" y="2395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kernel nftables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249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9 / 9 真核心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3401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020" b="1">
                <a:solidFill>
                  <a:srgbClr val="657065"/>
                </a:solidFill>
                <a:latin typeface="Microsoft JhengHe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7112" y="2194560"/>
            <a:ext cx="2596896" cy="111556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897112" y="2194560"/>
            <a:ext cx="2596896" cy="64008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61704" y="23957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Pi 當 ROS 閘道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7249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8 / 8 節點 Enforce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34015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020" b="1">
                <a:solidFill>
                  <a:srgbClr val="657065"/>
                </a:solidFill>
                <a:latin typeface="Microsoft JhengHei"/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" y="3931920"/>
            <a:ext cx="10963656" cy="822960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86968" y="4133087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2F302D"/>
                </a:solidFill>
                <a:latin typeface="Microsoft JhengHei"/>
              </a:rPr>
              <a:t>⇣   從未當成一條鏈跑過   ——   r5／r6 帳本裡唯一一個 </a:t>
            </a:r>
            <a:r>
              <a:rPr sz="1500" b="1">
                <a:solidFill>
                  <a:srgbClr val="86605F"/>
                </a:solidFill>
                <a:latin typeface="Microsoft JhengHei"/>
              </a:rPr>
              <a:t>blocked</a:t>
            </a:r>
            <a:r>
              <a:rPr sz="1500" b="1">
                <a:solidFill>
                  <a:srgbClr val="2F302D"/>
                </a:solidFill>
                <a:latin typeface="Microsoft JhengHei"/>
              </a:rPr>
              <a:t> 的 claim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" y="5029200"/>
            <a:ext cx="10963656" cy="1078992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3816" y="5166360"/>
            <a:ext cx="10561320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那不是「機制行不行」的問題:三個零件都有 live 證據。缺的是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把它們串起來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,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而串起來需要兩台機器同時可用、時鐘對齊、以及一份能通過四條判定的歸因報告。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而工具當時拒絕本專案擁有的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每一份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歸因證據（89 份 v1、2 份 v2 未驗證）——那是 fail-closed 正確運作。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309360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文件/歸因驅動封鎖_缺的那條縫_2026-09-25.md；firewall_lab/project_claims_20260924_r5.json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2026-10-07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鏈第一次連著跑完,九項全過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03120"/>
            <a:ext cx="1559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歸因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2342" y="2103120"/>
            <a:ext cx="591982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419 個 RTPS 封包 → 37 筆觀測 ／ 561 個乙太網框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68879"/>
            <a:ext cx="1559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觀測者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2342" y="2468879"/>
            <a:ext cx="591982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AUTHORIZED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／ UNAUTHORIZED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834639"/>
            <a:ext cx="1559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兩半交集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2342" y="2834639"/>
            <a:ext cx="591982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GUID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1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⇒ 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blockable_ips = [192.168.0.141]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00399"/>
            <a:ext cx="1559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陰性對照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2342" y="3200399"/>
            <a:ext cx="591982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Pi 自己被正確拒絕（不可用查無記錄推論）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66159"/>
            <a:ext cx="1559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封鎖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2342" y="3566159"/>
            <a:ext cx="591982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set elements = {192.168.0.141: 89}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931920"/>
            <a:ext cx="1559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封包被丟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2342" y="3931920"/>
            <a:ext cx="591982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counter 0 → 1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, 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bytes 0 → 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297680"/>
            <a:ext cx="1559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撤銷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2342" y="4297680"/>
            <a:ext cx="591982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active_count = 0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,由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核心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確認不是由回傳值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63440"/>
            <a:ext cx="155996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撤銷後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2342" y="4663440"/>
            <a:ext cx="591982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+0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⇒ 流量恢復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230368"/>
            <a:ext cx="758952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648" y="539496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80" b="1">
                <a:solidFill>
                  <a:srgbClr val="86605F"/>
                </a:solidFill>
                <a:latin typeface="Microsoft JhengHei"/>
              </a:rPr>
              <a:t>chain_demonstrated = True</a:t>
            </a:r>
            <a:r>
              <a:rPr sz="1880" b="1">
                <a:solidFill>
                  <a:srgbClr val="2F302D"/>
                </a:solidFill>
                <a:latin typeface="Microsoft JhengHei"/>
              </a:rPr>
              <a:t>   ·   rc = 0   ·   九項 9 / 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" y="5961888"/>
            <a:ext cx="7589520" cy="51206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3816" y="6099048"/>
            <a:ext cx="71871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拓樸:Pi 5 防守（Wi-Fi 192.168.0.145）／桌機攻擊（192.168.0.141）／筆電只當操作端。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103120"/>
            <a:ext cx="2651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三台機器</a:t>
            </a:r>
          </a:p>
          <a:p>
            <a:pPr algn="l">
              <a:lnSpc>
                <a:spcPct val="150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第一次同時可用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而歷史上每一次</a:t>
            </a:r>
          </a:p>
          <a:p>
            <a:pPr algn="l">
              <a:lnSpc>
                <a:spcPct val="150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跨主機都卡在</a:t>
            </a:r>
          </a:p>
          <a:p>
            <a:pPr algn="l">
              <a:lnSpc>
                <a:spcPct val="150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其中一端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754880"/>
            <a:ext cx="2651760" cy="9144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99448" y="488289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九項檢查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5138928"/>
            <a:ext cx="2340864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9 /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907024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文件/跨主機鏈第一次跑完_2026-10-07.md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METHOD, NOT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票被證據綁定 ——「是這份證據授權了這次封鎖」可以事後證明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2304288"/>
            <a:ext cx="5285232" cy="157276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2" y="25054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封鎖的對象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16352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←  歸因報告自己的 SHA-256</a:t>
            </a:r>
          </a:p>
          <a:p>
            <a:pPr algn="l">
              <a:lnSpc>
                <a:spcPct val="14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evidence_id = 6475d6ff…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2304288"/>
            <a:ext cx="5285232" cy="157276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19672" y="25054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動手的權限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816352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←  人親手輸入的核准片語</a:t>
            </a:r>
          </a:p>
          <a:p>
            <a:pPr algn="l">
              <a:lnSpc>
                <a:spcPct val="14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2026-10-08 由 Jesse 本人輸入,九項全過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4114800"/>
            <a:ext cx="10963656" cy="932688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297680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20" b="0">
                <a:solidFill>
                  <a:srgbClr val="2F302D"/>
                </a:solidFill>
                <a:latin typeface="Microsoft JhengHei"/>
              </a:rPr>
              <a:t>對照 2026-09-24 的 nft 驗收: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那張票是驗收器自己簽的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——它自己給自己的票貼標籤。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5230368"/>
            <a:ext cx="10963656" cy="1078992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3816" y="5367528"/>
            <a:ext cx="10561320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⭐ 而兩次執行的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authorization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區塊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逐字相同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authority_came_from = human approval phrase on stdin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）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⇒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程式分不出誰按下去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。那正是為什麼 provenance 必須由產物之外的東西承載,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而「核准片語第一次是 Claude 代打」這件事只能寫在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provenance.json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的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MUST_BE_DISCLOSED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64224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工具腳本/run_attribution_driven_block.py；文件/跨主機鏈_2026-10-07/{chain_block,chain_block_human,provenance_human}.json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管理網與實驗網必須分開,而那不是便利是前提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2286000"/>
            <a:ext cx="758952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3816" y="2450592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直連線  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192.168.137.2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  →   out-of-band ssh（封鎖打不到）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3182112"/>
            <a:ext cx="758952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" y="3346704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Wi-Fi  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192.168.0.145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  →   實驗網路（與攻擊端同 L2）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4206240"/>
            <a:ext cx="7589520" cy="1078992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4343400"/>
            <a:ext cx="7187184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為什麼是前提: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sudo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的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env_reset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會剝掉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SSH_CONNECTION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,讓防鎖死閘變成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no-op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——若封鎖實驗把自己的控制通道封掉就救不回來。第 4 項之所以仍然成立,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是因為它同時用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proc-net-tcp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當第二個來源。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5486400"/>
            <a:ext cx="7589520" cy="841248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3816" y="5623560"/>
            <a:ext cx="71871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Pi 5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沒有電池供電的 RTC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:開機時與筆電差 6 天 9 小時,Wi-Fi 一上線 NTP 校回 7 秒內。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那不是可選的——2026-08-29 那次失敗就是兩端差 7 分 44 秒而窗只開 2–3 分鐘。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286000"/>
            <a:ext cx="2651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同 L2 已驗證</a:t>
            </a:r>
          </a:p>
          <a:p>
            <a:pPr algn="l">
              <a:lnSpc>
                <a:spcPct val="146000"/>
              </a:lnSpc>
            </a:pPr>
          </a:p>
          <a:p>
            <a:pPr algn="l">
              <a:lnSpc>
                <a:spcPct val="146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Pi 的鄰居表直接記著</a:t>
            </a:r>
          </a:p>
          <a:p>
            <a:pPr algn="l">
              <a:lnSpc>
                <a:spcPct val="146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攻擊機的網卡</a:t>
            </a:r>
          </a:p>
          <a:p>
            <a:pPr algn="l">
              <a:lnSpc>
                <a:spcPct val="146000"/>
              </a:lnSpc>
            </a:pPr>
            <a:r>
              <a:rPr sz="1200" b="1">
                <a:solidFill>
                  <a:srgbClr val="86605F"/>
                </a:solidFill>
                <a:latin typeface="Microsoft JhengHei"/>
              </a:rPr>
              <a:t>e8:65:38:20:23:2f</a:t>
            </a:r>
          </a:p>
          <a:p>
            <a:pPr algn="l">
              <a:lnSpc>
                <a:spcPct val="146000"/>
              </a:lnSpc>
            </a:pPr>
          </a:p>
          <a:p>
            <a:pPr algn="l">
              <a:lnSpc>
                <a:spcPct val="146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⇒ 沒有 AP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907024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文件/跨主機鏈_防守端就緒而NAT封死WSL_2026-10-07.md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THE FOURTH CRITERION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擋來源位址偽造:前三條都成立時,系統會宣告一個無辜主機可封鎖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31136"/>
            <a:ext cx="10963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20" b="0">
                <a:solidFill>
                  <a:srgbClr val="2F302D"/>
                </a:solidFill>
                <a:latin typeface="Microsoft JhengHei"/>
              </a:rPr>
              <a:t>攻擊者可以用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受害者的 IP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 送 RTPS。握手必然失敗 ⇒ 觀測者記下 </a:t>
            </a:r>
            <a:r>
              <a:rPr sz="1420" b="1">
                <a:solidFill>
                  <a:srgbClr val="86605F"/>
                </a:solidFill>
                <a:latin typeface="Microsoft JhengHei"/>
              </a:rPr>
              <a:t>UNAUTHORIZED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,而封包層把那個 GUID 綁到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受害者的位址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054096"/>
            <a:ext cx="1662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6832" y="3054096"/>
            <a:ext cx="92094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形式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3328415"/>
            <a:ext cx="10963656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2648" y="3456432"/>
            <a:ext cx="16444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2026-08-31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6832" y="3456432"/>
            <a:ext cx="92094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加入判定（比對來源 MAC 與 ARP 解析 MAC）——只有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合成測試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858768"/>
            <a:ext cx="16444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2026-09-01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6832" y="3858768"/>
            <a:ext cx="92094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N31 live 偽造,擋下了 —— 但是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弱形式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unverifiable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（取不到解析 MAC）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261104"/>
            <a:ext cx="16444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2026-10-07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6832" y="4261104"/>
            <a:ext cx="92094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強形式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consistent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:來源 MAC == 解析 MAC == </a:t>
            </a:r>
            <a:r>
              <a:rPr sz="1350" b="1">
                <a:solidFill>
                  <a:srgbClr val="86605F"/>
                </a:solidFill>
                <a:latin typeface="Microsoft JhengHei"/>
              </a:rPr>
              <a:t>e8:65:38:20:23:2f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4700016"/>
            <a:ext cx="10963656" cy="76809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3816" y="4837176"/>
            <a:ext cx="105613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三級判定不是二元,因為防守方自己會落在中間那一級:WSL mirrored 讓它出現兩個來源 MAC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（實體網卡與 Hyper-V 虛擬網卡）——那不是偽造。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判定一樣,但理由不可以編。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5541264"/>
            <a:ext cx="10963656" cy="768096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3816" y="5678424"/>
            <a:ext cx="105613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攻擊者若同時偽造 MAC 可以繞過。但那樣它也收不到回應,而 WPA2／WPA3 下 AP 以 MAC 對應 station。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這是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必要條件不是充分條件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——其餘三條仍然要成立。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64224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文件/{來源位址偽造加固_2026-08-31,N31偽造來源_live結果_2026-09-01}.md；跨主機鏈_2026-10-07/link_layer_binding.json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THE INSIDER NEVER ADAPTED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機制與直覺相反 —— 有憑證才會瞎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2103120"/>
            <a:ext cx="7589520" cy="731520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5528" y="2249424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無憑證外部者  →  沒有 keystore  →  安全層不啟用  →  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Node()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成功  → 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看得見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944368"/>
            <a:ext cx="7589520" cy="73152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5528" y="3090672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FAF8F3"/>
                </a:solidFill>
                <a:latin typeface="Microsoft JhengHei"/>
              </a:rPr>
              <a:t>持證內鬼  →  有 keystore  →  Enforce 下要 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/n37_probe</a:t>
            </a:r>
            <a:r>
              <a:rPr sz="1280" b="0">
                <a:solidFill>
                  <a:srgbClr val="FAF8F3"/>
                </a:solidFill>
                <a:latin typeface="Microsoft JhengHei"/>
              </a:rPr>
              <a:t> enclave  →  fail-closed  →  </a:t>
            </a:r>
            <a:r>
              <a:rPr sz="1280" b="1">
                <a:solidFill>
                  <a:srgbClr val="FAF8F3"/>
                </a:solidFill>
                <a:latin typeface="Microsoft JhengHei"/>
              </a:rPr>
              <a:t>盲打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895344"/>
            <a:ext cx="27742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insider_hmac_forgery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6665" y="3895344"/>
            <a:ext cx="470550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55 / 55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盲打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4242816"/>
            <a:ext cx="27742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insider_parameter_write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6665" y="4242816"/>
            <a:ext cx="470550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58 / 58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盲打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590288"/>
            <a:ext cx="27742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其餘 17 個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6665" y="4590288"/>
            <a:ext cx="470550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 / 1,411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937759"/>
            <a:ext cx="27742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全資料集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6665" y="4937759"/>
            <a:ext cx="470550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113 / 1,524 可判定 =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7.41%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5449824"/>
            <a:ext cx="7589520" cy="1078992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3816" y="5586984"/>
            <a:ext cx="7187184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⭐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這是威脅模型在正確運作,不是缺陷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——偷到節點 X 憑證的人不可能同時是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n37_probe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所以修法是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記錄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不是放寬;而那個記錄用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三值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:「判不出來」必須是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None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,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不可以讀成「觀測者是好的」。閘仍然是恰好六項,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blind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不影響任何判定。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03120"/>
            <a:ext cx="26517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而沒有人讀它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N37 誠實地記了</a:t>
            </a:r>
          </a:p>
          <a:p>
            <a:pPr algn="l">
              <a:lnSpc>
                <a:spcPct val="142000"/>
              </a:lnSpc>
            </a:pPr>
            <a:r>
              <a:rPr sz="1200" b="1">
                <a:solidFill>
                  <a:srgbClr val="86605F"/>
                </a:solidFill>
                <a:latin typeface="Microsoft JhengHei"/>
              </a:rPr>
              <a:t>盲打=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 與 </a:t>
            </a:r>
            <a:r>
              <a:rPr sz="1200" b="1">
                <a:solidFill>
                  <a:srgbClr val="86605F"/>
                </a:solidFill>
                <a:latin typeface="Microsoft JhengHei"/>
              </a:rPr>
              <a:t>blind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,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而 </a:t>
            </a:r>
            <a:r>
              <a:rPr sz="1200" b="1">
                <a:solidFill>
                  <a:srgbClr val="86605F"/>
                </a:solidFill>
                <a:latin typeface="Microsoft JhengHei"/>
              </a:rPr>
              <a:t>firewall_lab/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 裡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它作為被消費的欄位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出現 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0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 次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⇒「自適應攻擊者」這個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標籤對兩個內鬼類別</a:t>
            </a:r>
          </a:p>
          <a:p>
            <a:pPr algn="l">
              <a:lnSpc>
                <a:spcPct val="14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從來沒有成立過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19963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文件/持證內鬼的自適應從來沒有跑過_2026-10-03.md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2026-10-15  ·  FOUR-PHASE RUNBOOK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四階段重訓 runbook 第一次整條跑完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03120"/>
            <a:ext cx="199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階段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5742" y="2103120"/>
            <a:ext cx="888056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結果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377439"/>
            <a:ext cx="10963656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505456"/>
            <a:ext cx="197336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0　特徵抽取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742" y="2505456"/>
            <a:ext cx="88805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3,553 場 ／ fusion 107,932 列 ／ 1:57:28 ／ 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ru_maxrss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1.50 GiB ／ Swaps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35224"/>
            <a:ext cx="197336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0.5　分模式切分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5742" y="2935224"/>
            <a:ext cx="88805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permissive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1,606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／ enforce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1,947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—— 與 campaign 的計數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逐位相同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（兩條獨立的路）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364991"/>
            <a:ext cx="197336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1　封印四份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5742" y="3364991"/>
            <a:ext cx="88805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86605F"/>
                </a:solidFill>
                <a:latin typeface="Microsoft JhengHei"/>
              </a:rPr>
              <a:t>split == test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× 2 ＋ 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novelty_role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× 2;兩個 scope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正交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（交集 22／23）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794759"/>
            <a:ext cx="197336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2　識別（處女 holdout）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5742" y="3794759"/>
            <a:ext cx="88805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permissive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0.4655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（18 類,上限 1.0000,恆零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）／ enforce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0.4228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（20 類,恆零 2）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24527"/>
            <a:ext cx="197336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3　open-set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5742" y="4224527"/>
            <a:ext cx="88805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permissive 場次 k=2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0.1645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、正常誤報場次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0.0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;enforce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被拒 rc=4 而封印沒被燒掉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654295"/>
            <a:ext cx="197336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4　部署閘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5742" y="4654295"/>
            <a:ext cx="8880561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86605F"/>
                </a:solidFill>
                <a:latin typeface="Microsoft JhengHei"/>
              </a:rPr>
              <a:t>minimum_1100_independent_sessions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第一次 True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（兩模式）;兩道結構性仍 False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4937760"/>
            <a:ext cx="10963656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2648" y="5084064"/>
            <a:ext cx="109636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86605F"/>
                </a:solidFill>
                <a:latin typeface="Microsoft JhengHei"/>
              </a:rPr>
              <a:t>independent_final_test: True</a:t>
            </a:r>
            <a:r>
              <a:rPr sz="1500" b="1">
                <a:solidFill>
                  <a:srgbClr val="2F302D"/>
                </a:solidFill>
                <a:latin typeface="Microsoft JhengHei"/>
              </a:rPr>
              <a:t>  ——  </a:t>
            </a:r>
            <a:r>
              <a:rPr sz="1500" b="1">
                <a:solidFill>
                  <a:srgbClr val="2F302D"/>
                </a:solidFill>
                <a:latin typeface="Microsoft JhengHei"/>
              </a:rPr>
              <a:t>這個專案第一次</a:t>
            </a:r>
            <a:r>
              <a:rPr sz="1500" b="1">
                <a:solidFill>
                  <a:srgbClr val="2F302D"/>
                </a:solidFill>
                <a:latin typeface="Microsoft JhengHei"/>
              </a:rPr>
              <a:t>,而 </a:t>
            </a:r>
            <a:r>
              <a:rPr sz="1500" b="1">
                <a:solidFill>
                  <a:srgbClr val="86605F"/>
                </a:solidFill>
                <a:latin typeface="Microsoft JhengHei"/>
              </a:rPr>
              <a:t>deployment_eligible</a:t>
            </a:r>
            <a:r>
              <a:rPr sz="1500" b="1">
                <a:solidFill>
                  <a:srgbClr val="2F302D"/>
                </a:solidFill>
                <a:latin typeface="Microsoft JhengHei"/>
              </a:rPr>
              <a:t> 兩模式都仍是 </a:t>
            </a:r>
            <a:r>
              <a:rPr sz="1500" b="1">
                <a:solidFill>
                  <a:srgbClr val="86605F"/>
                </a:solidFill>
                <a:latin typeface="Microsoft JhengHei"/>
              </a:rPr>
              <a:t>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5413248"/>
            <a:ext cx="10963656" cy="9144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3816" y="5550408"/>
            <a:ext cx="10561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⭐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minimum_1100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翻過來逐項命中 C2C-096 在 10-02 的預測:「campaign 跑完只翻 11 道裡的 1 道,而三道結構性地擋住」。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⭐ 第 3 階段 enforce 被拒而封印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仍未開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check_settings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排在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require_unopened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之前）⇒ 一次性保護有實證。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runbook 原本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漏了一整個階段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（0.5）: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features.py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只寫一張融合表,而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split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／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novelty_role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兩欄是 0.5 產生的。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364224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文件/重訓那天的執行順序_2026-10-03.md；重訓_識別_{permissive,enforce}.json；未知攻擊_封印holdout_permissive.json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2026-10-16  ·  WHAT THE NUMBERS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那個 1.0000 是單批次上限,不是泛化結果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66543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類間 ／ 類內 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9504" y="2066543"/>
            <a:ext cx="53126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refresh 640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2.141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　　mega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0.588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414015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1-NN 留一法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504" y="2414015"/>
            <a:ext cx="53126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refresh 640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0.9490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　　mega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0.4670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761487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隨機森林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761487"/>
            <a:ext cx="53126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refresh 640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1.0000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　　mega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0.5124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82112"/>
            <a:ext cx="7589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0">
                <a:solidFill>
                  <a:srgbClr val="2F302D"/>
                </a:solidFill>
                <a:latin typeface="Microsoft JhengHei"/>
              </a:rPr>
              <a:t>⇒ 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1-NN 只差隨機森林 0.045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 ⇒ 瓶頸是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資料幾何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不是學習器。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3694176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" y="385876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成因:每一個批次（stack 實例）有自己的良性背景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242816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同類配對 &lt; 300s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9504" y="4242816"/>
            <a:ext cx="5312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距離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4.823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553712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同類配對 &lt; 24h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9504" y="4553712"/>
            <a:ext cx="5312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距離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11.042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864607"/>
            <a:ext cx="21671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同類配對 ≥ 10 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9504" y="4864607"/>
            <a:ext cx="5312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距離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10.207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 ⇒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是階梯不是漂移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303520"/>
            <a:ext cx="7589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直接觀測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:mega 的單一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3 小時窗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（15 類 67 場）⇒ 比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2.177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,對 refresh 640 的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2.141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幾乎逐位吻合。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907024"/>
            <a:ext cx="7589520" cy="51206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3816" y="6044184"/>
            <a:ext cx="71871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⇒ 先前那個 1.0000 從來沒有度量過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跨背景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的能力,而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0.4655 才是現實的數字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066543"/>
            <a:ext cx="26517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AF8F3"/>
                </a:solidFill>
                <a:latin typeface="Microsoft JhengHei"/>
              </a:rPr>
              <a:t>排除四個候選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AF8F3"/>
                </a:solidFill>
                <a:latin typeface="Microsoft JhengHei"/>
              </a:rPr>
              <a:t>程式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AF8F3"/>
                </a:solidFill>
                <a:latin typeface="Microsoft JhengHei"/>
              </a:rPr>
              <a:t>同一支工具跑 refresh 640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AF8F3"/>
                </a:solidFill>
                <a:latin typeface="Microsoft JhengHei"/>
              </a:rPr>
              <a:t>逐位重現 1.0000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AF8F3"/>
                </a:solidFill>
                <a:latin typeface="Microsoft JhengHei"/>
              </a:rPr>
              <a:t>單一特徵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AF8F3"/>
                </a:solidFill>
                <a:latin typeface="Microsoft JhengHei"/>
              </a:rPr>
              <a:t>歸零 </a:t>
            </a:r>
            <a:r>
              <a:rPr sz="1100" b="1">
                <a:solidFill>
                  <a:srgbClr val="86605F"/>
                </a:solidFill>
                <a:latin typeface="Microsoft JhengHei"/>
              </a:rPr>
              <a:t>sros_auth_fail_rate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AF8F3"/>
                </a:solidFill>
                <a:latin typeface="Microsoft JhengHei"/>
              </a:rPr>
              <a:t>（mega 是 0／38,810）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AF8F3"/>
                </a:solidFill>
                <a:latin typeface="Microsoft JhengHei"/>
              </a:rPr>
              <a:t>仍是 1.0000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AF8F3"/>
                </a:solidFill>
                <a:latin typeface="Microsoft JhengHei"/>
              </a:rPr>
              <a:t>類別數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AF8F3"/>
                </a:solidFill>
                <a:latin typeface="Microsoft JhengHei"/>
              </a:rPr>
              <a:t>限制在同 15 類 ⇒ 0.591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FAF8F3"/>
                </a:solidFill>
                <a:latin typeface="Microsoft JhengHei"/>
              </a:rPr>
              <a:t>樣本數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AF8F3"/>
                </a:solidFill>
                <a:latin typeface="Microsoft JhengHei"/>
              </a:rPr>
              <a:t>方向相反:17→65 應更好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30936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文件/那個1.0000是單批次上限_2026-10-16.md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METHOD  ·  WHAT GOT REFUTED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三個被推翻的假設 —— 其中兩個是我自己發布過的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66543"/>
            <a:ext cx="23205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假設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4652" y="2066543"/>
            <a:ext cx="85516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怎麼被推翻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340863"/>
            <a:ext cx="10963656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468879"/>
            <a:ext cx="230227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「筆電可以當備用攻擊端」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652" y="2468879"/>
            <a:ext cx="855165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同一個封包、兩個 listener: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Windows 收到、WSL 50 秒 0 個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⇒ NAT 不轉發入站,而 SROS2 握手需要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雙向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45535"/>
            <a:ext cx="230227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「負載上升會讓失敗率回來」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4652" y="3145535"/>
            <a:ext cx="855165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86605F"/>
                </a:solidFill>
                <a:latin typeface="Microsoft JhengHei"/>
              </a:rPr>
              <a:t>import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確實爬升（enforce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+35%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）而失敗率是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0／154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⇒ 那三個開關讓 Observer 對負載有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韌性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,不是讓負載消失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822191"/>
            <a:ext cx="230227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「落差來自場次抖動」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4652" y="3822191"/>
            <a:ext cx="855165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mega 內部 Spearman 全部約 0（</a:t>
            </a:r>
            <a:r>
              <a:rPr sz="1280" b="1">
                <a:solidFill>
                  <a:srgbClr val="86605F"/>
                </a:solidFill>
                <a:latin typeface="Microsoft JhengHei"/>
              </a:rPr>
              <a:t>warmup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−0.070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）,而四分位切開後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高抖動的類內半徑反而更小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⇒ 抖動生效但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不是成因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389120"/>
            <a:ext cx="10963656" cy="98755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0392" y="457200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⚠️ 第三個的錯法值得記:我先推翻「抖動讓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時序特徵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變必要」,然後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換一個版本</a:t>
            </a:r>
          </a:p>
          <a:p>
            <a:pPr algn="l">
              <a:lnSpc>
                <a:spcPct val="134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（「抖動讓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類別本身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變異大」）而沒有重測就寫進判定。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換版本的假設需要新的量測。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5413248"/>
            <a:ext cx="10963656" cy="9144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3816" y="5550408"/>
            <a:ext cx="10561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而「上界不是保證」已經被咬三次: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0／80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的上界 3.7% 被下一批的 5.0% 推翻、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0／154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的 1.9% 被 7.2% 推翻 —— 我引用了那個教訓,然後還是犯了同一個錯。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⇒ 這個專案真正稀缺的不是防禦,是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可信的量測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:「量測工具的缺陷偽裝成系統問題」已記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30 次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364224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CLAUDE.md C2C-104／105／115／116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DATA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規模與品質,而修好產能的過程本身是研究內容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12848"/>
            <a:ext cx="23372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041294" y="2212848"/>
            <a:ext cx="51608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8/21  →  現在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487168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615184"/>
            <a:ext cx="2318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場次（合格）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1294" y="2615184"/>
            <a:ext cx="51608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1,100  →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3,553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80944"/>
            <a:ext cx="2318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enforce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1294" y="2980944"/>
            <a:ext cx="51608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20 類 ／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1,947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場 ／ 每類 min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76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・中位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78.5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346703"/>
            <a:ext cx="2318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permissive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1294" y="3346703"/>
            <a:ext cx="51608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18 類 ／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1,606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場 ／ 每類 min 73・中位 77.0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712463"/>
            <a:ext cx="2318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合格率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1294" y="3712463"/>
            <a:ext cx="51608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74.4%  →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98 –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078224"/>
            <a:ext cx="2318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enforce 批次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1294" y="4078224"/>
            <a:ext cx="51608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8–16 場就中止  →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40 / 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443984"/>
            <a:ext cx="23189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連續執行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1294" y="4443984"/>
            <a:ext cx="516087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21.3 小時 ／ 784 場 ／ 失敗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4809744"/>
            <a:ext cx="7589520" cy="133502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3816" y="4946904"/>
            <a:ext cx="7187184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每一個修正都是同一個形態: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readiness 三層窗的反轉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（內層先到期,外層那 80 秒永遠用不到）、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66665F"/>
                </a:solidFill>
                <a:latin typeface="Microsoft JhengHei"/>
              </a:rPr>
              <a:t>fork 收尾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（收尾一旦開始就拿不回控制權,GIL 被 C 擴充握著）、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66665F"/>
                </a:solidFill>
                <a:latin typeface="Microsoft JhengHei"/>
              </a:rPr>
              <a:t>訓練閘的爆炸半徑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（一場不合格殺掉整批 40 場 ⇒ 0.857^40 ≈ 0.2%）、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66665F"/>
                </a:solidFill>
                <a:latin typeface="Microsoft JhengHei"/>
              </a:rPr>
              <a:t>94 個 talker 孤兒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（而兜底清除的 16 項樣式全是防守端,數不到攻擊端）。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212848"/>
            <a:ext cx="2651760" cy="1005840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299448" y="234086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投影 vs 實際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2596896"/>
            <a:ext cx="234086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逐位命中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401568"/>
            <a:ext cx="2651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五條獨立路徑算出</a:t>
            </a:r>
          </a:p>
          <a:p>
            <a:pPr algn="l">
              <a:lnSpc>
                <a:spcPct val="144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「每類約 78–80」</a:t>
            </a:r>
          </a:p>
          <a:p>
            <a:pPr algn="l">
              <a:lnSpc>
                <a:spcPct val="144000"/>
              </a:lnSpc>
            </a:pPr>
          </a:p>
          <a:p>
            <a:pPr algn="l">
              <a:lnSpc>
                <a:spcPct val="144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而 campaign 跑完的實際值</a:t>
            </a:r>
          </a:p>
          <a:p>
            <a:pPr algn="l">
              <a:lnSpc>
                <a:spcPct val="144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是 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min 76・中位 78.5</a:t>
            </a:r>
          </a:p>
          <a:p>
            <a:pPr algn="l">
              <a:lnSpc>
                <a:spcPct val="144000"/>
              </a:lnSpc>
            </a:pPr>
          </a:p>
          <a:p>
            <a:pPr algn="l">
              <a:lnSpc>
                <a:spcPct val="144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ETA 三條路徑算</a:t>
            </a:r>
          </a:p>
          <a:p>
            <a:pPr algn="l">
              <a:lnSpc>
                <a:spcPct val="144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16:40–18:06Z,</a:t>
            </a:r>
          </a:p>
          <a:p>
            <a:pPr algn="l">
              <a:lnSpc>
                <a:spcPct val="144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實際 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16:49:23Z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907024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CLAUDE.md C2C-107 … C2C-113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EVIDENCE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帳本,與一個仍然 blocked 的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03120"/>
            <a:ext cx="2059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帳本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3316" y="2103120"/>
            <a:ext cx="29699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verified / provisional / blocked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377439"/>
            <a:ext cx="512064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505456"/>
            <a:ext cx="20409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r5（09-24）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3316" y="2505456"/>
            <a:ext cx="29699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4 / 3 /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71215"/>
            <a:ext cx="20409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r6（10-03）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3316" y="2871215"/>
            <a:ext cx="29699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7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/ 2 /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36975"/>
            <a:ext cx="20409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r7（10-07）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3316" y="3236975"/>
            <a:ext cx="29699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4 /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/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675887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1200" b="0">
                <a:solidFill>
                  <a:srgbClr val="66665F"/>
                </a:solidFill>
                <a:latin typeface="Microsoft JhengHei"/>
              </a:rPr>
              <a:t>r7 的 </a:t>
            </a:r>
            <a:r>
              <a:rPr sz="1200" b="1">
                <a:solidFill>
                  <a:srgbClr val="86605F"/>
                </a:solidFill>
                <a:latin typeface="Microsoft JhengHei"/>
              </a:rPr>
              <a:t>provisional</a:t>
            </a:r>
            <a:r>
              <a:rPr sz="1200" b="0">
                <a:solidFill>
                  <a:srgbClr val="66665F"/>
                </a:solidFill>
                <a:latin typeface="Microsoft JhengHei"/>
              </a:rPr>
              <a:t> </a:t>
            </a:r>
            <a:r>
              <a:rPr sz="1200" b="1">
                <a:solidFill>
                  <a:srgbClr val="66665F"/>
                </a:solidFill>
                <a:latin typeface="Microsoft JhengHei"/>
              </a:rPr>
              <a:t>第一次是 0</a:t>
            </a:r>
            <a:r>
              <a:rPr sz="1200" b="0">
                <a:solidFill>
                  <a:srgbClr val="66665F"/>
                </a:solidFill>
                <a:latin typeface="Microsoft JhengHei"/>
              </a:rPr>
              <a:t> —— 那一輪的證據鏈整條都在 repo 裡</a:t>
            </a:r>
          </a:p>
          <a:p>
            <a:pPr algn="l">
              <a:lnSpc>
                <a:spcPct val="136000"/>
              </a:lnSpc>
            </a:pPr>
            <a:r>
              <a:rPr sz="1200" b="0">
                <a:solidFill>
                  <a:srgbClr val="66665F"/>
                </a:solidFill>
                <a:latin typeface="Microsoft JhengHei"/>
              </a:rPr>
              <a:t>（產物、</a:t>
            </a:r>
            <a:r>
              <a:rPr sz="1200" b="1">
                <a:solidFill>
                  <a:srgbClr val="86605F"/>
                </a:solidFill>
                <a:latin typeface="Microsoft JhengHei"/>
              </a:rPr>
              <a:t>provenance.json</a:t>
            </a:r>
            <a:r>
              <a:rPr sz="1200" b="0">
                <a:solidFill>
                  <a:srgbClr val="66665F"/>
                </a:solidFill>
                <a:latin typeface="Microsoft JhengHei"/>
              </a:rPr>
              <a:t>、程式、測試、文件）。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103120"/>
            <a:ext cx="5541264" cy="267004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54496" y="23042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20" b="1">
                <a:solidFill>
                  <a:srgbClr val="86605F"/>
                </a:solidFill>
                <a:latin typeface="Microsoft JhengHei"/>
              </a:rPr>
              <a:t>autonomous_ip_block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  仍然 blocked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7249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657065"/>
                </a:solidFill>
                <a:latin typeface="Microsoft Jheng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523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鏈從來沒有端到端跑過  →  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清除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657065"/>
                </a:solidFill>
                <a:latin typeface="Microsoft Jheng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2783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撤銷只在記憶體轉接器上驗過  →  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清除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36758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86605F"/>
                </a:solidFill>
                <a:latin typeface="Microsoft JhengHei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6605F"/>
                </a:solidFill>
                <a:latin typeface="Microsoft JhengHei"/>
              </a:rPr>
              <a:t>executable_classes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 為空（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刻意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41513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86605F"/>
                </a:solidFill>
                <a:latin typeface="Microsoft JhengHe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78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授權來自人的片語,不是模型判定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462686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66665F"/>
                </a:solidFill>
                <a:latin typeface="Microsoft JhengHei"/>
              </a:rPr>
              <a:t>⇒ 剩下的兩條不是「機制行不行」,是</a:t>
            </a:r>
            <a:r>
              <a:rPr sz="1200" b="1">
                <a:solidFill>
                  <a:srgbClr val="66665F"/>
                </a:solidFill>
                <a:latin typeface="Microsoft JhengHei"/>
              </a:rPr>
              <a:t>誰有權觸發</a:t>
            </a:r>
            <a:r>
              <a:rPr sz="1200" b="0">
                <a:solidFill>
                  <a:srgbClr val="66665F"/>
                </a:solidFill>
                <a:latin typeface="Microsoft JhengHei"/>
              </a:rPr>
              <a:t>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5047488"/>
            <a:ext cx="10963656" cy="1078992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3816" y="5184648"/>
            <a:ext cx="10561320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而大多數舊帳本現在反向驗證都會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失敗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—— 不是造假,是引用檔後續演進造成的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預期漂移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（例如 r5 釘的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response_backend.py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47,053 → 52,343 bytes）。處置是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不覆寫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,只能寫「產生當時有效」。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可操作的教訓: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帳本要排在一輪工作的最後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—— r5 排在中途,一小時內就漂移了。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6309360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文件/證據總帳_2026-10-07_r7/evidence_ledger.json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STILL NOT DEPLOYABLE  · 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仍然不可部署,而這是刻意的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2139696"/>
            <a:ext cx="64008" cy="310896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2" y="2167127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executable_classes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=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空清單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⇒ 零個類別被授權執行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615184"/>
            <a:ext cx="64008" cy="310896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0392" y="2642615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LIVE_NFT_ACTIVATION_ALLOWED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=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False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3090672"/>
            <a:ext cx="64008" cy="310896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0392" y="3118103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deployment_eligible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=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false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（兩個模式）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566160"/>
            <a:ext cx="64008" cy="310896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3593591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鏈的那一次是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人核准的驗收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—— 沒有任何模型判定參與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4041648"/>
            <a:ext cx="64008" cy="310896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0392" y="406908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一次、一個目標、TTL 90 秒、1 個封包被丟 ——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不是 soak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4517136"/>
            <a:ext cx="64008" cy="310896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0392" y="454456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一種攻擊（N28 wrong-CA）、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沒有正向對照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5120640"/>
            <a:ext cx="7589520" cy="1078992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3816" y="5257800"/>
            <a:ext cx="7187184" cy="8046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⭐ 其中一條在 2026-10-08 被消解:同一條鏈由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Jesse 親手輸入片語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再跑一次,九項全過。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而兩次產物的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authorization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區塊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逐字相同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⇒ 程式分不出誰按下去,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所以那件事只能由 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provenance.json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承載而不是由產物自己宣稱。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39696"/>
            <a:ext cx="265176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80" b="0">
                <a:solidFill>
                  <a:srgbClr val="FAF8F3"/>
                </a:solidFill>
                <a:latin typeface="Microsoft JhengHei"/>
              </a:rPr>
              <a:t>研究原型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280" b="0">
                <a:solidFill>
                  <a:srgbClr val="FAF8F3"/>
                </a:solidFill>
                <a:latin typeface="Microsoft JhengHei"/>
              </a:rPr>
              <a:t>不是「封鎖按鈕」</a:t>
            </a:r>
          </a:p>
          <a:p>
            <a:pPr algn="l">
              <a:lnSpc>
                <a:spcPct val="150000"/>
              </a:lnSpc>
            </a:pPr>
            <a:r>
              <a:rPr sz="1280" b="0">
                <a:solidFill>
                  <a:srgbClr val="FAF8F3"/>
                </a:solidFill>
                <a:latin typeface="Microsoft JhengHei"/>
              </a:rPr>
              <a:t>而是一條</a:t>
            </a:r>
          </a:p>
          <a:p>
            <a:pPr algn="l">
              <a:lnSpc>
                <a:spcPct val="150000"/>
              </a:lnSpc>
            </a:pPr>
            <a:r>
              <a:rPr sz="1280" b="1">
                <a:solidFill>
                  <a:srgbClr val="FAF8F3"/>
                </a:solidFill>
                <a:latin typeface="Microsoft JhengHei"/>
              </a:rPr>
              <a:t>可撤銷的證據鏈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280" b="0">
                <a:solidFill>
                  <a:srgbClr val="FAF8F3"/>
                </a:solidFill>
                <a:latin typeface="Microsoft JhengHei"/>
              </a:rPr>
              <a:t>模型只提出意圖;</a:t>
            </a:r>
          </a:p>
          <a:p>
            <a:pPr algn="l">
              <a:lnSpc>
                <a:spcPct val="150000"/>
              </a:lnSpc>
            </a:pPr>
            <a:r>
              <a:rPr sz="1280" b="0">
                <a:solidFill>
                  <a:srgbClr val="FAF8F3"/>
                </a:solidFill>
                <a:latin typeface="Microsoft JhengHei"/>
              </a:rPr>
              <a:t>授權器、驗票與 timeout</a:t>
            </a:r>
          </a:p>
          <a:p>
            <a:pPr algn="l">
              <a:lnSpc>
                <a:spcPct val="150000"/>
              </a:lnSpc>
            </a:pPr>
            <a:r>
              <a:rPr sz="1280" b="0">
                <a:solidFill>
                  <a:srgbClr val="FAF8F3"/>
                </a:solidFill>
                <a:latin typeface="Microsoft JhengHei"/>
              </a:rPr>
              <a:t>決定能否動作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309360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firewall_lab/action_policy.json；跨主機鏈_2026-10-07/provenance_human.json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下一步,而方向被量測改掉了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2029968"/>
            <a:ext cx="10963656" cy="914400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2" y="219456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20" b="0">
                <a:solidFill>
                  <a:srgbClr val="2F302D"/>
                </a:solidFill>
                <a:latin typeface="Microsoft JhengHei"/>
              </a:rPr>
              <a:t>⇒ 需要的是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對良性背景不變的特徵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,或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每一次部署的校準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34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不是更多資料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（已有每類 76 場）,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也不是更好的學習器</a:t>
            </a:r>
            <a:r>
              <a:rPr sz="1420" b="0">
                <a:solidFill>
                  <a:srgbClr val="2F302D"/>
                </a:solidFill>
                <a:latin typeface="Microsoft JhengHei"/>
              </a:rPr>
              <a:t>（1-NN 只差 0.045）。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72384"/>
            <a:ext cx="14434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7559" y="3072384"/>
            <a:ext cx="9428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缺什麼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3346703"/>
            <a:ext cx="10963656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648" y="3474720"/>
            <a:ext cx="142518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效度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7559" y="3474720"/>
            <a:ext cx="94287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量清楚「良性背景」是什麼在變（Gazebo 初始條件、機器負載、</a:t>
            </a:r>
            <a:r>
              <a:rPr sz="1200" b="1">
                <a:solidFill>
                  <a:srgbClr val="86605F"/>
                </a:solidFill>
                <a:latin typeface="Microsoft JhengHei"/>
              </a:rPr>
              <a:t>code_revision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）——目前只量到它以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批次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為尺度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986783"/>
            <a:ext cx="142518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Enforce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7559" y="3986783"/>
            <a:ext cx="94287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本輪全部是 permissive;Enforce 的 CV、1-NN、批次效應都沒有量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498848"/>
            <a:ext cx="142518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未知攻擊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7559" y="4498848"/>
            <a:ext cx="94287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Enforce 的 24 格全是 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0.0000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 ⇒ 應用層沒有可調的東西,出路是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封包層 RTPS 身份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010912"/>
            <a:ext cx="142518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回應鏈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7559" y="5010912"/>
            <a:ext cx="94287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soak、多種攻擊、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正向對照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（合法遠端 participant 應判 AUTHORIZED 且不可封鎖）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522976"/>
            <a:ext cx="142518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攻擊面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7559" y="5522976"/>
            <a:ext cx="94287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三個缺口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沒有一個要寫新 runner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;分母來自一個已宣告 non-deployable 的合成模型 ⇒ 要重新決定定義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6053328"/>
            <a:ext cx="10332720" cy="76809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3816" y="6190488"/>
            <a:ext cx="99303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四個決定留給 Jesse:兩列百分比的下修幅度、</a:t>
            </a:r>
            <a:r>
              <a:rPr sz="1050" b="1">
                <a:solidFill>
                  <a:srgbClr val="86605F"/>
                </a:solidFill>
                <a:latin typeface="Microsoft JhengHei"/>
              </a:rPr>
              <a:t>all_policy_classes_present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的分母、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talker 與記憶體的分離實驗（刻意製造退化）、以及跨主機的正向對照（與現行威脅模型界線衝突）。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