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5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71" r:id="rId15"/>
    <p:sldId id="276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58" y="11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22231" y="0"/>
            <a:ext cx="2569464" cy="6858000"/>
          </a:xfrm>
          <a:prstGeom prst="rect">
            <a:avLst/>
          </a:prstGeom>
          <a:solidFill>
            <a:srgbClr val="65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A18F83"/>
                </a:solidFill>
                <a:latin typeface="Microsoft Jheng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921000"/>
            <a:ext cx="8636000" cy="889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4400" b="1" dirty="0" err="1">
                <a:solidFill>
                  <a:srgbClr val="2F302D"/>
                </a:solidFill>
                <a:latin typeface="Microsoft JhengHei"/>
              </a:rPr>
              <a:t>三個半月，</a:t>
            </a:r>
            <a:r>
              <a:rPr sz="4400" b="1" dirty="0" err="1">
                <a:solidFill>
                  <a:srgbClr val="86605F"/>
                </a:solidFill>
                <a:latin typeface="Microsoft JhengHei"/>
              </a:rPr>
              <a:t>證明它有效</a:t>
            </a:r>
            <a:r>
              <a:rPr sz="4400" b="1" dirty="0">
                <a:solidFill>
                  <a:srgbClr val="2F302D"/>
                </a:solidFill>
                <a:latin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651000"/>
            <a:ext cx="2032000" cy="381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AF8F3"/>
                </a:solidFill>
                <a:latin typeface="Microsoft JhengHei"/>
              </a:rPr>
              <a:t>318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D1CCC4"/>
                </a:solidFill>
                <a:latin typeface="Microsoft JhengHei"/>
              </a:rPr>
              <a:t>新 commit</a:t>
            </a:r>
          </a:p>
          <a:p>
            <a:pPr algn="l">
              <a:lnSpc>
                <a:spcPct val="130000"/>
              </a:lnSpc>
            </a:pPr>
            <a:endParaRPr sz="2400" b="0">
              <a:solidFill>
                <a:srgbClr val="D1CCC4"/>
              </a:solidFill>
              <a:latin typeface="Microsoft JhengHei"/>
            </a:endParaRP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FAF8F3"/>
                </a:solidFill>
                <a:latin typeface="Microsoft JhengHei"/>
              </a:rPr>
              <a:t>6,154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D1CCC4"/>
                </a:solidFill>
                <a:latin typeface="Microsoft JhengHei"/>
              </a:rPr>
              <a:t>場攻防</a:t>
            </a:r>
          </a:p>
          <a:p>
            <a:pPr algn="l">
              <a:lnSpc>
                <a:spcPct val="130000"/>
              </a:lnSpc>
            </a:pPr>
            <a:endParaRPr sz="2400" b="0">
              <a:solidFill>
                <a:srgbClr val="D1CCC4"/>
              </a:solidFill>
              <a:latin typeface="Microsoft JhengHei"/>
            </a:endParaRP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FAF8F3"/>
                </a:solidFill>
                <a:latin typeface="Microsoft JhengHei"/>
              </a:rPr>
              <a:t>1,767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D1CCC4"/>
                </a:solidFill>
                <a:latin typeface="Microsoft JhengHei"/>
              </a:rPr>
              <a:t>個測試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5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>
                <a:solidFill>
                  <a:srgbClr val="2F302D"/>
                </a:solidFill>
                <a:latin typeface="Microsoft JhengHei"/>
              </a:rPr>
              <a:t>真正會擋攻擊的那部分，幾乎沒有變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717039"/>
            <a:ext cx="1722729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600" b="0" spc="100">
                <a:solidFill>
                  <a:srgbClr val="76675C"/>
                </a:solidFill>
                <a:latin typeface="Microsoft JhengHei"/>
              </a:rPr>
              <a:t>目錄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2123440"/>
            <a:ext cx="10241280" cy="12798"/>
          </a:xfrm>
          <a:prstGeom prst="rect">
            <a:avLst/>
          </a:prstGeom>
          <a:solidFill>
            <a:srgbClr val="EA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2288642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src/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9400" y="2288642"/>
            <a:ext cx="80264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  <a:tabLst>
                <a:tab pos="4191000" algn="l"/>
                <a:tab pos="5461000" algn="l"/>
              </a:tabLst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防守端的 ROS 2 節點（真正在擋攻擊的）	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37 → 45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	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只長 1.2 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656942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紅隊測試/PoC腳本/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9400" y="2656942"/>
            <a:ext cx="80264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  <a:tabLst>
                <a:tab pos="4191000" algn="l"/>
                <a:tab pos="5461000" algn="l"/>
              </a:tabLst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攻擊腳本	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25 → 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025242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展示指令/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9400" y="3025242"/>
            <a:ext cx="80264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  <a:tabLst>
                <a:tab pos="4191000" algn="l"/>
                <a:tab pos="5461000" algn="l"/>
              </a:tabLst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啟動腳本	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20 → 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393541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firewall_lab/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9400" y="3393541"/>
            <a:ext cx="80264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  <a:tabLst>
                <a:tab pos="4191000" algn="l"/>
                <a:tab pos="5461000" algn="l"/>
              </a:tabLst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資料工廠、特徵、決策、證據治理	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0 → 84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	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從無到有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3761841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工具腳本/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9400" y="3761841"/>
            <a:ext cx="80264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  <a:tabLst>
                <a:tab pos="4191000" algn="l"/>
                <a:tab pos="5461000" algn="l"/>
              </a:tabLst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量測與稽核工具	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3 → 90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	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30 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130141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tests/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9400" y="4130141"/>
            <a:ext cx="80264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  <a:tabLst>
                <a:tab pos="4191000" algn="l"/>
                <a:tab pos="5461000" algn="l"/>
              </a:tabLst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測試檔	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2 → 105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	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52.5 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498442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文件/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9400" y="4498442"/>
            <a:ext cx="80264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  <a:tabLst>
                <a:tab pos="4191000" algn="l"/>
                <a:tab pos="5461000" algn="l"/>
              </a:tabLst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報告、帳本、實驗紀錄	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14 → 567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	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40.5 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" y="5040985"/>
            <a:ext cx="10241280" cy="838200"/>
          </a:xfrm>
          <a:prstGeom prst="rect">
            <a:avLst/>
          </a:prstGeom>
          <a:solidFill>
            <a:srgbClr val="EA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3816" y="5193385"/>
            <a:ext cx="9838944" cy="533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2F302D"/>
                </a:solidFill>
                <a:latin typeface="Microsoft JhengHei"/>
              </a:rPr>
              <a:t>真正會擋攻擊的那部分只長了 1.2 倍，而驗證它的那部分長了 30 到 52 倍。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　整段期間 976 個檔案變動、新增 342,406 行、</a:t>
            </a:r>
            <a:r>
              <a:rPr sz="1400" b="1">
                <a:solidFill>
                  <a:srgbClr val="2F302D"/>
                </a:solidFill>
                <a:latin typeface="Microsoft JhengHei"/>
              </a:rPr>
              <a:t>而刪除只有 1,500 行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 ⇒ 這不是「寫錯再重寫」，是一直往外長。</a:t>
            </a:r>
          </a:p>
        </p:txBody>
      </p:sp>
    </p:spTree>
    <p:extLst>
      <p:ext uri="{BB962C8B-B14F-4D97-AF65-F5344CB8AC3E}">
        <p14:creationId xmlns:p14="http://schemas.microsoft.com/office/powerpoint/2010/main" val="3900234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716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6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>
                <a:solidFill>
                  <a:srgbClr val="2F302D"/>
                </a:solidFill>
                <a:latin typeface="Microsoft JhengHei"/>
              </a:rPr>
              <a:t>四件事，而它們吃掉的東西不一樣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1717039"/>
            <a:ext cx="2395728" cy="965200"/>
          </a:xfrm>
          <a:prstGeom prst="rect">
            <a:avLst/>
          </a:prstGeom>
          <a:solidFill>
            <a:srgbClr val="D1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869439"/>
            <a:ext cx="2084832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吃機器時間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48840"/>
            <a:ext cx="2084832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2F302D"/>
                </a:solidFill>
                <a:latin typeface="Microsoft JhengHei"/>
              </a:rPr>
              <a:t>做假攻擊收資料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18104" y="1717039"/>
            <a:ext cx="2395728" cy="965200"/>
          </a:xfrm>
          <a:prstGeom prst="rect">
            <a:avLst/>
          </a:prstGeom>
          <a:solidFill>
            <a:srgbClr val="86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73552" y="1869439"/>
            <a:ext cx="2084832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FAF8F3"/>
                </a:solidFill>
                <a:latin typeface="Microsoft JhengHei"/>
              </a:rPr>
              <a:t>吃人的時間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2148840"/>
            <a:ext cx="2084832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FAF8F3"/>
                </a:solidFill>
                <a:latin typeface="Microsoft JhengHei"/>
              </a:rPr>
              <a:t>修量測工具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1717039"/>
            <a:ext cx="2395728" cy="965200"/>
          </a:xfrm>
          <a:prstGeom prst="rect">
            <a:avLst/>
          </a:prstGeom>
          <a:solidFill>
            <a:srgbClr val="D1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79008" y="1869439"/>
            <a:ext cx="2084832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吃腦力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9008" y="2148840"/>
            <a:ext cx="2084832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2F302D"/>
                </a:solidFill>
                <a:latin typeface="Microsoft JhengHei"/>
              </a:rPr>
              <a:t>推翻自己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1717039"/>
            <a:ext cx="2395728" cy="965200"/>
          </a:xfrm>
          <a:prstGeom prst="rect">
            <a:avLst/>
          </a:prstGeom>
          <a:solidFill>
            <a:srgbClr val="D1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84464" y="1869439"/>
            <a:ext cx="2084832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比想像中多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148840"/>
            <a:ext cx="2084832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2F302D"/>
                </a:solidFill>
                <a:latin typeface="Microsoft JhengHei"/>
              </a:rPr>
              <a:t>寫文件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901696"/>
            <a:ext cx="187634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做假攻擊、收資料</a:t>
            </a:r>
            <a:endParaRPr sz="1600" b="1" dirty="0">
              <a:solidFill>
                <a:srgbClr val="2F302D"/>
              </a:solidFill>
              <a:latin typeface="Microsoft Jheng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507284" y="2901696"/>
            <a:ext cx="8346643" cy="914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 dirty="0" err="1">
                <a:solidFill>
                  <a:srgbClr val="66665F"/>
                </a:solidFill>
                <a:latin typeface="Microsoft JhengHei"/>
              </a:rPr>
              <a:t>讓程式自己扮演攻擊者去打自己的機器人，每一場錄下所有證據</a:t>
            </a:r>
            <a:r>
              <a:rPr sz="1600" b="0" dirty="0">
                <a:solidFill>
                  <a:srgbClr val="66665F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30000"/>
              </a:lnSpc>
            </a:pP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四批共</a:t>
            </a:r>
            <a:r>
              <a:rPr sz="1600" b="1" dirty="0">
                <a:solidFill>
                  <a:srgbClr val="2F302D"/>
                </a:solidFill>
                <a:latin typeface="Microsoft JhengHei"/>
              </a:rPr>
              <a:t> 6,154 </a:t>
            </a: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場</a:t>
            </a:r>
            <a:r>
              <a:rPr sz="1600" b="0" dirty="0" err="1">
                <a:solidFill>
                  <a:srgbClr val="66665F"/>
                </a:solidFill>
                <a:latin typeface="Microsoft JhengHei"/>
              </a:rPr>
              <a:t>；光最後那批</a:t>
            </a:r>
            <a:r>
              <a:rPr sz="1600" b="0" dirty="0">
                <a:solidFill>
                  <a:srgbClr val="66665F"/>
                </a:solidFill>
                <a:latin typeface="Microsoft JhengHei"/>
              </a:rPr>
              <a:t> 3,837 </a:t>
            </a:r>
            <a:r>
              <a:rPr sz="1600" b="0" dirty="0" err="1">
                <a:solidFill>
                  <a:srgbClr val="66665F"/>
                </a:solidFill>
                <a:latin typeface="Microsoft JhengHei"/>
              </a:rPr>
              <a:t>場，用量到的</a:t>
            </a:r>
            <a:r>
              <a:rPr sz="1600" b="0" dirty="0">
                <a:solidFill>
                  <a:srgbClr val="66665F"/>
                </a:solidFill>
                <a:latin typeface="Microsoft JhengHei"/>
              </a:rPr>
              <a:t> 37–39 </a:t>
            </a:r>
            <a:r>
              <a:rPr sz="1600" b="0" dirty="0" err="1">
                <a:solidFill>
                  <a:srgbClr val="66665F"/>
                </a:solidFill>
                <a:latin typeface="Microsoft JhengHei"/>
              </a:rPr>
              <a:t>場／小時推算就是</a:t>
            </a: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約</a:t>
            </a:r>
            <a:r>
              <a:rPr sz="1600" b="1" dirty="0">
                <a:solidFill>
                  <a:srgbClr val="2F302D"/>
                </a:solidFill>
                <a:latin typeface="Microsoft JhengHei"/>
              </a:rPr>
              <a:t> 100 </a:t>
            </a: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小時</a:t>
            </a:r>
            <a:r>
              <a:rPr sz="1600" b="0" dirty="0" err="1">
                <a:solidFill>
                  <a:srgbClr val="66665F"/>
                </a:solidFill>
                <a:latin typeface="Microsoft JhengHei"/>
              </a:rPr>
              <a:t>，而且必須連續跑</a:t>
            </a:r>
            <a:r>
              <a:rPr sz="1600" b="0" dirty="0">
                <a:solidFill>
                  <a:srgbClr val="66665F"/>
                </a:solidFill>
                <a:latin typeface="Microsoft JhengHei"/>
              </a:rPr>
              <a:t> ⇒ </a:t>
            </a:r>
            <a:r>
              <a:rPr sz="1600" b="1" dirty="0">
                <a:solidFill>
                  <a:srgbClr val="86605F"/>
                </a:solidFill>
                <a:latin typeface="Microsoft JhengHei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3879596"/>
            <a:ext cx="187634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修量測工具</a:t>
            </a:r>
            <a:endParaRPr sz="1600" b="1" dirty="0">
              <a:solidFill>
                <a:srgbClr val="2F302D"/>
              </a:solidFill>
              <a:latin typeface="Microsoft JhengHe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507284" y="3879596"/>
            <a:ext cx="8346643" cy="914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 dirty="0" err="1">
                <a:solidFill>
                  <a:srgbClr val="66665F"/>
                </a:solidFill>
                <a:latin typeface="Microsoft JhengHei"/>
              </a:rPr>
              <a:t>最不直覺的一個。攻擊程式</a:t>
            </a: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回報送出</a:t>
            </a:r>
            <a:r>
              <a:rPr sz="1600" b="1" dirty="0">
                <a:solidFill>
                  <a:srgbClr val="2F302D"/>
                </a:solidFill>
                <a:latin typeface="Microsoft JhengHei"/>
              </a:rPr>
              <a:t> 1,223 </a:t>
            </a: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萬筆訊息，實際上一筆都沒離開</a:t>
            </a:r>
            <a:r>
              <a:rPr sz="1600" b="0" dirty="0" err="1">
                <a:solidFill>
                  <a:srgbClr val="66665F"/>
                </a:solidFill>
                <a:latin typeface="Microsoft JhengHei"/>
              </a:rPr>
              <a:t>；錄封包的工具</a:t>
            </a: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開在錯的網路介面上</a:t>
            </a:r>
            <a:r>
              <a:rPr sz="1600" b="0" dirty="0" err="1">
                <a:solidFill>
                  <a:srgbClr val="66665F"/>
                </a:solidFill>
                <a:latin typeface="Microsoft JhengHei"/>
              </a:rPr>
              <a:t>；一個檢查工具去讀一個不存在的欄位，於是對</a:t>
            </a:r>
            <a:r>
              <a:rPr sz="1600" b="0" dirty="0">
                <a:solidFill>
                  <a:srgbClr val="66665F"/>
                </a:solidFill>
                <a:latin typeface="Microsoft JhengHei"/>
              </a:rPr>
              <a:t> 2,053 </a:t>
            </a:r>
            <a:r>
              <a:rPr sz="1600" b="0" dirty="0" err="1">
                <a:solidFill>
                  <a:srgbClr val="66665F"/>
                </a:solidFill>
                <a:latin typeface="Microsoft JhengHei"/>
              </a:rPr>
              <a:t>場全部回報「沒問題</a:t>
            </a:r>
            <a:r>
              <a:rPr sz="1600" b="0" dirty="0">
                <a:solidFill>
                  <a:srgbClr val="66665F"/>
                </a:solidFill>
                <a:latin typeface="Microsoft JhengHei"/>
              </a:rPr>
              <a:t>」。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857496"/>
            <a:ext cx="187634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跑實驗、推翻</a:t>
            </a:r>
            <a:endParaRPr sz="1600" b="1" dirty="0">
              <a:solidFill>
                <a:srgbClr val="2F302D"/>
              </a:solidFill>
              <a:latin typeface="Microsoft Jheng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507284" y="4857496"/>
            <a:ext cx="8346643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 dirty="0">
                <a:solidFill>
                  <a:srgbClr val="66665F"/>
                </a:solidFill>
                <a:latin typeface="Microsoft JhengHei"/>
              </a:rPr>
              <a:t>模型那一半有一半的工作是在否證自己上一輪的結論。最極端的一次是</a:t>
            </a:r>
            <a:r>
              <a:rPr sz="1600" b="1" dirty="0">
                <a:solidFill>
                  <a:srgbClr val="2F302D"/>
                </a:solidFill>
                <a:latin typeface="Microsoft JhengHei"/>
              </a:rPr>
              <a:t>一個看起來完美（1.0000）的成績，被證明從來沒有在度量它宣稱的那件事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5530596"/>
            <a:ext cx="187634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寫文件</a:t>
            </a:r>
            <a:endParaRPr sz="1600" b="1" dirty="0">
              <a:solidFill>
                <a:srgbClr val="2F302D"/>
              </a:solidFill>
              <a:latin typeface="Microsoft Jheng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507284" y="5530596"/>
            <a:ext cx="8346643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文件/ 從 14 長到 567，但大多數不是「報告」而是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實驗紀錄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：每一輪的預測、量到的數字、以及哪個假設被推翻了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6445250"/>
            <a:ext cx="10160000" cy="2095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5F"/>
                </a:solidFill>
                <a:latin typeface="Microsoft JhengHei"/>
              </a:rPr>
              <a:t>逐月新增 commit：7 月 5／8 月 131／9 月 103／10 月 80。「哪個桶最吃人的時間」是判斷不是量測 —— 這個專題沒有工時紀錄。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5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 dirty="0" err="1">
                <a:solidFill>
                  <a:srgbClr val="2F302D"/>
                </a:solidFill>
                <a:latin typeface="Microsoft JhengHei"/>
              </a:rPr>
              <a:t>一次自己打自己的實驗，指出要害在哪</a:t>
            </a:r>
            <a:endParaRPr sz="3200" b="1" dirty="0">
              <a:solidFill>
                <a:srgbClr val="2F302D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2648" y="1717039"/>
            <a:ext cx="187634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做了什麼實驗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7284" y="1717039"/>
            <a:ext cx="8346643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把簽發憑證的那把金鑰設成所有人可讀 ⇒ 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偽造成功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；而只從網路上攻、拿不到那把金鑰的攻擊者 ⇒ 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進不來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390140"/>
            <a:ext cx="187634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得到什麼結論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7284" y="2390140"/>
            <a:ext cx="8346643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要害是金鑰的保管，不是協定本身</a:t>
            </a:r>
            <a:endParaRPr sz="1600" b="1" dirty="0">
              <a:solidFill>
                <a:srgbClr val="2F302D"/>
              </a:solidFill>
              <a:latin typeface="Microsoft Jheng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2648" y="2758440"/>
            <a:ext cx="187634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於是改了什麼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7284" y="2758440"/>
            <a:ext cx="8346643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把兩種憑證的簽發權分開（身份用一把 CA、權限用另一把）、把原本用通用符號開放的權限收緊成逐項列舉、寫了 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28 項離線稽核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431540"/>
            <a:ext cx="187634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誠實地沒做的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7284" y="3431540"/>
            <a:ext cx="8346643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 dirty="0">
                <a:solidFill>
                  <a:srgbClr val="66665F"/>
                </a:solidFill>
                <a:latin typeface="Microsoft JhengHei"/>
              </a:rPr>
              <a:t>Windows </a:t>
            </a:r>
            <a:r>
              <a:rPr sz="1600" b="0" dirty="0" err="1">
                <a:solidFill>
                  <a:srgbClr val="66665F"/>
                </a:solidFill>
                <a:latin typeface="Microsoft JhengHei"/>
              </a:rPr>
              <a:t>那一側的加固</a:t>
            </a: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結構上做不了</a:t>
            </a:r>
            <a:r>
              <a:rPr sz="1600" b="0" dirty="0" err="1">
                <a:solidFill>
                  <a:srgbClr val="66665F"/>
                </a:solidFill>
                <a:latin typeface="Microsoft JhengHei"/>
              </a:rPr>
              <a:t>：腳本量到自己沒有管理員身分，所以它不做，而不是假裝做了</a:t>
            </a:r>
            <a:endParaRPr sz="1600" b="0" dirty="0">
              <a:solidFill>
                <a:srgbClr val="66665F"/>
              </a:solidFill>
              <a:latin typeface="Microsoft Jheng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12648" y="4295140"/>
            <a:ext cx="10241280" cy="1104900"/>
          </a:xfrm>
          <a:prstGeom prst="rect">
            <a:avLst/>
          </a:prstGeom>
          <a:solidFill>
            <a:srgbClr val="EA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6" y="4447540"/>
            <a:ext cx="9838944" cy="8001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66665F"/>
                </a:solidFill>
                <a:latin typeface="Microsoft JhengHei"/>
              </a:rPr>
              <a:t>而機器學習那一半當時</a:t>
            </a:r>
            <a:r>
              <a:rPr sz="1400" b="1" dirty="0">
                <a:solidFill>
                  <a:srgbClr val="2F302D"/>
                </a:solidFill>
                <a:latin typeface="Microsoft JhengHei"/>
              </a:rPr>
              <a:t>連「有沒有人在攻擊」這一題都還不行</a:t>
            </a:r>
            <a:r>
              <a:rPr sz="1400" b="0" dirty="0">
                <a:solidFill>
                  <a:srgbClr val="66665F"/>
                </a:solidFill>
                <a:latin typeface="Microsoft JhengHei"/>
              </a:rPr>
              <a:t>：用自己的弱標籤資料，PR-AUC（0 到 1 </a:t>
            </a:r>
            <a:r>
              <a:rPr sz="1400" b="0" dirty="0" err="1">
                <a:solidFill>
                  <a:srgbClr val="66665F"/>
                </a:solidFill>
                <a:latin typeface="Microsoft JhengHei"/>
              </a:rPr>
              <a:t>的分數，越高越好</a:t>
            </a:r>
            <a:r>
              <a:rPr sz="1400" b="0" dirty="0">
                <a:solidFill>
                  <a:srgbClr val="66665F"/>
                </a:solidFill>
                <a:latin typeface="Microsoft JhengHei"/>
              </a:rPr>
              <a:t>）</a:t>
            </a:r>
            <a:r>
              <a:rPr sz="1400" b="1" dirty="0">
                <a:solidFill>
                  <a:srgbClr val="2F302D"/>
                </a:solidFill>
                <a:latin typeface="Microsoft JhengHei"/>
              </a:rPr>
              <a:t> 0.20 → 0.25</a:t>
            </a:r>
            <a:r>
              <a:rPr sz="1400" b="0" dirty="0">
                <a:solidFill>
                  <a:srgbClr val="66665F"/>
                </a:solidFill>
                <a:latin typeface="Microsoft JhengHei"/>
              </a:rPr>
              <a:t>；而同一套方法在公開的 RTPS </a:t>
            </a:r>
            <a:r>
              <a:rPr sz="1400" b="0" dirty="0" err="1">
                <a:solidFill>
                  <a:srgbClr val="66665F"/>
                </a:solidFill>
                <a:latin typeface="Microsoft JhengHei"/>
              </a:rPr>
              <a:t>攻擊資料集上是</a:t>
            </a:r>
            <a:r>
              <a:rPr sz="1400" b="0" dirty="0">
                <a:solidFill>
                  <a:srgbClr val="66665F"/>
                </a:solidFill>
                <a:latin typeface="Microsoft JhengHei"/>
              </a:rPr>
              <a:t> </a:t>
            </a:r>
            <a:r>
              <a:rPr sz="1400" b="1" dirty="0">
                <a:solidFill>
                  <a:srgbClr val="2F302D"/>
                </a:solidFill>
                <a:latin typeface="Microsoft JhengHei"/>
              </a:rPr>
              <a:t>0.98</a:t>
            </a:r>
            <a:r>
              <a:rPr sz="1400" b="0" dirty="0">
                <a:solidFill>
                  <a:srgbClr val="66665F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45000"/>
              </a:lnSpc>
            </a:pPr>
            <a:r>
              <a:rPr sz="1400" b="0" dirty="0">
                <a:solidFill>
                  <a:srgbClr val="66665F"/>
                </a:solidFill>
                <a:latin typeface="Microsoft JhengHei"/>
              </a:rPr>
              <a:t>　</a:t>
            </a:r>
            <a:r>
              <a:rPr sz="1400" b="1" dirty="0" err="1">
                <a:solidFill>
                  <a:srgbClr val="86605F"/>
                </a:solidFill>
                <a:latin typeface="Microsoft JhengHei"/>
              </a:rPr>
              <a:t>自己的資料對公開資料集差這麼多，就是後面三個半月要回答的第一個問題</a:t>
            </a:r>
            <a:r>
              <a:rPr sz="1400" b="1" dirty="0">
                <a:solidFill>
                  <a:srgbClr val="86605F"/>
                </a:solidFill>
                <a:latin typeface="Microsoft JhengHei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6445250"/>
            <a:ext cx="10160000" cy="2095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5F"/>
                </a:solidFill>
                <a:latin typeface="Microsoft JhengHei"/>
              </a:rPr>
              <a:t>另外修掉一支攻擊腳本自己會崩潰的 bug：雷射掃描的角度上下界相等時除以零。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5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660400"/>
            <a:ext cx="5486400" cy="2667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120">
                <a:solidFill>
                  <a:srgbClr val="76675C"/>
                </a:solidFill>
                <a:latin typeface="Microsoft JhengHei"/>
              </a:rPr>
              <a:t>階段 1　08-06 → 08-21　33 個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>
                <a:solidFill>
                  <a:srgbClr val="2F302D"/>
                </a:solidFill>
                <a:latin typeface="Microsoft JhengHei"/>
              </a:rPr>
              <a:t>資料工廠：跑出 1,100 場，然後發現兩個洞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1717039"/>
            <a:ext cx="2395728" cy="965200"/>
          </a:xfrm>
          <a:prstGeom prst="rect">
            <a:avLst/>
          </a:prstGeom>
          <a:solidFill>
            <a:srgbClr val="65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869439"/>
            <a:ext cx="2084832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FAF8F3"/>
                </a:solidFill>
                <a:latin typeface="Microsoft JhengHei"/>
              </a:rPr>
              <a:t>正式 campaign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48840"/>
            <a:ext cx="2084832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FAF8F3"/>
                </a:solidFill>
                <a:latin typeface="Microsoft JhengHei"/>
              </a:rPr>
              <a:t>1,100 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18104" y="1717039"/>
            <a:ext cx="2395728" cy="965200"/>
          </a:xfrm>
          <a:prstGeom prst="rect">
            <a:avLst/>
          </a:prstGeom>
          <a:solidFill>
            <a:srgbClr val="D1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73552" y="1869439"/>
            <a:ext cx="2084832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證據檔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2148840"/>
            <a:ext cx="2084832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2F302D"/>
                </a:solidFill>
                <a:latin typeface="Microsoft JhengHei"/>
              </a:rPr>
              <a:t>19,204 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1717039"/>
            <a:ext cx="2395728" cy="965200"/>
          </a:xfrm>
          <a:prstGeom prst="rect">
            <a:avLst/>
          </a:prstGeom>
          <a:solidFill>
            <a:srgbClr val="D1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79008" y="1869439"/>
            <a:ext cx="2084832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雜湊失配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9008" y="2148840"/>
            <a:ext cx="2084832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2F302D"/>
                </a:solidFill>
                <a:latin typeface="Microsoft JhengHei"/>
              </a:rPr>
              <a:t>0 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1717039"/>
            <a:ext cx="2395728" cy="965200"/>
          </a:xfrm>
          <a:prstGeom prst="rect">
            <a:avLst/>
          </a:prstGeom>
          <a:solidFill>
            <a:srgbClr val="86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84464" y="1869439"/>
            <a:ext cx="2084832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FAF8F3"/>
                </a:solidFill>
                <a:latin typeface="Microsoft JhengHei"/>
              </a:rPr>
              <a:t>單日 commit 最高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148840"/>
            <a:ext cx="2084832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FAF8F3"/>
                </a:solidFill>
                <a:latin typeface="Microsoft JhengHei"/>
              </a:rPr>
              <a:t>27 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883408"/>
            <a:ext cx="254000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決定後面所有事的那件事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75000" y="2883408"/>
            <a:ext cx="767080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從網路流量就能認出系統有沒有開安全模式（可分離度 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0.9451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，門檻 0.70）⇒ 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兩種模式必須分開訓練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3556508"/>
            <a:ext cx="2540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第一個洞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75000" y="3556508"/>
            <a:ext cx="76708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參數竄改攻擊的遙測，掛在一個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攻擊流量到不了的層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3924808"/>
            <a:ext cx="2540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第二個洞（更嚴重）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5000" y="3924808"/>
            <a:ext cx="7670800" cy="914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重放攻擊的腳本通訊設定與防守端不相容，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底層直接不投遞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。50 場裡 50 場都有不相容的日誌，而 9,502 筆簽章檢查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全部是通過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 ⇒ 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防重放的主要防線，在正式資料裡一次都沒有被走過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4902708"/>
            <a:ext cx="2540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修好之後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75000" y="4902708"/>
            <a:ext cx="767080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用同樣的設定重跑 300 場，那兩類從 0.375／0.429 升到 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1.000／1.000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，而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沒有被修的類別沒有動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 ⇒ 提升來自那兩個修正，不是「新資料比較乾淨」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6445250"/>
            <a:ext cx="10160000" cy="2095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5F"/>
                </a:solidFill>
                <a:latin typeface="Microsoft JhengHei"/>
              </a:rPr>
              <a:t>「沒有被修的類別沒有動」那一句是刻意設的對照 —— 它排除了批次效應這個解釋。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6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 dirty="0">
                <a:solidFill>
                  <a:srgbClr val="2F302D"/>
                </a:solidFill>
                <a:latin typeface="Microsoft JhengHei"/>
              </a:rPr>
              <a:t>「</a:t>
            </a:r>
            <a:r>
              <a:rPr sz="3200" b="1" dirty="0" err="1">
                <a:solidFill>
                  <a:srgbClr val="2F302D"/>
                </a:solidFill>
                <a:latin typeface="Microsoft JhengHei"/>
              </a:rPr>
              <a:t>這個</a:t>
            </a:r>
            <a:r>
              <a:rPr sz="3200" b="1" dirty="0">
                <a:solidFill>
                  <a:srgbClr val="2F302D"/>
                </a:solidFill>
                <a:latin typeface="Microsoft JhengHei"/>
              </a:rPr>
              <a:t> IP </a:t>
            </a:r>
            <a:r>
              <a:rPr sz="3200" b="1" dirty="0" err="1">
                <a:solidFill>
                  <a:srgbClr val="2F302D"/>
                </a:solidFill>
                <a:latin typeface="Microsoft JhengHei"/>
              </a:rPr>
              <a:t>真的是攻擊者嗎」要怎麼證明</a:t>
            </a:r>
            <a:endParaRPr sz="3200" b="1" dirty="0">
              <a:solidFill>
                <a:srgbClr val="2F302D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2648" y="1717039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做法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0000" y="1717039"/>
            <a:ext cx="83058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在旁邊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多跑一個觀測程式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，而不是去改原本的系統 ⇒ 第一次拿到底層協定的遠端認證證據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085339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08-29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0000" y="2085339"/>
            <a:ext cx="83058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第一次有一場資料的「來源 IP 已驗證」是真的（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先前 1,101 場全部是假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453640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08-30 的 soak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0000" y="2453640"/>
            <a:ext cx="830580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8 小時無人值守、80 輪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：79 輪成立、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79 個互不相同的攻擊者識別碼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、而 80 輪裡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沒有一次把自己的 IP 誤判成攻擊者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" y="3300729"/>
            <a:ext cx="10241280" cy="1104900"/>
          </a:xfrm>
          <a:prstGeom prst="rect">
            <a:avLst/>
          </a:prstGeom>
          <a:solidFill>
            <a:srgbClr val="D1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" y="3453129"/>
            <a:ext cx="9838944" cy="8001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86605F"/>
                </a:solidFill>
                <a:latin typeface="Microsoft JhengHei"/>
              </a:rPr>
              <a:t>⚠️ 而 08-31 查出一個會讓既有結論失效的缺陷：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1,400 場的網路分析</a:t>
            </a:r>
            <a:r>
              <a:rPr sz="1400" b="1">
                <a:solidFill>
                  <a:srgbClr val="2F302D"/>
                </a:solidFill>
                <a:latin typeface="Microsoft JhengHei"/>
              </a:rPr>
              <a:t>全部少帶一個參數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，導致封包被整批丟掉、連線數</a:t>
            </a:r>
            <a:r>
              <a:rPr sz="1400" b="1">
                <a:solidFill>
                  <a:srgbClr val="2F302D"/>
                </a:solidFill>
                <a:latin typeface="Microsoft JhengHei"/>
              </a:rPr>
              <a:t>虛增 7.96 倍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；而且切時間窗的方式也錯了（真實流量跨 46 秒，但所有連線的起點擠在前 9 秒）。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　修法是改成逐封包切窗，而</a:t>
            </a:r>
            <a:r>
              <a:rPr sz="1400" b="1">
                <a:solidFill>
                  <a:srgbClr val="86605F"/>
                </a:solidFill>
                <a:latin typeface="Microsoft JhengHei"/>
              </a:rPr>
              <a:t>任何引用網路特徵數值的既有結論都要重做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 —— 包含先前訓練好的模型。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6445250"/>
            <a:ext cx="10160000" cy="2095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5F"/>
                </a:solidFill>
                <a:latin typeface="Microsoft JhengHei"/>
              </a:rPr>
              <a:t>那 79 個識別碼互不相同很重要：它證明機制對任意新身份都成立，不是某一次綁定剛好穩定。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6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>
                <a:solidFill>
                  <a:srgbClr val="2F302D"/>
                </a:solidFill>
                <a:latin typeface="Microsoft JhengHei"/>
              </a:rPr>
              <a:t>「換一個模型會不會更好」——答案幾乎都是不會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7039"/>
            <a:ext cx="197876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解析度本來就不夠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9697" y="1717039"/>
            <a:ext cx="824423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原本每個類別只有 3 場，所以「3 場全錯」就顯示成 0.000。換成 17 場之後，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真正永遠為零的類別從 5 個變成 1 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390140"/>
            <a:ext cx="197876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類神經網路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9697" y="2390140"/>
            <a:ext cx="824423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TCN／GRU 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六次比較沒有一次贏過樹模型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758440"/>
            <a:ext cx="197876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24 個學習法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9697" y="2758440"/>
            <a:ext cx="824423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前七名的差距只有 0.02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 —— 大約就是雜訊的量級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126740"/>
            <a:ext cx="197876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真正有用的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9697" y="3126740"/>
            <a:ext cx="824423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不是換模型，是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換問題的問法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：從「一個時間窗一次判斷」改成「一整場一次判斷」，Enforce 模式進步 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0.093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799840"/>
            <a:ext cx="197876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一個乾淨的否定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9697" y="3799840"/>
            <a:ext cx="824423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Enforce 模式的未知攻擊偵測掃完整個格子：3 種評分器 × 8 種規則，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24 格全部是 0.0000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" y="4628896"/>
            <a:ext cx="10241280" cy="838200"/>
          </a:xfrm>
          <a:prstGeom prst="rect">
            <a:avLst/>
          </a:prstGeom>
          <a:solidFill>
            <a:srgbClr val="D1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3816" y="4781296"/>
            <a:ext cx="9838944" cy="533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86605F"/>
                </a:solidFill>
                <a:latin typeface="Microsoft JhengHei"/>
              </a:rPr>
              <a:t>⚠️ 而這段最重要的發現是量測工具自己的缺陷：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切資料的工具</a:t>
            </a:r>
            <a:r>
              <a:rPr sz="1400" b="1">
                <a:solidFill>
                  <a:srgbClr val="2F302D"/>
                </a:solidFill>
                <a:latin typeface="Microsoft JhengHei"/>
              </a:rPr>
              <a:t>不會洗牌、也不吃隨機種子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，所以前面好幾輪的排名</a:t>
            </a:r>
            <a:r>
              <a:rPr sz="1400" b="1">
                <a:solidFill>
                  <a:srgbClr val="2F302D"/>
                </a:solidFill>
                <a:latin typeface="Microsoft JhengHei"/>
              </a:rPr>
              <a:t>全部來自同一個偏斜的切法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。修好之後排名重排，</a:t>
            </a:r>
            <a:r>
              <a:rPr sz="1400" b="1">
                <a:solidFill>
                  <a:srgbClr val="86605F"/>
                </a:solidFill>
                <a:latin typeface="Microsoft JhengHei"/>
              </a:rPr>
              <a:t>原本的第 1 名掉到第 4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。這是第 13 次。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5250"/>
            <a:ext cx="10160000" cy="2095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5F"/>
                </a:solidFill>
                <a:latin typeface="Microsoft JhengHei"/>
              </a:rPr>
              <a:t>那 24 格全零不是「還沒調好」，是一個可引用的否定結果：那條路在應用層已經沒有東西可調。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5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 dirty="0" err="1">
                <a:solidFill>
                  <a:srgbClr val="2F302D"/>
                </a:solidFill>
                <a:latin typeface="Microsoft JhengHei"/>
              </a:rPr>
              <a:t>工程問題，然後那條鏈第一次完整跑完</a:t>
            </a:r>
            <a:endParaRPr sz="3200" b="1" dirty="0">
              <a:solidFill>
                <a:srgbClr val="2F302D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2648" y="1717039"/>
            <a:ext cx="1024128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攻擊 → 證明這個 IP 是攻擊者 → 下封鎖 → 確認封包真的被丟掉 → 撤銷 → 確認恢復。九項檢查全過。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" y="2204720"/>
            <a:ext cx="3273552" cy="965200"/>
          </a:xfrm>
          <a:prstGeom prst="rect">
            <a:avLst/>
          </a:prstGeom>
          <a:solidFill>
            <a:srgbClr val="65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" y="2357120"/>
            <a:ext cx="2962656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FAF8F3"/>
                </a:solidFill>
                <a:latin typeface="Microsoft JhengHei"/>
              </a:rPr>
              <a:t>鏈的檢查項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36520"/>
            <a:ext cx="2962656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FAF8F3"/>
                </a:solidFill>
                <a:latin typeface="Microsoft JhengHei"/>
              </a:rPr>
              <a:t>九項全過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95928" y="2204720"/>
            <a:ext cx="3273552" cy="965200"/>
          </a:xfrm>
          <a:prstGeom prst="rect">
            <a:avLst/>
          </a:prstGeom>
          <a:solidFill>
            <a:srgbClr val="D1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51376" y="2357120"/>
            <a:ext cx="2962656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最後一批資料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51376" y="2636520"/>
            <a:ext cx="2962656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2F302D"/>
                </a:solidFill>
                <a:latin typeface="Microsoft JhengHei"/>
              </a:rPr>
              <a:t>3,553 場合格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79208" y="2204720"/>
            <a:ext cx="3474720" cy="965200"/>
          </a:xfrm>
          <a:prstGeom prst="rect">
            <a:avLst/>
          </a:prstGeom>
          <a:solidFill>
            <a:srgbClr val="D1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34656" y="2357120"/>
            <a:ext cx="3163824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完成時間預估誤差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34656" y="2636520"/>
            <a:ext cx="3163824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2F302D"/>
                </a:solidFill>
                <a:latin typeface="Microsoft JhengHei"/>
              </a:rPr>
              <a:t>1 分 23 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371086"/>
            <a:ext cx="1671523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 dirty="0">
                <a:solidFill>
                  <a:srgbClr val="2F302D"/>
                </a:solidFill>
                <a:latin typeface="Microsoft JhengHei"/>
              </a:rPr>
              <a:t>最</a:t>
            </a:r>
            <a:r>
              <a:rPr lang="zh-TW" altLang="en-US" sz="1600" b="1" dirty="0">
                <a:solidFill>
                  <a:srgbClr val="2F302D"/>
                </a:solidFill>
                <a:latin typeface="Microsoft JhengHei"/>
              </a:rPr>
              <a:t>好</a:t>
            </a: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的一項</a:t>
            </a:r>
            <a:endParaRPr sz="1600" b="1" dirty="0">
              <a:solidFill>
                <a:srgbClr val="2F302D"/>
              </a:solidFill>
              <a:latin typeface="Microsoft JhengHe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302459" y="3371086"/>
            <a:ext cx="8551468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封鎖票上的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證據編號，就是那份歸因報告檔案自己的指紋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（SHA-256）⇒ 「是這份證據授權了這次封鎖」可以事後用密碼學證明，不是靠日誌的自述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4044186"/>
            <a:ext cx="1671523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三個工程問題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02459" y="4044186"/>
            <a:ext cx="8551468" cy="914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三層等待窗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反過來了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（日誌寫「系統起不來」，而系統其實是好的，是被自己的保險機制刻意停掉的）；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94 個殘留程序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而清理規則 16 條全部只涵蓋防守端；特徵抽取把整台機器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卡住 71 分鐘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022086"/>
            <a:ext cx="1671523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誰按下去的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2459" y="5022086"/>
            <a:ext cx="8551468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第一次核准片語是程式代打的，所以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請本人親手輸入重跑一次，九項再次全過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。而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兩次產物裡那個「人工核准」欄位逐字相同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 ⇒ 程式分不出是誰按的，這件事只能由外部紀錄承載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6445250"/>
            <a:ext cx="10160000" cy="2095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5F"/>
                </a:solidFill>
                <a:latin typeface="Microsoft JhengHei"/>
              </a:rPr>
              <a:t>3,553 場這個數字被兩條互相獨立的方法算出來，逐位相同。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5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lang="zh-TW" altLang="en-US" sz="3200" b="1" dirty="0">
                <a:solidFill>
                  <a:srgbClr val="2F302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驗證集</a:t>
            </a:r>
            <a:endParaRPr sz="3200" b="1" dirty="0">
              <a:solidFill>
                <a:srgbClr val="2F302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9600" y="1717039"/>
            <a:ext cx="102362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四份考卷封印、跑完整條驗收流程，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第一次拿到「只讀過一次」的成績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085339"/>
            <a:ext cx="102362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那幾輪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全是理解而不是改進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：每一輪都先寫下預測再去量，而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幾乎每一輪的主要假設都被自己的量測否證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641600"/>
            <a:ext cx="1671523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第一次的成績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2459" y="2641600"/>
            <a:ext cx="855146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「有沒有人在攻擊」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1.0000／0.9151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　　「是哪一種攻擊」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0.4655／0.4228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（門檻 0.80）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6445250"/>
            <a:ext cx="10160000" cy="2095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5F"/>
                </a:solidFill>
                <a:latin typeface="Microsoft JhengHei"/>
              </a:rPr>
              <a:t>兩個數字分別是 Permissive 與 Enforce 兩種安全模式，模型分開訓練。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6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>
                <a:solidFill>
                  <a:srgbClr val="2F302D"/>
                </a:solidFill>
                <a:latin typeface="Microsoft JhengHei"/>
              </a:rPr>
              <a:t>「有人在攻擊」好判斷，「是哪一種」很難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1717039"/>
            <a:ext cx="10241280" cy="838200"/>
          </a:xfrm>
          <a:prstGeom prst="rect">
            <a:avLst/>
          </a:prstGeom>
          <a:solidFill>
            <a:srgbClr val="EA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3816" y="1869439"/>
            <a:ext cx="9838944" cy="533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86605F"/>
                </a:solidFill>
                <a:latin typeface="Microsoft JhengHei"/>
              </a:rPr>
              <a:t>⚠️ 先更正一個容易被誤讀的對照。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七月初那個 0.25 對 0.98，</a:t>
            </a:r>
            <a:r>
              <a:rPr sz="1400" b="1">
                <a:solidFill>
                  <a:srgbClr val="2F302D"/>
                </a:solidFill>
                <a:latin typeface="Microsoft JhengHei"/>
              </a:rPr>
              <a:t>兩個都是「有沒有人在攻擊」的分數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，不是「是哪一種」⇒ 當時的落差不在「二元對多類」，而在</a:t>
            </a:r>
            <a:r>
              <a:rPr sz="1400" b="1">
                <a:solidFill>
                  <a:srgbClr val="2F302D"/>
                </a:solidFill>
                <a:latin typeface="Microsoft JhengHei"/>
              </a:rPr>
              <a:t>自己的資料對公開資料集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0046" y="2792984"/>
            <a:ext cx="865388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有沒有人在攻擊（自己的弱標籤資料）　　　　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0.25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0046" y="3161284"/>
            <a:ext cx="865388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有沒有人在攻擊（公開的 RTPS 攻擊資料集）　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0.98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630676"/>
            <a:ext cx="1024128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也就是說，七月初連「有沒有人在攻擊」這一題，在自己的資料上都還不行。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998976"/>
            <a:ext cx="6604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600" b="0" spc="100" dirty="0">
                <a:solidFill>
                  <a:srgbClr val="76675C"/>
                </a:solidFill>
                <a:latin typeface="Microsoft JhengHei"/>
              </a:rPr>
              <a:t>2026-10-15，只讀過一次的封印考卷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7284" y="4367276"/>
            <a:ext cx="8346643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600" b="0" spc="100">
                <a:solidFill>
                  <a:srgbClr val="76675C"/>
                </a:solidFill>
                <a:latin typeface="Microsoft JhengHei"/>
              </a:rPr>
              <a:t>Permissive ／ Enforce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" y="4773676"/>
            <a:ext cx="10241280" cy="12798"/>
          </a:xfrm>
          <a:prstGeom prst="rect">
            <a:avLst/>
          </a:prstGeom>
          <a:solidFill>
            <a:srgbClr val="EA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4938878"/>
            <a:ext cx="187634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有沒有人在攻擊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7284" y="4938878"/>
            <a:ext cx="8346643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657065"/>
                </a:solidFill>
                <a:latin typeface="Microsoft JhengHei"/>
              </a:rPr>
              <a:t>1.0000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　／　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0.9151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　　　　接近滿分，這一題解決了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307178"/>
            <a:ext cx="187634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是哪一種攻擊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07284" y="5307178"/>
            <a:ext cx="8346643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6605F"/>
                </a:solidFill>
                <a:latin typeface="Microsoft JhengHei"/>
              </a:rPr>
              <a:t>0.4655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　／　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0.4228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　　　　門檻 0.80，不到一半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6445250"/>
            <a:ext cx="10160000" cy="2095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2F302D"/>
                </a:solidFill>
                <a:latin typeface="Microsoft JhengHei"/>
              </a:rPr>
              <a:t>同一批資料、同一批模型，一個接近滿分，一個不到一半。</a:t>
            </a:r>
            <a:r>
              <a:rPr sz="1100" b="0">
                <a:solidFill>
                  <a:srgbClr val="66665F"/>
                </a:solidFill>
                <a:latin typeface="Microsoft JhengHei"/>
              </a:rPr>
              <a:t>　而這個不對稱從七月初延續到現在 —— 只是難點整個轉移了。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6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>
                <a:solidFill>
                  <a:srgbClr val="2F302D"/>
                </a:solidFill>
                <a:latin typeface="Microsoft JhengHei"/>
              </a:rPr>
              <a:t>五層原因，三個半月逐層剝出來的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78000"/>
            <a:ext cx="29464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一　標籤跟證據對不上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1400" y="1778000"/>
            <a:ext cx="726440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300 場的「定義性證據」整個是空的 ⇒ 修好之後那兩類 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0.375／0.429 → 1.000／1.000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565400"/>
            <a:ext cx="29464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二　網路那半邊是壞的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1400" y="2565400"/>
            <a:ext cx="726440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1,400 場的分析少帶一個參數，連線數虛增 7.96 倍 ⇒ 修好之後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升最多的正好是當時最難的那兩類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352800"/>
            <a:ext cx="29464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三　有些攻擊沒有專屬痕跡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1400" y="3352800"/>
            <a:ext cx="726440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一個類別要被認出來，必須留下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只有它會留下的痕跡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。而 Enforce 模式下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八個類別沒有任何專屬痕跡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，兩兩之間 28 組全部分不開 ⇒ 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這一層是真正的天花板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4140200"/>
            <a:ext cx="29464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四　防禦越有效，痕跡越少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1400" y="4140200"/>
            <a:ext cx="7264400" cy="914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最反直覺的一層。Enforce 會把攻擊者在握手階段就擋掉，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所以它連應用層都進不來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 ⇒ 量化之後，整個 18 項的應用層遙測對「是哪一種」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只值 0.0009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，幾乎是零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22231" y="0"/>
            <a:ext cx="2569464" cy="6858000"/>
          </a:xfrm>
          <a:prstGeom prst="rect">
            <a:avLst/>
          </a:prstGeom>
          <a:solidFill>
            <a:srgbClr val="86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A18F83"/>
                </a:solidFill>
                <a:latin typeface="Microsoft JhengHe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859536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>
                <a:solidFill>
                  <a:srgbClr val="2F302D"/>
                </a:solidFill>
                <a:latin typeface="Microsoft JhengHei"/>
              </a:rPr>
              <a:t>偵測不到，但擋住了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7039"/>
            <a:ext cx="859536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有一類攻擊是「拿到合法憑證的內部人去偽造簽章訊息」。對它做了一次完整的掃描：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241296"/>
            <a:ext cx="3591763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它與正常流量的最大可分離度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2699" y="2241296"/>
            <a:ext cx="498530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86605F"/>
                </a:solidFill>
                <a:latin typeface="Microsoft JhengHei"/>
              </a:rPr>
              <a:t>0.0507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　（理論上限 0.5）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609596"/>
            <a:ext cx="3591763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同一張表上另外三類攻擊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2699" y="2609596"/>
            <a:ext cx="498530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0.4960 – 0.5000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977896"/>
            <a:ext cx="3591763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掃過的特徵欄位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2699" y="2977896"/>
            <a:ext cx="4985308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全部 138 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" y="3502152"/>
            <a:ext cx="8595360" cy="1104900"/>
          </a:xfrm>
          <a:prstGeom prst="rect">
            <a:avLst/>
          </a:prstGeom>
          <a:solidFill>
            <a:srgbClr val="EA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3816" y="3654552"/>
            <a:ext cx="8193024" cy="8001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2F302D"/>
                </a:solidFill>
                <a:latin typeface="Microsoft JhengHei"/>
              </a:rPr>
              <a:t>它是這批資料裡唯一一個、在觀測到的整個特徵空間裡與正常流量不可區分的攻擊類別。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　機制也說得通：有合法憑證所以不產生認證失敗、流量是加密的、訊息很小、而簽章拒絕發生在應用層 —— 而上一頁的第四層剛說過那一層看不到東西。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844795"/>
            <a:ext cx="2216505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而防禦仍然擋住了它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7441" y="4844795"/>
            <a:ext cx="6360566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657065"/>
                </a:solidFill>
                <a:latin typeface="Microsoft JhengHei"/>
              </a:rPr>
              <a:t>11 則偽造被拒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　／　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0 則被接受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　／　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下一則真訊息照常通過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1280160"/>
            <a:ext cx="1828800" cy="3048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D1CCC4"/>
                </a:solidFill>
                <a:latin typeface="Microsoft JhengHei"/>
              </a:rPr>
              <a:t>這正好說明</a:t>
            </a:r>
          </a:p>
          <a:p>
            <a:pPr algn="l">
              <a:lnSpc>
                <a:spcPct val="140000"/>
              </a:lnSpc>
            </a:pPr>
            <a:endParaRPr sz="2000" b="0">
              <a:solidFill>
                <a:srgbClr val="D1CCC4"/>
              </a:solidFill>
              <a:latin typeface="Microsoft JhengHei"/>
            </a:endParaRPr>
          </a:p>
          <a:p>
            <a:pPr algn="l">
              <a:lnSpc>
                <a:spcPct val="140000"/>
              </a:lnSpc>
            </a:pPr>
            <a:r>
              <a:rPr sz="2000" b="1">
                <a:solidFill>
                  <a:srgbClr val="FAF8F3"/>
                </a:solidFill>
                <a:latin typeface="Microsoft JhengHei"/>
              </a:rPr>
              <a:t>為什麼要做</a:t>
            </a:r>
          </a:p>
          <a:p>
            <a:pPr algn="l">
              <a:lnSpc>
                <a:spcPct val="140000"/>
              </a:lnSpc>
            </a:pPr>
            <a:r>
              <a:rPr sz="2000" b="1">
                <a:solidFill>
                  <a:srgbClr val="FAF8F3"/>
                </a:solidFill>
                <a:latin typeface="Microsoft JhengHei"/>
              </a:rPr>
              <a:t>分層防禦，</a:t>
            </a:r>
          </a:p>
          <a:p>
            <a:pPr algn="l">
              <a:lnSpc>
                <a:spcPct val="140000"/>
              </a:lnSpc>
            </a:pPr>
            <a:endParaRPr sz="2000" b="1">
              <a:solidFill>
                <a:srgbClr val="FAF8F3"/>
              </a:solidFill>
              <a:latin typeface="Microsoft JhengHei"/>
            </a:endParaRPr>
          </a:p>
          <a:p>
            <a:pPr algn="l">
              <a:lnSpc>
                <a:spcPct val="140000"/>
              </a:lnSpc>
            </a:pPr>
            <a:r>
              <a:rPr sz="2000" b="1">
                <a:solidFill>
                  <a:srgbClr val="FAF8F3"/>
                </a:solidFill>
                <a:latin typeface="Microsoft JhengHei"/>
              </a:rPr>
              <a:t>而不是只做</a:t>
            </a:r>
          </a:p>
          <a:p>
            <a:pPr algn="l">
              <a:lnSpc>
                <a:spcPct val="140000"/>
              </a:lnSpc>
            </a:pPr>
            <a:r>
              <a:rPr sz="2000" b="1">
                <a:solidFill>
                  <a:srgbClr val="FAF8F3"/>
                </a:solidFill>
                <a:latin typeface="Microsoft JhengHei"/>
              </a:rPr>
              <a:t>一個 AI</a:t>
            </a:r>
          </a:p>
          <a:p>
            <a:pPr algn="l">
              <a:lnSpc>
                <a:spcPct val="140000"/>
              </a:lnSpc>
            </a:pPr>
            <a:r>
              <a:rPr sz="2000" b="1">
                <a:solidFill>
                  <a:srgbClr val="FAF8F3"/>
                </a:solidFill>
                <a:latin typeface="Microsoft JhengHei"/>
              </a:rPr>
              <a:t>偵測器。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6445250"/>
            <a:ext cx="8763000" cy="2095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5F"/>
                </a:solidFill>
                <a:latin typeface="Microsoft JhengHei"/>
              </a:rPr>
              <a:t>這一輪第一次把「偵測不到」量到了底（0.0507 對上限 0.5），而不是只說它 recall 低。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6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660400"/>
            <a:ext cx="5486400" cy="2667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120">
                <a:solidFill>
                  <a:srgbClr val="76675C"/>
                </a:solidFill>
                <a:latin typeface="Microsoft JhengHei"/>
              </a:rPr>
              <a:t>花最多時間、卻最看不見的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>
                <a:solidFill>
                  <a:srgbClr val="2F302D"/>
                </a:solidFill>
                <a:latin typeface="Microsoft JhengHei"/>
              </a:rPr>
              <a:t>量測工具自己壞掉，累計 31 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7039"/>
            <a:ext cx="1024128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這 31 次都是同一個形狀：「防禦沒有反應」與「量測管線壞掉」，在資料上長得一模一樣。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259584"/>
            <a:ext cx="2695651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看到的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6587" y="2259584"/>
            <a:ext cx="75273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實際上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2589784"/>
            <a:ext cx="10241280" cy="12799"/>
          </a:xfrm>
          <a:prstGeom prst="rect">
            <a:avLst/>
          </a:prstGeom>
          <a:solidFill>
            <a:srgbClr val="EA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2754985"/>
            <a:ext cx="269565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報告送出 1,223 萬筆訊息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6587" y="2754985"/>
            <a:ext cx="752734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一筆都沒離開那個程式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（通訊設定不相容）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123285"/>
            <a:ext cx="269565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整批資料的封包都錄到了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6587" y="3123285"/>
            <a:ext cx="752734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錄在錯的網路介面上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，真正要看的流量 0 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491585"/>
            <a:ext cx="269565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2,053 場全部「正常」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6587" y="3491585"/>
            <a:ext cx="752734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檢查程式去讀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一個不存在的欄位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859885"/>
            <a:ext cx="269565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排名第 1 的模型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6587" y="3859885"/>
            <a:ext cx="752734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切資料的工具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不洗牌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，排名全部來自一個偏斜的切法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4228185"/>
            <a:ext cx="269565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某個檢查「咬住了 ✅」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6587" y="4228185"/>
            <a:ext cx="752734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它在那一臂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本來就沒有判別力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，所以必然為真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596485"/>
            <a:ext cx="2695651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一個檔案縮到只剩 6 bytes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26587" y="4596485"/>
            <a:ext cx="752734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我的診斷腳本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把錯誤訊息切斷了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，原檔完好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" y="5139029"/>
            <a:ext cx="10241280" cy="838200"/>
          </a:xfrm>
          <a:prstGeom prst="rect">
            <a:avLst/>
          </a:prstGeom>
          <a:solidFill>
            <a:srgbClr val="D1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3816" y="5291429"/>
            <a:ext cx="9838944" cy="533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2F302D"/>
                </a:solidFill>
                <a:latin typeface="Microsoft JhengHei"/>
              </a:rPr>
              <a:t>一個會截斷輸出的診斷工具，會製造出比沒有輸出更糟的東西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 —— 它讓一個完好的檔案看起來像資料損毀。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　</a:t>
            </a:r>
            <a:r>
              <a:rPr sz="1400" b="1">
                <a:solidFill>
                  <a:srgbClr val="86605F"/>
                </a:solidFill>
                <a:latin typeface="Microsoft JhengHei"/>
              </a:rPr>
              <a:t>這就是為什麼後面每一輪都先問「這個量測本身可信嗎」，再問「結果是什麼」。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6445250"/>
            <a:ext cx="10160000" cy="2095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5F"/>
                </a:solidFill>
                <a:latin typeface="Microsoft JhengHei"/>
              </a:rPr>
              <a:t>最新一次（第 34 次）是：數字反查的判別力探針被寫進了文件，於是下一輪它反查得到，自我檢查失效 —— 一個被寫進文件的探針就不再是探針。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5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660400"/>
            <a:ext cx="5486400" cy="2667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120">
                <a:solidFill>
                  <a:srgbClr val="76675C"/>
                </a:solidFill>
                <a:latin typeface="Microsoft JhengHei"/>
              </a:rPr>
              <a:t>驗收機制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>
                <a:solidFill>
                  <a:srgbClr val="2F302D"/>
                </a:solidFill>
                <a:latin typeface="Microsoft JhengHei"/>
              </a:rPr>
              <a:t>我們怎麼確保數字是真的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7039"/>
            <a:ext cx="2388412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把考卷封起來</a:t>
            </a:r>
            <a:endParaRPr sz="1600" b="1" dirty="0">
              <a:solidFill>
                <a:srgbClr val="2F302D"/>
              </a:solidFill>
              <a:latin typeface="Microsoft JhengHei"/>
            </a:endParaRPr>
          </a:p>
          <a:p>
            <a:pPr algn="l">
              <a:lnSpc>
                <a:spcPct val="130000"/>
              </a:lnSpc>
            </a:pPr>
            <a:endParaRPr sz="1600" b="0" dirty="0">
              <a:solidFill>
                <a:srgbClr val="66665F"/>
              </a:solidFill>
              <a:latin typeface="Microsoft Jheng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019348" y="1717039"/>
            <a:ext cx="7834579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訓練之前先把測試場次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列成清單、算指紋、封起來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；之後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只能拆一次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，第二次執行直接被拒絕 ⇒ 10-15 拿到這個專題第一個「只讀過一次」的成績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390140"/>
            <a:ext cx="2388412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先寫下預測再去量</a:t>
            </a:r>
            <a:endParaRPr sz="1600" b="1" dirty="0">
              <a:solidFill>
                <a:srgbClr val="2F302D"/>
              </a:solidFill>
              <a:latin typeface="Microsoft JhengHei"/>
            </a:endParaRPr>
          </a:p>
          <a:p>
            <a:pPr algn="l">
              <a:lnSpc>
                <a:spcPct val="130000"/>
              </a:lnSpc>
            </a:pPr>
            <a:endParaRPr sz="1600" b="0" dirty="0">
              <a:solidFill>
                <a:srgbClr val="66665F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19348" y="2390140"/>
            <a:ext cx="7834579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每一輪的預測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單獨提交成一個 commit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，而訊息逐字寫著「刻意不含任何結果」⇒ 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git 歷史自己證明註冊先於量測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，不需要相信任何人的自述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2388412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釘住引用的檔案</a:t>
            </a:r>
            <a:endParaRPr sz="1600" b="1" dirty="0">
              <a:solidFill>
                <a:srgbClr val="2F302D"/>
              </a:solidFill>
              <a:latin typeface="Microsoft JhengHei"/>
            </a:endParaRPr>
          </a:p>
          <a:p>
            <a:pPr algn="l">
              <a:lnSpc>
                <a:spcPct val="130000"/>
              </a:lnSpc>
            </a:pPr>
            <a:endParaRPr sz="1600" b="0" dirty="0">
              <a:solidFill>
                <a:srgbClr val="66665F"/>
              </a:solidFill>
              <a:latin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19348" y="3063240"/>
            <a:ext cx="7834579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每條宣稱列出它依據哪些檔案、那些檔案的大小與指紋，整份再取一次指紋。而它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刻意不可覆寫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 —— 檔案後來變了就出一份新的，不去改舊的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736340"/>
            <a:ext cx="2388412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 dirty="0" err="1">
                <a:solidFill>
                  <a:srgbClr val="2F302D"/>
                </a:solidFill>
                <a:latin typeface="Microsoft JhengHei"/>
              </a:rPr>
              <a:t>證據不完整就不准進訓練</a:t>
            </a:r>
            <a:endParaRPr sz="1600" b="1" dirty="0">
              <a:solidFill>
                <a:srgbClr val="2F302D"/>
              </a:solidFill>
              <a:latin typeface="Microsoft JhengHei"/>
            </a:endParaRPr>
          </a:p>
          <a:p>
            <a:pPr algn="l">
              <a:lnSpc>
                <a:spcPct val="130000"/>
              </a:lnSpc>
            </a:pPr>
            <a:r>
              <a:rPr sz="1600" b="0" dirty="0">
                <a:solidFill>
                  <a:srgbClr val="66665F"/>
                </a:solidFill>
                <a:latin typeface="Microsoft JhengHe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9348" y="3736340"/>
            <a:ext cx="7834579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實測對 1,100 場是「1,100 接受、1 拒絕」，而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被拒絕的那一場正是真的有問題的那一場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6445250"/>
            <a:ext cx="10160000" cy="2095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5F"/>
                </a:solidFill>
                <a:latin typeface="Microsoft JhengHei"/>
              </a:rPr>
              <a:t>「只能拆一次」為什麼需要：先前的測試資料已經被反覆看過，而看過之後再調參數會讓分數變好但不代表能力變好。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77600" y="6400800"/>
            <a:ext cx="5461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60400"/>
            <a:ext cx="63500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sz="1400" b="0" spc="120">
                <a:solidFill>
                  <a:srgbClr val="76675C"/>
                </a:solidFill>
                <a:latin typeface="Microsoft JhengHei"/>
              </a:rPr>
              <a:t>現在在哪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939800"/>
            <a:ext cx="6350000" cy="635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26000"/>
              </a:lnSpc>
            </a:pPr>
            <a:r>
              <a:rPr sz="3200" b="1">
                <a:solidFill>
                  <a:srgbClr val="2F302D"/>
                </a:solidFill>
                <a:latin typeface="Microsoft JhengHei"/>
              </a:rPr>
              <a:t>九個項目，以及三次往下修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727200"/>
            <a:ext cx="2540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項目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5000" y="1727200"/>
            <a:ext cx="37846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現況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06600"/>
            <a:ext cx="6350000" cy="12700"/>
          </a:xfrm>
          <a:prstGeom prst="rect">
            <a:avLst/>
          </a:prstGeom>
          <a:solidFill>
            <a:srgbClr val="EA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9600" y="2082800"/>
            <a:ext cx="2540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資料集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5000" y="2082800"/>
            <a:ext cx="37846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609600" indent="-609600" algn="l">
              <a:lnSpc>
                <a:spcPct val="110000"/>
              </a:lnSpc>
              <a:tabLst>
                <a:tab pos="609600" algn="l"/>
              </a:tabLst>
            </a:pPr>
            <a:r>
              <a:rPr sz="1400" b="1">
                <a:solidFill>
                  <a:srgbClr val="657065"/>
                </a:solidFill>
                <a:latin typeface="Microsoft JhengHe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63800"/>
            <a:ext cx="2540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攻擊偵測（有沒有人在攻擊）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2463800"/>
            <a:ext cx="37846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609600" indent="-609600" algn="l">
              <a:lnSpc>
                <a:spcPct val="110000"/>
              </a:lnSpc>
              <a:tabLst>
                <a:tab pos="609600" algn="l"/>
              </a:tabLst>
            </a:pPr>
            <a:r>
              <a:rPr sz="1400" b="1">
                <a:solidFill>
                  <a:srgbClr val="657065"/>
                </a:solidFill>
                <a:latin typeface="Microsoft JhengHei"/>
              </a:rPr>
              <a:t>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844800"/>
            <a:ext cx="2540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攻擊識別（是哪一種）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5000" y="2844800"/>
            <a:ext cx="37846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609600" indent="-609600" algn="l">
              <a:lnSpc>
                <a:spcPct val="110000"/>
              </a:lnSpc>
              <a:tabLst>
                <a:tab pos="609600" algn="l"/>
              </a:tabLst>
            </a:pPr>
            <a:r>
              <a:rPr sz="1400" b="1">
                <a:solidFill>
                  <a:srgbClr val="86605F"/>
                </a:solidFill>
                <a:latin typeface="Microsoft JhengHei"/>
              </a:rPr>
              <a:t>60%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	現在 0.4655／0.4228，門檻 0.80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225800"/>
            <a:ext cx="2540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未知攻擊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5000" y="3225800"/>
            <a:ext cx="37846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609600" indent="-609600" algn="l">
              <a:lnSpc>
                <a:spcPct val="110000"/>
              </a:lnSpc>
              <a:tabLst>
                <a:tab pos="609600" algn="l"/>
              </a:tabLst>
            </a:pPr>
            <a:r>
              <a:rPr sz="1400" b="1">
                <a:solidFill>
                  <a:srgbClr val="86605F"/>
                </a:solidFill>
                <a:latin typeface="Microsoft JhengHei"/>
              </a:rPr>
              <a:t>55%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	現在 0.1645，門檻 0.70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606800"/>
            <a:ext cx="2540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回應／執行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3606800"/>
            <a:ext cx="37846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609600" indent="-609600" algn="l">
              <a:lnSpc>
                <a:spcPct val="110000"/>
              </a:lnSpc>
              <a:tabLst>
                <a:tab pos="609600" algn="l"/>
              </a:tabLst>
            </a:pPr>
            <a:r>
              <a:rPr sz="1400" b="1">
                <a:solidFill>
                  <a:srgbClr val="657065"/>
                </a:solidFill>
                <a:latin typeface="Microsoft JhengHei"/>
              </a:rPr>
              <a:t>95%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	整條鏈有實測，但無模型判定參與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987800"/>
            <a:ext cx="2540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單機防禦驗證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75000" y="3987800"/>
            <a:ext cx="37846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609600" indent="-609600" algn="l">
              <a:lnSpc>
                <a:spcPct val="110000"/>
              </a:lnSpc>
              <a:tabLst>
                <a:tab pos="609600" algn="l"/>
              </a:tabLst>
            </a:pPr>
            <a:r>
              <a:rPr sz="1400" b="1">
                <a:solidFill>
                  <a:srgbClr val="2F302D"/>
                </a:solidFill>
                <a:latin typeface="Microsoft JhengHei"/>
              </a:rPr>
              <a:t>89%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	九項裡過了 8 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368800"/>
            <a:ext cx="2540000" cy="571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跨主機／硬體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75000" y="4368800"/>
            <a:ext cx="3784600" cy="571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609600" indent="-609600" algn="l">
              <a:lnSpc>
                <a:spcPct val="110000"/>
              </a:lnSpc>
              <a:tabLst>
                <a:tab pos="609600" algn="l"/>
              </a:tabLst>
            </a:pPr>
            <a:r>
              <a:rPr sz="1400" b="1">
                <a:solidFill>
                  <a:srgbClr val="657065"/>
                </a:solidFill>
                <a:latin typeface="Microsoft JhengHei"/>
              </a:rPr>
              <a:t>95%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	三台機器 ＋ 真核心防火牆，但不是長時間測試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991100"/>
            <a:ext cx="2540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攻擊面覆蓋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5000" y="4991100"/>
            <a:ext cx="37846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609600" indent="-609600" algn="l">
              <a:lnSpc>
                <a:spcPct val="110000"/>
              </a:lnSpc>
              <a:tabLst>
                <a:tab pos="609600" algn="l"/>
              </a:tabLst>
            </a:pPr>
            <a:r>
              <a:rPr sz="1400" b="1">
                <a:solidFill>
                  <a:srgbClr val="2F302D"/>
                </a:solidFill>
                <a:latin typeface="Microsoft JhengHei"/>
              </a:rPr>
              <a:t>87%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	23 條規則裡 20 條有腳本能產生資料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372100"/>
            <a:ext cx="2540000" cy="571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文件／簡報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75000" y="5372100"/>
            <a:ext cx="3784600" cy="571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609600" indent="-609600" algn="l">
              <a:lnSpc>
                <a:spcPct val="110000"/>
              </a:lnSpc>
              <a:tabLst>
                <a:tab pos="609600" algn="l"/>
              </a:tabLst>
            </a:pPr>
            <a:r>
              <a:rPr sz="1400" b="1">
                <a:solidFill>
                  <a:srgbClr val="657065"/>
                </a:solidFill>
                <a:latin typeface="Microsoft JhengHei"/>
              </a:rPr>
              <a:t>100%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	報告、簡報、證據總帳、答辯腳本都涵蓋現況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4400" y="1219200"/>
            <a:ext cx="4318000" cy="1092200"/>
          </a:xfrm>
          <a:prstGeom prst="rect">
            <a:avLst/>
          </a:prstGeom>
          <a:solidFill>
            <a:srgbClr val="65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42200" y="1346200"/>
            <a:ext cx="39624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FAF8F3"/>
                </a:solidFill>
                <a:latin typeface="Microsoft JhengHei"/>
              </a:rPr>
              <a:t>整體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2200" y="1600200"/>
            <a:ext cx="3962400" cy="609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FAF8F3"/>
                </a:solidFill>
                <a:latin typeface="Microsoft JhengHei"/>
              </a:rPr>
              <a:t>85.67%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400" y="2387600"/>
            <a:ext cx="4318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76675C"/>
                </a:solidFill>
                <a:latin typeface="Microsoft JhengHei"/>
              </a:rPr>
              <a:t>771 ÷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4400" y="2819400"/>
            <a:ext cx="1270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sz="1200" b="0" spc="100" dirty="0" err="1">
                <a:solidFill>
                  <a:srgbClr val="76675C"/>
                </a:solidFill>
                <a:latin typeface="Microsoft JhengHei"/>
              </a:rPr>
              <a:t>三次往下修</a:t>
            </a:r>
            <a:endParaRPr sz="1200" b="0" spc="100" dirty="0">
              <a:solidFill>
                <a:srgbClr val="76675C"/>
              </a:solidFill>
              <a:latin typeface="Microsoft JhengHe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585200" y="2819400"/>
            <a:ext cx="29972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sz="1200" b="0" spc="100">
                <a:solidFill>
                  <a:srgbClr val="76675C"/>
                </a:solidFill>
                <a:latin typeface="Microsoft JhengHei"/>
              </a:rPr>
              <a:t>而沒有一次是因為東西壞了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64400" y="3098800"/>
            <a:ext cx="4318000" cy="12700"/>
          </a:xfrm>
          <a:prstGeom prst="rect">
            <a:avLst/>
          </a:prstGeom>
          <a:solidFill>
            <a:srgbClr val="EA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264400" y="3175000"/>
            <a:ext cx="7112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08-28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3175000"/>
            <a:ext cx="35814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302D"/>
                </a:solidFill>
                <a:latin typeface="Microsoft JhengHei"/>
              </a:rPr>
              <a:t>71% → 70%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　新增「單機防禦驗證」一列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4400" y="3556000"/>
            <a:ext cx="7112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09-02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556000"/>
            <a:ext cx="35814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302D"/>
                </a:solidFill>
                <a:latin typeface="Microsoft JhengHei"/>
              </a:rPr>
              <a:t>78% → 76%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　新增「攻擊面覆蓋」一列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4400" y="3937000"/>
            <a:ext cx="711200" cy="571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10-15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937000"/>
            <a:ext cx="3581400" cy="571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86605F"/>
                </a:solidFill>
                <a:latin typeface="Microsoft JhengHei"/>
              </a:rPr>
              <a:t>87.33% → 84.56%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　第一次拿到只讀過一次的成績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64400" y="4648200"/>
            <a:ext cx="4318000" cy="1282700"/>
          </a:xfrm>
          <a:prstGeom prst="rect">
            <a:avLst/>
          </a:prstGeom>
          <a:solidFill>
            <a:srgbClr val="EAE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42200" y="4775200"/>
            <a:ext cx="3962400" cy="10287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302D"/>
                </a:solidFill>
                <a:latin typeface="Microsoft JhengHei"/>
              </a:rPr>
              <a:t>把一直存在但沒被計分的軸攤開，不應該讓總分變好看，會降低才是對的。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5F"/>
                </a:solidFill>
                <a:latin typeface="Microsoft JhengHei"/>
              </a:rPr>
              <a:t>　而 10-15 那一次：驗收門檻</a:t>
            </a:r>
            <a:r>
              <a:rPr sz="1400" b="1">
                <a:solidFill>
                  <a:srgbClr val="2F302D"/>
                </a:solidFill>
                <a:latin typeface="Microsoft JhengHei"/>
              </a:rPr>
              <a:t>一個字都沒有改</a:t>
            </a:r>
            <a:r>
              <a:rPr sz="1400" b="0">
                <a:solidFill>
                  <a:srgbClr val="66665F"/>
                </a:solidFill>
                <a:latin typeface="Microsoft JhengHei"/>
              </a:rPr>
              <a:t>，改的是百分比去跟上證據。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146800"/>
            <a:ext cx="101600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5F"/>
                </a:solidFill>
                <a:latin typeface="Microsoft JhengHei"/>
              </a:rPr>
              <a:t>如果有人問「為什麼分數變低了，是不是做壞了」：先前那些高分是在較弱的證據等級上拿到的，而 0.4655 是唯一可以用來預期部署表現的那一個。</a:t>
            </a:r>
          </a:p>
        </p:txBody>
      </p:sp>
    </p:spTree>
    <p:extLst>
      <p:ext uri="{BB962C8B-B14F-4D97-AF65-F5344CB8AC3E}">
        <p14:creationId xmlns:p14="http://schemas.microsoft.com/office/powerpoint/2010/main" val="2254790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5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74552" y="640080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76675C"/>
                </a:solidFill>
                <a:latin typeface="Microsoft JhengHe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9652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200" b="1">
                <a:solidFill>
                  <a:srgbClr val="2F302D"/>
                </a:solidFill>
                <a:latin typeface="Microsoft JhengHei"/>
              </a:rPr>
              <a:t>它還不能自動封鎖，而那是刻意的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7039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不能自動封鎖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4000" y="1717039"/>
            <a:ext cx="8051800" cy="914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那條鏈九項全過，但</a:t>
            </a:r>
            <a:r>
              <a:rPr sz="1600" b="1">
                <a:solidFill>
                  <a:srgbClr val="86605F"/>
                </a:solidFill>
                <a:latin typeface="Microsoft JhengHei"/>
              </a:rPr>
              <a:t>沒有任何模型判定參與其中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：封鎖對象來自歸因證據，動手的權限來自人親手輸入的核准片語。授權執行的攻擊類別清單目前是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空的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，真核心封鎖的總開關是 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False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 ⇒ 剩下的阻塞不是「機制行不行」，是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「誰有權觸發」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694940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識別還不夠好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4000" y="2694940"/>
            <a:ext cx="80518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0.4655／0.4228 對門檻 0.80，而其中一部分是硬邊界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未知攻擊只有 0.1645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000" y="3063240"/>
            <a:ext cx="80518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Enforce 那一半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連評估都跑不了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（24 格全零之後，那個選擇不可能有影響）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431540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跨主機只做過一次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4000" y="3431540"/>
            <a:ext cx="805180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一個目標、一張票、存活 90 秒、1 個封包被丟棄、一種攻擊、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沒有正向對照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（沒驗過「合法的遠端程式不應該被封鎖」）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104640"/>
            <a:ext cx="21590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2F302D"/>
                </a:solidFill>
                <a:latin typeface="Microsoft JhengHei"/>
              </a:rPr>
              <a:t>攻擊面 20／23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4000" y="4104640"/>
            <a:ext cx="8051800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66665F"/>
                </a:solidFill>
                <a:latin typeface="Microsoft JhengHei"/>
              </a:rPr>
              <a:t>缺的三類逐個查過，</a:t>
            </a:r>
            <a:r>
              <a:rPr sz="1600" b="1">
                <a:solidFill>
                  <a:srgbClr val="2F302D"/>
                </a:solidFill>
                <a:latin typeface="Microsoft JhengHei"/>
              </a:rPr>
              <a:t>沒有一個是「要寫新腳本」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；而第三個是</a:t>
            </a:r>
            <a:r>
              <a:rPr sz="1600" b="1">
                <a:solidFill>
                  <a:srgbClr val="657065"/>
                </a:solidFill>
                <a:latin typeface="Microsoft JhengHei"/>
              </a:rPr>
              <a:t>規避成功</a:t>
            </a:r>
            <a:r>
              <a:rPr sz="1600" b="0">
                <a:solidFill>
                  <a:srgbClr val="66665F"/>
                </a:solidFill>
                <a:latin typeface="Microsoft JhengHei"/>
              </a:rPr>
              <a:t> —— 它繞過了白名單比對，所以產生不了資料。那是結果不是缺口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A63E73A-EE42-4859-8D08-56E24A4E324E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0bed6e8-8b06-4dc6-93e2-32ea6d8bc4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1322</Words>
  <Application>Microsoft Office PowerPoint</Application>
  <PresentationFormat>寬螢幕</PresentationFormat>
  <Paragraphs>257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1" baseType="lpstr">
      <vt:lpstr>Microsoft JhengHei</vt:lpstr>
      <vt:lpstr>Microsoft YaHei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希杰 朱</cp:lastModifiedBy>
  <cp:revision>3</cp:revision>
  <dcterms:created xsi:type="dcterms:W3CDTF">2013-01-27T09:14:16Z</dcterms:created>
  <dcterms:modified xsi:type="dcterms:W3CDTF">2026-10-21T13:05:34Z</dcterms:modified>
  <cp:category/>
</cp:coreProperties>
</file>