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開場只講一句：這是一個把 SROS2 預防、ROS2 行為、DDS 網路與 AI 回應整合成可驗證防火牆的個人專題。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評審要先理解：本題不是把 nmap 或 Metasploit 接到 ROS2，而是處理一般 perimeter firewall 看不到的 DDS 身分與機器人行為風險。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- C:\Users\Jesse\Documents\專題ROS2\文件\系統文件\系統架構規格書.md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這頁是整份報告的骨架。後面每個資料、模型與驗收項目都要能回到 RQ1–RQ4。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講解順序由左到右。特別說明 Pi 5 是目標硬體，不要讓評審誤以為已完成實機部署。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C:\Users\Jesse\Documents\專題ROS2\文件\系統文件\系統架構規格書.md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 AI 說成萬能。這個設計的強點是 defense in depth：SROS2 先預防、規則提供可解釋證據、AI 補未知模式、回應層保護機器人。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C:\Users\Jesse\Documents\專題ROS2\文件\防禦對照_預防優於反應.md</a:t>
            </a:r>
          </a:p>
          <a:p>
            <a:r>
              <a:t>- C:\Users\Jesse\Documents\專題ROS2\文件\專題完整總報告.md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滲透測試會做，但現在的共享 10.1.0.0/16 不能當作實驗室。評審會更重視範圍、可復原性與證據鏈，而不是攻擊工具數量。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C:\Users\Jesse\Documents\專題ROS2\紅隊測試\12_紅隊攻擊報告.md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這頁先展示規模，再主動揭露 synthetic 邊界。資料量大不代表真實攻防成效，品質 gate 與 live test 才是重點。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C:\Users\Jesse\Documents\專題ROS2\firewall_lab\pretrain_dataset\DATASET_CARD.md</a:t>
            </a:r>
          </a:p>
          <a:p>
            <a:r>
              <a:t>- C:\Users\Jesse\Documents\專題ROS2\firewall_lab\pretrain_dataset\quality_report.json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這是目前最扎實的 live 數字。不要把 20 sessions 說成模型準確率，也不要把 pilot 外推成企業成熟度。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C:\Users\Jesse\Documents\專題ROS2\firewall_lab\features_pilot\live_quality_report.json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這不是失敗，而是研究誠信：若先收 1,100 場只有 network features，之後無法回答 RQ1。現在的 fail-closed gate 避免昂貴返工。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C:\Users\Jesse\Documents\專題ROS2\firewall_lab\live_multimodal_contract.json</a:t>
            </a:r>
          </a:p>
          <a:p>
            <a:r>
              <a:t>- C:\Users\Jesse\Documents\專題ROS2\firewall_lab\readiness_evidence\formal_dataset_preflight_2026-07-28_after_plan_audit.json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所有模型必須共用 session-grouped split，untouched test 只能最後開一次。若融合沒有贏 RF，也要誠實把貢獻定位為資料與安全實驗。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只說會做滲透測試不夠；要說明升級階梯、停止條件、證據與復原。Metasploit 只是主機入口層工具，DDS／SROS2 仍需各自的協定驗證。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C:\Users\Jesse\Documents\專題ROS2\文件\防禦對照_預防優於反應.md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強調 68.5% 與 55.3% 是工作包加權進度，不是模型準確率。47/47 是最新工程紀錄，但正式答辯前要重跑並保存原始 log，且清理舊文件 28/47 的衝突。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C:\Users\Jesse\Documents\專題ROS2\文件\智慧防火牆工程進度_2026-07-27.md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- C:\Users\Jesse\Documents\專題ROS2\文件\正式資料集啟動紀錄_2026-07-28.md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截止日先作為內部控制日，仍要取得系辦正式公告。若缺件延遲，先完成模擬與 Pi 5 資源量測，不讓整個研究停住。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C:\Users\Jesse\Documents\專題ROS2\文件\專題執行基準_2026-07-29.md</a:t>
            </a:r>
          </a:p>
          <a:p>
            <a:r>
              <a:t>- C:\Users\Jesse\Documents\專題ROS2\文件\智慧防火牆正式評分對齊_2026-07-28.md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這頁直接對齊系上評分。個人專題的溝通協調證據改為需求訪談、教授回饋、決策紀錄、公開展示與多層次說明，不假裝有團隊分工。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C:\Users\Jesse\Documents\專題ROS2\文件\智慧防火牆正式評分對齊_2026-07-28.md</a:t>
            </a:r>
          </a:p>
          <a:p>
            <a:r>
              <a:t>- C:\Users\Jesse\Documents\專題ROS2\文件\專題執行基準_2026-07-29.md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收尾不要承諾防住所有攻擊。承諾一條可重現的研究證據鏈，以及一個不會因 AI 誤判就讓機器人失控的安全回應系統。</a:t>
            </a:r>
          </a:p>
          <a:p>
            <a:endParaRPr/>
          </a:p>
          <a:p>
            <a:r>
              <a:t>[Sources]</a:t>
            </a:r>
          </a:p>
          <a:p>
            <a:r>
              <a:t>- C:\Users\Jesse\Documents\專題ROS2\文件\智慧防火牆完整計畫與進度_2026-07-27.md</a:t>
            </a:r>
          </a:p>
          <a:p>
            <a:r>
              <a:t>- C:\Users\Jesse\Documents\專題ROS2\文件\專題執行基準_2026-07-29.md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7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right-field">
            <a:extLst>
              <a:ext uri="{FF2B5EF4-FFF2-40B4-BE49-F238E27FC236}">
                <a16:creationId xmlns:a16="http://schemas.microsoft.com/office/drawing/2014/main" id="{C8A67A9C-E7AB-42D3-8547-7B85C57B4EBB}"/>
              </a:ext>
            </a:extLst>
          </p:cNvPr>
          <p:cNvSpPr>
            <a:spLocks noGrp="1"/>
          </p:cNvSpPr>
          <p:nvPr/>
        </p:nvSpPr>
        <p:spPr>
          <a:xfrm>
            <a:off x="9620250" y="0"/>
            <a:ext cx="257175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00F62CC6-D104-4207-9320-19E0D9DC240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8191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智慧防火牆</a:t>
            </a:r>
          </a:p>
        </p:txBody>
      </p:sp>
      <p:sp>
        <p:nvSpPr>
          <p:cNvPr id="5" name="cover-title-en">
            <a:extLst>
              <a:ext uri="{FF2B5EF4-FFF2-40B4-BE49-F238E27FC236}">
                <a16:creationId xmlns:a16="http://schemas.microsoft.com/office/drawing/2014/main" id="{7870CAF8-A5F9-4542-A511-C1D6EBD4C343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rPr>
              <a:t>SROS2 INTELLIGENT FIREWALL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46FB8FFA-99D9-4C48-85B1-7FFE38D690B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以多模態 AI 偵測 ROS2 已知與未知攻擊</a:t>
            </a:r>
          </a:p>
        </p:txBody>
      </p:sp>
      <p:sp>
        <p:nvSpPr>
          <p:cNvPr id="7" name="cover-meta">
            <a:extLst>
              <a:ext uri="{FF2B5EF4-FFF2-40B4-BE49-F238E27FC236}">
                <a16:creationId xmlns:a16="http://schemas.microsoft.com/office/drawing/2014/main" id="{BFE73AA2-0D12-435C-9A13-7AFC516D4F93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Jesse｜Raspberry Pi 5 部署目標｜2027.05</a:t>
            </a:r>
          </a:p>
        </p:txBody>
      </p:sp>
      <p:sp>
        <p:nvSpPr>
          <p:cNvPr id="8" name="cover-right-type">
            <a:extLst>
              <a:ext uri="{FF2B5EF4-FFF2-40B4-BE49-F238E27FC236}">
                <a16:creationId xmlns:a16="http://schemas.microsoft.com/office/drawing/2014/main" id="{BAA5F687-AF92-481F-8400-09C83DF97825}"/>
              </a:ext>
            </a:extLst>
          </p:cNvPr>
          <p:cNvSpPr>
            <a:spLocks noGrp="1"/>
          </p:cNvSpPr>
          <p:nvPr/>
        </p:nvSpPr>
        <p:spPr>
          <a:xfrm>
            <a:off x="9982200" y="1581150"/>
            <a:ext cx="18669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PREVENT</a:t>
            </a:r>
          </a:p>
          <a:p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DETECT</a:t>
            </a:r>
          </a:p>
          <a:p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9" name="cover-swatch-1">
            <a:extLst>
              <a:ext uri="{FF2B5EF4-FFF2-40B4-BE49-F238E27FC236}">
                <a16:creationId xmlns:a16="http://schemas.microsoft.com/office/drawing/2014/main" id="{59EA9E2B-5B30-4B03-BE69-839AE9D75AA3}"/>
              </a:ext>
            </a:extLst>
          </p:cNvPr>
          <p:cNvSpPr>
            <a:spLocks noGrp="1"/>
          </p:cNvSpPr>
          <p:nvPr/>
        </p:nvSpPr>
        <p:spPr>
          <a:xfrm>
            <a:off x="10191750" y="5200650"/>
            <a:ext cx="1447800" cy="1714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ver-swatch-2">
            <a:extLst>
              <a:ext uri="{FF2B5EF4-FFF2-40B4-BE49-F238E27FC236}">
                <a16:creationId xmlns:a16="http://schemas.microsoft.com/office/drawing/2014/main" id="{8E827F19-C7D7-4F31-AD65-B36B8D7D8AD8}"/>
              </a:ext>
            </a:extLst>
          </p:cNvPr>
          <p:cNvSpPr>
            <a:spLocks noGrp="1"/>
          </p:cNvSpPr>
          <p:nvPr/>
        </p:nvSpPr>
        <p:spPr>
          <a:xfrm>
            <a:off x="10191750" y="5505450"/>
            <a:ext cx="1447800" cy="17145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over-swatch-3">
            <a:extLst>
              <a:ext uri="{FF2B5EF4-FFF2-40B4-BE49-F238E27FC236}">
                <a16:creationId xmlns:a16="http://schemas.microsoft.com/office/drawing/2014/main" id="{502F2800-18A3-40F9-B416-D94DADFCC88D}"/>
              </a:ext>
            </a:extLst>
          </p:cNvPr>
          <p:cNvSpPr>
            <a:spLocks noGrp="1"/>
          </p:cNvSpPr>
          <p:nvPr/>
        </p:nvSpPr>
        <p:spPr>
          <a:xfrm>
            <a:off x="10191750" y="5810250"/>
            <a:ext cx="1447800" cy="171450"/>
          </a:xfrm>
          <a:prstGeom prst="rect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ver-swatch-4">
            <a:extLst>
              <a:ext uri="{FF2B5EF4-FFF2-40B4-BE49-F238E27FC236}">
                <a16:creationId xmlns:a16="http://schemas.microsoft.com/office/drawing/2014/main" id="{7613BBED-C11C-4CBC-97DC-0A0F7ABBFB90}"/>
              </a:ext>
            </a:extLst>
          </p:cNvPr>
          <p:cNvSpPr>
            <a:spLocks noGrp="1"/>
          </p:cNvSpPr>
          <p:nvPr/>
        </p:nvSpPr>
        <p:spPr>
          <a:xfrm>
            <a:off x="10191750" y="6115050"/>
            <a:ext cx="1447800" cy="1714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73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ail-2">
            <a:extLst>
              <a:ext uri="{FF2B5EF4-FFF2-40B4-BE49-F238E27FC236}">
                <a16:creationId xmlns:a16="http://schemas.microsoft.com/office/drawing/2014/main" id="{B991A2E7-350A-4FFA-8439-21C32ADF5B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2">
            <a:extLst>
              <a:ext uri="{FF2B5EF4-FFF2-40B4-BE49-F238E27FC236}">
                <a16:creationId xmlns:a16="http://schemas.microsoft.com/office/drawing/2014/main" id="{CDBF4BF0-7019-4220-90D9-150DE959A9A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ROS2 防火牆必須同時看見三種風險</a:t>
            </a:r>
          </a:p>
        </p:txBody>
      </p:sp>
      <p:sp>
        <p:nvSpPr>
          <p:cNvPr id="5" name="page-2">
            <a:extLst>
              <a:ext uri="{FF2B5EF4-FFF2-40B4-BE49-F238E27FC236}">
                <a16:creationId xmlns:a16="http://schemas.microsoft.com/office/drawing/2014/main" id="{7F259996-35F0-499A-B0FF-0580EBAEECAA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problem-big-three">
            <a:extLst>
              <a:ext uri="{FF2B5EF4-FFF2-40B4-BE49-F238E27FC236}">
                <a16:creationId xmlns:a16="http://schemas.microsoft.com/office/drawing/2014/main" id="{5EE0A065-E692-4F5D-AEBB-FC19955DEB57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2000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problem-three-label">
            <a:extLst>
              <a:ext uri="{FF2B5EF4-FFF2-40B4-BE49-F238E27FC236}">
                <a16:creationId xmlns:a16="http://schemas.microsoft.com/office/drawing/2014/main" id="{B864F144-E0E9-4164-9B7C-548D3032A733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一般 perimeter firewall</a:t>
            </a:r>
          </a:p>
          <a:p>
            <a:pPr algn="ctr"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通常無法同時回答</a:t>
            </a:r>
          </a:p>
        </p:txBody>
      </p:sp>
      <p:sp>
        <p:nvSpPr>
          <p:cNvPr id="8" name="problem-line-1">
            <a:extLst>
              <a:ext uri="{FF2B5EF4-FFF2-40B4-BE49-F238E27FC236}">
                <a16:creationId xmlns:a16="http://schemas.microsoft.com/office/drawing/2014/main" id="{EAA624B4-532E-4800-93FF-83027415BFA4}"/>
              </a:ext>
            </a:extLst>
          </p:cNvPr>
          <p:cNvSpPr>
            <a:spLocks noGrp="1"/>
          </p:cNvSpPr>
          <p:nvPr/>
        </p:nvSpPr>
        <p:spPr>
          <a:xfrm>
            <a:off x="3333750" y="274320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roblem-accent-1">
            <a:extLst>
              <a:ext uri="{FF2B5EF4-FFF2-40B4-BE49-F238E27FC236}">
                <a16:creationId xmlns:a16="http://schemas.microsoft.com/office/drawing/2014/main" id="{5752BA45-87BB-4BC7-8D6C-36A836CBE116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95250" cy="8191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problem-en-1">
            <a:extLst>
              <a:ext uri="{FF2B5EF4-FFF2-40B4-BE49-F238E27FC236}">
                <a16:creationId xmlns:a16="http://schemas.microsoft.com/office/drawing/2014/main" id="{F4E4D062-70AD-4A0A-A4ED-03D8541C3ACA}"/>
              </a:ext>
            </a:extLst>
          </p:cNvPr>
          <p:cNvSpPr>
            <a:spLocks noGrp="1"/>
          </p:cNvSpPr>
          <p:nvPr/>
        </p:nvSpPr>
        <p:spPr>
          <a:xfrm>
            <a:off x="3676650" y="17526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11" name="problem-zh-1">
            <a:extLst>
              <a:ext uri="{FF2B5EF4-FFF2-40B4-BE49-F238E27FC236}">
                <a16:creationId xmlns:a16="http://schemas.microsoft.com/office/drawing/2014/main" id="{73D6D759-C158-4D2D-BDC6-FEFB5E7EF81E}"/>
              </a:ext>
            </a:extLst>
          </p:cNvPr>
          <p:cNvSpPr>
            <a:spLocks noGrp="1"/>
          </p:cNvSpPr>
          <p:nvPr/>
        </p:nvSpPr>
        <p:spPr>
          <a:xfrm>
            <a:off x="3676650" y="20193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誰能加入 DDS graph？</a:t>
            </a:r>
          </a:p>
        </p:txBody>
      </p:sp>
      <p:sp>
        <p:nvSpPr>
          <p:cNvPr id="12" name="problem-body-1">
            <a:extLst>
              <a:ext uri="{FF2B5EF4-FFF2-40B4-BE49-F238E27FC236}">
                <a16:creationId xmlns:a16="http://schemas.microsoft.com/office/drawing/2014/main" id="{A8F694E2-DF33-4D05-8851-69110E4A3517}"/>
              </a:ext>
            </a:extLst>
          </p:cNvPr>
          <p:cNvSpPr>
            <a:spLocks noGrp="1"/>
          </p:cNvSpPr>
          <p:nvPr/>
        </p:nvSpPr>
        <p:spPr>
          <a:xfrm>
            <a:off x="7667625" y="204787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SROS2 憑證、權限與 publisher 身分。</a:t>
            </a:r>
          </a:p>
        </p:txBody>
      </p:sp>
      <p:sp>
        <p:nvSpPr>
          <p:cNvPr id="13" name="problem-line-2">
            <a:extLst>
              <a:ext uri="{FF2B5EF4-FFF2-40B4-BE49-F238E27FC236}">
                <a16:creationId xmlns:a16="http://schemas.microsoft.com/office/drawing/2014/main" id="{F7D6F2ED-AC38-4E9C-90C1-785F58BF787F}"/>
              </a:ext>
            </a:extLst>
          </p:cNvPr>
          <p:cNvSpPr>
            <a:spLocks noGrp="1"/>
          </p:cNvSpPr>
          <p:nvPr/>
        </p:nvSpPr>
        <p:spPr>
          <a:xfrm>
            <a:off x="3333750" y="398145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problem-accent-2">
            <a:extLst>
              <a:ext uri="{FF2B5EF4-FFF2-40B4-BE49-F238E27FC236}">
                <a16:creationId xmlns:a16="http://schemas.microsoft.com/office/drawing/2014/main" id="{D7D88F4D-7DFA-47E9-B5E1-5D44A2C2B43D}"/>
              </a:ext>
            </a:extLst>
          </p:cNvPr>
          <p:cNvSpPr>
            <a:spLocks noGrp="1"/>
          </p:cNvSpPr>
          <p:nvPr/>
        </p:nvSpPr>
        <p:spPr>
          <a:xfrm>
            <a:off x="3333750" y="2990850"/>
            <a:ext cx="95250" cy="8191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roblem-en-2">
            <a:extLst>
              <a:ext uri="{FF2B5EF4-FFF2-40B4-BE49-F238E27FC236}">
                <a16:creationId xmlns:a16="http://schemas.microsoft.com/office/drawing/2014/main" id="{3064EC7E-019F-4630-A55C-DE2E03549491}"/>
              </a:ext>
            </a:extLst>
          </p:cNvPr>
          <p:cNvSpPr>
            <a:spLocks noGrp="1"/>
          </p:cNvSpPr>
          <p:nvPr/>
        </p:nvSpPr>
        <p:spPr>
          <a:xfrm>
            <a:off x="3676650" y="2990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NETWORK</a:t>
            </a:r>
          </a:p>
        </p:txBody>
      </p:sp>
      <p:sp>
        <p:nvSpPr>
          <p:cNvPr id="16" name="problem-zh-2">
            <a:extLst>
              <a:ext uri="{FF2B5EF4-FFF2-40B4-BE49-F238E27FC236}">
                <a16:creationId xmlns:a16="http://schemas.microsoft.com/office/drawing/2014/main" id="{7CDE3E02-978C-4AAE-A6CE-538E1D4F1FC5}"/>
              </a:ext>
            </a:extLst>
          </p:cNvPr>
          <p:cNvSpPr>
            <a:spLocks noGrp="1"/>
          </p:cNvSpPr>
          <p:nvPr/>
        </p:nvSpPr>
        <p:spPr>
          <a:xfrm>
            <a:off x="3676650" y="32575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封包是否呈現攻擊模式？</a:t>
            </a:r>
          </a:p>
        </p:txBody>
      </p:sp>
      <p:sp>
        <p:nvSpPr>
          <p:cNvPr id="17" name="problem-body-2">
            <a:extLst>
              <a:ext uri="{FF2B5EF4-FFF2-40B4-BE49-F238E27FC236}">
                <a16:creationId xmlns:a16="http://schemas.microsoft.com/office/drawing/2014/main" id="{D08D8CBB-3F23-4BDB-8F31-24D605AC6D60}"/>
              </a:ext>
            </a:extLst>
          </p:cNvPr>
          <p:cNvSpPr>
            <a:spLocks noGrp="1"/>
          </p:cNvSpPr>
          <p:nvPr/>
        </p:nvSpPr>
        <p:spPr>
          <a:xfrm>
            <a:off x="7667625" y="328612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DDS discovery、注入、來源偽造與異常流量。</a:t>
            </a:r>
          </a:p>
        </p:txBody>
      </p:sp>
      <p:sp>
        <p:nvSpPr>
          <p:cNvPr id="18" name="problem-line-3">
            <a:extLst>
              <a:ext uri="{FF2B5EF4-FFF2-40B4-BE49-F238E27FC236}">
                <a16:creationId xmlns:a16="http://schemas.microsoft.com/office/drawing/2014/main" id="{26773D95-2981-4886-B4E2-858DDF782891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79438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problem-accent-3">
            <a:extLst>
              <a:ext uri="{FF2B5EF4-FFF2-40B4-BE49-F238E27FC236}">
                <a16:creationId xmlns:a16="http://schemas.microsoft.com/office/drawing/2014/main" id="{369237D0-AD8B-4FAE-B087-883077990A86}"/>
              </a:ext>
            </a:extLst>
          </p:cNvPr>
          <p:cNvSpPr>
            <a:spLocks noGrp="1"/>
          </p:cNvSpPr>
          <p:nvPr/>
        </p:nvSpPr>
        <p:spPr>
          <a:xfrm>
            <a:off x="3333750" y="4229100"/>
            <a:ext cx="95250" cy="8191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problem-en-3">
            <a:extLst>
              <a:ext uri="{FF2B5EF4-FFF2-40B4-BE49-F238E27FC236}">
                <a16:creationId xmlns:a16="http://schemas.microsoft.com/office/drawing/2014/main" id="{64620E31-B531-43A7-A687-23C93A4D004F}"/>
              </a:ext>
            </a:extLst>
          </p:cNvPr>
          <p:cNvSpPr>
            <a:spLocks noGrp="1"/>
          </p:cNvSpPr>
          <p:nvPr/>
        </p:nvSpPr>
        <p:spPr>
          <a:xfrm>
            <a:off x="3676650" y="42291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BEHAVIOR</a:t>
            </a:r>
          </a:p>
        </p:txBody>
      </p:sp>
      <p:sp>
        <p:nvSpPr>
          <p:cNvPr id="21" name="problem-zh-3">
            <a:extLst>
              <a:ext uri="{FF2B5EF4-FFF2-40B4-BE49-F238E27FC236}">
                <a16:creationId xmlns:a16="http://schemas.microsoft.com/office/drawing/2014/main" id="{E45BD70D-346A-4301-AD98-E675B62A6D9B}"/>
              </a:ext>
            </a:extLst>
          </p:cNvPr>
          <p:cNvSpPr>
            <a:spLocks noGrp="1"/>
          </p:cNvSpPr>
          <p:nvPr/>
        </p:nvSpPr>
        <p:spPr>
          <a:xfrm>
            <a:off x="3676650" y="4495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機器人動作是否合理？</a:t>
            </a:r>
          </a:p>
        </p:txBody>
      </p:sp>
      <p:sp>
        <p:nvSpPr>
          <p:cNvPr id="22" name="problem-body-3">
            <a:extLst>
              <a:ext uri="{FF2B5EF4-FFF2-40B4-BE49-F238E27FC236}">
                <a16:creationId xmlns:a16="http://schemas.microsoft.com/office/drawing/2014/main" id="{3648F294-F5FD-412A-B254-9E2FEDC9C631}"/>
              </a:ext>
            </a:extLst>
          </p:cNvPr>
          <p:cNvSpPr>
            <a:spLocks noGrp="1"/>
          </p:cNvSpPr>
          <p:nvPr/>
        </p:nvSpPr>
        <p:spPr>
          <a:xfrm>
            <a:off x="7667625" y="452437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速度、方向、LiDAR、heartbeat 與感測／控制一致性。</a:t>
            </a:r>
          </a:p>
        </p:txBody>
      </p:sp>
      <p:sp>
        <p:nvSpPr>
          <p:cNvPr id="23" name="problem-conclusion">
            <a:extLst>
              <a:ext uri="{FF2B5EF4-FFF2-40B4-BE49-F238E27FC236}">
                <a16:creationId xmlns:a16="http://schemas.microsoft.com/office/drawing/2014/main" id="{3B49338C-3592-41C6-A14A-511608A5CE9D}"/>
              </a:ext>
            </a:extLst>
          </p:cNvPr>
          <p:cNvSpPr>
            <a:spLocks noGrp="1"/>
          </p:cNvSpPr>
          <p:nvPr/>
        </p:nvSpPr>
        <p:spPr>
          <a:xfrm>
            <a:off x="3333750" y="5600700"/>
            <a:ext cx="7943850" cy="5143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problem-conclusion-text">
            <a:extLst>
              <a:ext uri="{FF2B5EF4-FFF2-40B4-BE49-F238E27FC236}">
                <a16:creationId xmlns:a16="http://schemas.microsoft.com/office/drawing/2014/main" id="{EA8743AC-2380-4F34-BEEF-3AD1D59F9788}"/>
              </a:ext>
            </a:extLst>
          </p:cNvPr>
          <p:cNvSpPr>
            <a:spLocks noGrp="1"/>
          </p:cNvSpPr>
          <p:nvPr/>
        </p:nvSpPr>
        <p:spPr>
          <a:xfrm>
            <a:off x="3600450" y="56959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本專題把身分、網路與行為證據整合成同一條防禦鏈。</a:t>
            </a:r>
          </a:p>
        </p:txBody>
      </p:sp>
    </p:spTree>
    <p:extLst>
      <p:ext uri="{BB962C8B-B14F-4D97-AF65-F5344CB8AC3E}">
        <p14:creationId xmlns:p14="http://schemas.microsoft.com/office/powerpoint/2010/main" val="62916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ail-3">
            <a:extLst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3">
            <a:extLst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四個研究問題，決定 AI 是否真的有價值</a:t>
            </a:r>
          </a:p>
        </p:txBody>
      </p:sp>
      <p:sp>
        <p:nvSpPr>
          <p:cNvPr id="5" name="page-3">
            <a:extLst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rq-number-1">
            <a:extLst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noGrp="1"/>
          </p:cNvSpPr>
          <p:nvPr/>
        </p:nvSpPr>
        <p:spPr>
          <a:xfrm>
            <a:off x="1714500" y="160972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融合有效嗎？</a:t>
            </a:r>
          </a:p>
        </p:txBody>
      </p:sp>
      <p:sp>
        <p:nvSpPr>
          <p:cNvPr id="8" name="rq-body-1">
            <a:extLst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noGrp="1"/>
          </p:cNvSpPr>
          <p:nvPr/>
        </p:nvSpPr>
        <p:spPr>
          <a:xfrm>
            <a:off x="4810125" y="1609725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network-only、telemetry-only、fusion 在相同 split 比較 macro-F1、FPR 與重要攻擊 recall。</a:t>
            </a:r>
          </a:p>
        </p:txBody>
      </p:sp>
      <p:sp>
        <p:nvSpPr>
          <p:cNvPr id="9" name="rq-rule-1">
            <a:extLst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07632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q-number-2">
            <a:extLst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noGrp="1"/>
          </p:cNvSpPr>
          <p:nvPr/>
        </p:nvSpPr>
        <p:spPr>
          <a:xfrm>
            <a:off x="1714500" y="27336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未知攻擊呢？</a:t>
            </a:r>
          </a:p>
        </p:txBody>
      </p:sp>
      <p:sp>
        <p:nvSpPr>
          <p:cNvPr id="12" name="rq-body-2">
            <a:extLst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noGrp="1"/>
          </p:cNvSpPr>
          <p:nvPr/>
        </p:nvSpPr>
        <p:spPr>
          <a:xfrm>
            <a:off x="4810125" y="2733675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將攻擊類別完全排除於訓練，量測 anomaly detector 的 unknown recall 與 AUPRC。</a:t>
            </a:r>
          </a:p>
        </p:txBody>
      </p:sp>
      <p:sp>
        <p:nvSpPr>
          <p:cNvPr id="13" name="rq-rule-2">
            <a:extLst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7632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q-number-3">
            <a:extLst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改變了什麼？</a:t>
            </a:r>
          </a:p>
        </p:txBody>
      </p:sp>
      <p:sp>
        <p:nvSpPr>
          <p:cNvPr id="16" name="rq-body-3">
            <a:extLst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noGrp="1"/>
          </p:cNvSpPr>
          <p:nvPr/>
        </p:nvSpPr>
        <p:spPr>
          <a:xfrm>
            <a:off x="4810125" y="3857625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配對比較 Permissive／Enforce，避免模型只記住安全模式而不是攻擊行為。</a:t>
            </a:r>
          </a:p>
        </p:txBody>
      </p:sp>
      <p:sp>
        <p:nvSpPr>
          <p:cNvPr id="17" name="rq-rule-3">
            <a:extLst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7632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q-number-4">
            <a:extLst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noGrp="1"/>
          </p:cNvSpPr>
          <p:nvPr/>
        </p:nvSpPr>
        <p:spPr>
          <a:xfrm>
            <a:off x="1714500" y="49815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回應安全嗎？</a:t>
            </a:r>
          </a:p>
        </p:txBody>
      </p:sp>
      <p:sp>
        <p:nvSpPr>
          <p:cNvPr id="20" name="rq-body-4">
            <a:extLst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noGrp="1"/>
          </p:cNvSpPr>
          <p:nvPr/>
        </p:nvSpPr>
        <p:spPr>
          <a:xfrm>
            <a:off x="4810125" y="4981575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量測信心門檻、cooldown、白名單與 dry-run 對誤封、延遲和可復原性的影響。</a:t>
            </a:r>
          </a:p>
        </p:txBody>
      </p:sp>
      <p:sp>
        <p:nvSpPr>
          <p:cNvPr id="21" name="rq-rule-4">
            <a:extLst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7632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ail-4">
            <a:extLst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4">
            <a:extLst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整體架構：從機器人到受約束回應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architecture-subtitle">
            <a:extLst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目標部署：Raspberry Pi 5；校方其餘硬體待補。現階段以 Gazebo／TurtleBot3 建立可重現平台。</a:t>
            </a:r>
          </a:p>
        </p:txBody>
      </p:sp>
      <p:sp>
        <p:nvSpPr>
          <p:cNvPr id="7" name="architecture-arrow-1">
            <a:extLst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noGrp="1"/>
          </p:cNvSpPr>
          <p:nvPr/>
        </p:nvSpPr>
        <p:spPr>
          <a:xfrm>
            <a:off x="24765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rchitecture-arrow-2">
            <a:extLst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rchitecture-arrow-3">
            <a:extLst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noGrp="1"/>
          </p:cNvSpPr>
          <p:nvPr/>
        </p:nvSpPr>
        <p:spPr>
          <a:xfrm>
            <a:off x="69723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rchitecture-arrow-4">
            <a:extLst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noGrp="1"/>
          </p:cNvSpPr>
          <p:nvPr/>
        </p:nvSpPr>
        <p:spPr>
          <a:xfrm>
            <a:off x="9220200" y="3086100"/>
            <a:ext cx="361950" cy="285750"/>
          </a:xfrm>
          <a:prstGeom prst="rightArrow">
            <a:avLst/>
          </a:prstGeom>
          <a:solidFill>
            <a:srgbClr val="A9A8A2"/>
          </a:solidFill>
          <a:ln w="0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architecture-node-1">
            <a:extLst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architecture-number-1">
            <a:extLst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</a:t>
            </a:r>
            <a:endParaRPr sz="1875" b="1" dirty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architecture-node-rule-1">
            <a:extLst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rchitecture-body-1">
            <a:extLst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Gazebo / TB3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 · odom · imu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cmd_vel</a:t>
            </a:r>
          </a:p>
        </p:txBody>
      </p:sp>
      <p:sp>
        <p:nvSpPr>
          <p:cNvPr id="16" name="architecture-node-2">
            <a:extLst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noGrp="1"/>
          </p:cNvSpPr>
          <p:nvPr/>
        </p:nvSpPr>
        <p:spPr>
          <a:xfrm>
            <a:off x="28003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DCD8D1"/>
          </a:solidFill>
          <a:ln w="9525">
            <a:solidFill>
              <a:srgbClr val="DCD8D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rchitecture-number-2">
            <a:extLst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noGrp="1"/>
          </p:cNvSpPr>
          <p:nvPr/>
        </p:nvSpPr>
        <p:spPr>
          <a:xfrm>
            <a:off x="30099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noGrp="1"/>
          </p:cNvSpPr>
          <p:nvPr/>
        </p:nvSpPr>
        <p:spPr>
          <a:xfrm>
            <a:off x="30099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預防</a:t>
            </a:r>
          </a:p>
        </p:txBody>
      </p:sp>
      <p:sp>
        <p:nvSpPr>
          <p:cNvPr id="19" name="architecture-node-rule-2">
            <a:extLst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architecture-body-2">
            <a:extLst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noGrp="1"/>
          </p:cNvSpPr>
          <p:nvPr/>
        </p:nvSpPr>
        <p:spPr>
          <a:xfrm>
            <a:off x="30099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CA · ACL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v3</a:t>
            </a:r>
          </a:p>
        </p:txBody>
      </p:sp>
      <p:sp>
        <p:nvSpPr>
          <p:cNvPr id="21" name="architecture-node-3">
            <a:extLst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E4E7E8"/>
          </a:solidFill>
          <a:ln w="9525">
            <a:solidFill>
              <a:srgbClr val="E4E7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rchitecture-number-3">
            <a:extLst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noGrp="1"/>
          </p:cNvSpPr>
          <p:nvPr/>
        </p:nvSpPr>
        <p:spPr>
          <a:xfrm>
            <a:off x="52578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noGrp="1"/>
          </p:cNvSpPr>
          <p:nvPr/>
        </p:nvSpPr>
        <p:spPr>
          <a:xfrm>
            <a:off x="52578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24" name="architecture-node-rule-3">
            <a:extLst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5430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architecture-body-3">
            <a:extLst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noGrp="1"/>
          </p:cNvSpPr>
          <p:nvPr/>
        </p:nvSpPr>
        <p:spPr>
          <a:xfrm>
            <a:off x="52578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/ DDS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>
            <a:pPr algn="ctr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事件與流量</a:t>
            </a:r>
          </a:p>
        </p:txBody>
      </p:sp>
      <p:sp>
        <p:nvSpPr>
          <p:cNvPr id="26" name="architecture-node-4">
            <a:extLst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noGrp="1"/>
          </p:cNvSpPr>
          <p:nvPr/>
        </p:nvSpPr>
        <p:spPr>
          <a:xfrm>
            <a:off x="72961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rchitecture-number-4">
            <a:extLst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noGrp="1"/>
          </p:cNvSpPr>
          <p:nvPr/>
        </p:nvSpPr>
        <p:spPr>
          <a:xfrm>
            <a:off x="75057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融合</a:t>
            </a:r>
          </a:p>
        </p:txBody>
      </p:sp>
      <p:sp>
        <p:nvSpPr>
          <p:cNvPr id="29" name="architecture-node-rule-4">
            <a:extLst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noGrp="1"/>
          </p:cNvSpPr>
          <p:nvPr/>
        </p:nvSpPr>
        <p:spPr>
          <a:xfrm>
            <a:off x="75057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architecture-body-4">
            <a:extLst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noGrp="1"/>
          </p:cNvSpPr>
          <p:nvPr/>
        </p:nvSpPr>
        <p:spPr>
          <a:xfrm>
            <a:off x="75057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network branch</a:t>
            </a:r>
          </a:p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telemetry branch</a:t>
            </a:r>
          </a:p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anomaly score</a:t>
            </a:r>
          </a:p>
        </p:txBody>
      </p:sp>
      <p:sp>
        <p:nvSpPr>
          <p:cNvPr id="31" name="architecture-node-5">
            <a:extLst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noGrp="1"/>
          </p:cNvSpPr>
          <p:nvPr/>
        </p:nvSpPr>
        <p:spPr>
          <a:xfrm>
            <a:off x="9544050" y="2152650"/>
            <a:ext cx="1962150" cy="2857500"/>
          </a:xfrm>
          <a:prstGeom prst="roundRect">
            <a:avLst>
              <a:gd name="adj" fmla="val 3883"/>
            </a:avLst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architecture-number-5">
            <a:extLst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noGrp="1"/>
          </p:cNvSpPr>
          <p:nvPr/>
        </p:nvSpPr>
        <p:spPr>
          <a:xfrm>
            <a:off x="9753600" y="280035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回應</a:t>
            </a:r>
          </a:p>
        </p:txBody>
      </p:sp>
      <p:sp>
        <p:nvSpPr>
          <p:cNvPr id="34" name="architecture-node-rule-5">
            <a:extLst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noGrp="1"/>
          </p:cNvSpPr>
          <p:nvPr/>
        </p:nvSpPr>
        <p:spPr>
          <a:xfrm>
            <a:off x="9753600" y="3333750"/>
            <a:ext cx="1543050" cy="9525"/>
          </a:xfrm>
          <a:prstGeom prst="rect">
            <a:avLst/>
          </a:prstGeom>
          <a:solidFill>
            <a:srgbClr val="B9BDB7"/>
          </a:solidFill>
          <a:ln w="9525">
            <a:solidFill>
              <a:srgbClr val="B9BDB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architecture-body-5">
            <a:extLst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noGrp="1"/>
          </p:cNvSpPr>
          <p:nvPr/>
        </p:nvSpPr>
        <p:spPr>
          <a:xfrm>
            <a:off x="9753600" y="3581400"/>
            <a:ext cx="1543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confidence</a:t>
            </a:r>
          </a:p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allowlist · cooldown</a:t>
            </a:r>
          </a:p>
          <a:p>
            <a:pPr algn="ctr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dry-run</a:t>
            </a:r>
          </a:p>
        </p:txBody>
      </p:sp>
      <p:sp>
        <p:nvSpPr>
          <p:cNvPr id="36" name="architecture-evidence">
            <a:extLst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noGrp="1"/>
          </p:cNvSpPr>
          <p:nvPr/>
        </p:nvSpPr>
        <p:spPr>
          <a:xfrm>
            <a:off x="552450" y="54864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每場實驗都保留 manifest、PCAP、Zeek、telemetry、features、版本與 SHA-256。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ail-5">
            <a:extLst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5">
            <a:extLst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五層防禦互補，AI 不是唯一防線</a:t>
            </a:r>
          </a:p>
        </p:txBody>
      </p:sp>
      <p:sp>
        <p:nvSpPr>
          <p:cNvPr id="5" name="page-5">
            <a:extLst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layers-big">
            <a:extLst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209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noGrp="1"/>
          </p:cNvSpPr>
          <p:nvPr/>
        </p:nvSpPr>
        <p:spPr>
          <a:xfrm>
            <a:off x="628650" y="3190875"/>
            <a:ext cx="22383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先減少可攻擊面，</a:t>
            </a:r>
          </a:p>
          <a:p>
            <a:pPr algn="l"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再找剩餘異常，</a:t>
            </a:r>
          </a:p>
          <a:p>
            <a:pPr algn="l"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最後讓回應可撤銷。</a:t>
            </a:r>
          </a:p>
        </p:txBody>
      </p:sp>
      <p:sp>
        <p:nvSpPr>
          <p:cNvPr id="8" name="layers-foot">
            <a:extLst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noGrp="1"/>
          </p:cNvSpPr>
          <p:nvPr/>
        </p:nvSpPr>
        <p:spPr>
          <a:xfrm>
            <a:off x="628650" y="4914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PREVENT → DETECT → RESPOND</a:t>
            </a:r>
          </a:p>
        </p:txBody>
      </p:sp>
      <p:sp>
        <p:nvSpPr>
          <p:cNvPr id="9" name="layer-color-1">
            <a:extLst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noGrp="1"/>
          </p:cNvSpPr>
          <p:nvPr/>
        </p:nvSpPr>
        <p:spPr>
          <a:xfrm>
            <a:off x="3371850" y="1600200"/>
            <a:ext cx="114300" cy="5905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layer-number-1">
            <a:extLst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noGrp="1"/>
          </p:cNvSpPr>
          <p:nvPr/>
        </p:nvSpPr>
        <p:spPr>
          <a:xfrm>
            <a:off x="3667125" y="1638300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noGrp="1"/>
          </p:cNvSpPr>
          <p:nvPr/>
        </p:nvSpPr>
        <p:spPr>
          <a:xfrm>
            <a:off x="4333875" y="16383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權限</a:t>
            </a:r>
          </a:p>
        </p:txBody>
      </p:sp>
      <p:sp>
        <p:nvSpPr>
          <p:cNvPr id="12" name="layer-body-1">
            <a:extLst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noGrp="1"/>
          </p:cNvSpPr>
          <p:nvPr/>
        </p:nvSpPr>
        <p:spPr>
          <a:xfrm>
            <a:off x="6858000" y="1628775"/>
            <a:ext cx="452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雙 CA、逐節點最小權限、DDS discovery/data 保護</a:t>
            </a:r>
          </a:p>
        </p:txBody>
      </p:sp>
      <p:sp>
        <p:nvSpPr>
          <p:cNvPr id="13" name="layer-rule-1">
            <a:extLst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noGrp="1"/>
          </p:cNvSpPr>
          <p:nvPr/>
        </p:nvSpPr>
        <p:spPr>
          <a:xfrm>
            <a:off x="3371850" y="2314575"/>
            <a:ext cx="80010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ayer-color-2">
            <a:extLst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noGrp="1"/>
          </p:cNvSpPr>
          <p:nvPr/>
        </p:nvSpPr>
        <p:spPr>
          <a:xfrm>
            <a:off x="3371850" y="2466975"/>
            <a:ext cx="114300" cy="59055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ayer-number-2">
            <a:extLst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noGrp="1"/>
          </p:cNvSpPr>
          <p:nvPr/>
        </p:nvSpPr>
        <p:spPr>
          <a:xfrm>
            <a:off x="3667125" y="250507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noGrp="1"/>
          </p:cNvSpPr>
          <p:nvPr/>
        </p:nvSpPr>
        <p:spPr>
          <a:xfrm>
            <a:off x="4333875" y="25050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完整性</a:t>
            </a:r>
          </a:p>
        </p:txBody>
      </p:sp>
      <p:sp>
        <p:nvSpPr>
          <p:cNvPr id="17" name="layer-body-2">
            <a:extLst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noGrp="1"/>
          </p:cNvSpPr>
          <p:nvPr/>
        </p:nvSpPr>
        <p:spPr>
          <a:xfrm>
            <a:off x="6858000" y="2495550"/>
            <a:ext cx="452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channel、timestamp、nonce 防偽造、重放與跨頻道轉貼</a:t>
            </a:r>
          </a:p>
        </p:txBody>
      </p:sp>
      <p:sp>
        <p:nvSpPr>
          <p:cNvPr id="18" name="layer-rule-2">
            <a:extLst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noGrp="1"/>
          </p:cNvSpPr>
          <p:nvPr/>
        </p:nvSpPr>
        <p:spPr>
          <a:xfrm>
            <a:off x="3371850" y="3181350"/>
            <a:ext cx="80010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layer-color-3">
            <a:extLst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noGrp="1"/>
          </p:cNvSpPr>
          <p:nvPr/>
        </p:nvSpPr>
        <p:spPr>
          <a:xfrm>
            <a:off x="3371850" y="3333750"/>
            <a:ext cx="114300" cy="5905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layer-number-3">
            <a:extLst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noGrp="1"/>
          </p:cNvSpPr>
          <p:nvPr/>
        </p:nvSpPr>
        <p:spPr>
          <a:xfrm>
            <a:off x="3667125" y="3371850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noGrp="1"/>
          </p:cNvSpPr>
          <p:nvPr/>
        </p:nvSpPr>
        <p:spPr>
          <a:xfrm>
            <a:off x="4333875" y="33718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行為</a:t>
            </a:r>
          </a:p>
        </p:txBody>
      </p:sp>
      <p:sp>
        <p:nvSpPr>
          <p:cNvPr id="22" name="layer-body-3">
            <a:extLst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noGrp="1"/>
          </p:cNvSpPr>
          <p:nvPr/>
        </p:nvSpPr>
        <p:spPr>
          <a:xfrm>
            <a:off x="6858000" y="3362325"/>
            <a:ext cx="452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速度、方向、雷射、publisher、heartbeat、控制一致性</a:t>
            </a:r>
          </a:p>
        </p:txBody>
      </p:sp>
      <p:sp>
        <p:nvSpPr>
          <p:cNvPr id="23" name="layer-rule-3">
            <a:extLst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noGrp="1"/>
          </p:cNvSpPr>
          <p:nvPr/>
        </p:nvSpPr>
        <p:spPr>
          <a:xfrm>
            <a:off x="3371850" y="4048125"/>
            <a:ext cx="80010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layer-color-4">
            <a:extLst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noGrp="1"/>
          </p:cNvSpPr>
          <p:nvPr/>
        </p:nvSpPr>
        <p:spPr>
          <a:xfrm>
            <a:off x="3371850" y="4200525"/>
            <a:ext cx="114300" cy="590550"/>
          </a:xfrm>
          <a:prstGeom prst="rect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layer-number-4">
            <a:extLst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noGrp="1"/>
          </p:cNvSpPr>
          <p:nvPr/>
        </p:nvSpPr>
        <p:spPr>
          <a:xfrm>
            <a:off x="3667125" y="423862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noGrp="1"/>
          </p:cNvSpPr>
          <p:nvPr/>
        </p:nvSpPr>
        <p:spPr>
          <a:xfrm>
            <a:off x="4333875" y="423862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網路</a:t>
            </a:r>
          </a:p>
        </p:txBody>
      </p:sp>
      <p:sp>
        <p:nvSpPr>
          <p:cNvPr id="27" name="layer-body-4">
            <a:extLst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noGrp="1"/>
          </p:cNvSpPr>
          <p:nvPr/>
        </p:nvSpPr>
        <p:spPr>
          <a:xfrm>
            <a:off x="6858000" y="4229100"/>
            <a:ext cx="452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偵察、注入、SPDP 異常、參數竄改與來源偽造</a:t>
            </a:r>
          </a:p>
        </p:txBody>
      </p:sp>
      <p:sp>
        <p:nvSpPr>
          <p:cNvPr id="28" name="layer-rule-4">
            <a:extLst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noGrp="1"/>
          </p:cNvSpPr>
          <p:nvPr/>
        </p:nvSpPr>
        <p:spPr>
          <a:xfrm>
            <a:off x="3371850" y="4914900"/>
            <a:ext cx="80010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layer-color-5">
            <a:extLst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noGrp="1"/>
          </p:cNvSpPr>
          <p:nvPr/>
        </p:nvSpPr>
        <p:spPr>
          <a:xfrm>
            <a:off x="3371850" y="5067300"/>
            <a:ext cx="114300" cy="5905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layer-number-5">
            <a:extLst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noGrp="1"/>
          </p:cNvSpPr>
          <p:nvPr/>
        </p:nvSpPr>
        <p:spPr>
          <a:xfrm>
            <a:off x="3667125" y="5105400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noGrp="1"/>
          </p:cNvSpPr>
          <p:nvPr/>
        </p:nvSpPr>
        <p:spPr>
          <a:xfrm>
            <a:off x="4333875" y="51054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安全回應</a:t>
            </a:r>
          </a:p>
        </p:txBody>
      </p:sp>
      <p:sp>
        <p:nvSpPr>
          <p:cNvPr id="32" name="layer-body-5">
            <a:extLst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noGrp="1"/>
          </p:cNvSpPr>
          <p:nvPr/>
        </p:nvSpPr>
        <p:spPr>
          <a:xfrm>
            <a:off x="6858000" y="5095875"/>
            <a:ext cx="452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分類＋anomaly；白名單、cooldown、dry-run</a:t>
            </a:r>
          </a:p>
        </p:txBody>
      </p:sp>
      <p:sp>
        <p:nvSpPr>
          <p:cNvPr id="33" name="layer-rule-5">
            <a:extLst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noGrp="1"/>
          </p:cNvSpPr>
          <p:nvPr/>
        </p:nvSpPr>
        <p:spPr>
          <a:xfrm>
            <a:off x="3371850" y="5781675"/>
            <a:ext cx="80010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hreat-left">
            <a:extLst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10375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threat-divider">
            <a:extLst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noGrp="1"/>
          </p:cNvSpPr>
          <p:nvPr/>
        </p:nvSpPr>
        <p:spPr>
          <a:xfrm>
            <a:off x="6810375" y="0"/>
            <a:ext cx="13335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hreat-title">
            <a:extLst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威脅模型清楚，</a:t>
            </a:r>
          </a:p>
          <a:p>
            <a:pPr algn="l"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滲透測試才有證據價值</a:t>
            </a:r>
          </a:p>
        </p:txBody>
      </p:sp>
      <p:sp>
        <p:nvSpPr>
          <p:cNvPr id="5" name="threat-in-label">
            <a:extLst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IN SCOPE</a:t>
            </a:r>
          </a:p>
        </p:txBody>
      </p:sp>
      <p:sp>
        <p:nvSpPr>
          <p:cNvPr id="6" name="threat-in-title">
            <a:extLst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本專題要驗證</a:t>
            </a:r>
          </a:p>
        </p:txBody>
      </p:sp>
      <p:sp>
        <p:nvSpPr>
          <p:cNvPr id="7" name="threat-in-body">
            <a:extLst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偽造／非法 publisher</a:t>
            </a:r>
          </a:p>
          <a:p>
            <a:pPr algn="l"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replay 與 cross-channel</a:t>
            </a:r>
          </a:p>
          <a:p>
            <a:pPr algn="l"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discovery 異常與來源偽造</a:t>
            </a:r>
          </a:p>
          <a:p>
            <a:pPr algn="l"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命令注入、參數竄改、心跳失效</a:t>
            </a:r>
          </a:p>
          <a:p>
            <a:pPr algn="l"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感測／控制不一致</a:t>
            </a:r>
          </a:p>
        </p:txBody>
      </p:sp>
      <p:sp>
        <p:nvSpPr>
          <p:cNvPr id="8" name="threat-out-label">
            <a:extLst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noGrp="1"/>
          </p:cNvSpPr>
          <p:nvPr/>
        </p:nvSpPr>
        <p:spPr>
          <a:xfrm>
            <a:off x="7381875" y="7810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dirty="0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OUT OF SCOPE</a:t>
            </a:r>
          </a:p>
        </p:txBody>
      </p:sp>
      <p:sp>
        <p:nvSpPr>
          <p:cNvPr id="9" name="threat-out-title">
            <a:extLst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noGrp="1"/>
          </p:cNvSpPr>
          <p:nvPr/>
        </p:nvSpPr>
        <p:spPr>
          <a:xfrm>
            <a:off x="7381875" y="120015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本專題明確不做</a:t>
            </a:r>
          </a:p>
        </p:txBody>
      </p:sp>
      <p:sp>
        <p:nvSpPr>
          <p:cNvPr id="10" name="threat-out-body">
            <a:extLst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noGrp="1"/>
          </p:cNvSpPr>
          <p:nvPr/>
        </p:nvSpPr>
        <p:spPr>
          <a:xfrm>
            <a:off x="7381875" y="1924050"/>
            <a:ext cx="4000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共享校園／辦公室網段主動掃描</a:t>
            </a:r>
          </a:p>
          <a:p>
            <a:pPr algn="l"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憑證、私鑰與密碼存取</a:t>
            </a:r>
          </a:p>
          <a:p>
            <a:pPr algn="l"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DoS、flood、持久化、提權與 shell</a:t>
            </a:r>
          </a:p>
          <a:p>
            <a:pPr algn="l"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破壞性修改或不可復原操作</a:t>
            </a:r>
          </a:p>
          <a:p>
            <a:pPr algn="l"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可能讓機器人失控的連續輸出</a:t>
            </a:r>
          </a:p>
        </p:txBody>
      </p:sp>
      <p:sp>
        <p:nvSpPr>
          <p:cNvPr id="11" name="threat-lab-band">
            <a:extLst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noGrp="1"/>
          </p:cNvSpPr>
          <p:nvPr/>
        </p:nvSpPr>
        <p:spPr>
          <a:xfrm>
            <a:off x="7381875" y="4495800"/>
            <a:ext cx="4000500" cy="12954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hreat-lab-text">
            <a:extLst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noGrp="1"/>
          </p:cNvSpPr>
          <p:nvPr/>
        </p:nvSpPr>
        <p:spPr>
          <a:xfrm>
            <a:off x="7667625" y="4705350"/>
            <a:ext cx="342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後期滲透驗收</a:t>
            </a:r>
            <a:endParaRPr sz="1350" b="1" dirty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endParaRPr sz="1350" b="1" dirty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自有隔離／host-only</a:t>
            </a:r>
            <a:r>
              <a:rPr sz="1350" b="1" dirty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網路</a:t>
            </a:r>
            <a:endParaRPr sz="1350" b="1" dirty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書面範圍＋快照＋逐案</a:t>
            </a:r>
            <a:r>
              <a:rPr sz="1350" b="1" dirty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 PCAP </a:t>
            </a:r>
            <a:r>
              <a:rPr sz="1350" b="1" dirty="0" err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與雜湊</a:t>
            </a:r>
            <a:endParaRPr sz="1350" b="1" dirty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ail-7">
            <a:extLst>
              <a:ext uri="{FF2B5EF4-FFF2-40B4-BE49-F238E27FC236}">
                <a16:creationId xmlns:a16="http://schemas.microsoft.com/office/drawing/2014/main" id="{F4C55ED1-A8B7-4E29-9244-4E0643AEE1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7">
            <a:extLst>
              <a:ext uri="{FF2B5EF4-FFF2-40B4-BE49-F238E27FC236}">
                <a16:creationId xmlns:a16="http://schemas.microsoft.com/office/drawing/2014/main" id="{21327D03-913D-4CD7-BFD7-189A4C6CE17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資料工廠：每一筆資料都要能追溯</a:t>
            </a:r>
          </a:p>
        </p:txBody>
      </p:sp>
      <p:sp>
        <p:nvSpPr>
          <p:cNvPr id="5" name="page-7">
            <a:extLst>
              <a:ext uri="{FF2B5EF4-FFF2-40B4-BE49-F238E27FC236}">
                <a16:creationId xmlns:a16="http://schemas.microsoft.com/office/drawing/2014/main" id="{C3EB467F-8EBC-4956-AD82-6438171E40E4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synthetic-sessions-value">
            <a:extLst>
              <a:ext uri="{FF2B5EF4-FFF2-40B4-BE49-F238E27FC236}">
                <a16:creationId xmlns:a16="http://schemas.microsoft.com/office/drawing/2014/main" id="{56F289AD-8CC4-4914-8D30-B69628992AF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2,500</a:t>
            </a:r>
          </a:p>
        </p:txBody>
      </p:sp>
      <p:sp>
        <p:nvSpPr>
          <p:cNvPr id="7" name="synthetic-sessions-label">
            <a:extLst>
              <a:ext uri="{FF2B5EF4-FFF2-40B4-BE49-F238E27FC236}">
                <a16:creationId xmlns:a16="http://schemas.microsoft.com/office/drawing/2014/main" id="{7CFF3641-AAF3-461D-B9E7-0CB2BABDFAE4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synthetic sessions</a:t>
            </a:r>
          </a:p>
        </p:txBody>
      </p:sp>
      <p:sp>
        <p:nvSpPr>
          <p:cNvPr id="8" name="synthetic-windows-value">
            <a:extLst>
              <a:ext uri="{FF2B5EF4-FFF2-40B4-BE49-F238E27FC236}">
                <a16:creationId xmlns:a16="http://schemas.microsoft.com/office/drawing/2014/main" id="{85001741-B906-42A2-BCEC-B8DB0191D505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90,000</a:t>
            </a:r>
          </a:p>
        </p:txBody>
      </p:sp>
      <p:sp>
        <p:nvSpPr>
          <p:cNvPr id="9" name="synthetic-windows-label">
            <a:extLst>
              <a:ext uri="{FF2B5EF4-FFF2-40B4-BE49-F238E27FC236}">
                <a16:creationId xmlns:a16="http://schemas.microsoft.com/office/drawing/2014/main" id="{3F230871-FA5F-459B-8E4B-E76FFB25CFEA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synthetic windows</a:t>
            </a:r>
          </a:p>
        </p:txBody>
      </p:sp>
      <p:sp>
        <p:nvSpPr>
          <p:cNvPr id="10" name="synthetic-classes-value">
            <a:extLst>
              <a:ext uri="{FF2B5EF4-FFF2-40B4-BE49-F238E27FC236}">
                <a16:creationId xmlns:a16="http://schemas.microsoft.com/office/drawing/2014/main" id="{D6A4B8C9-09E6-4459-99DD-A824ADDA6163}"/>
              </a:ext>
            </a:extLst>
          </p:cNvPr>
          <p:cNvSpPr>
            <a:spLocks noGrp="1"/>
          </p:cNvSpPr>
          <p:nvPr/>
        </p:nvSpPr>
        <p:spPr>
          <a:xfrm>
            <a:off x="8524875" y="16192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1" name="synthetic-classes-label">
            <a:extLst>
              <a:ext uri="{FF2B5EF4-FFF2-40B4-BE49-F238E27FC236}">
                <a16:creationId xmlns:a16="http://schemas.microsoft.com/office/drawing/2014/main" id="{BAD0D16F-FE38-491D-A6E0-13FD6FD161A3}"/>
              </a:ext>
            </a:extLst>
          </p:cNvPr>
          <p:cNvSpPr>
            <a:spLocks noGrp="1"/>
          </p:cNvSpPr>
          <p:nvPr/>
        </p:nvSpPr>
        <p:spPr>
          <a:xfrm>
            <a:off x="8524875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類別（normal＋22 attacks）</a:t>
            </a:r>
          </a:p>
        </p:txBody>
      </p:sp>
      <p:sp>
        <p:nvSpPr>
          <p:cNvPr id="12" name="data-flow-line">
            <a:extLst>
              <a:ext uri="{FF2B5EF4-FFF2-40B4-BE49-F238E27FC236}">
                <a16:creationId xmlns:a16="http://schemas.microsoft.com/office/drawing/2014/main" id="{2646C302-2424-41F0-A0C6-38D01E99E0F5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10477500" cy="190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data-dot-1">
            <a:extLst>
              <a:ext uri="{FF2B5EF4-FFF2-40B4-BE49-F238E27FC236}">
                <a16:creationId xmlns:a16="http://schemas.microsoft.com/office/drawing/2014/main" id="{E2ACFED4-73BB-4C22-B366-B00CDA9834E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41910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data-stage-title-1">
            <a:extLst>
              <a:ext uri="{FF2B5EF4-FFF2-40B4-BE49-F238E27FC236}">
                <a16:creationId xmlns:a16="http://schemas.microsoft.com/office/drawing/2014/main" id="{10F24C00-59CC-4B18-8296-C4105886BEAD}"/>
              </a:ext>
            </a:extLst>
          </p:cNvPr>
          <p:cNvSpPr>
            <a:spLocks noGrp="1"/>
          </p:cNvSpPr>
          <p:nvPr/>
        </p:nvSpPr>
        <p:spPr>
          <a:xfrm>
            <a:off x="3429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</p:txBody>
      </p:sp>
      <p:sp>
        <p:nvSpPr>
          <p:cNvPr id="15" name="data-stage-body-1">
            <a:extLst>
              <a:ext uri="{FF2B5EF4-FFF2-40B4-BE49-F238E27FC236}">
                <a16:creationId xmlns:a16="http://schemas.microsoft.com/office/drawing/2014/main" id="{826E9071-4650-4743-8DD3-1A6792F83F4A}"/>
              </a:ext>
            </a:extLst>
          </p:cNvPr>
          <p:cNvSpPr>
            <a:spLocks noGrp="1"/>
          </p:cNvSpPr>
          <p:nvPr/>
        </p:nvSpPr>
        <p:spPr>
          <a:xfrm>
            <a:off x="952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seed · mode · label</a:t>
            </a:r>
          </a:p>
        </p:txBody>
      </p:sp>
      <p:sp>
        <p:nvSpPr>
          <p:cNvPr id="16" name="data-dot-2">
            <a:extLst>
              <a:ext uri="{FF2B5EF4-FFF2-40B4-BE49-F238E27FC236}">
                <a16:creationId xmlns:a16="http://schemas.microsoft.com/office/drawing/2014/main" id="{0582A6C3-A261-4A06-89E2-D395745441E9}"/>
              </a:ext>
            </a:extLst>
          </p:cNvPr>
          <p:cNvSpPr>
            <a:spLocks noGrp="1"/>
          </p:cNvSpPr>
          <p:nvPr/>
        </p:nvSpPr>
        <p:spPr>
          <a:xfrm>
            <a:off x="2362200" y="3619500"/>
            <a:ext cx="419100" cy="419100"/>
          </a:xfrm>
          <a:prstGeom prst="ellipse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data-stage-title-2">
            <a:extLst>
              <a:ext uri="{FF2B5EF4-FFF2-40B4-BE49-F238E27FC236}">
                <a16:creationId xmlns:a16="http://schemas.microsoft.com/office/drawing/2014/main" id="{10FDE371-F7DC-4806-858A-91CBD723007A}"/>
              </a:ext>
            </a:extLst>
          </p:cNvPr>
          <p:cNvSpPr>
            <a:spLocks noGrp="1"/>
          </p:cNvSpPr>
          <p:nvPr/>
        </p:nvSpPr>
        <p:spPr>
          <a:xfrm>
            <a:off x="20955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</p:txBody>
      </p:sp>
      <p:sp>
        <p:nvSpPr>
          <p:cNvPr id="18" name="data-stage-body-2">
            <a:extLst>
              <a:ext uri="{FF2B5EF4-FFF2-40B4-BE49-F238E27FC236}">
                <a16:creationId xmlns:a16="http://schemas.microsoft.com/office/drawing/2014/main" id="{7981DF5B-B282-4F10-BF9D-9E69B7FAC004}"/>
              </a:ext>
            </a:extLst>
          </p:cNvPr>
          <p:cNvSpPr>
            <a:spLocks noGrp="1"/>
          </p:cNvSpPr>
          <p:nvPr/>
        </p:nvSpPr>
        <p:spPr>
          <a:xfrm>
            <a:off x="18478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9" name="data-dot-3">
            <a:extLst>
              <a:ext uri="{FF2B5EF4-FFF2-40B4-BE49-F238E27FC236}">
                <a16:creationId xmlns:a16="http://schemas.microsoft.com/office/drawing/2014/main" id="{1E2E39FD-FFEC-4B70-BC9C-E22435CD4F85}"/>
              </a:ext>
            </a:extLst>
          </p:cNvPr>
          <p:cNvSpPr>
            <a:spLocks noGrp="1"/>
          </p:cNvSpPr>
          <p:nvPr/>
        </p:nvSpPr>
        <p:spPr>
          <a:xfrm>
            <a:off x="4114800" y="3619500"/>
            <a:ext cx="419100" cy="419100"/>
          </a:xfrm>
          <a:prstGeom prst="ellipse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data-stage-title-3">
            <a:extLst>
              <a:ext uri="{FF2B5EF4-FFF2-40B4-BE49-F238E27FC236}">
                <a16:creationId xmlns:a16="http://schemas.microsoft.com/office/drawing/2014/main" id="{53F43E4B-8DD5-467B-9D4D-E579C2A1DF94}"/>
              </a:ext>
            </a:extLst>
          </p:cNvPr>
          <p:cNvSpPr>
            <a:spLocks noGrp="1"/>
          </p:cNvSpPr>
          <p:nvPr/>
        </p:nvSpPr>
        <p:spPr>
          <a:xfrm>
            <a:off x="38481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</a:t>
            </a:r>
          </a:p>
        </p:txBody>
      </p:sp>
      <p:sp>
        <p:nvSpPr>
          <p:cNvPr id="21" name="data-stage-body-3">
            <a:extLst>
              <a:ext uri="{FF2B5EF4-FFF2-40B4-BE49-F238E27FC236}">
                <a16:creationId xmlns:a16="http://schemas.microsoft.com/office/drawing/2014/main" id="{9E135925-285D-400C-B788-13D725A83F64}"/>
              </a:ext>
            </a:extLst>
          </p:cNvPr>
          <p:cNvSpPr>
            <a:spLocks noGrp="1"/>
          </p:cNvSpPr>
          <p:nvPr/>
        </p:nvSpPr>
        <p:spPr>
          <a:xfrm>
            <a:off x="36004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events</a:t>
            </a:r>
          </a:p>
        </p:txBody>
      </p:sp>
      <p:sp>
        <p:nvSpPr>
          <p:cNvPr id="22" name="data-dot-4">
            <a:extLst>
              <a:ext uri="{FF2B5EF4-FFF2-40B4-BE49-F238E27FC236}">
                <a16:creationId xmlns:a16="http://schemas.microsoft.com/office/drawing/2014/main" id="{F797B6B1-8AEF-438A-9583-FB52DC495E0A}"/>
              </a:ext>
            </a:extLst>
          </p:cNvPr>
          <p:cNvSpPr>
            <a:spLocks noGrp="1"/>
          </p:cNvSpPr>
          <p:nvPr/>
        </p:nvSpPr>
        <p:spPr>
          <a:xfrm>
            <a:off x="5867400" y="3619500"/>
            <a:ext cx="419100" cy="419100"/>
          </a:xfrm>
          <a:prstGeom prst="ellipse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data-stage-title-4">
            <a:extLst>
              <a:ext uri="{FF2B5EF4-FFF2-40B4-BE49-F238E27FC236}">
                <a16:creationId xmlns:a16="http://schemas.microsoft.com/office/drawing/2014/main" id="{CAF3D415-B922-4FCB-BB2A-1FDD7145E327}"/>
              </a:ext>
            </a:extLst>
          </p:cNvPr>
          <p:cNvSpPr>
            <a:spLocks noGrp="1"/>
          </p:cNvSpPr>
          <p:nvPr/>
        </p:nvSpPr>
        <p:spPr>
          <a:xfrm>
            <a:off x="56007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24" name="data-stage-body-4">
            <a:extLst>
              <a:ext uri="{FF2B5EF4-FFF2-40B4-BE49-F238E27FC236}">
                <a16:creationId xmlns:a16="http://schemas.microsoft.com/office/drawing/2014/main" id="{BB3923BF-CF47-41D6-ABDE-4EAF926D848A}"/>
              </a:ext>
            </a:extLst>
          </p:cNvPr>
          <p:cNvSpPr>
            <a:spLocks noGrp="1"/>
          </p:cNvSpPr>
          <p:nvPr/>
        </p:nvSpPr>
        <p:spPr>
          <a:xfrm>
            <a:off x="53530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session + window</a:t>
            </a:r>
          </a:p>
        </p:txBody>
      </p:sp>
      <p:sp>
        <p:nvSpPr>
          <p:cNvPr id="25" name="data-dot-5">
            <a:extLst>
              <a:ext uri="{FF2B5EF4-FFF2-40B4-BE49-F238E27FC236}">
                <a16:creationId xmlns:a16="http://schemas.microsoft.com/office/drawing/2014/main" id="{A8FB7A3E-977F-4337-AA78-E6DAC1878FA4}"/>
              </a:ext>
            </a:extLst>
          </p:cNvPr>
          <p:cNvSpPr>
            <a:spLocks noGrp="1"/>
          </p:cNvSpPr>
          <p:nvPr/>
        </p:nvSpPr>
        <p:spPr>
          <a:xfrm>
            <a:off x="7620000" y="3619500"/>
            <a:ext cx="419100" cy="419100"/>
          </a:xfrm>
          <a:prstGeom prst="ellipse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data-stage-title-5">
            <a:extLst>
              <a:ext uri="{FF2B5EF4-FFF2-40B4-BE49-F238E27FC236}">
                <a16:creationId xmlns:a16="http://schemas.microsoft.com/office/drawing/2014/main" id="{61D0DD25-3D0C-41DF-87BA-1A4447E639EA}"/>
              </a:ext>
            </a:extLst>
          </p:cNvPr>
          <p:cNvSpPr>
            <a:spLocks noGrp="1"/>
          </p:cNvSpPr>
          <p:nvPr/>
        </p:nvSpPr>
        <p:spPr>
          <a:xfrm>
            <a:off x="73533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7" name="data-stage-body-5">
            <a:extLst>
              <a:ext uri="{FF2B5EF4-FFF2-40B4-BE49-F238E27FC236}">
                <a16:creationId xmlns:a16="http://schemas.microsoft.com/office/drawing/2014/main" id="{4AE8F904-100B-42A2-B6B8-3706599EAF10}"/>
              </a:ext>
            </a:extLst>
          </p:cNvPr>
          <p:cNvSpPr>
            <a:spLocks noGrp="1"/>
          </p:cNvSpPr>
          <p:nvPr/>
        </p:nvSpPr>
        <p:spPr>
          <a:xfrm>
            <a:off x="71056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/ telemetry / fusion</a:t>
            </a:r>
          </a:p>
        </p:txBody>
      </p:sp>
      <p:sp>
        <p:nvSpPr>
          <p:cNvPr id="28" name="data-dot-6">
            <a:extLst>
              <a:ext uri="{FF2B5EF4-FFF2-40B4-BE49-F238E27FC236}">
                <a16:creationId xmlns:a16="http://schemas.microsoft.com/office/drawing/2014/main" id="{6EA45BE9-17AD-4ED8-B2DC-439D58DEB447}"/>
              </a:ext>
            </a:extLst>
          </p:cNvPr>
          <p:cNvSpPr>
            <a:spLocks noGrp="1"/>
          </p:cNvSpPr>
          <p:nvPr/>
        </p:nvSpPr>
        <p:spPr>
          <a:xfrm>
            <a:off x="9372600" y="3619500"/>
            <a:ext cx="419100" cy="419100"/>
          </a:xfrm>
          <a:prstGeom prst="ellipse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data-stage-title-6">
            <a:extLst>
              <a:ext uri="{FF2B5EF4-FFF2-40B4-BE49-F238E27FC236}">
                <a16:creationId xmlns:a16="http://schemas.microsoft.com/office/drawing/2014/main" id="{3FB0AD03-3007-49D3-B312-8AC906644D1A}"/>
              </a:ext>
            </a:extLst>
          </p:cNvPr>
          <p:cNvSpPr>
            <a:spLocks noGrp="1"/>
          </p:cNvSpPr>
          <p:nvPr/>
        </p:nvSpPr>
        <p:spPr>
          <a:xfrm>
            <a:off x="91059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30" name="data-stage-body-6">
            <a:extLst>
              <a:ext uri="{FF2B5EF4-FFF2-40B4-BE49-F238E27FC236}">
                <a16:creationId xmlns:a16="http://schemas.microsoft.com/office/drawing/2014/main" id="{10CE57C7-31B1-489A-864F-237A4FE61055}"/>
              </a:ext>
            </a:extLst>
          </p:cNvPr>
          <p:cNvSpPr>
            <a:spLocks noGrp="1"/>
          </p:cNvSpPr>
          <p:nvPr/>
        </p:nvSpPr>
        <p:spPr>
          <a:xfrm>
            <a:off x="88582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quality gates</a:t>
            </a:r>
          </a:p>
        </p:txBody>
      </p:sp>
      <p:sp>
        <p:nvSpPr>
          <p:cNvPr id="31" name="data-dot-7">
            <a:extLst>
              <a:ext uri="{FF2B5EF4-FFF2-40B4-BE49-F238E27FC236}">
                <a16:creationId xmlns:a16="http://schemas.microsoft.com/office/drawing/2014/main" id="{7727BAE9-9808-4EF0-8BE5-7AA07BC62F3A}"/>
              </a:ext>
            </a:extLst>
          </p:cNvPr>
          <p:cNvSpPr>
            <a:spLocks noGrp="1"/>
          </p:cNvSpPr>
          <p:nvPr/>
        </p:nvSpPr>
        <p:spPr>
          <a:xfrm>
            <a:off x="11125200" y="3619500"/>
            <a:ext cx="419100" cy="41910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data-stage-title-7">
            <a:extLst>
              <a:ext uri="{FF2B5EF4-FFF2-40B4-BE49-F238E27FC236}">
                <a16:creationId xmlns:a16="http://schemas.microsoft.com/office/drawing/2014/main" id="{522B5B83-2FB3-436B-B694-0D3D16B1BE0C}"/>
              </a:ext>
            </a:extLst>
          </p:cNvPr>
          <p:cNvSpPr>
            <a:spLocks noGrp="1"/>
          </p:cNvSpPr>
          <p:nvPr/>
        </p:nvSpPr>
        <p:spPr>
          <a:xfrm>
            <a:off x="10858500" y="42481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</p:txBody>
      </p:sp>
      <p:sp>
        <p:nvSpPr>
          <p:cNvPr id="33" name="data-stage-body-7">
            <a:extLst>
              <a:ext uri="{FF2B5EF4-FFF2-40B4-BE49-F238E27FC236}">
                <a16:creationId xmlns:a16="http://schemas.microsoft.com/office/drawing/2014/main" id="{B708DEA2-F44B-40C1-9999-59CBFCD8A9B8}"/>
              </a:ext>
            </a:extLst>
          </p:cNvPr>
          <p:cNvSpPr>
            <a:spLocks noGrp="1"/>
          </p:cNvSpPr>
          <p:nvPr/>
        </p:nvSpPr>
        <p:spPr>
          <a:xfrm>
            <a:off x="10610850" y="4552950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hash / quarantine</a:t>
            </a:r>
          </a:p>
        </p:txBody>
      </p:sp>
      <p:sp>
        <p:nvSpPr>
          <p:cNvPr id="34" name="data-warning-band">
            <a:extLst>
              <a:ext uri="{FF2B5EF4-FFF2-40B4-BE49-F238E27FC236}">
                <a16:creationId xmlns:a16="http://schemas.microsoft.com/office/drawing/2014/main" id="{0C348408-DFA5-4771-B6F5-236E4FEE27B3}"/>
              </a:ext>
            </a:extLst>
          </p:cNvPr>
          <p:cNvSpPr>
            <a:spLocks noGrp="1"/>
          </p:cNvSpPr>
          <p:nvPr/>
        </p:nvSpPr>
        <p:spPr>
          <a:xfrm>
            <a:off x="1695450" y="5467350"/>
            <a:ext cx="8801100" cy="55245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data-warning">
            <a:extLst>
              <a:ext uri="{FF2B5EF4-FFF2-40B4-BE49-F238E27FC236}">
                <a16:creationId xmlns:a16="http://schemas.microsoft.com/office/drawing/2014/main" id="{207DAB57-0B21-40BA-BAF2-EE02A59FD866}"/>
              </a:ext>
            </a:extLst>
          </p:cNvPr>
          <p:cNvSpPr>
            <a:spLocks noGrp="1"/>
          </p:cNvSpPr>
          <p:nvPr/>
        </p:nvSpPr>
        <p:spPr>
          <a:xfrm>
            <a:off x="1952625" y="560070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90,000 windows 只用於預訓練與管線開發；最終成效必須由 untouched live test 決定。</a:t>
            </a:r>
          </a:p>
        </p:txBody>
      </p:sp>
    </p:spTree>
    <p:extLst>
      <p:ext uri="{BB962C8B-B14F-4D97-AF65-F5344CB8AC3E}">
        <p14:creationId xmlns:p14="http://schemas.microsoft.com/office/powerpoint/2010/main" val="144128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ail-8">
            <a:extLst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8">
            <a:extLst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Live pilot 證明收集鏈能跑，但還不是最終成績</a:t>
            </a:r>
          </a:p>
        </p:txBody>
      </p:sp>
      <p:sp>
        <p:nvSpPr>
          <p:cNvPr id="5" name="page-8">
            <a:extLst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pilot-20">
            <a:extLst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noGrp="1"/>
          </p:cNvSpPr>
          <p:nvPr/>
        </p:nvSpPr>
        <p:spPr>
          <a:xfrm>
            <a:off x="628650" y="1638300"/>
            <a:ext cx="3238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7" name="pilot-label">
            <a:extLst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LIVE SESSIONS</a:t>
            </a:r>
          </a:p>
        </p:txBody>
      </p:sp>
      <p:sp>
        <p:nvSpPr>
          <p:cNvPr id="8" name="pilot-split">
            <a:extLst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10 Permissive</a:t>
            </a:r>
          </a:p>
          <a:p>
            <a:pPr algn="l"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10 Enforce</a:t>
            </a:r>
          </a:p>
        </p:txBody>
      </p:sp>
      <p:sp>
        <p:nvSpPr>
          <p:cNvPr id="9" name="pilot-metric-1">
            <a:extLst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noGrp="1"/>
          </p:cNvSpPr>
          <p:nvPr/>
        </p:nvSpPr>
        <p:spPr>
          <a:xfrm>
            <a:off x="4095750" y="21907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168,507</a:t>
            </a:r>
          </a:p>
        </p:txBody>
      </p:sp>
      <p:sp>
        <p:nvSpPr>
          <p:cNvPr id="10" name="pilot-metric-label-1">
            <a:extLst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packets</a:t>
            </a:r>
          </a:p>
        </p:txBody>
      </p:sp>
      <p:sp>
        <p:nvSpPr>
          <p:cNvPr id="11" name="pilot-separator-1">
            <a:extLst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9525" cy="15716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pilot-metric-2">
            <a:extLst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69.0 MB</a:t>
            </a:r>
          </a:p>
        </p:txBody>
      </p:sp>
      <p:sp>
        <p:nvSpPr>
          <p:cNvPr id="13" name="pilot-metric-label-2">
            <a:extLst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captured bytes</a:t>
            </a:r>
          </a:p>
        </p:txBody>
      </p:sp>
      <p:sp>
        <p:nvSpPr>
          <p:cNvPr id="14" name="pilot-separator-2">
            <a:extLst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9525" cy="15716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ilot-metric-3">
            <a:extLst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noGrp="1"/>
          </p:cNvSpPr>
          <p:nvPr/>
        </p:nvSpPr>
        <p:spPr>
          <a:xfrm>
            <a:off x="9048750" y="21907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3,036</a:t>
            </a:r>
          </a:p>
        </p:txBody>
      </p:sp>
      <p:sp>
        <p:nvSpPr>
          <p:cNvPr id="16" name="pilot-metric-label-3">
            <a:extLst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Zeek rows</a:t>
            </a:r>
          </a:p>
        </p:txBody>
      </p:sp>
      <p:sp>
        <p:nvSpPr>
          <p:cNvPr id="17" name="pilot-meaning">
            <a:extLst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noGrp="1"/>
          </p:cNvSpPr>
          <p:nvPr/>
        </p:nvSpPr>
        <p:spPr>
          <a:xfrm>
            <a:off x="4095750" y="3857625"/>
            <a:ext cx="7000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20/20 training eligible，capture drops = 0。</a:t>
            </a:r>
          </a:p>
          <a:p>
            <a:pPr algn="ctr"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這證明資料管線可用，但樣本不足以外推企業環境防護率。</a:t>
            </a:r>
          </a:p>
        </p:txBody>
      </p:sp>
      <p:sp>
        <p:nvSpPr>
          <p:cNvPr id="18" name="pilot-boundary-band">
            <a:extLst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noGrp="1"/>
          </p:cNvSpPr>
          <p:nvPr/>
        </p:nvSpPr>
        <p:spPr>
          <a:xfrm>
            <a:off x="4095750" y="5219700"/>
            <a:ext cx="7000875" cy="5905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pilot-boundary">
            <a:extLst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noGrp="1"/>
          </p:cNvSpPr>
          <p:nvPr/>
        </p:nvSpPr>
        <p:spPr>
          <a:xfrm>
            <a:off x="4333875" y="5353050"/>
            <a:ext cx="652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PILOT ≠ 正式模型成績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ail-9">
            <a:extLst>
              <a:ext uri="{FF2B5EF4-FFF2-40B4-BE49-F238E27FC236}">
                <a16:creationId xmlns:a16="http://schemas.microsoft.com/office/drawing/2014/main" id="{E74F51EE-1961-44C0-B2A7-71FE6A03A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9">
            <a:extLst>
              <a:ext uri="{FF2B5EF4-FFF2-40B4-BE49-F238E27FC236}">
                <a16:creationId xmlns:a16="http://schemas.microsoft.com/office/drawing/2014/main" id="{A958235B-C9E6-457F-8C22-5A34122FE52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核心：32 維融合仍差最後一段 live 管線</a:t>
            </a:r>
          </a:p>
        </p:txBody>
      </p:sp>
      <p:sp>
        <p:nvSpPr>
          <p:cNvPr id="5" name="page-9">
            <a:extLst>
              <a:ext uri="{FF2B5EF4-FFF2-40B4-BE49-F238E27FC236}">
                <a16:creationId xmlns:a16="http://schemas.microsoft.com/office/drawing/2014/main" id="{C349AD79-C29A-4A80-B947-BE56FEC982CB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ai-network-panel">
            <a:extLst>
              <a:ext uri="{FF2B5EF4-FFF2-40B4-BE49-F238E27FC236}">
                <a16:creationId xmlns:a16="http://schemas.microsoft.com/office/drawing/2014/main" id="{CB1BA9DB-C3A7-4A6A-A407-AEF77A6AB87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714875" cy="3276600"/>
          </a:xfrm>
          <a:prstGeom prst="rect">
            <a:avLst/>
          </a:prstGeom>
          <a:solidFill>
            <a:srgbClr val="E4E7E8"/>
          </a:solidFill>
          <a:ln w="9525">
            <a:solidFill>
              <a:srgbClr val="E4E7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i-telemetry-panel">
            <a:extLst>
              <a:ext uri="{FF2B5EF4-FFF2-40B4-BE49-F238E27FC236}">
                <a16:creationId xmlns:a16="http://schemas.microsoft.com/office/drawing/2014/main" id="{EE7298DB-F6D2-465D-AA68-8CDA94B63086}"/>
              </a:ext>
            </a:extLst>
          </p:cNvPr>
          <p:cNvSpPr>
            <a:spLocks noGrp="1"/>
          </p:cNvSpPr>
          <p:nvPr/>
        </p:nvSpPr>
        <p:spPr>
          <a:xfrm>
            <a:off x="6867525" y="1695450"/>
            <a:ext cx="4714875" cy="32766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i-fusion-panel">
            <a:extLst>
              <a:ext uri="{FF2B5EF4-FFF2-40B4-BE49-F238E27FC236}">
                <a16:creationId xmlns:a16="http://schemas.microsoft.com/office/drawing/2014/main" id="{D9D1D5AD-9072-493F-9E97-28132AB8DA2C}"/>
              </a:ext>
            </a:extLst>
          </p:cNvPr>
          <p:cNvSpPr>
            <a:spLocks noGrp="1"/>
          </p:cNvSpPr>
          <p:nvPr/>
        </p:nvSpPr>
        <p:spPr>
          <a:xfrm>
            <a:off x="5324475" y="2228850"/>
            <a:ext cx="1543050" cy="22288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i-network-number">
            <a:extLst>
              <a:ext uri="{FF2B5EF4-FFF2-40B4-BE49-F238E27FC236}">
                <a16:creationId xmlns:a16="http://schemas.microsoft.com/office/drawing/2014/main" id="{325D7D34-33AB-4F94-A146-FCBEC95851D8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" name="ai-network-title">
            <a:extLst>
              <a:ext uri="{FF2B5EF4-FFF2-40B4-BE49-F238E27FC236}">
                <a16:creationId xmlns:a16="http://schemas.microsoft.com/office/drawing/2014/main" id="{58EF713F-A789-43AB-B380-D73C4B71D695}"/>
              </a:ext>
            </a:extLst>
          </p:cNvPr>
          <p:cNvSpPr>
            <a:spLocks noGrp="1"/>
          </p:cNvSpPr>
          <p:nvPr/>
        </p:nvSpPr>
        <p:spPr>
          <a:xfrm>
            <a:off x="971550" y="2933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DDS NETWORK</a:t>
            </a:r>
          </a:p>
        </p:txBody>
      </p:sp>
      <p:sp>
        <p:nvSpPr>
          <p:cNvPr id="11" name="ai-network-body">
            <a:extLst>
              <a:ext uri="{FF2B5EF4-FFF2-40B4-BE49-F238E27FC236}">
                <a16:creationId xmlns:a16="http://schemas.microsoft.com/office/drawing/2014/main" id="{CCF01C69-254D-40E2-ADC9-A994D1185A4F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封包率、位元組率、來源／目的、埠與 protocol 統計、Zeek 事件。</a:t>
            </a:r>
          </a:p>
          <a:p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 live 已可產生 network features。</a:t>
            </a:r>
          </a:p>
        </p:txBody>
      </p:sp>
      <p:sp>
        <p:nvSpPr>
          <p:cNvPr id="12" name="ai-fusion-text">
            <a:extLst>
              <a:ext uri="{FF2B5EF4-FFF2-40B4-BE49-F238E27FC236}">
                <a16:creationId xmlns:a16="http://schemas.microsoft.com/office/drawing/2014/main" id="{23277CB1-FD53-41E6-B9BD-8C69D04B9384}"/>
              </a:ext>
            </a:extLst>
          </p:cNvPr>
          <p:cNvSpPr>
            <a:spLocks noGrp="1"/>
          </p:cNvSpPr>
          <p:nvPr/>
        </p:nvSpPr>
        <p:spPr>
          <a:xfrm>
            <a:off x="5476875" y="2524125"/>
            <a:ext cx="12382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FUSION</a:t>
            </a:r>
          </a:p>
          <a:p>
            <a:endParaRPr sz="165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14 + 18</a:t>
            </a:r>
          </a:p>
          <a:p>
            <a:pPr algn="ctr"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=</a:t>
            </a:r>
          </a:p>
          <a:p>
            <a:pPr algn="ctr"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13" name="ai-telemetry-number">
            <a:extLst>
              <a:ext uri="{FF2B5EF4-FFF2-40B4-BE49-F238E27FC236}">
                <a16:creationId xmlns:a16="http://schemas.microsoft.com/office/drawing/2014/main" id="{BA147F41-0BA6-4E4A-8F23-CA4EA3D4259B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4" name="ai-telemetry-title">
            <a:extLst>
              <a:ext uri="{FF2B5EF4-FFF2-40B4-BE49-F238E27FC236}">
                <a16:creationId xmlns:a16="http://schemas.microsoft.com/office/drawing/2014/main" id="{09C22F3D-1A2B-4284-97E7-AE72B5D8C13A}"/>
              </a:ext>
            </a:extLst>
          </p:cNvPr>
          <p:cNvSpPr>
            <a:spLocks noGrp="1"/>
          </p:cNvSpPr>
          <p:nvPr/>
        </p:nvSpPr>
        <p:spPr>
          <a:xfrm>
            <a:off x="7239000" y="29337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ROS / SROS2 TELEMETRY</a:t>
            </a:r>
          </a:p>
        </p:txBody>
      </p:sp>
      <p:sp>
        <p:nvSpPr>
          <p:cNvPr id="15" name="ai-telemetry-body">
            <a:extLst>
              <a:ext uri="{FF2B5EF4-FFF2-40B4-BE49-F238E27FC236}">
                <a16:creationId xmlns:a16="http://schemas.microsoft.com/office/drawing/2014/main" id="{A31A91D5-F693-478D-9118-90D499B37F37}"/>
              </a:ext>
            </a:extLst>
          </p:cNvPr>
          <p:cNvSpPr>
            <a:spLocks noGrp="1"/>
          </p:cNvSpPr>
          <p:nvPr/>
        </p:nvSpPr>
        <p:spPr>
          <a:xfrm>
            <a:off x="7239000" y="3409950"/>
            <a:ext cx="3810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HMAC、nonce／channel、publisher、心跳。</a:t>
            </a:r>
          </a:p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scan／odom／cmd 跨感測一致性。</a:t>
            </a:r>
          </a:p>
          <a:p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schema 已有；live collector 與同窗對齊未完成。</a:t>
            </a:r>
          </a:p>
        </p:txBody>
      </p:sp>
      <p:sp>
        <p:nvSpPr>
          <p:cNvPr id="16" name="ai-blocker-band">
            <a:extLst>
              <a:ext uri="{FF2B5EF4-FFF2-40B4-BE49-F238E27FC236}">
                <a16:creationId xmlns:a16="http://schemas.microsoft.com/office/drawing/2014/main" id="{5B0A61CE-4994-4E7F-9153-11CA5C39D089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6096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i-blocker-text">
            <a:extLst>
              <a:ext uri="{FF2B5EF4-FFF2-40B4-BE49-F238E27FC236}">
                <a16:creationId xmlns:a16="http://schemas.microsoft.com/office/drawing/2014/main" id="{919E45A1-D8DE-4E71-BCD2-E90F1DB1634C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Preflight 正確地 BLOCKED：live_multimodal_contract＋source_snapshot_clean 未通過前，1,100 場不得啟動。</a:t>
            </a:r>
          </a:p>
        </p:txBody>
      </p:sp>
    </p:spTree>
    <p:extLst>
      <p:ext uri="{BB962C8B-B14F-4D97-AF65-F5344CB8AC3E}">
        <p14:creationId xmlns:p14="http://schemas.microsoft.com/office/powerpoint/2010/main" val="1157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il-10">
            <a:extLst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10">
            <a:extLst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正式實驗：同一份 live test，公平比較六組問題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600200"/>
          <a:ext cx="10972800" cy="434340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主要指標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E1 Baseline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Zeek / LR / RF / IF / MLP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macro-F1、FPR、PR-AUC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簡單模型是否足夠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E2 Feature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network / telemetry / fusion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每類 recall、ΔF1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融合是否有效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E3 Model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branch / anomaly / gate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效能、延遲、誤封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各模組的貢獻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E4 Unknown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leave-one-attack-class-out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recall、AUPRC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能否偵測新攻擊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E5 SROS2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Permissive / Enforce 配對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成功／拒絕、分布差異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模式如何改變風險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E6–E7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回應安全＋多 seed 統計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P95、95% CI、復原率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結果是否穩定可用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ail-11">
            <a:extLst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11">
            <a:extLst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安全回應與滲透驗收：先可控，再談能擋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response-label">
            <a:extLst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response-title">
            <a:extLst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回應引擎的五道閘門</a:t>
            </a:r>
          </a:p>
        </p:txBody>
      </p:sp>
      <p:sp>
        <p:nvSpPr>
          <p:cNvPr id="8" name="gate-number-1">
            <a:extLst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noGrp="1"/>
          </p:cNvSpPr>
          <p:nvPr/>
        </p:nvSpPr>
        <p:spPr>
          <a:xfrm>
            <a:off x="1123950" y="2714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信心門檻</a:t>
            </a:r>
          </a:p>
        </p:txBody>
      </p:sp>
      <p:sp>
        <p:nvSpPr>
          <p:cNvPr id="10" name="gate-rule-1">
            <a:extLst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gate-number-2">
            <a:extLst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noGrp="1"/>
          </p:cNvSpPr>
          <p:nvPr/>
        </p:nvSpPr>
        <p:spPr>
          <a:xfrm>
            <a:off x="1123950" y="33051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白名單／保護來源</a:t>
            </a:r>
          </a:p>
        </p:txBody>
      </p:sp>
      <p:sp>
        <p:nvSpPr>
          <p:cNvPr id="13" name="gate-rule-2">
            <a:extLst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noGrp="1"/>
          </p:cNvSpPr>
          <p:nvPr/>
        </p:nvSpPr>
        <p:spPr>
          <a:xfrm>
            <a:off x="1123950" y="370522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gate-number-3">
            <a:extLst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noGrp="1"/>
          </p:cNvSpPr>
          <p:nvPr/>
        </p:nvSpPr>
        <p:spPr>
          <a:xfrm>
            <a:off x="1123950" y="38957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per-source cooldown</a:t>
            </a:r>
          </a:p>
        </p:txBody>
      </p:sp>
      <p:sp>
        <p:nvSpPr>
          <p:cNvPr id="16" name="gate-rule-3">
            <a:extLst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noGrp="1"/>
          </p:cNvSpPr>
          <p:nvPr/>
        </p:nvSpPr>
        <p:spPr>
          <a:xfrm>
            <a:off x="1123950" y="42957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gate-number-4">
            <a:extLst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323850" cy="323850"/>
          </a:xfrm>
          <a:prstGeom prst="ellipse">
            <a:avLst/>
          </a:prstGeom>
          <a:solidFill>
            <a:srgbClr val="657065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noGrp="1"/>
          </p:cNvSpPr>
          <p:nvPr/>
        </p:nvSpPr>
        <p:spPr>
          <a:xfrm>
            <a:off x="1123950" y="44862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全域容量限制</a:t>
            </a:r>
          </a:p>
        </p:txBody>
      </p:sp>
      <p:sp>
        <p:nvSpPr>
          <p:cNvPr id="19" name="gate-rule-4">
            <a:extLst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noGrp="1"/>
          </p:cNvSpPr>
          <p:nvPr/>
        </p:nvSpPr>
        <p:spPr>
          <a:xfrm>
            <a:off x="1123950" y="488632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gate-number-5">
            <a:extLst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323850" cy="323850"/>
          </a:xfrm>
          <a:prstGeom prst="ellipse">
            <a:avLst/>
          </a:prstGeom>
          <a:solidFill>
            <a:srgbClr val="86605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95486"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noGrp="1"/>
          </p:cNvSpPr>
          <p:nvPr/>
        </p:nvSpPr>
        <p:spPr>
          <a:xfrm>
            <a:off x="1123950" y="50768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預設 dry-run、可撤銷、可稽核</a:t>
            </a:r>
          </a:p>
        </p:txBody>
      </p:sp>
      <p:sp>
        <p:nvSpPr>
          <p:cNvPr id="22" name="gate-rule-5">
            <a:extLst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noGrp="1"/>
          </p:cNvSpPr>
          <p:nvPr/>
        </p:nvSpPr>
        <p:spPr>
          <a:xfrm>
            <a:off x="1123950" y="5476875"/>
            <a:ext cx="400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entest-field">
            <a:extLst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noGrp="1"/>
          </p:cNvSpPr>
          <p:nvPr/>
        </p:nvSpPr>
        <p:spPr>
          <a:xfrm>
            <a:off x="5810250" y="1600200"/>
            <a:ext cx="5772150" cy="44958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pentest-label">
            <a:extLst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noGrp="1"/>
          </p:cNvSpPr>
          <p:nvPr/>
        </p:nvSpPr>
        <p:spPr>
          <a:xfrm>
            <a:off x="6191250" y="1924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ISOLATED PENTEST</a:t>
            </a:r>
          </a:p>
        </p:txBody>
      </p:sp>
      <p:sp>
        <p:nvSpPr>
          <p:cNvPr id="25" name="pentest-title">
            <a:extLst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滲透驗收的四階段</a:t>
            </a:r>
          </a:p>
        </p:txBody>
      </p:sp>
      <p:sp>
        <p:nvSpPr>
          <p:cNvPr id="26" name="pentest-timeline">
            <a:extLst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19050" cy="209550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pentest-stage-A">
            <a:extLst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noGrp="1"/>
          </p:cNvSpPr>
          <p:nvPr/>
        </p:nvSpPr>
        <p:spPr>
          <a:xfrm>
            <a:off x="6257925" y="29527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noGrp="1"/>
          </p:cNvSpPr>
          <p:nvPr/>
        </p:nvSpPr>
        <p:spPr>
          <a:xfrm>
            <a:off x="6896100" y="29622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離線 PCAP／replay</a:t>
            </a:r>
          </a:p>
        </p:txBody>
      </p:sp>
      <p:sp>
        <p:nvSpPr>
          <p:cNvPr id="29" name="pentest-stage-B">
            <a:extLst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noGrp="1"/>
          </p:cNvSpPr>
          <p:nvPr/>
        </p:nvSpPr>
        <p:spPr>
          <a:xfrm>
            <a:off x="6257925" y="36385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noGrp="1"/>
          </p:cNvSpPr>
          <p:nvPr/>
        </p:nvSpPr>
        <p:spPr>
          <a:xfrm>
            <a:off x="6896100" y="36480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同機 host-only 測試</a:t>
            </a:r>
          </a:p>
        </p:txBody>
      </p:sp>
      <p:sp>
        <p:nvSpPr>
          <p:cNvPr id="31" name="pentest-stage-C">
            <a:extLst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noGrp="1"/>
          </p:cNvSpPr>
          <p:nvPr/>
        </p:nvSpPr>
        <p:spPr>
          <a:xfrm>
            <a:off x="6257925" y="4324350"/>
            <a:ext cx="381000" cy="381000"/>
          </a:xfrm>
          <a:prstGeom prst="ellipse">
            <a:avLst/>
          </a:prstGeom>
          <a:solidFill>
            <a:srgbClr val="A18F83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noGrp="1"/>
          </p:cNvSpPr>
          <p:nvPr/>
        </p:nvSpPr>
        <p:spPr>
          <a:xfrm>
            <a:off x="6896100" y="43338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兩台自有隔離設備</a:t>
            </a:r>
          </a:p>
        </p:txBody>
      </p:sp>
      <p:sp>
        <p:nvSpPr>
          <p:cNvPr id="33" name="pentest-stage-D">
            <a:extLst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noGrp="1"/>
          </p:cNvSpPr>
          <p:nvPr/>
        </p:nvSpPr>
        <p:spPr>
          <a:xfrm>
            <a:off x="6257925" y="5010150"/>
            <a:ext cx="381000" cy="381000"/>
          </a:xfrm>
          <a:prstGeom prst="ellipse">
            <a:avLst/>
          </a:prstGeom>
          <a:solidFill>
            <a:srgbClr val="86605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noGrp="1"/>
          </p:cNvSpPr>
          <p:nvPr/>
        </p:nvSpPr>
        <p:spPr>
          <a:xfrm>
            <a:off x="6896100" y="50196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受限、非破壞的 Metasploit／DDS／ROS2 驗收</a:t>
            </a:r>
          </a:p>
        </p:txBody>
      </p:sp>
      <p:sp>
        <p:nvSpPr>
          <p:cNvPr id="35" name="pentest-evidence">
            <a:extLst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scope · commands · stdout/stderr · PCAP · SHA-256 · observations · rollback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ail-12">
            <a:extLst>
              <a:ext uri="{FF2B5EF4-FFF2-40B4-BE49-F238E27FC236}">
                <a16:creationId xmlns:a16="http://schemas.microsoft.com/office/drawing/2014/main" id="{C3B156F7-2D0B-4E96-9EA0-EF2B6C4B4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12">
            <a:extLst>
              <a:ext uri="{FF2B5EF4-FFF2-40B4-BE49-F238E27FC236}">
                <a16:creationId xmlns:a16="http://schemas.microsoft.com/office/drawing/2014/main" id="{05B57784-7151-4E76-9A71-91522AB4C00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工程品質已成形，AI 研究證據仍在中段</a:t>
            </a:r>
          </a:p>
        </p:txBody>
      </p:sp>
      <p:sp>
        <p:nvSpPr>
          <p:cNvPr id="5" name="progress-engineering-label">
            <a:extLst>
              <a:ext uri="{FF2B5EF4-FFF2-40B4-BE49-F238E27FC236}">
                <a16:creationId xmlns:a16="http://schemas.microsoft.com/office/drawing/2014/main" id="{620417A9-ADC6-4D51-A19B-5B39CDC0EDD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工程實作進度</a:t>
            </a:r>
          </a:p>
        </p:txBody>
      </p:sp>
      <p:sp>
        <p:nvSpPr>
          <p:cNvPr id="6" name="progress-engineering-track">
            <a:extLst>
              <a:ext uri="{FF2B5EF4-FFF2-40B4-BE49-F238E27FC236}">
                <a16:creationId xmlns:a16="http://schemas.microsoft.com/office/drawing/2014/main" id="{E1B58CF9-B1EB-4A99-A421-BD02FE966798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762500" cy="3048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rogress-engineering-value">
            <a:extLst>
              <a:ext uri="{FF2B5EF4-FFF2-40B4-BE49-F238E27FC236}">
                <a16:creationId xmlns:a16="http://schemas.microsoft.com/office/drawing/2014/main" id="{E07946E8-240A-4DF7-AF44-5FBEFA1D8A5B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267075" cy="3048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rogress-engineering-number">
            <a:extLst>
              <a:ext uri="{FF2B5EF4-FFF2-40B4-BE49-F238E27FC236}">
                <a16:creationId xmlns:a16="http://schemas.microsoft.com/office/drawing/2014/main" id="{5CA884AA-5D06-4A54-A38B-26EB0F8E7EE4}"/>
              </a:ext>
            </a:extLst>
          </p:cNvPr>
          <p:cNvSpPr>
            <a:spLocks noGrp="1"/>
          </p:cNvSpPr>
          <p:nvPr/>
        </p:nvSpPr>
        <p:spPr>
          <a:xfrm>
            <a:off x="3981450" y="20574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68.5%</a:t>
            </a:r>
          </a:p>
        </p:txBody>
      </p:sp>
      <p:sp>
        <p:nvSpPr>
          <p:cNvPr id="9" name="progress-ai-label">
            <a:extLst>
              <a:ext uri="{FF2B5EF4-FFF2-40B4-BE49-F238E27FC236}">
                <a16:creationId xmlns:a16="http://schemas.microsoft.com/office/drawing/2014/main" id="{DA4B4131-6F64-4DF1-BD66-238B057F300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AI 過關成熟度</a:t>
            </a:r>
          </a:p>
        </p:txBody>
      </p:sp>
      <p:sp>
        <p:nvSpPr>
          <p:cNvPr id="10" name="progress-ai-track">
            <a:extLst>
              <a:ext uri="{FF2B5EF4-FFF2-40B4-BE49-F238E27FC236}">
                <a16:creationId xmlns:a16="http://schemas.microsoft.com/office/drawing/2014/main" id="{B244D555-4BFE-4E5A-B3AA-5E225848CCC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4762500" cy="304800"/>
          </a:xfrm>
          <a:prstGeom prst="rect">
            <a:avLst/>
          </a:prstGeom>
          <a:solidFill>
            <a:srgbClr val="EAE6DF"/>
          </a:solidFill>
          <a:ln w="9525">
            <a:solidFill>
              <a:srgbClr val="EAE6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rogress-ai-value">
            <a:extLst>
              <a:ext uri="{FF2B5EF4-FFF2-40B4-BE49-F238E27FC236}">
                <a16:creationId xmlns:a16="http://schemas.microsoft.com/office/drawing/2014/main" id="{A816A113-D7B0-4F3A-BEE1-7ECDA0D36446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2638425" cy="3048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progress-ai-number">
            <a:extLst>
              <a:ext uri="{FF2B5EF4-FFF2-40B4-BE49-F238E27FC236}">
                <a16:creationId xmlns:a16="http://schemas.microsoft.com/office/drawing/2014/main" id="{94240EE5-0D71-4CC9-9D80-AECB0ABBF85E}"/>
              </a:ext>
            </a:extLst>
          </p:cNvPr>
          <p:cNvSpPr>
            <a:spLocks noGrp="1"/>
          </p:cNvSpPr>
          <p:nvPr/>
        </p:nvSpPr>
        <p:spPr>
          <a:xfrm>
            <a:off x="3981450" y="33147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55.3%</a:t>
            </a:r>
          </a:p>
        </p:txBody>
      </p:sp>
      <p:sp>
        <p:nvSpPr>
          <p:cNvPr id="13" name="progress-explanation">
            <a:extLst>
              <a:ext uri="{FF2B5EF4-FFF2-40B4-BE49-F238E27FC236}">
                <a16:creationId xmlns:a16="http://schemas.microsoft.com/office/drawing/2014/main" id="{18E05E60-31B4-4355-A80E-5F257CC9A93F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76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兩個百分比不是模型準確率：前者衡量系統與測試，後者衡量資料、模型、消融、未知攻擊與統計證據。</a:t>
            </a:r>
          </a:p>
        </p:txBody>
      </p:sp>
      <p:sp>
        <p:nvSpPr>
          <p:cNvPr id="14" name="progress-grid-v">
            <a:extLst>
              <a:ext uri="{FF2B5EF4-FFF2-40B4-BE49-F238E27FC236}">
                <a16:creationId xmlns:a16="http://schemas.microsoft.com/office/drawing/2014/main" id="{BB5E7D10-E6F8-4DE4-B23F-916CBD81819F}"/>
              </a:ext>
            </a:extLst>
          </p:cNvPr>
          <p:cNvSpPr>
            <a:spLocks noGrp="1"/>
          </p:cNvSpPr>
          <p:nvPr/>
        </p:nvSpPr>
        <p:spPr>
          <a:xfrm>
            <a:off x="8458200" y="1752600"/>
            <a:ext cx="9525" cy="3619500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rogress-grid-h">
            <a:extLst>
              <a:ext uri="{FF2B5EF4-FFF2-40B4-BE49-F238E27FC236}">
                <a16:creationId xmlns:a16="http://schemas.microsoft.com/office/drawing/2014/main" id="{772BD7AE-D664-45B4-B5FA-FB31924DC15E}"/>
              </a:ext>
            </a:extLst>
          </p:cNvPr>
          <p:cNvSpPr>
            <a:spLocks noGrp="1"/>
          </p:cNvSpPr>
          <p:nvPr/>
        </p:nvSpPr>
        <p:spPr>
          <a:xfrm>
            <a:off x="6191250" y="3562350"/>
            <a:ext cx="523875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quality-number-1">
            <a:extLst>
              <a:ext uri="{FF2B5EF4-FFF2-40B4-BE49-F238E27FC236}">
                <a16:creationId xmlns:a16="http://schemas.microsoft.com/office/drawing/2014/main" id="{6445B160-33AD-48A0-8D45-33D9413DF9FB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256 / 0 / 0</a:t>
            </a:r>
          </a:p>
        </p:txBody>
      </p:sp>
      <p:sp>
        <p:nvSpPr>
          <p:cNvPr id="17" name="quality-label-1">
            <a:extLst>
              <a:ext uri="{FF2B5EF4-FFF2-40B4-BE49-F238E27FC236}">
                <a16:creationId xmlns:a16="http://schemas.microsoft.com/office/drawing/2014/main" id="{491841CB-BB2D-4EBF-A4CC-0414948D69F1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passed / skipped / failed</a:t>
            </a:r>
          </a:p>
        </p:txBody>
      </p:sp>
      <p:sp>
        <p:nvSpPr>
          <p:cNvPr id="18" name="quality-number-2">
            <a:extLst>
              <a:ext uri="{FF2B5EF4-FFF2-40B4-BE49-F238E27FC236}">
                <a16:creationId xmlns:a16="http://schemas.microsoft.com/office/drawing/2014/main" id="{CF75C31F-A05F-45B0-B242-AC613A51F66F}"/>
              </a:ext>
            </a:extLst>
          </p:cNvPr>
          <p:cNvSpPr>
            <a:spLocks noGrp="1"/>
          </p:cNvSpPr>
          <p:nvPr/>
        </p:nvSpPr>
        <p:spPr>
          <a:xfrm>
            <a:off x="8763000" y="18859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47 / 47</a:t>
            </a:r>
          </a:p>
        </p:txBody>
      </p:sp>
      <p:sp>
        <p:nvSpPr>
          <p:cNvPr id="19" name="quality-label-2">
            <a:extLst>
              <a:ext uri="{FF2B5EF4-FFF2-40B4-BE49-F238E27FC236}">
                <a16:creationId xmlns:a16="http://schemas.microsoft.com/office/drawing/2014/main" id="{473D11B4-A529-47F8-AD29-5663B054D921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最新 SROS2 稽核通過</a:t>
            </a:r>
          </a:p>
        </p:txBody>
      </p:sp>
      <p:sp>
        <p:nvSpPr>
          <p:cNvPr id="20" name="quality-number-3">
            <a:extLst>
              <a:ext uri="{FF2B5EF4-FFF2-40B4-BE49-F238E27FC236}">
                <a16:creationId xmlns:a16="http://schemas.microsoft.com/office/drawing/2014/main" id="{99A32CD0-2E9C-4BFF-85EB-A066F1720672}"/>
              </a:ext>
            </a:extLst>
          </p:cNvPr>
          <p:cNvSpPr>
            <a:spLocks noGrp="1"/>
          </p:cNvSpPr>
          <p:nvPr/>
        </p:nvSpPr>
        <p:spPr>
          <a:xfrm>
            <a:off x="6191250" y="3857625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13 / 15</a:t>
            </a:r>
          </a:p>
        </p:txBody>
      </p:sp>
      <p:sp>
        <p:nvSpPr>
          <p:cNvPr id="21" name="quality-label-3">
            <a:extLst>
              <a:ext uri="{FF2B5EF4-FFF2-40B4-BE49-F238E27FC236}">
                <a16:creationId xmlns:a16="http://schemas.microsoft.com/office/drawing/2014/main" id="{810BAF14-EA01-40D2-BBD4-F140DF4A0260}"/>
              </a:ext>
            </a:extLst>
          </p:cNvPr>
          <p:cNvSpPr>
            <a:spLocks noGrp="1"/>
          </p:cNvSpPr>
          <p:nvPr/>
        </p:nvSpPr>
        <p:spPr>
          <a:xfrm>
            <a:off x="6191250" y="454342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formal preflight</a:t>
            </a:r>
          </a:p>
        </p:txBody>
      </p:sp>
      <p:sp>
        <p:nvSpPr>
          <p:cNvPr id="22" name="quality-number-4">
            <a:extLst>
              <a:ext uri="{FF2B5EF4-FFF2-40B4-BE49-F238E27FC236}">
                <a16:creationId xmlns:a16="http://schemas.microsoft.com/office/drawing/2014/main" id="{4BD27898-6F89-4942-A57C-42DE3A3EC28C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 / 1,100</a:t>
            </a:r>
          </a:p>
        </p:txBody>
      </p:sp>
      <p:sp>
        <p:nvSpPr>
          <p:cNvPr id="23" name="quality-label-4">
            <a:extLst>
              <a:ext uri="{FF2B5EF4-FFF2-40B4-BE49-F238E27FC236}">
                <a16:creationId xmlns:a16="http://schemas.microsoft.com/office/drawing/2014/main" id="{04612333-5B66-4093-A06B-184610A4182D}"/>
              </a:ext>
            </a:extLst>
          </p:cNvPr>
          <p:cNvSpPr>
            <a:spLocks noGrp="1"/>
          </p:cNvSpPr>
          <p:nvPr/>
        </p:nvSpPr>
        <p:spPr>
          <a:xfrm>
            <a:off x="8763000" y="454342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正式 live sessions</a:t>
            </a:r>
          </a:p>
        </p:txBody>
      </p:sp>
    </p:spTree>
    <p:extLst>
      <p:ext uri="{BB962C8B-B14F-4D97-AF65-F5344CB8AC3E}">
        <p14:creationId xmlns:p14="http://schemas.microsoft.com/office/powerpoint/2010/main" val="123994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ail-13">
            <a:extLst>
              <a:ext uri="{FF2B5EF4-FFF2-40B4-BE49-F238E27FC236}">
                <a16:creationId xmlns:a16="http://schemas.microsoft.com/office/drawing/2014/main" id="{32F213CE-6CAB-4535-A217-4627118140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13">
            <a:extLst>
              <a:ext uri="{FF2B5EF4-FFF2-40B4-BE49-F238E27FC236}">
                <a16:creationId xmlns:a16="http://schemas.microsoft.com/office/drawing/2014/main" id="{5DFCD90A-9B4F-4113-B380-60868513713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執行路線：2026.08 到 2027.05</a:t>
            </a:r>
          </a:p>
        </p:txBody>
      </p:sp>
      <p:sp>
        <p:nvSpPr>
          <p:cNvPr id="5" name="page-13">
            <a:extLst>
              <a:ext uri="{FF2B5EF4-FFF2-40B4-BE49-F238E27FC236}">
                <a16:creationId xmlns:a16="http://schemas.microsoft.com/office/drawing/2014/main" id="{CA700CFA-7AF1-43C3-835C-36CE3EC05B8D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oadmap-deadline">
            <a:extLst>
              <a:ext uri="{FF2B5EF4-FFF2-40B4-BE49-F238E27FC236}">
                <a16:creationId xmlns:a16="http://schemas.microsoft.com/office/drawing/2014/main" id="{BCE88B58-E42A-428D-B26A-DBBFC18AE7A6}"/>
              </a:ext>
            </a:extLst>
          </p:cNvPr>
          <p:cNvSpPr>
            <a:spLocks noGrp="1"/>
          </p:cNvSpPr>
          <p:nvPr/>
        </p:nvSpPr>
        <p:spPr>
          <a:xfrm>
            <a:off x="8286750" y="4191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內部目標日  2027-05-31</a:t>
            </a:r>
          </a:p>
        </p:txBody>
      </p:sp>
      <p:sp>
        <p:nvSpPr>
          <p:cNvPr id="7" name="roadmap-line">
            <a:extLst>
              <a:ext uri="{FF2B5EF4-FFF2-40B4-BE49-F238E27FC236}">
                <a16:creationId xmlns:a16="http://schemas.microsoft.com/office/drawing/2014/main" id="{DADD0ECC-A3C7-4804-8C70-29F0974870EB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9906000" cy="19050"/>
          </a:xfrm>
          <a:prstGeom prst="rect">
            <a:avLst/>
          </a:prstGeom>
          <a:solidFill>
            <a:srgbClr val="A9A8A2"/>
          </a:solidFill>
          <a:ln w="9525">
            <a:solidFill>
              <a:srgbClr val="A9A8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map-dot-1">
            <a:extLst>
              <a:ext uri="{FF2B5EF4-FFF2-40B4-BE49-F238E27FC236}">
                <a16:creationId xmlns:a16="http://schemas.microsoft.com/office/drawing/2014/main" id="{56CFCC54-D181-4DD6-BE04-8CBCCE410041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38150" cy="438150"/>
          </a:xfrm>
          <a:prstGeom prst="ellipse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roadmap-date-1">
            <a:extLst>
              <a:ext uri="{FF2B5EF4-FFF2-40B4-BE49-F238E27FC236}">
                <a16:creationId xmlns:a16="http://schemas.microsoft.com/office/drawing/2014/main" id="{BBDF6967-9509-42C9-B860-6F54DC80342E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2026.08–12</a:t>
            </a:r>
          </a:p>
        </p:txBody>
      </p:sp>
      <p:sp>
        <p:nvSpPr>
          <p:cNvPr id="10" name="roadmap-title-1">
            <a:extLst>
              <a:ext uri="{FF2B5EF4-FFF2-40B4-BE49-F238E27FC236}">
                <a16:creationId xmlns:a16="http://schemas.microsoft.com/office/drawing/2014/main" id="{03B0F020-196C-4512-B227-C6F8EF2E5E08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資料與契約</a:t>
            </a:r>
          </a:p>
        </p:txBody>
      </p:sp>
      <p:sp>
        <p:nvSpPr>
          <p:cNvPr id="11" name="roadmap-body-1">
            <a:extLst>
              <a:ext uri="{FF2B5EF4-FFF2-40B4-BE49-F238E27FC236}">
                <a16:creationId xmlns:a16="http://schemas.microsoft.com/office/drawing/2014/main" id="{5C6D27D5-EFDB-4735-B817-F800C52A21A3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完成 telemetry、fusion、source freeze 與第一批正式資料；缺件到貨後建立 Pi5 資源基線。</a:t>
            </a:r>
          </a:p>
        </p:txBody>
      </p:sp>
      <p:sp>
        <p:nvSpPr>
          <p:cNvPr id="12" name="roadmap-dot-2">
            <a:extLst>
              <a:ext uri="{FF2B5EF4-FFF2-40B4-BE49-F238E27FC236}">
                <a16:creationId xmlns:a16="http://schemas.microsoft.com/office/drawing/2014/main" id="{6AF2596D-D623-44E8-83BD-540A1A82EDC9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438150" cy="438150"/>
          </a:xfrm>
          <a:prstGeom prst="ellipse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roadmap-date-2">
            <a:extLst>
              <a:ext uri="{FF2B5EF4-FFF2-40B4-BE49-F238E27FC236}">
                <a16:creationId xmlns:a16="http://schemas.microsoft.com/office/drawing/2014/main" id="{464C92FE-75D0-4482-AD7F-F9CE26213963}"/>
              </a:ext>
            </a:extLst>
          </p:cNvPr>
          <p:cNvSpPr>
            <a:spLocks noGrp="1"/>
          </p:cNvSpPr>
          <p:nvPr/>
        </p:nvSpPr>
        <p:spPr>
          <a:xfrm>
            <a:off x="48577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2027.01–03</a:t>
            </a:r>
          </a:p>
        </p:txBody>
      </p:sp>
      <p:sp>
        <p:nvSpPr>
          <p:cNvPr id="14" name="roadmap-title-2">
            <a:extLst>
              <a:ext uri="{FF2B5EF4-FFF2-40B4-BE49-F238E27FC236}">
                <a16:creationId xmlns:a16="http://schemas.microsoft.com/office/drawing/2014/main" id="{2298D996-5A15-4699-BB0D-EBA3F0C98173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模型與驗收</a:t>
            </a:r>
          </a:p>
        </p:txBody>
      </p:sp>
      <p:sp>
        <p:nvSpPr>
          <p:cNvPr id="15" name="roadmap-body-2">
            <a:extLst>
              <a:ext uri="{FF2B5EF4-FFF2-40B4-BE49-F238E27FC236}">
                <a16:creationId xmlns:a16="http://schemas.microsoft.com/office/drawing/2014/main" id="{36F5B3B2-253F-4B53-8DEA-5715CD027B37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完成 baseline、消融、未知攻擊、95% CI 與 P95；在隔離環境完成 Pi5 與非破壞驗收。</a:t>
            </a:r>
          </a:p>
        </p:txBody>
      </p:sp>
      <p:sp>
        <p:nvSpPr>
          <p:cNvPr id="16" name="roadmap-dot-3">
            <a:extLst>
              <a:ext uri="{FF2B5EF4-FFF2-40B4-BE49-F238E27FC236}">
                <a16:creationId xmlns:a16="http://schemas.microsoft.com/office/drawing/2014/main" id="{E4F4AD20-1912-45A6-8F55-02A50B9F97DB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438150" cy="438150"/>
          </a:xfrm>
          <a:prstGeom prst="ellipse">
            <a:avLst/>
          </a:prstGeom>
          <a:solidFill>
            <a:srgbClr val="827870"/>
          </a:solidFill>
          <a:ln w="9525">
            <a:solidFill>
              <a:srgbClr val="827870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admap-date-3">
            <a:extLst>
              <a:ext uri="{FF2B5EF4-FFF2-40B4-BE49-F238E27FC236}">
                <a16:creationId xmlns:a16="http://schemas.microsoft.com/office/drawing/2014/main" id="{C1F69A29-EFEE-4A46-87BF-012CADAC93F1}"/>
              </a:ext>
            </a:extLst>
          </p:cNvPr>
          <p:cNvSpPr>
            <a:spLocks noGrp="1"/>
          </p:cNvSpPr>
          <p:nvPr/>
        </p:nvSpPr>
        <p:spPr>
          <a:xfrm>
            <a:off x="8858250" y="22288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2027.04–05</a:t>
            </a:r>
          </a:p>
        </p:txBody>
      </p:sp>
      <p:sp>
        <p:nvSpPr>
          <p:cNvPr id="18" name="roadmap-title-3">
            <a:extLst>
              <a:ext uri="{FF2B5EF4-FFF2-40B4-BE49-F238E27FC236}">
                <a16:creationId xmlns:a16="http://schemas.microsoft.com/office/drawing/2014/main" id="{D40648F3-F6C0-4CFC-8960-58ED9A33AAE0}"/>
              </a:ext>
            </a:extLst>
          </p:cNvPr>
          <p:cNvSpPr>
            <a:spLocks noGrp="1"/>
          </p:cNvSpPr>
          <p:nvPr/>
        </p:nvSpPr>
        <p:spPr>
          <a:xfrm>
            <a:off x="8858250" y="35814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交付與答辯</a:t>
            </a:r>
          </a:p>
        </p:txBody>
      </p:sp>
      <p:sp>
        <p:nvSpPr>
          <p:cNvPr id="19" name="roadmap-body-3">
            <a:extLst>
              <a:ext uri="{FF2B5EF4-FFF2-40B4-BE49-F238E27FC236}">
                <a16:creationId xmlns:a16="http://schemas.microsoft.com/office/drawing/2014/main" id="{2EFD07BE-F6B2-4D29-ADCA-7D9A873D6EF1}"/>
              </a:ext>
            </a:extLst>
          </p:cNvPr>
          <p:cNvSpPr>
            <a:spLocks noGrp="1"/>
          </p:cNvSpPr>
          <p:nvPr/>
        </p:nvSpPr>
        <p:spPr>
          <a:xfrm>
            <a:off x="8858250" y="40957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凍結資料與模型；完成報告、簡報、海報與影片；參加作品展、兩輪答辯；5 月底提交。</a:t>
            </a:r>
          </a:p>
        </p:txBody>
      </p:sp>
    </p:spTree>
    <p:extLst>
      <p:ext uri="{BB962C8B-B14F-4D97-AF65-F5344CB8AC3E}">
        <p14:creationId xmlns:p14="http://schemas.microsoft.com/office/powerpoint/2010/main" val="5099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ail-14">
            <a:extLst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itle-14">
            <a:extLst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五項評分能力，都要有可查驗的作品證據</a:t>
            </a:r>
          </a:p>
        </p:txBody>
      </p:sp>
      <p:sp>
        <p:nvSpPr>
          <p:cNvPr id="5" name="page-14">
            <a:extLst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noGrp="1"/>
          </p:cNvSpPr>
          <p:nvPr/>
        </p:nvSpPr>
        <p:spPr>
          <a:xfrm>
            <a:off x="11277600" y="64293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ubric-label-bg-1">
            <a:extLst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571750" cy="66675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ubric-label-1">
            <a:extLst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noGrp="1"/>
          </p:cNvSpPr>
          <p:nvPr/>
        </p:nvSpPr>
        <p:spPr>
          <a:xfrm>
            <a:off x="800100" y="17049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工程軟硬體</a:t>
            </a:r>
          </a:p>
        </p:txBody>
      </p:sp>
      <p:sp>
        <p:nvSpPr>
          <p:cNvPr id="8" name="rubric-evidence-1">
            <a:extLst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noGrp="1"/>
          </p:cNvSpPr>
          <p:nvPr/>
        </p:nvSpPr>
        <p:spPr>
          <a:xfrm>
            <a:off x="3581400" y="1657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融合模型＋SROS2 系統＋Raspberry Pi 5 資源與即時量測</a:t>
            </a:r>
          </a:p>
        </p:txBody>
      </p:sp>
      <p:sp>
        <p:nvSpPr>
          <p:cNvPr id="9" name="rubric-rule-1">
            <a:extLst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noGrp="1"/>
          </p:cNvSpPr>
          <p:nvPr/>
        </p:nvSpPr>
        <p:spPr>
          <a:xfrm>
            <a:off x="3581400" y="224790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ubric-label-bg-2">
            <a:extLst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2571750" cy="666750"/>
          </a:xfrm>
          <a:prstGeom prst="rect">
            <a:avLst/>
          </a:prstGeom>
          <a:solidFill>
            <a:srgbClr val="A18F83"/>
          </a:solidFill>
          <a:ln w="9525">
            <a:solidFill>
              <a:srgbClr val="A18F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ubric-label-2">
            <a:extLst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數據分析與數理</a:t>
            </a:r>
          </a:p>
        </p:txBody>
      </p:sp>
      <p:sp>
        <p:nvSpPr>
          <p:cNvPr id="12" name="rubric-evidence-2">
            <a:extLst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noGrp="1"/>
          </p:cNvSpPr>
          <p:nvPr/>
        </p:nvSpPr>
        <p:spPr>
          <a:xfrm>
            <a:off x="3581400" y="2524125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session-grouped split、消融、未知攻擊、PR-AUC、95% CI</a:t>
            </a:r>
          </a:p>
        </p:txBody>
      </p:sp>
      <p:sp>
        <p:nvSpPr>
          <p:cNvPr id="13" name="rubric-rule-2">
            <a:extLst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noGrp="1"/>
          </p:cNvSpPr>
          <p:nvPr/>
        </p:nvSpPr>
        <p:spPr>
          <a:xfrm>
            <a:off x="3581400" y="3114675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ubric-label-bg-3">
            <a:extLst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571750" cy="666750"/>
          </a:xfrm>
          <a:prstGeom prst="rect">
            <a:avLst/>
          </a:prstGeom>
          <a:solidFill>
            <a:srgbClr val="99988D"/>
          </a:solidFill>
          <a:ln w="9525">
            <a:solidFill>
              <a:srgbClr val="99988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ubric-label-3">
            <a:extLst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專案執行與報告</a:t>
            </a:r>
          </a:p>
        </p:txBody>
      </p:sp>
      <p:sp>
        <p:nvSpPr>
          <p:cNvPr id="16" name="rubric-evidence-3">
            <a:extLst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noGrp="1"/>
          </p:cNvSpPr>
          <p:nvPr/>
        </p:nvSpPr>
        <p:spPr>
          <a:xfrm>
            <a:off x="3581400" y="33909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單人 WBS、版本凍結、evidence ledger、可重現 release</a:t>
            </a:r>
          </a:p>
        </p:txBody>
      </p:sp>
      <p:sp>
        <p:nvSpPr>
          <p:cNvPr id="17" name="rubric-rule-3">
            <a:extLst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noGrp="1"/>
          </p:cNvSpPr>
          <p:nvPr/>
        </p:nvSpPr>
        <p:spPr>
          <a:xfrm>
            <a:off x="3581400" y="398145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ubric-label-bg-4">
            <a:extLst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2571750" cy="6667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ubric-label-4">
            <a:extLst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溝通與跨領域</a:t>
            </a:r>
          </a:p>
        </p:txBody>
      </p:sp>
      <p:sp>
        <p:nvSpPr>
          <p:cNvPr id="20" name="rubric-evidence-4">
            <a:extLst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noGrp="1"/>
          </p:cNvSpPr>
          <p:nvPr/>
        </p:nvSpPr>
        <p:spPr>
          <a:xfrm>
            <a:off x="3581400" y="4257675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30 秒／3 分鐘／10 分鐘說法、術語表、教授回饋與決策紀錄</a:t>
            </a:r>
          </a:p>
        </p:txBody>
      </p:sp>
      <p:sp>
        <p:nvSpPr>
          <p:cNvPr id="21" name="rubric-rule-4">
            <a:extLst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noGrp="1"/>
          </p:cNvSpPr>
          <p:nvPr/>
        </p:nvSpPr>
        <p:spPr>
          <a:xfrm>
            <a:off x="3581400" y="4848225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rubric-label-bg-5">
            <a:extLst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571750" cy="666750"/>
          </a:xfrm>
          <a:prstGeom prst="rect">
            <a:avLst/>
          </a:prstGeom>
          <a:solidFill>
            <a:srgbClr val="86605F"/>
          </a:solidFill>
          <a:ln w="9525">
            <a:solidFill>
              <a:srgbClr val="8660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rubric-label-5">
            <a:extLst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國際與社會關懷</a:t>
            </a:r>
          </a:p>
        </p:txBody>
      </p:sp>
      <p:sp>
        <p:nvSpPr>
          <p:cNvPr id="24" name="rubric-evidence-5">
            <a:extLst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noGrp="1"/>
          </p:cNvSpPr>
          <p:nvPr/>
        </p:nvSpPr>
        <p:spPr>
          <a:xfrm>
            <a:off x="3581400" y="51244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Security／ROS2／NIST／IEC 概念對照、人身安全與誤封治理</a:t>
            </a:r>
          </a:p>
        </p:txBody>
      </p:sp>
      <p:sp>
        <p:nvSpPr>
          <p:cNvPr id="25" name="rubric-rule-5">
            <a:extLst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noGrp="1"/>
          </p:cNvSpPr>
          <p:nvPr/>
        </p:nvSpPr>
        <p:spPr>
          <a:xfrm>
            <a:off x="3581400" y="5715000"/>
            <a:ext cx="7810500" cy="9525"/>
          </a:xfrm>
          <a:prstGeom prst="rect">
            <a:avLst/>
          </a:prstGeom>
          <a:solidFill>
            <a:srgbClr val="D1CCC4"/>
          </a:solidFill>
          <a:ln w="9525">
            <a:solidFill>
              <a:srgbClr val="D1C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6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se-right-field">
            <a:extLst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657065"/>
          </a:solidFill>
          <a:ln w="9525">
            <a:solidFill>
              <a:srgbClr val="6570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7429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不是「擋住所有攻擊」</a:t>
            </a:r>
          </a:p>
          <a:p>
            <a:pPr algn="l"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而是「證明風險如何下降」</a:t>
            </a:r>
          </a:p>
        </p:txBody>
      </p:sp>
      <p:sp>
        <p:nvSpPr>
          <p:cNvPr id="5" name="close-principles">
            <a:extLst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證據  &gt;  宣稱</a:t>
            </a:r>
          </a:p>
          <a:p>
            <a:pPr algn="l"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安全  &gt;  激進</a:t>
            </a:r>
          </a:p>
          <a:p>
            <a:pPr algn="l"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可重現  &gt;  一次展示</a:t>
            </a:r>
          </a:p>
        </p:txBody>
      </p:sp>
      <p:sp>
        <p:nvSpPr>
          <p:cNvPr id="6" name="close-right">
            <a:extLst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noGrp="1"/>
          </p:cNvSpPr>
          <p:nvPr/>
        </p:nvSpPr>
        <p:spPr>
          <a:xfrm>
            <a:off x="9258300" y="1828800"/>
            <a:ext cx="25717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</a:t>
            </a:r>
          </a:p>
          <a:p>
            <a:pPr algn="ctr"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>
            <a:pPr algn="ctr"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>
            <a:pPr algn="ctr"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>
            <a:pPr algn="ctr"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close-next-band">
            <a:extLst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noGrp="1"/>
          </p:cNvSpPr>
          <p:nvPr/>
        </p:nvSpPr>
        <p:spPr>
          <a:xfrm>
            <a:off x="9258300" y="5219700"/>
            <a:ext cx="2571750" cy="819150"/>
          </a:xfrm>
          <a:prstGeom prst="rect">
            <a:avLst/>
          </a:prstGeom>
          <a:solidFill>
            <a:srgbClr val="BBC1CA"/>
          </a:solidFill>
          <a:ln w="9525">
            <a:solidFill>
              <a:srgbClr val="BBC1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lose-next">
            <a:extLst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noGrp="1"/>
          </p:cNvSpPr>
          <p:nvPr/>
        </p:nvSpPr>
        <p:spPr>
          <a:xfrm>
            <a:off x="9429750" y="5362575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下一個關鍵交付</a:t>
            </a:r>
          </a:p>
          <a:p>
            <a:pPr algn="ctr"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live telemetry</a:t>
            </a:r>
          </a:p>
          <a:p>
            <a:pPr algn="ctr"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＋ fusion contract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1746</Words>
  <Application>Microsoft Office PowerPoint</Application>
  <DocSecurity>0</DocSecurity>
  <PresentationFormat>寬螢幕</PresentationFormat>
  <Paragraphs>370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希杰 朱</cp:lastModifiedBy>
  <cp:revision>1</cp:revision>
  <dcterms:created xsi:type="dcterms:W3CDTF">2026-07-29T02:36:39Z</dcterms:created>
  <dcterms:modified xsi:type="dcterms:W3CDTF">2026-07-29T05:16:54Z</dcterms:modified>
</cp:coreProperties>
</file>