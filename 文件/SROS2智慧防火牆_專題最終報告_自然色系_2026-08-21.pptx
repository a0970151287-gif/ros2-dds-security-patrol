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5" r:id="rId24"/>
    <p:sldId id="286" r:id="rId25"/>
    <p:sldId id="287" r:id="rId26"/>
    <p:sldId id="278" r:id="rId27"/>
    <p:sldId id="279" r:id="rId28"/>
    <p:sldId id="280" r:id="rId29"/>
    <p:sldId id="281" r:id="rId30"/>
    <p:sldId id="282" r:id="rId31"/>
    <p:sldId id="283" r:id="rId32"/>
    <p:sldId id="284" r:id="rId3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C:/Users/Jesse/Documents/專題ROS2/文件/中英文摘要與答辯腳本_2026-08-17.md</a:t>
            </a:r>
          </a:p>
          <a:p>
            <a:r>
              <a:t>- C:/Users/Jesse/Documents/專題ROS2/文件/專題主計畫與WBS_2026-08-17.md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C:/Users/Jesse/Documents/專題ROS2/文件/專題主計畫與WBS_2026-08-17.md</a:t>
            </a:r>
          </a:p>
          <a:p>
            <a:r>
              <a:t>- C:/Users/Jesse/Documents/專題ROS2/文件/證據總帳_2026-08-17/evidence_ledger.md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C:/Users/Jesse/Documents/專題ROS2/紅隊測試/THREAT_MODEL.md</a:t>
            </a:r>
          </a:p>
          <a:p>
            <a:r>
              <a:t>- C:/Users/Jesse/Documents/專題ROS2/文件/系統文件/系統架構規格書.md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C:/Users/Jesse/Documents/專題ROS2/文件/智慧防火牆完整計畫與進度_2026-07-27.md</a:t>
            </a:r>
          </a:p>
          <a:p>
            <a:r>
              <a:t>- C:/Users/Jesse/Documents/專題ROS2/文件/核心AI模型升級_2026-08-17.md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C:/Users/Jesse/Documents/專題ROS2/紅隊測試/ARCHITECTURE.md</a:t>
            </a:r>
          </a:p>
          <a:p>
            <a:r>
              <a:t>- C:/Users/Jesse/Documents/專題ROS2/src/turtlebot3_dqn/turtlebot3_dqn/burger_env_top.py</a:t>
            </a:r>
          </a:p>
          <a:p>
            <a:r>
              <a:t>- C:/Users/Jesse/Documents/專題ROS2/src/turtlebot3_dqn/turtlebot3_dqn/feature_extractors.py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C:/Users/Jesse/Documents/專題ROS2/文件/系統文件/Topic_發布訂閱規格表.md</a:t>
            </a:r>
          </a:p>
          <a:p>
            <a:r>
              <a:t>- C:/Users/Jesse/Documents/專題ROS2/展示指令/sros2_policy_least_privilege.xml</a:t>
            </a:r>
          </a:p>
          <a:p>
            <a:r>
              <a:t>- C:/Users/Jesse/Documents/專題ROS2/firewall_lab/README.md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C:/Users/Jesse/Documents/專題ROS2/紅隊測試/THREAT_MODEL.md</a:t>
            </a:r>
          </a:p>
          <a:p>
            <a:r>
              <a:t>- C:/Users/Jesse/Documents/專題ROS2/紅隊測試/攻擊總表_成功與失敗.md</a:t>
            </a:r>
          </a:p>
          <a:p>
            <a:r>
              <a:t>- C:/Users/Jesse/Documents/專題ROS2/紅隊測試/攻擊報告/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C:/Users/Jesse/Documents/專題ROS2/文件/防禦全面化實作與待驗收_2026-08-03.md</a:t>
            </a:r>
          </a:p>
          <a:p>
            <a:r>
              <a:t>- C:/Users/Jesse/Documents/專題ROS2/firewall_lab/README.md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C:/Users/Jesse/Documents/專題ROS2/展示指令/sros2_policy_least_privilege.xml</a:t>
            </a:r>
          </a:p>
          <a:p>
            <a:r>
              <a:t>- C:/Users/Jesse/Documents/專題ROS2/firewall_lab/readiness_evidence/readiness-20260727T082430197518Z/manifest.json</a:t>
            </a:r>
          </a:p>
          <a:p>
            <a:r>
              <a:t>- C:/Users/Jesse/Documents/專題ROS2/firewall_lab/sros2_delivery_evidence.py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C:/Users/Jesse/Documents/專題ROS2/src/dds_security_monitor/dds_security_monitor/monitor_node.py</a:t>
            </a:r>
          </a:p>
          <a:p>
            <a:r>
              <a:t>- C:/Users/Jesse/Documents/專題ROS2/src/dds_security_monitor/dds_security_monitor/patrol_node.py</a:t>
            </a:r>
          </a:p>
          <a:p>
            <a:r>
              <a:t>- C:/Users/Jesse/Documents/專題ROS2/src/dds_security_monitor/dds_security_monitor/mission_manager_node.py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C:/Users/Jesse/Documents/專題ROS2/src/dds_security_monitor/dds_security_monitor/intelligent_defense_node.py</a:t>
            </a:r>
          </a:p>
          <a:p>
            <a:r>
              <a:t>- C:/Users/Jesse/Documents/專題ROS2/src/dds_security_monitor/dds_security_monitor/runtime_telemetry.py</a:t>
            </a:r>
          </a:p>
          <a:p>
            <a:r>
              <a:t>- C:/Users/Jesse/Documents/專題ROS2/firewall_lab/LOCAL_OUTCOME_LIVE_RUNBOOK.md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C:/Users/Jesse/Documents/專題ROS2/Zeek監控/dds_monitor.zeek</a:t>
            </a:r>
          </a:p>
          <a:p>
            <a:r>
              <a:t>- C:/Users/Jesse/Documents/專題ROS2/Zeek監控/README.md</a:t>
            </a:r>
          </a:p>
          <a:p>
            <a:r>
              <a:t>- C:/Users/Jesse/Documents/專題ROS2/tests/test_zeek_helpers.py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C:/Users/Jesse/Documents/專題ROS2/firewall_lab/evidence.py</a:t>
            </a:r>
          </a:p>
          <a:p>
            <a:r>
              <a:t>- C:/Users/Jesse/Documents/專題ROS2/firewall_lab/response_authorizer.py</a:t>
            </a:r>
          </a:p>
          <a:p>
            <a:r>
              <a:t>- C:/Users/Jesse/Documents/專題ROS2/firewall_lab/action_policy.json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C:/Users/Jesse/Documents/專題ROS2/firewall_lab/response_backend.py</a:t>
            </a:r>
          </a:p>
          <a:p>
            <a:r>
              <a:t>- C:/Users/Jesse/Documents/專題ROS2/firewall_lab/nft_backend_service.py</a:t>
            </a:r>
          </a:p>
          <a:p>
            <a:r>
              <a:t>- C:/Users/Jesse/Documents/專題ROS2/firewall_lab/backend_acceptance.py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C:/Users/Jesse/Documents/專題ROS2/firewall_lab/campaign.py</a:t>
            </a:r>
          </a:p>
          <a:p>
            <a:r>
              <a:t>- C:/Users/Jesse/Documents/專題ROS2/firewall_lab/orchestrator.py</a:t>
            </a:r>
          </a:p>
          <a:p>
            <a:r>
              <a:t>- C:/Users/Jesse/Documents/專題ROS2/firewall_lab/features.py</a:t>
            </a:r>
          </a:p>
          <a:p>
            <a:r>
              <a:t>- C:/Users/Jesse/Documents/專題ROS2/firewall_lab/dataset_exclusions.v1.json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C:/Users/Jesse/Documents/專題ROS2/firewall_lab/campaign_1100.json</a:t>
            </a:r>
          </a:p>
          <a:p>
            <a:r>
              <a:t>- C:/Users/Jesse/Documents/專題ROS2/firewall_lab/dataset_exclusions.v1.json</a:t>
            </a:r>
          </a:p>
          <a:p>
            <a:r>
              <a:t>- C:/Users/Jesse/Documents/專題ROS2/文件/正式資料集結果與改善方向_2026-08-16.md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C:/Users/Jesse/Documents/專題ROS2/firewall_lab/live_multimodal_contract.json</a:t>
            </a:r>
          </a:p>
          <a:p>
            <a:r>
              <a:t>- C:/Users/Jesse/Documents/專題ROS2/firewall_lab/sros2_deny_adapter.py</a:t>
            </a:r>
          </a:p>
          <a:p>
            <a:r>
              <a:t>- C:/Users/Jesse/Documents/專題ROS2/文件/正式資料集結果與改善方向_2026-08-16.md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C:/Users/Jesse/Documents/專題ROS2/firewall_lab/features.py</a:t>
            </a:r>
          </a:p>
          <a:p>
            <a:r>
              <a:t>- C:/Users/Jesse/Documents/專題ROS2/firewall_lab/hierarchical_model.py</a:t>
            </a:r>
          </a:p>
          <a:p>
            <a:r>
              <a:t>- C:/Users/Jesse/Documents/專題ROS2/文件/核心AI模型升級_2026-08-17.md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C:/Users/Jesse/Documents/專題ROS2/firewall_lab/mode_leakage.py</a:t>
            </a:r>
          </a:p>
          <a:p>
            <a:r>
              <a:t>- C:/Users/Jesse/Documents/專題ROS2/firewall_lab/features/mode_leakage_report.json</a:t>
            </a:r>
          </a:p>
          <a:p>
            <a:r>
              <a:t>- C:/Users/Jesse/Documents/專題ROS2/文件/正式資料集結果與改善方向_2026-08-16.md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C:/Users/Jesse/Documents/專題ROS2/firewall_lab/hierarchical_model.py</a:t>
            </a:r>
          </a:p>
          <a:p>
            <a:r>
              <a:t>- C:/Users/Jesse/Documents/專題ROS2/firewall_lab/hierarchical_training.py</a:t>
            </a:r>
          </a:p>
          <a:p>
            <a:r>
              <a:t>- C:/Users/Jesse/Documents/專題ROS2/文件/核心AI模型升級_2026-08-17.md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C:/Users/Jesse/Documents/專題ROS2/firewall_lab/development_evaluation.py</a:t>
            </a:r>
          </a:p>
          <a:p>
            <a:r>
              <a:t>- C:/Users/Jesse/Documents/專題ROS2/tests/test_development_evaluation.py</a:t>
            </a:r>
          </a:p>
          <a:p>
            <a:r>
              <a:t>- C:/Users/Jesse/Documents/專題ROS2/文件/開發期公平基準與消融_2026-08-17.md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C:/Users/Jesse/Documents/專題ROS2/.codex_tmp/hierarchical_v2_20260817_r4/permissive/training_metrics.json</a:t>
            </a:r>
          </a:p>
          <a:p>
            <a:r>
              <a:t>- C:/Users/Jesse/Documents/專題ROS2/.codex_tmp/hierarchical_v2_20260817_r4/enforce/training_metrics.json</a:t>
            </a:r>
          </a:p>
          <a:p>
            <a:r>
              <a:t>- C:/Users/Jesse/Documents/專題ROS2/文件/核心AI模型升級_2026-08-17.md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C:/Users/Jesse/Documents/專題ROS2/.codex_tmp/development_evaluation_final2_20260817/permissive/development_evaluation.json</a:t>
            </a:r>
          </a:p>
          <a:p>
            <a:r>
              <a:t>- C:/Users/Jesse/Documents/專題ROS2/.codex_tmp/development_evaluation_final2_20260817/enforce/development_evaluation.json</a:t>
            </a:r>
          </a:p>
          <a:p>
            <a:r>
              <a:t>- C:/Users/Jesse/Documents/專題ROS2/文件/開發期公平基準與消融_2026-08-17.md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C:/Users/Jesse/Documents/專題ROS2/firewall_lab/sros2_delivery_evidence.py</a:t>
            </a:r>
          </a:p>
          <a:p>
            <a:r>
              <a:t>- C:/Users/Jesse/Documents/專題ROS2/firewall_lab/local_outcomes.py</a:t>
            </a:r>
          </a:p>
          <a:p>
            <a:r>
              <a:t>- C:/Users/Jesse/Documents/專題ROS2/firewall_lab/LOCAL_OUTCOME_LIVE_RUNBOOK.md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C:/Users/Jesse/Documents/專題ROS2/firewall_lab/project_claims_20260817.json</a:t>
            </a:r>
          </a:p>
          <a:p>
            <a:r>
              <a:t>- C:/Users/Jesse/Documents/專題ROS2/文件/證據總帳_2026-08-17/evidence_ledger.json</a:t>
            </a:r>
          </a:p>
          <a:p>
            <a:r>
              <a:t>- C:/Users/Jesse/Documents/專題ROS2/文件/可重現性稽核_2026-08-17.json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C:/Users/Jesse/Documents/專題ROS2/文件/專題主計畫與WBS_2026-08-17.md</a:t>
            </a:r>
          </a:p>
          <a:p>
            <a:r>
              <a:t>- C:/Users/Jesse/Documents/專題ROS2/文件/可重現性稽核_2026-08-17.json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C:/Users/Jesse/Documents/專題ROS2/文件/智慧防火牆正式評分對齊_2026-07-28.md</a:t>
            </a:r>
          </a:p>
          <a:p>
            <a:r>
              <a:t>- C:/Users/Jesse/Documents/專題ROS2/文件/中英文摘要與答辯腳本_2026-08-17.md</a:t>
            </a:r>
          </a:p>
          <a:p>
            <a:r>
              <a:t>- C:/Users/Jesse/Documents/專題ROS2/文件/國際標準與社會倫理_2026-08-17.md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C:/Users/Jesse/Documents/專題ROS2/文件/國際標準與社會倫理_2026-08-17.md</a:t>
            </a:r>
          </a:p>
          <a:p>
            <a:r>
              <a:t>- https://www.omg.org/spec/DDS-SECURITY/1.2/PDF</a:t>
            </a:r>
          </a:p>
          <a:p>
            <a:r>
              <a:t>- https://docs.ros.org/en/jazzy/Tutorials/Advanced/Security/Introducing-ros2-security.html</a:t>
            </a:r>
          </a:p>
          <a:p>
            <a:r>
              <a:t>- https://www.nist.gov/itl/ai-risk-management-framework</a:t>
            </a:r>
          </a:p>
          <a:p>
            <a:r>
              <a:t>- https://www.isa.org/standards-and-publications/isa-standards/isa-iec-62443-series-of-standards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講者提醒：本頁只在列示證據與限制範圍內成立；未完成的 live／跨主機／kernel／Pi 驗收不得口頭升級為已完成。</a:t>
            </a:r>
          </a:p>
          <a:p>
            <a:endParaRPr/>
          </a:p>
          <a:p>
            <a:r>
              <a:t>[Sources]</a:t>
            </a:r>
          </a:p>
          <a:p>
            <a:r>
              <a:t>- C:/Users/Jesse/Documents/專題ROS2/文件/專題主計畫與WBS_2026-08-17.md</a:t>
            </a:r>
          </a:p>
          <a:p>
            <a:r>
              <a:t>- C:/Users/Jesse/Documents/專題ROS2/文件/風險登錄與驗收矩陣_2026-08-17.md</a:t>
            </a:r>
          </a:p>
          <a:p>
            <a:r>
              <a:t>- C:/Users/Jesse/Documents/專題ROS2/文件/證據總帳_2026-08-17/evidence_ledger.md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57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ver-right-field">
            <a:extLst>
              <a:ext uri="{FF2B5EF4-FFF2-40B4-BE49-F238E27FC236}">
                <a16:creationId xmlns:a16="http://schemas.microsoft.com/office/drawing/2014/main" id="{C8A67A9C-E7AB-42D3-8547-7B85C57B4EBB}"/>
              </a:ext>
            </a:extLst>
          </p:cNvPr>
          <p:cNvSpPr>
            <a:spLocks noGrp="1"/>
          </p:cNvSpPr>
          <p:nvPr/>
        </p:nvSpPr>
        <p:spPr>
          <a:xfrm>
            <a:off x="9620250" y="0"/>
            <a:ext cx="257175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cover-title">
            <a:extLst>
              <a:ext uri="{FF2B5EF4-FFF2-40B4-BE49-F238E27FC236}">
                <a16:creationId xmlns:a16="http://schemas.microsoft.com/office/drawing/2014/main" id="{00F62CC6-D104-4207-9320-19E0D9DC240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8191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SROS2 智慧防火牆</a:t>
            </a:r>
          </a:p>
        </p:txBody>
      </p:sp>
      <p:sp>
        <p:nvSpPr>
          <p:cNvPr id="5" name="cover-title-en">
            <a:extLst>
              <a:ext uri="{FF2B5EF4-FFF2-40B4-BE49-F238E27FC236}">
                <a16:creationId xmlns:a16="http://schemas.microsoft.com/office/drawing/2014/main" id="{7870CAF8-A5F9-4542-A511-C1D6EBD4C343}"/>
              </a:ext>
            </a:extLst>
          </p:cNvPr>
          <p:cNvSpPr>
            <a:spLocks noGrp="1"/>
          </p:cNvSpPr>
          <p:nvPr/>
        </p:nvSpPr>
        <p:spPr>
          <a:xfrm>
            <a:off x="628650" y="2838450"/>
            <a:ext cx="7239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A9A8A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A9A8A2"/>
                </a:solidFill>
                <a:latin typeface="Microsoft JhengHei"/>
                <a:ea typeface="Microsoft JhengHei"/>
                <a:cs typeface="Microsoft JhengHei"/>
              </a:rPr>
              <a:t>SROS2 INTELLIGENT FIREWALL</a:t>
            </a: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46FB8FFA-99D9-4C48-85B1-7FFE38D690B6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用 SROS2 先防、AI 再辨識：ROS 2 多模態防禦研究原型</a:t>
            </a:r>
          </a:p>
        </p:txBody>
      </p:sp>
      <p:sp>
        <p:nvSpPr>
          <p:cNvPr id="7" name="cover-meta">
            <a:extLst>
              <a:ext uri="{FF2B5EF4-FFF2-40B4-BE49-F238E27FC236}">
                <a16:creationId xmlns:a16="http://schemas.microsoft.com/office/drawing/2014/main" id="{BFE73AA2-0D12-435C-9A13-7AFC516D4F93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人工智慧系專題｜Jesse｜目標 2027.05</a:t>
            </a:r>
          </a:p>
        </p:txBody>
      </p:sp>
      <p:sp>
        <p:nvSpPr>
          <p:cNvPr id="8" name="cover-right-type">
            <a:extLst>
              <a:ext uri="{FF2B5EF4-FFF2-40B4-BE49-F238E27FC236}">
                <a16:creationId xmlns:a16="http://schemas.microsoft.com/office/drawing/2014/main" id="{BAA5F687-AF92-481F-8400-09C83DF97825}"/>
              </a:ext>
            </a:extLst>
          </p:cNvPr>
          <p:cNvSpPr>
            <a:spLocks noGrp="1"/>
          </p:cNvSpPr>
          <p:nvPr/>
        </p:nvSpPr>
        <p:spPr>
          <a:xfrm>
            <a:off x="9982200" y="1581150"/>
            <a:ext cx="18669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PREVENT</a:t>
            </a:r>
          </a:p>
          <a:p>
            <a:endParaRPr sz="1800" b="1">
              <a:solidFill>
                <a:srgbClr val="FAF8F3"/>
              </a:solidFill>
              <a:latin typeface="Microsoft JhengHei"/>
              <a:ea typeface="Microsoft JhengHei"/>
              <a:cs typeface="Microsoft JhengHei"/>
            </a:endParaRPr>
          </a:p>
          <a:p>
            <a:pPr algn="ctr">
              <a:buNone/>
              <a:defRPr sz="1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DETECT</a:t>
            </a:r>
          </a:p>
          <a:p>
            <a:endParaRPr sz="1800" b="1">
              <a:solidFill>
                <a:srgbClr val="FAF8F3"/>
              </a:solidFill>
              <a:latin typeface="Microsoft JhengHei"/>
              <a:ea typeface="Microsoft JhengHei"/>
              <a:cs typeface="Microsoft JhengHei"/>
            </a:endParaRPr>
          </a:p>
          <a:p>
            <a:pPr algn="ctr">
              <a:buNone/>
              <a:defRPr sz="1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RESPOND</a:t>
            </a:r>
          </a:p>
        </p:txBody>
      </p:sp>
      <p:sp>
        <p:nvSpPr>
          <p:cNvPr id="9" name="cover-swatch-1">
            <a:extLst>
              <a:ext uri="{FF2B5EF4-FFF2-40B4-BE49-F238E27FC236}">
                <a16:creationId xmlns:a16="http://schemas.microsoft.com/office/drawing/2014/main" id="{59EA9E2B-5B30-4B03-BE69-839AE9D75AA3}"/>
              </a:ext>
            </a:extLst>
          </p:cNvPr>
          <p:cNvSpPr>
            <a:spLocks noGrp="1"/>
          </p:cNvSpPr>
          <p:nvPr/>
        </p:nvSpPr>
        <p:spPr>
          <a:xfrm>
            <a:off x="10191750" y="5200650"/>
            <a:ext cx="1447800" cy="171450"/>
          </a:xfrm>
          <a:prstGeom prst="rect">
            <a:avLst/>
          </a:prstGeom>
          <a:solidFill>
            <a:srgbClr val="A9A8A2"/>
          </a:solidFill>
          <a:ln w="9525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cover-swatch-2">
            <a:extLst>
              <a:ext uri="{FF2B5EF4-FFF2-40B4-BE49-F238E27FC236}">
                <a16:creationId xmlns:a16="http://schemas.microsoft.com/office/drawing/2014/main" id="{8E827F19-C7D7-4F31-AD65-B36B8D7D8AD8}"/>
              </a:ext>
            </a:extLst>
          </p:cNvPr>
          <p:cNvSpPr>
            <a:spLocks noGrp="1"/>
          </p:cNvSpPr>
          <p:nvPr/>
        </p:nvSpPr>
        <p:spPr>
          <a:xfrm>
            <a:off x="10191750" y="5505450"/>
            <a:ext cx="1447800" cy="17145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cover-swatch-3">
            <a:extLst>
              <a:ext uri="{FF2B5EF4-FFF2-40B4-BE49-F238E27FC236}">
                <a16:creationId xmlns:a16="http://schemas.microsoft.com/office/drawing/2014/main" id="{502F2800-18A3-40F9-B416-D94DADFCC88D}"/>
              </a:ext>
            </a:extLst>
          </p:cNvPr>
          <p:cNvSpPr>
            <a:spLocks noGrp="1"/>
          </p:cNvSpPr>
          <p:nvPr/>
        </p:nvSpPr>
        <p:spPr>
          <a:xfrm>
            <a:off x="10191750" y="5810250"/>
            <a:ext cx="1447800" cy="171450"/>
          </a:xfrm>
          <a:prstGeom prst="rect">
            <a:avLst/>
          </a:prstGeom>
          <a:solidFill>
            <a:srgbClr val="99988D"/>
          </a:solidFill>
          <a:ln w="9525">
            <a:solidFill>
              <a:srgbClr val="9998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cover-swatch-4">
            <a:extLst>
              <a:ext uri="{FF2B5EF4-FFF2-40B4-BE49-F238E27FC236}">
                <a16:creationId xmlns:a16="http://schemas.microsoft.com/office/drawing/2014/main" id="{7613BBED-C11C-4CBC-97DC-0A0F7ABBFB90}"/>
              </a:ext>
            </a:extLst>
          </p:cNvPr>
          <p:cNvSpPr>
            <a:spLocks noGrp="1"/>
          </p:cNvSpPr>
          <p:nvPr/>
        </p:nvSpPr>
        <p:spPr>
          <a:xfrm>
            <a:off x="10191750" y="6115050"/>
            <a:ext cx="1447800" cy="1714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12734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66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lose-right-field">
            <a:extLst>
              <a:ext uri="{FF2B5EF4-FFF2-40B4-BE49-F238E27FC236}">
                <a16:creationId xmlns:a16="http://schemas.microsoft.com/office/drawing/2014/main" id="{34D901BE-B057-4A4D-9FEE-388D91B14F59}"/>
              </a:ext>
            </a:extLst>
          </p:cNvPr>
          <p:cNvSpPr>
            <a:spLocks noGrp="1"/>
          </p:cNvSpPr>
          <p:nvPr/>
        </p:nvSpPr>
        <p:spPr>
          <a:xfrm>
            <a:off x="8896350" y="0"/>
            <a:ext cx="329565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lose-title">
            <a:extLst>
              <a:ext uri="{FF2B5EF4-FFF2-40B4-BE49-F238E27FC236}">
                <a16:creationId xmlns:a16="http://schemas.microsoft.com/office/drawing/2014/main" id="{EC6B931A-4CF3-4307-9032-6451F8874B27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7429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我們不是做一顆封鎖按鈕</a:t>
            </a:r>
          </a:p>
          <a:p>
            <a:pPr algn="l">
              <a:buNone/>
              <a:def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而是建立一條可撤銷的證據鏈</a:t>
            </a:r>
          </a:p>
        </p:txBody>
      </p:sp>
      <p:sp>
        <p:nvSpPr>
          <p:cNvPr id="5" name="close-principles">
            <a:extLst>
              <a:ext uri="{FF2B5EF4-FFF2-40B4-BE49-F238E27FC236}">
                <a16:creationId xmlns:a16="http://schemas.microsoft.com/office/drawing/2014/main" id="{69F469C2-B1BF-4F93-9601-5B04F8DD8020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4953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SROS2 先防</a:t>
            </a:r>
          </a:p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HMAC／D1–D6 驗證</a:t>
            </a:r>
          </a:p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Zeek／AI 偵測</a:t>
            </a:r>
          </a:p>
        </p:txBody>
      </p:sp>
      <p:sp>
        <p:nvSpPr>
          <p:cNvPr id="6" name="close-right">
            <a:extLst>
              <a:ext uri="{FF2B5EF4-FFF2-40B4-BE49-F238E27FC236}">
                <a16:creationId xmlns:a16="http://schemas.microsoft.com/office/drawing/2014/main" id="{586514EF-3365-49DA-A7D2-E3DC951788C8}"/>
              </a:ext>
            </a:extLst>
          </p:cNvPr>
          <p:cNvSpPr>
            <a:spLocks noGrp="1"/>
          </p:cNvSpPr>
          <p:nvPr/>
        </p:nvSpPr>
        <p:spPr>
          <a:xfrm>
            <a:off x="9258300" y="1828800"/>
            <a:ext cx="25717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1,100 CAMPAIGN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1,099 CLEAN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SAFE RESPONSE</a:t>
            </a:r>
          </a:p>
        </p:txBody>
      </p:sp>
      <p:sp>
        <p:nvSpPr>
          <p:cNvPr id="7" name="close-next-band">
            <a:extLst>
              <a:ext uri="{FF2B5EF4-FFF2-40B4-BE49-F238E27FC236}">
                <a16:creationId xmlns:a16="http://schemas.microsoft.com/office/drawing/2014/main" id="{96396B0D-42D7-46DA-957A-89405A944E1A}"/>
              </a:ext>
            </a:extLst>
          </p:cNvPr>
          <p:cNvSpPr>
            <a:spLocks noGrp="1"/>
          </p:cNvSpPr>
          <p:nvPr/>
        </p:nvSpPr>
        <p:spPr>
          <a:xfrm>
            <a:off x="9258300" y="5219700"/>
            <a:ext cx="2571750" cy="8191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close-next">
            <a:extLst>
              <a:ext uri="{FF2B5EF4-FFF2-40B4-BE49-F238E27FC236}">
                <a16:creationId xmlns:a16="http://schemas.microsoft.com/office/drawing/2014/main" id="{09CC2951-E130-4DD7-A8B2-C9029E15DFFD}"/>
              </a:ext>
            </a:extLst>
          </p:cNvPr>
          <p:cNvSpPr>
            <a:spLocks noGrp="1"/>
          </p:cNvSpPr>
          <p:nvPr/>
        </p:nvSpPr>
        <p:spPr>
          <a:xfrm>
            <a:off x="9429750" y="5362575"/>
            <a:ext cx="2228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核心原則｜模型只提出意圖；授權器、驗票與 timeout 決定能否動作</a:t>
            </a:r>
          </a:p>
        </p:txBody>
      </p:sp>
    </p:spTree>
    <p:extLst>
      <p:ext uri="{BB962C8B-B14F-4D97-AF65-F5344CB8AC3E}">
        <p14:creationId xmlns:p14="http://schemas.microsoft.com/office/powerpoint/2010/main" val="209571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ail-2">
            <a:extLst>
              <a:ext uri="{FF2B5EF4-FFF2-40B4-BE49-F238E27FC236}">
                <a16:creationId xmlns:a16="http://schemas.microsoft.com/office/drawing/2014/main" id="{B991A2E7-350A-4FFA-8439-21C32ADF5B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2">
            <a:extLst>
              <a:ext uri="{FF2B5EF4-FFF2-40B4-BE49-F238E27FC236}">
                <a16:creationId xmlns:a16="http://schemas.microsoft.com/office/drawing/2014/main" id="{CDBF4BF0-7019-4220-90D9-150DE959A9A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一般防火牆看不到 DDS 身分與機器人物理語意</a:t>
            </a:r>
          </a:p>
        </p:txBody>
      </p:sp>
      <p:sp>
        <p:nvSpPr>
          <p:cNvPr id="5" name="page-2">
            <a:extLst>
              <a:ext uri="{FF2B5EF4-FFF2-40B4-BE49-F238E27FC236}">
                <a16:creationId xmlns:a16="http://schemas.microsoft.com/office/drawing/2014/main" id="{7F259996-35F0-499A-B0FF-0580EBAEECAA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" name="problem-big-three">
            <a:extLst>
              <a:ext uri="{FF2B5EF4-FFF2-40B4-BE49-F238E27FC236}">
                <a16:creationId xmlns:a16="http://schemas.microsoft.com/office/drawing/2014/main" id="{5EE0A065-E692-4F5D-AEBB-FC19955DEB57}"/>
              </a:ext>
            </a:extLst>
          </p:cNvPr>
          <p:cNvSpPr>
            <a:spLocks noGrp="1"/>
          </p:cNvSpPr>
          <p:nvPr/>
        </p:nvSpPr>
        <p:spPr>
          <a:xfrm>
            <a:off x="590550" y="1619250"/>
            <a:ext cx="20002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200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200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" name="problem-three-label">
            <a:extLst>
              <a:ext uri="{FF2B5EF4-FFF2-40B4-BE49-F238E27FC236}">
                <a16:creationId xmlns:a16="http://schemas.microsoft.com/office/drawing/2014/main" id="{B864F144-E0E9-4164-9B7C-548D3032A733}"/>
              </a:ext>
            </a:extLst>
          </p:cNvPr>
          <p:cNvSpPr>
            <a:spLocks noGrp="1"/>
          </p:cNvSpPr>
          <p:nvPr/>
        </p:nvSpPr>
        <p:spPr>
          <a:xfrm>
            <a:off x="666750" y="40005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ROS 2／DDS 防禦必須同時回答</a:t>
            </a:r>
          </a:p>
        </p:txBody>
      </p:sp>
      <p:sp>
        <p:nvSpPr>
          <p:cNvPr id="8" name="problem-line-1">
            <a:extLst>
              <a:ext uri="{FF2B5EF4-FFF2-40B4-BE49-F238E27FC236}">
                <a16:creationId xmlns:a16="http://schemas.microsoft.com/office/drawing/2014/main" id="{EAA624B4-532E-4800-93FF-83027415BFA4}"/>
              </a:ext>
            </a:extLst>
          </p:cNvPr>
          <p:cNvSpPr>
            <a:spLocks noGrp="1"/>
          </p:cNvSpPr>
          <p:nvPr/>
        </p:nvSpPr>
        <p:spPr>
          <a:xfrm>
            <a:off x="3333750" y="2743200"/>
            <a:ext cx="79438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problem-accent-1">
            <a:extLst>
              <a:ext uri="{FF2B5EF4-FFF2-40B4-BE49-F238E27FC236}">
                <a16:creationId xmlns:a16="http://schemas.microsoft.com/office/drawing/2014/main" id="{5752BA45-87BB-4BC7-8D6C-36A836CBE116}"/>
              </a:ext>
            </a:extLst>
          </p:cNvPr>
          <p:cNvSpPr>
            <a:spLocks noGrp="1"/>
          </p:cNvSpPr>
          <p:nvPr/>
        </p:nvSpPr>
        <p:spPr>
          <a:xfrm>
            <a:off x="3333750" y="1752600"/>
            <a:ext cx="95250" cy="8191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problem-en-1">
            <a:extLst>
              <a:ext uri="{FF2B5EF4-FFF2-40B4-BE49-F238E27FC236}">
                <a16:creationId xmlns:a16="http://schemas.microsoft.com/office/drawing/2014/main" id="{F4E4D062-70AD-4A0A-A4ED-03D8541C3ACA}"/>
              </a:ext>
            </a:extLst>
          </p:cNvPr>
          <p:cNvSpPr>
            <a:spLocks noGrp="1"/>
          </p:cNvSpPr>
          <p:nvPr/>
        </p:nvSpPr>
        <p:spPr>
          <a:xfrm>
            <a:off x="3676650" y="17526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IDENTITY</a:t>
            </a:r>
          </a:p>
        </p:txBody>
      </p:sp>
      <p:sp>
        <p:nvSpPr>
          <p:cNvPr id="11" name="problem-zh-1">
            <a:extLst>
              <a:ext uri="{FF2B5EF4-FFF2-40B4-BE49-F238E27FC236}">
                <a16:creationId xmlns:a16="http://schemas.microsoft.com/office/drawing/2014/main" id="{73D6D759-C158-4D2D-BDC6-FEFB5E7EF81E}"/>
              </a:ext>
            </a:extLst>
          </p:cNvPr>
          <p:cNvSpPr>
            <a:spLocks noGrp="1"/>
          </p:cNvSpPr>
          <p:nvPr/>
        </p:nvSpPr>
        <p:spPr>
          <a:xfrm>
            <a:off x="3676650" y="20193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誰能加入 DDS graph？</a:t>
            </a:r>
          </a:p>
        </p:txBody>
      </p:sp>
      <p:sp>
        <p:nvSpPr>
          <p:cNvPr id="12" name="problem-body-1">
            <a:extLst>
              <a:ext uri="{FF2B5EF4-FFF2-40B4-BE49-F238E27FC236}">
                <a16:creationId xmlns:a16="http://schemas.microsoft.com/office/drawing/2014/main" id="{A8F694E2-DF33-4D05-8851-69110E4A3517}"/>
              </a:ext>
            </a:extLst>
          </p:cNvPr>
          <p:cNvSpPr>
            <a:spLocks noGrp="1"/>
          </p:cNvSpPr>
          <p:nvPr/>
        </p:nvSpPr>
        <p:spPr>
          <a:xfrm>
            <a:off x="7667625" y="2047875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SROS2 憑證、enclave、permissions 與 publisher 身分。</a:t>
            </a:r>
          </a:p>
        </p:txBody>
      </p:sp>
      <p:sp>
        <p:nvSpPr>
          <p:cNvPr id="13" name="problem-line-2">
            <a:extLst>
              <a:ext uri="{FF2B5EF4-FFF2-40B4-BE49-F238E27FC236}">
                <a16:creationId xmlns:a16="http://schemas.microsoft.com/office/drawing/2014/main" id="{F7D6F2ED-AC38-4E9C-90C1-785F58BF787F}"/>
              </a:ext>
            </a:extLst>
          </p:cNvPr>
          <p:cNvSpPr>
            <a:spLocks noGrp="1"/>
          </p:cNvSpPr>
          <p:nvPr/>
        </p:nvSpPr>
        <p:spPr>
          <a:xfrm>
            <a:off x="3333750" y="3981450"/>
            <a:ext cx="79438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problem-accent-2">
            <a:extLst>
              <a:ext uri="{FF2B5EF4-FFF2-40B4-BE49-F238E27FC236}">
                <a16:creationId xmlns:a16="http://schemas.microsoft.com/office/drawing/2014/main" id="{D7D88F4D-7DFA-47E9-B5E1-5D44A2C2B43D}"/>
              </a:ext>
            </a:extLst>
          </p:cNvPr>
          <p:cNvSpPr>
            <a:spLocks noGrp="1"/>
          </p:cNvSpPr>
          <p:nvPr/>
        </p:nvSpPr>
        <p:spPr>
          <a:xfrm>
            <a:off x="3333750" y="2990850"/>
            <a:ext cx="95250" cy="8191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roblem-en-2">
            <a:extLst>
              <a:ext uri="{FF2B5EF4-FFF2-40B4-BE49-F238E27FC236}">
                <a16:creationId xmlns:a16="http://schemas.microsoft.com/office/drawing/2014/main" id="{3064EC7E-019F-4630-A55C-DE2E03549491}"/>
              </a:ext>
            </a:extLst>
          </p:cNvPr>
          <p:cNvSpPr>
            <a:spLocks noGrp="1"/>
          </p:cNvSpPr>
          <p:nvPr/>
        </p:nvSpPr>
        <p:spPr>
          <a:xfrm>
            <a:off x="3676650" y="299085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MESSAGE</a:t>
            </a:r>
          </a:p>
        </p:txBody>
      </p:sp>
      <p:sp>
        <p:nvSpPr>
          <p:cNvPr id="16" name="problem-zh-2">
            <a:extLst>
              <a:ext uri="{FF2B5EF4-FFF2-40B4-BE49-F238E27FC236}">
                <a16:creationId xmlns:a16="http://schemas.microsoft.com/office/drawing/2014/main" id="{7CDE3E02-978C-4AAE-A6CE-538E1D4F1FC5}"/>
              </a:ext>
            </a:extLst>
          </p:cNvPr>
          <p:cNvSpPr>
            <a:spLocks noGrp="1"/>
          </p:cNvSpPr>
          <p:nvPr/>
        </p:nvSpPr>
        <p:spPr>
          <a:xfrm>
            <a:off x="3676650" y="325755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訊息是否可信且在正確脈絡？</a:t>
            </a:r>
          </a:p>
        </p:txBody>
      </p:sp>
      <p:sp>
        <p:nvSpPr>
          <p:cNvPr id="17" name="problem-body-2">
            <a:extLst>
              <a:ext uri="{FF2B5EF4-FFF2-40B4-BE49-F238E27FC236}">
                <a16:creationId xmlns:a16="http://schemas.microsoft.com/office/drawing/2014/main" id="{D08D8CBB-3F23-4BDB-8F31-24D605AC6D60}"/>
              </a:ext>
            </a:extLst>
          </p:cNvPr>
          <p:cNvSpPr>
            <a:spLocks noGrp="1"/>
          </p:cNvSpPr>
          <p:nvPr/>
        </p:nvSpPr>
        <p:spPr>
          <a:xfrm>
            <a:off x="7667625" y="3286125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topic、channel、timestamp、nonce、來源與重放。</a:t>
            </a:r>
          </a:p>
        </p:txBody>
      </p:sp>
      <p:sp>
        <p:nvSpPr>
          <p:cNvPr id="18" name="problem-line-3">
            <a:extLst>
              <a:ext uri="{FF2B5EF4-FFF2-40B4-BE49-F238E27FC236}">
                <a16:creationId xmlns:a16="http://schemas.microsoft.com/office/drawing/2014/main" id="{26773D95-2981-4886-B4E2-858DDF782891}"/>
              </a:ext>
            </a:extLst>
          </p:cNvPr>
          <p:cNvSpPr>
            <a:spLocks noGrp="1"/>
          </p:cNvSpPr>
          <p:nvPr/>
        </p:nvSpPr>
        <p:spPr>
          <a:xfrm>
            <a:off x="3333750" y="5219700"/>
            <a:ext cx="79438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roblem-accent-3">
            <a:extLst>
              <a:ext uri="{FF2B5EF4-FFF2-40B4-BE49-F238E27FC236}">
                <a16:creationId xmlns:a16="http://schemas.microsoft.com/office/drawing/2014/main" id="{369237D0-AD8B-4FAE-B087-883077990A86}"/>
              </a:ext>
            </a:extLst>
          </p:cNvPr>
          <p:cNvSpPr>
            <a:spLocks noGrp="1"/>
          </p:cNvSpPr>
          <p:nvPr/>
        </p:nvSpPr>
        <p:spPr>
          <a:xfrm>
            <a:off x="3333750" y="4229100"/>
            <a:ext cx="95250" cy="8191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problem-en-3">
            <a:extLst>
              <a:ext uri="{FF2B5EF4-FFF2-40B4-BE49-F238E27FC236}">
                <a16:creationId xmlns:a16="http://schemas.microsoft.com/office/drawing/2014/main" id="{64620E31-B531-43A7-A687-23C93A4D004F}"/>
              </a:ext>
            </a:extLst>
          </p:cNvPr>
          <p:cNvSpPr>
            <a:spLocks noGrp="1"/>
          </p:cNvSpPr>
          <p:nvPr/>
        </p:nvSpPr>
        <p:spPr>
          <a:xfrm>
            <a:off x="3676650" y="4229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BEHAVIOR</a:t>
            </a:r>
          </a:p>
        </p:txBody>
      </p:sp>
      <p:sp>
        <p:nvSpPr>
          <p:cNvPr id="21" name="problem-zh-3">
            <a:extLst>
              <a:ext uri="{FF2B5EF4-FFF2-40B4-BE49-F238E27FC236}">
                <a16:creationId xmlns:a16="http://schemas.microsoft.com/office/drawing/2014/main" id="{E45BD70D-346A-4301-AD98-E675B62A6D9B}"/>
              </a:ext>
            </a:extLst>
          </p:cNvPr>
          <p:cNvSpPr>
            <a:spLocks noGrp="1"/>
          </p:cNvSpPr>
          <p:nvPr/>
        </p:nvSpPr>
        <p:spPr>
          <a:xfrm>
            <a:off x="3676650" y="44958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機器人動作是否符合物理？</a:t>
            </a:r>
          </a:p>
        </p:txBody>
      </p:sp>
      <p:sp>
        <p:nvSpPr>
          <p:cNvPr id="22" name="problem-body-3">
            <a:extLst>
              <a:ext uri="{FF2B5EF4-FFF2-40B4-BE49-F238E27FC236}">
                <a16:creationId xmlns:a16="http://schemas.microsoft.com/office/drawing/2014/main" id="{3648F294-F5FD-412A-B254-9E2FEDC9C631}"/>
              </a:ext>
            </a:extLst>
          </p:cNvPr>
          <p:cNvSpPr>
            <a:spLocks noGrp="1"/>
          </p:cNvSpPr>
          <p:nvPr/>
        </p:nvSpPr>
        <p:spPr>
          <a:xfrm>
            <a:off x="7667625" y="4524375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速度、方向、LiDAR、heartbeat 與感測／控制一致性。</a:t>
            </a:r>
          </a:p>
        </p:txBody>
      </p:sp>
      <p:sp>
        <p:nvSpPr>
          <p:cNvPr id="23" name="problem-conclusion">
            <a:extLst>
              <a:ext uri="{FF2B5EF4-FFF2-40B4-BE49-F238E27FC236}">
                <a16:creationId xmlns:a16="http://schemas.microsoft.com/office/drawing/2014/main" id="{3B49338C-3592-41C6-A14A-511608A5CE9D}"/>
              </a:ext>
            </a:extLst>
          </p:cNvPr>
          <p:cNvSpPr>
            <a:spLocks noGrp="1"/>
          </p:cNvSpPr>
          <p:nvPr/>
        </p:nvSpPr>
        <p:spPr>
          <a:xfrm>
            <a:off x="3333750" y="5600700"/>
            <a:ext cx="7943850" cy="5143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problem-conclusion-text">
            <a:extLst>
              <a:ext uri="{FF2B5EF4-FFF2-40B4-BE49-F238E27FC236}">
                <a16:creationId xmlns:a16="http://schemas.microsoft.com/office/drawing/2014/main" id="{EA8743AC-2380-4F34-BEEF-3AD1D59F9788}"/>
              </a:ext>
            </a:extLst>
          </p:cNvPr>
          <p:cNvSpPr>
            <a:spLocks noGrp="1"/>
          </p:cNvSpPr>
          <p:nvPr/>
        </p:nvSpPr>
        <p:spPr>
          <a:xfrm>
            <a:off x="3600450" y="56959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因此需要從 DDS 身分、網路流量一路看到機器人行為。</a:t>
            </a:r>
          </a:p>
        </p:txBody>
      </p:sp>
    </p:spTree>
    <p:extLst>
      <p:ext uri="{BB962C8B-B14F-4D97-AF65-F5344CB8AC3E}">
        <p14:creationId xmlns:p14="http://schemas.microsoft.com/office/powerpoint/2010/main" val="629166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ail-3">
            <a:extLst>
              <a:ext uri="{FF2B5EF4-FFF2-40B4-BE49-F238E27FC236}">
                <a16:creationId xmlns:a16="http://schemas.microsoft.com/office/drawing/2014/main" id="{61219FF8-5F24-4FFD-A40E-D3358F1908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3">
            <a:extLst>
              <a:ext uri="{FF2B5EF4-FFF2-40B4-BE49-F238E27FC236}">
                <a16:creationId xmlns:a16="http://schemas.microsoft.com/office/drawing/2014/main" id="{8588356C-D8D0-4162-B3AF-F27C6A24CF6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四個研究問題分開驗證預防、偵測、AI 與回應</a:t>
            </a:r>
          </a:p>
        </p:txBody>
      </p:sp>
      <p:sp>
        <p:nvSpPr>
          <p:cNvPr id="5" name="page-3">
            <a:extLst>
              <a:ext uri="{FF2B5EF4-FFF2-40B4-BE49-F238E27FC236}">
                <a16:creationId xmlns:a16="http://schemas.microsoft.com/office/drawing/2014/main" id="{B88619A1-1E9F-45EF-A87C-8BE988164D27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" name="rq-number-1">
            <a:extLst>
              <a:ext uri="{FF2B5EF4-FFF2-40B4-BE49-F238E27FC236}">
                <a16:creationId xmlns:a16="http://schemas.microsoft.com/office/drawing/2014/main" id="{CE2060FD-3B38-4ED9-8BF1-F6B917E122BA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7" name="rq-title-1">
            <a:extLst>
              <a:ext uri="{FF2B5EF4-FFF2-40B4-BE49-F238E27FC236}">
                <a16:creationId xmlns:a16="http://schemas.microsoft.com/office/drawing/2014/main" id="{1E94AD40-7099-46A8-8E82-AA806054ABFF}"/>
              </a:ext>
            </a:extLst>
          </p:cNvPr>
          <p:cNvSpPr>
            <a:spLocks noGrp="1"/>
          </p:cNvSpPr>
          <p:nvPr/>
        </p:nvSpPr>
        <p:spPr>
          <a:xfrm>
            <a:off x="1714500" y="160972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SROS2 真能預防嗎？</a:t>
            </a:r>
          </a:p>
        </p:txBody>
      </p:sp>
      <p:sp>
        <p:nvSpPr>
          <p:cNvPr id="8" name="rq-body-1">
            <a:extLst>
              <a:ext uri="{FF2B5EF4-FFF2-40B4-BE49-F238E27FC236}">
                <a16:creationId xmlns:a16="http://schemas.microsoft.com/office/drawing/2014/main" id="{2E39D1B8-0028-47EC-8251-C56A78B795E2}"/>
              </a:ext>
            </a:extLst>
          </p:cNvPr>
          <p:cNvSpPr>
            <a:spLocks noGrp="1"/>
          </p:cNvSpPr>
          <p:nvPr/>
        </p:nvSpPr>
        <p:spPr>
          <a:xfrm>
            <a:off x="4810125" y="160972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以受保護 canary 的 attempted／received sequence，驗證 Enforce 是否隔離未授權 participant。</a:t>
            </a:r>
          </a:p>
        </p:txBody>
      </p:sp>
      <p:sp>
        <p:nvSpPr>
          <p:cNvPr id="9" name="rq-rule-1">
            <a:extLst>
              <a:ext uri="{FF2B5EF4-FFF2-40B4-BE49-F238E27FC236}">
                <a16:creationId xmlns:a16="http://schemas.microsoft.com/office/drawing/2014/main" id="{7707C419-4156-430D-BC42-0E3BB5F40F2B}"/>
              </a:ext>
            </a:extLst>
          </p:cNvPr>
          <p:cNvSpPr>
            <a:spLocks noGrp="1"/>
          </p:cNvSpPr>
          <p:nvPr/>
        </p:nvSpPr>
        <p:spPr>
          <a:xfrm>
            <a:off x="609600" y="241935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q-number-2">
            <a:extLst>
              <a:ext uri="{FF2B5EF4-FFF2-40B4-BE49-F238E27FC236}">
                <a16:creationId xmlns:a16="http://schemas.microsoft.com/office/drawing/2014/main" id="{6E301A82-D1CC-4654-AB22-1080985F781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1" name="rq-title-2">
            <a:extLst>
              <a:ext uri="{FF2B5EF4-FFF2-40B4-BE49-F238E27FC236}">
                <a16:creationId xmlns:a16="http://schemas.microsoft.com/office/drawing/2014/main" id="{9BB8CFD2-8AE9-4A9F-AD7A-5CFC8C2CC11F}"/>
              </a:ext>
            </a:extLst>
          </p:cNvPr>
          <p:cNvSpPr>
            <a:spLocks noGrp="1"/>
          </p:cNvSpPr>
          <p:nvPr/>
        </p:nvSpPr>
        <p:spPr>
          <a:xfrm>
            <a:off x="1714500" y="273367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多模態與時序有用嗎？</a:t>
            </a:r>
          </a:p>
        </p:txBody>
      </p:sp>
      <p:sp>
        <p:nvSpPr>
          <p:cNvPr id="12" name="rq-body-2">
            <a:extLst>
              <a:ext uri="{FF2B5EF4-FFF2-40B4-BE49-F238E27FC236}">
                <a16:creationId xmlns:a16="http://schemas.microsoft.com/office/drawing/2014/main" id="{43A32F7A-5D7B-48F3-990A-FF8DB833DD21}"/>
              </a:ext>
            </a:extLst>
          </p:cNvPr>
          <p:cNvSpPr>
            <a:spLocks noGrp="1"/>
          </p:cNvSpPr>
          <p:nvPr/>
        </p:nvSpPr>
        <p:spPr>
          <a:xfrm>
            <a:off x="4810125" y="273367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同 split 比較 network、telemetry、fusion 與 causal-temporal 的 F1、PR-AUC 與 FPR。</a:t>
            </a:r>
          </a:p>
        </p:txBody>
      </p:sp>
      <p:sp>
        <p:nvSpPr>
          <p:cNvPr id="13" name="rq-rule-2">
            <a:extLst>
              <a:ext uri="{FF2B5EF4-FFF2-40B4-BE49-F238E27FC236}">
                <a16:creationId xmlns:a16="http://schemas.microsoft.com/office/drawing/2014/main" id="{E43A03D2-9BDC-49AF-8681-1C0DDA281D90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q-number-3">
            <a:extLst>
              <a:ext uri="{FF2B5EF4-FFF2-40B4-BE49-F238E27FC236}">
                <a16:creationId xmlns:a16="http://schemas.microsoft.com/office/drawing/2014/main" id="{C0F60988-00D6-42C2-A5BE-3DF8B983DB76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5" name="rq-title-3">
            <a:extLst>
              <a:ext uri="{FF2B5EF4-FFF2-40B4-BE49-F238E27FC236}">
                <a16:creationId xmlns:a16="http://schemas.microsoft.com/office/drawing/2014/main" id="{EF87CBC4-860F-4D3A-8B4F-8DBABE9016AD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未知攻擊與模式偏差呢？</a:t>
            </a:r>
          </a:p>
        </p:txBody>
      </p:sp>
      <p:sp>
        <p:nvSpPr>
          <p:cNvPr id="16" name="rq-body-3">
            <a:extLst>
              <a:ext uri="{FF2B5EF4-FFF2-40B4-BE49-F238E27FC236}">
                <a16:creationId xmlns:a16="http://schemas.microsoft.com/office/drawing/2014/main" id="{3DB901DB-7388-4891-A153-0C82A471FD65}"/>
              </a:ext>
            </a:extLst>
          </p:cNvPr>
          <p:cNvSpPr>
            <a:spLocks noGrp="1"/>
          </p:cNvSpPr>
          <p:nvPr/>
        </p:nvSpPr>
        <p:spPr>
          <a:xfrm>
            <a:off x="4810125" y="385762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整個攻擊 session 排除訓練，並分開 Permissive／Enforce，避免模型只記住安全模式。</a:t>
            </a:r>
          </a:p>
        </p:txBody>
      </p:sp>
      <p:sp>
        <p:nvSpPr>
          <p:cNvPr id="17" name="rq-rule-3">
            <a:extLst>
              <a:ext uri="{FF2B5EF4-FFF2-40B4-BE49-F238E27FC236}">
                <a16:creationId xmlns:a16="http://schemas.microsoft.com/office/drawing/2014/main" id="{17298416-7DF4-4932-A23F-6C667EA6E2D2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q-number-4">
            <a:extLst>
              <a:ext uri="{FF2B5EF4-FFF2-40B4-BE49-F238E27FC236}">
                <a16:creationId xmlns:a16="http://schemas.microsoft.com/office/drawing/2014/main" id="{FD723E84-A501-4EBE-AFD2-C9D7BC78CA42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9" name="rq-title-4">
            <a:extLst>
              <a:ext uri="{FF2B5EF4-FFF2-40B4-BE49-F238E27FC236}">
                <a16:creationId xmlns:a16="http://schemas.microsoft.com/office/drawing/2014/main" id="{5B5C0B87-F48E-4A00-8F1C-274CF39F62AE}"/>
              </a:ext>
            </a:extLst>
          </p:cNvPr>
          <p:cNvSpPr>
            <a:spLocks noGrp="1"/>
          </p:cNvSpPr>
          <p:nvPr/>
        </p:nvSpPr>
        <p:spPr>
          <a:xfrm>
            <a:off x="1714500" y="498157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回應會不會誤封？</a:t>
            </a:r>
          </a:p>
        </p:txBody>
      </p:sp>
      <p:sp>
        <p:nvSpPr>
          <p:cNvPr id="20" name="rq-body-4">
            <a:extLst>
              <a:ext uri="{FF2B5EF4-FFF2-40B4-BE49-F238E27FC236}">
                <a16:creationId xmlns:a16="http://schemas.microsoft.com/office/drawing/2014/main" id="{EBF401C9-DC13-468B-AED3-C2F98515C26D}"/>
              </a:ext>
            </a:extLst>
          </p:cNvPr>
          <p:cNvSpPr>
            <a:spLocks noGrp="1"/>
          </p:cNvSpPr>
          <p:nvPr/>
        </p:nvSpPr>
        <p:spPr>
          <a:xfrm>
            <a:off x="4810125" y="498157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用來源歸因、雙訊號、連續視窗、票證、TTL、白名單與 rollback 限制自動處置。</a:t>
            </a:r>
          </a:p>
        </p:txBody>
      </p:sp>
      <p:sp>
        <p:nvSpPr>
          <p:cNvPr id="21" name="rq-rule-4">
            <a:extLst>
              <a:ext uri="{FF2B5EF4-FFF2-40B4-BE49-F238E27FC236}">
                <a16:creationId xmlns:a16="http://schemas.microsoft.com/office/drawing/2014/main" id="{FF5179CD-AC5F-4185-AC8B-B51B0E6E867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05863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hreat-left">
            <a:extLst>
              <a:ext uri="{FF2B5EF4-FFF2-40B4-BE49-F238E27FC236}">
                <a16:creationId xmlns:a16="http://schemas.microsoft.com/office/drawing/2014/main" id="{7EBB5E65-64EC-4D47-9BC8-868DB3B45E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10375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hreat-divider">
            <a:extLst>
              <a:ext uri="{FF2B5EF4-FFF2-40B4-BE49-F238E27FC236}">
                <a16:creationId xmlns:a16="http://schemas.microsoft.com/office/drawing/2014/main" id="{F9BABD9D-E753-4077-8548-94377483C820}"/>
              </a:ext>
            </a:extLst>
          </p:cNvPr>
          <p:cNvSpPr>
            <a:spLocks noGrp="1"/>
          </p:cNvSpPr>
          <p:nvPr/>
        </p:nvSpPr>
        <p:spPr>
          <a:xfrm>
            <a:off x="6810375" y="0"/>
            <a:ext cx="13335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hreat-title">
            <a:extLst>
              <a:ext uri="{FF2B5EF4-FFF2-40B4-BE49-F238E27FC236}">
                <a16:creationId xmlns:a16="http://schemas.microsoft.com/office/drawing/2014/main" id="{2060D033-4016-4B2C-8F68-E291D873D6D5}"/>
              </a:ext>
            </a:extLst>
          </p:cNvPr>
          <p:cNvSpPr>
            <a:spLocks noGrp="1"/>
          </p:cNvSpPr>
          <p:nvPr/>
        </p:nvSpPr>
        <p:spPr>
          <a:xfrm>
            <a:off x="590550" y="781050"/>
            <a:ext cx="5619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Gazebo／TurtleBot3 提供可重複的感測與控制閉環</a:t>
            </a:r>
          </a:p>
        </p:txBody>
      </p:sp>
      <p:sp>
        <p:nvSpPr>
          <p:cNvPr id="5" name="threat-in-label">
            <a:extLst>
              <a:ext uri="{FF2B5EF4-FFF2-40B4-BE49-F238E27FC236}">
                <a16:creationId xmlns:a16="http://schemas.microsoft.com/office/drawing/2014/main" id="{31946D24-5524-42D9-8862-7AE8540D7161}"/>
              </a:ext>
            </a:extLst>
          </p:cNvPr>
          <p:cNvSpPr>
            <a:spLocks noGrp="1"/>
          </p:cNvSpPr>
          <p:nvPr/>
        </p:nvSpPr>
        <p:spPr>
          <a:xfrm>
            <a:off x="590550" y="23622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PLATFORM</a:t>
            </a:r>
          </a:p>
        </p:txBody>
      </p:sp>
      <p:sp>
        <p:nvSpPr>
          <p:cNvPr id="6" name="threat-in-title">
            <a:extLst>
              <a:ext uri="{FF2B5EF4-FFF2-40B4-BE49-F238E27FC236}">
                <a16:creationId xmlns:a16="http://schemas.microsoft.com/office/drawing/2014/main" id="{88331D2A-9ADD-41B0-8CE5-D6A1E3213602}"/>
              </a:ext>
            </a:extLst>
          </p:cNvPr>
          <p:cNvSpPr>
            <a:spLocks noGrp="1"/>
          </p:cNvSpPr>
          <p:nvPr/>
        </p:nvSpPr>
        <p:spPr>
          <a:xfrm>
            <a:off x="590550" y="272415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DDS 防禦主實驗軌</a:t>
            </a:r>
          </a:p>
        </p:txBody>
      </p:sp>
      <p:sp>
        <p:nvSpPr>
          <p:cNvPr id="7" name="threat-in-body">
            <a:extLst>
              <a:ext uri="{FF2B5EF4-FFF2-40B4-BE49-F238E27FC236}">
                <a16:creationId xmlns:a16="http://schemas.microsoft.com/office/drawing/2014/main" id="{86C08828-8F56-44A2-94C4-26D99A060223}"/>
              </a:ext>
            </a:extLst>
          </p:cNvPr>
          <p:cNvSpPr>
            <a:spLocks noGrp="1"/>
          </p:cNvSpPr>
          <p:nvPr/>
        </p:nvSpPr>
        <p:spPr>
          <a:xfrm>
            <a:off x="590550" y="3333750"/>
            <a:ext cx="5143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Gazebo Garden＋TurtleBot3 Burger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/scan · /odom · /imu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patrol／TQC → /cmd_vel/patrol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velocity guard → final /cmd_vel</a:t>
            </a:r>
          </a:p>
        </p:txBody>
      </p:sp>
      <p:sp>
        <p:nvSpPr>
          <p:cNvPr id="8" name="threat-out-label">
            <a:extLst>
              <a:ext uri="{FF2B5EF4-FFF2-40B4-BE49-F238E27FC236}">
                <a16:creationId xmlns:a16="http://schemas.microsoft.com/office/drawing/2014/main" id="{BFE987FB-26BA-47D1-A447-F95D686D3687}"/>
              </a:ext>
            </a:extLst>
          </p:cNvPr>
          <p:cNvSpPr>
            <a:spLocks noGrp="1"/>
          </p:cNvSpPr>
          <p:nvPr/>
        </p:nvSpPr>
        <p:spPr>
          <a:xfrm>
            <a:off x="7381875" y="7810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PARALLEL AI TRACK</a:t>
            </a:r>
          </a:p>
        </p:txBody>
      </p:sp>
      <p:sp>
        <p:nvSpPr>
          <p:cNvPr id="9" name="threat-out-title">
            <a:extLst>
              <a:ext uri="{FF2B5EF4-FFF2-40B4-BE49-F238E27FC236}">
                <a16:creationId xmlns:a16="http://schemas.microsoft.com/office/drawing/2014/main" id="{9DD2171C-7309-42B2-B225-234CF86A2446}"/>
              </a:ext>
            </a:extLst>
          </p:cNvPr>
          <p:cNvSpPr>
            <a:spLocks noGrp="1"/>
          </p:cNvSpPr>
          <p:nvPr/>
        </p:nvSpPr>
        <p:spPr>
          <a:xfrm>
            <a:off x="7381875" y="1200150"/>
            <a:ext cx="3429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TQC 強化學習</a:t>
            </a:r>
          </a:p>
        </p:txBody>
      </p:sp>
      <p:sp>
        <p:nvSpPr>
          <p:cNvPr id="10" name="threat-out-body">
            <a:extLst>
              <a:ext uri="{FF2B5EF4-FFF2-40B4-BE49-F238E27FC236}">
                <a16:creationId xmlns:a16="http://schemas.microsoft.com/office/drawing/2014/main" id="{175E505F-4E37-4848-BE41-8E28BBF56E40}"/>
              </a:ext>
            </a:extLst>
          </p:cNvPr>
          <p:cNvSpPr>
            <a:spLocks noGrp="1"/>
          </p:cNvSpPr>
          <p:nvPr/>
        </p:nvSpPr>
        <p:spPr>
          <a:xfrm>
            <a:off x="7381875" y="1924050"/>
            <a:ext cx="4000500" cy="195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(180 LiDAR＋6 state)×4＝744D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1D Conv encoder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curriculum＋domain randomization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5% adversarial events</a:t>
            </a:r>
          </a:p>
        </p:txBody>
      </p:sp>
      <p:sp>
        <p:nvSpPr>
          <p:cNvPr id="11" name="threat-lab-band">
            <a:extLst>
              <a:ext uri="{FF2B5EF4-FFF2-40B4-BE49-F238E27FC236}">
                <a16:creationId xmlns:a16="http://schemas.microsoft.com/office/drawing/2014/main" id="{72D0A695-3720-45A4-A807-74DB0D008393}"/>
              </a:ext>
            </a:extLst>
          </p:cNvPr>
          <p:cNvSpPr>
            <a:spLocks noGrp="1"/>
          </p:cNvSpPr>
          <p:nvPr/>
        </p:nvSpPr>
        <p:spPr>
          <a:xfrm>
            <a:off x="7381875" y="4495800"/>
            <a:ext cx="4000500" cy="129540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hreat-lab-text">
            <a:extLst>
              <a:ext uri="{FF2B5EF4-FFF2-40B4-BE49-F238E27FC236}">
                <a16:creationId xmlns:a16="http://schemas.microsoft.com/office/drawing/2014/main" id="{AB4DD33C-1214-45E9-9715-90D07F2A72F4}"/>
              </a:ext>
            </a:extLst>
          </p:cNvPr>
          <p:cNvSpPr>
            <a:spLocks noGrp="1"/>
          </p:cNvSpPr>
          <p:nvPr/>
        </p:nvSpPr>
        <p:spPr>
          <a:xfrm>
            <a:off x="7667625" y="4705350"/>
            <a:ext cx="3429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證據邊界｜目前是 Gazebo 模擬；TQC 是獨立軌，不能當作 DDS 防火牆成績</a:t>
            </a:r>
          </a:p>
        </p:txBody>
      </p:sp>
      <p:sp>
        <p:nvSpPr>
          <p:cNvPr id="13" name="threat-page">
            <a:extLst>
              <a:ext uri="{FF2B5EF4-FFF2-40B4-BE49-F238E27FC236}">
                <a16:creationId xmlns:a16="http://schemas.microsoft.com/office/drawing/2014/main" id="{119AB2BE-2A15-42F2-B88E-1502DA8B07E1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78151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ail-4">
            <a:extLst>
              <a:ext uri="{FF2B5EF4-FFF2-40B4-BE49-F238E27FC236}">
                <a16:creationId xmlns:a16="http://schemas.microsoft.com/office/drawing/2014/main" id="{B85B79E5-68FD-4521-9C9C-7CB5117C6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4">
            <a:extLst>
              <a:ext uri="{FF2B5EF4-FFF2-40B4-BE49-F238E27FC236}">
                <a16:creationId xmlns:a16="http://schemas.microsoft.com/office/drawing/2014/main" id="{72CFD4E5-8BEB-460D-9C49-0C16FBD1133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ROS 2 節點、topic 與安全服務形成完整資料流</a:t>
            </a:r>
          </a:p>
        </p:txBody>
      </p:sp>
      <p:sp>
        <p:nvSpPr>
          <p:cNvPr id="5" name="page-4">
            <a:extLst>
              <a:ext uri="{FF2B5EF4-FFF2-40B4-BE49-F238E27FC236}">
                <a16:creationId xmlns:a16="http://schemas.microsoft.com/office/drawing/2014/main" id="{4AA6B4CF-FC7C-4521-92C4-8736D130192C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6" name="architecture-subtitle">
            <a:extLst>
              <a:ext uri="{FF2B5EF4-FFF2-40B4-BE49-F238E27FC236}">
                <a16:creationId xmlns:a16="http://schemas.microsoft.com/office/drawing/2014/main" id="{A824570B-B420-4BDA-8B97-A199CBB738D1}"/>
              </a:ext>
            </a:extLst>
          </p:cNvPr>
          <p:cNvSpPr>
            <a:spLocks noGrp="1"/>
          </p:cNvSpPr>
          <p:nvPr/>
        </p:nvSpPr>
        <p:spPr>
          <a:xfrm>
            <a:off x="552450" y="150495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從 Gazebo 感測、SROS2/HMAC 預防，到多模態 AI 與可撤銷回應；每一步均保存證據。</a:t>
            </a:r>
          </a:p>
        </p:txBody>
      </p:sp>
      <p:sp>
        <p:nvSpPr>
          <p:cNvPr id="7" name="architecture-arrow-1">
            <a:extLst>
              <a:ext uri="{FF2B5EF4-FFF2-40B4-BE49-F238E27FC236}">
                <a16:creationId xmlns:a16="http://schemas.microsoft.com/office/drawing/2014/main" id="{BDDF5001-AEAC-4CCE-918F-BF846E7BD8D2}"/>
              </a:ext>
            </a:extLst>
          </p:cNvPr>
          <p:cNvSpPr>
            <a:spLocks noGrp="1"/>
          </p:cNvSpPr>
          <p:nvPr/>
        </p:nvSpPr>
        <p:spPr>
          <a:xfrm>
            <a:off x="24765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architecture-arrow-2">
            <a:extLst>
              <a:ext uri="{FF2B5EF4-FFF2-40B4-BE49-F238E27FC236}">
                <a16:creationId xmlns:a16="http://schemas.microsoft.com/office/drawing/2014/main" id="{D78AC9B7-9E37-465A-9C29-58D286AEC607}"/>
              </a:ext>
            </a:extLst>
          </p:cNvPr>
          <p:cNvSpPr>
            <a:spLocks noGrp="1"/>
          </p:cNvSpPr>
          <p:nvPr/>
        </p:nvSpPr>
        <p:spPr>
          <a:xfrm>
            <a:off x="47244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rchitecture-arrow-3">
            <a:extLst>
              <a:ext uri="{FF2B5EF4-FFF2-40B4-BE49-F238E27FC236}">
                <a16:creationId xmlns:a16="http://schemas.microsoft.com/office/drawing/2014/main" id="{55E014E2-17D1-47CF-A16F-190899CAAB62}"/>
              </a:ext>
            </a:extLst>
          </p:cNvPr>
          <p:cNvSpPr>
            <a:spLocks noGrp="1"/>
          </p:cNvSpPr>
          <p:nvPr/>
        </p:nvSpPr>
        <p:spPr>
          <a:xfrm>
            <a:off x="69723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architecture-arrow-4">
            <a:extLst>
              <a:ext uri="{FF2B5EF4-FFF2-40B4-BE49-F238E27FC236}">
                <a16:creationId xmlns:a16="http://schemas.microsoft.com/office/drawing/2014/main" id="{19FE8BB1-D986-406E-95FB-4D4BF6E0F34F}"/>
              </a:ext>
            </a:extLst>
          </p:cNvPr>
          <p:cNvSpPr>
            <a:spLocks noGrp="1"/>
          </p:cNvSpPr>
          <p:nvPr/>
        </p:nvSpPr>
        <p:spPr>
          <a:xfrm>
            <a:off x="92202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architecture-node-1">
            <a:extLst>
              <a:ext uri="{FF2B5EF4-FFF2-40B4-BE49-F238E27FC236}">
                <a16:creationId xmlns:a16="http://schemas.microsoft.com/office/drawing/2014/main" id="{3C847825-4317-492F-A82B-4EE3E5F5B70E}"/>
              </a:ext>
            </a:extLst>
          </p:cNvPr>
          <p:cNvSpPr>
            <a:spLocks noGrp="1"/>
          </p:cNvSpPr>
          <p:nvPr/>
        </p:nvSpPr>
        <p:spPr>
          <a:xfrm>
            <a:off x="5524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architecture-number-1">
            <a:extLst>
              <a:ext uri="{FF2B5EF4-FFF2-40B4-BE49-F238E27FC236}">
                <a16:creationId xmlns:a16="http://schemas.microsoft.com/office/drawing/2014/main" id="{7507B939-3ADB-49DB-B566-9C77B767588D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3" name="architecture-title-1">
            <a:extLst>
              <a:ext uri="{FF2B5EF4-FFF2-40B4-BE49-F238E27FC236}">
                <a16:creationId xmlns:a16="http://schemas.microsoft.com/office/drawing/2014/main" id="{D104A880-613B-42D7-B1F1-377B0DFFF4FB}"/>
              </a:ext>
            </a:extLst>
          </p:cNvPr>
          <p:cNvSpPr>
            <a:spLocks noGrp="1"/>
          </p:cNvSpPr>
          <p:nvPr/>
        </p:nvSpPr>
        <p:spPr>
          <a:xfrm>
            <a:off x="7620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機器人</a:t>
            </a:r>
          </a:p>
        </p:txBody>
      </p:sp>
      <p:sp>
        <p:nvSpPr>
          <p:cNvPr id="14" name="architecture-node-rule-1">
            <a:extLst>
              <a:ext uri="{FF2B5EF4-FFF2-40B4-BE49-F238E27FC236}">
                <a16:creationId xmlns:a16="http://schemas.microsoft.com/office/drawing/2014/main" id="{5C939F5F-E07B-4BCE-81DF-88E37B07F613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430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architecture-body-1">
            <a:extLst>
              <a:ext uri="{FF2B5EF4-FFF2-40B4-BE49-F238E27FC236}">
                <a16:creationId xmlns:a16="http://schemas.microsoft.com/office/drawing/2014/main" id="{956C3699-913E-4D93-9BB7-D651021B5CC3}"/>
              </a:ext>
            </a:extLst>
          </p:cNvPr>
          <p:cNvSpPr>
            <a:spLocks noGrp="1"/>
          </p:cNvSpPr>
          <p:nvPr/>
        </p:nvSpPr>
        <p:spPr>
          <a:xfrm>
            <a:off x="7620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TB3／scan · odom · imu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patrol → cmd_vel</a:t>
            </a:r>
          </a:p>
        </p:txBody>
      </p:sp>
      <p:sp>
        <p:nvSpPr>
          <p:cNvPr id="16" name="architecture-node-2">
            <a:extLst>
              <a:ext uri="{FF2B5EF4-FFF2-40B4-BE49-F238E27FC236}">
                <a16:creationId xmlns:a16="http://schemas.microsoft.com/office/drawing/2014/main" id="{D86426C2-8403-4C37-9DC9-B6EC436736B0}"/>
              </a:ext>
            </a:extLst>
          </p:cNvPr>
          <p:cNvSpPr>
            <a:spLocks noGrp="1"/>
          </p:cNvSpPr>
          <p:nvPr/>
        </p:nvSpPr>
        <p:spPr>
          <a:xfrm>
            <a:off x="28003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DCD8D1"/>
          </a:solidFill>
          <a:ln w="9525">
            <a:solidFill>
              <a:srgbClr val="DCD8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architecture-number-2">
            <a:extLst>
              <a:ext uri="{FF2B5EF4-FFF2-40B4-BE49-F238E27FC236}">
                <a16:creationId xmlns:a16="http://schemas.microsoft.com/office/drawing/2014/main" id="{685147F4-A59F-49C2-BEAA-6BA153F4618F}"/>
              </a:ext>
            </a:extLst>
          </p:cNvPr>
          <p:cNvSpPr>
            <a:spLocks noGrp="1"/>
          </p:cNvSpPr>
          <p:nvPr/>
        </p:nvSpPr>
        <p:spPr>
          <a:xfrm>
            <a:off x="30099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8" name="architecture-title-2">
            <a:extLst>
              <a:ext uri="{FF2B5EF4-FFF2-40B4-BE49-F238E27FC236}">
                <a16:creationId xmlns:a16="http://schemas.microsoft.com/office/drawing/2014/main" id="{63675792-DF2A-4021-9618-B8F364CCB323}"/>
              </a:ext>
            </a:extLst>
          </p:cNvPr>
          <p:cNvSpPr>
            <a:spLocks noGrp="1"/>
          </p:cNvSpPr>
          <p:nvPr/>
        </p:nvSpPr>
        <p:spPr>
          <a:xfrm>
            <a:off x="30099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預防</a:t>
            </a:r>
          </a:p>
        </p:txBody>
      </p:sp>
      <p:sp>
        <p:nvSpPr>
          <p:cNvPr id="19" name="architecture-node-rule-2">
            <a:extLst>
              <a:ext uri="{FF2B5EF4-FFF2-40B4-BE49-F238E27FC236}">
                <a16:creationId xmlns:a16="http://schemas.microsoft.com/office/drawing/2014/main" id="{12E5AF00-FB45-4C2A-9744-B758CF174534}"/>
              </a:ext>
            </a:extLst>
          </p:cNvPr>
          <p:cNvSpPr>
            <a:spLocks noGrp="1"/>
          </p:cNvSpPr>
          <p:nvPr/>
        </p:nvSpPr>
        <p:spPr>
          <a:xfrm>
            <a:off x="3009900" y="3333750"/>
            <a:ext cx="15430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architecture-body-2">
            <a:extLst>
              <a:ext uri="{FF2B5EF4-FFF2-40B4-BE49-F238E27FC236}">
                <a16:creationId xmlns:a16="http://schemas.microsoft.com/office/drawing/2014/main" id="{DB16A78F-68AF-4F3B-B1D6-3BE1AB7E0C35}"/>
              </a:ext>
            </a:extLst>
          </p:cNvPr>
          <p:cNvSpPr>
            <a:spLocks noGrp="1"/>
          </p:cNvSpPr>
          <p:nvPr/>
        </p:nvSpPr>
        <p:spPr>
          <a:xfrm>
            <a:off x="30099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SROS2 Enforce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雙 CA · ACL · HMAC v3</a:t>
            </a:r>
          </a:p>
        </p:txBody>
      </p:sp>
      <p:sp>
        <p:nvSpPr>
          <p:cNvPr id="21" name="architecture-node-3">
            <a:extLst>
              <a:ext uri="{FF2B5EF4-FFF2-40B4-BE49-F238E27FC236}">
                <a16:creationId xmlns:a16="http://schemas.microsoft.com/office/drawing/2014/main" id="{A0A432B9-0E35-4EAB-A705-007FFFFFABDB}"/>
              </a:ext>
            </a:extLst>
          </p:cNvPr>
          <p:cNvSpPr>
            <a:spLocks noGrp="1"/>
          </p:cNvSpPr>
          <p:nvPr/>
        </p:nvSpPr>
        <p:spPr>
          <a:xfrm>
            <a:off x="50482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E4E7E8"/>
          </a:solidFill>
          <a:ln w="9525">
            <a:solidFill>
              <a:srgbClr val="E4E7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architecture-number-3">
            <a:extLst>
              <a:ext uri="{FF2B5EF4-FFF2-40B4-BE49-F238E27FC236}">
                <a16:creationId xmlns:a16="http://schemas.microsoft.com/office/drawing/2014/main" id="{8E667195-D36D-46F0-9098-5180B0B4A4F4}"/>
              </a:ext>
            </a:extLst>
          </p:cNvPr>
          <p:cNvSpPr>
            <a:spLocks noGrp="1"/>
          </p:cNvSpPr>
          <p:nvPr/>
        </p:nvSpPr>
        <p:spPr>
          <a:xfrm>
            <a:off x="52578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3" name="architecture-title-3">
            <a:extLst>
              <a:ext uri="{FF2B5EF4-FFF2-40B4-BE49-F238E27FC236}">
                <a16:creationId xmlns:a16="http://schemas.microsoft.com/office/drawing/2014/main" id="{FA534B62-7AB0-4723-82CB-A43FBD577408}"/>
              </a:ext>
            </a:extLst>
          </p:cNvPr>
          <p:cNvSpPr>
            <a:spLocks noGrp="1"/>
          </p:cNvSpPr>
          <p:nvPr/>
        </p:nvSpPr>
        <p:spPr>
          <a:xfrm>
            <a:off x="52578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觀測</a:t>
            </a:r>
          </a:p>
        </p:txBody>
      </p:sp>
      <p:sp>
        <p:nvSpPr>
          <p:cNvPr id="24" name="architecture-node-rule-3">
            <a:extLst>
              <a:ext uri="{FF2B5EF4-FFF2-40B4-BE49-F238E27FC236}">
                <a16:creationId xmlns:a16="http://schemas.microsoft.com/office/drawing/2014/main" id="{BB1BD410-48D1-42B5-B498-6D2ADD0E6DF7}"/>
              </a:ext>
            </a:extLst>
          </p:cNvPr>
          <p:cNvSpPr>
            <a:spLocks noGrp="1"/>
          </p:cNvSpPr>
          <p:nvPr/>
        </p:nvSpPr>
        <p:spPr>
          <a:xfrm>
            <a:off x="5257800" y="3333750"/>
            <a:ext cx="15430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architecture-body-3">
            <a:extLst>
              <a:ext uri="{FF2B5EF4-FFF2-40B4-BE49-F238E27FC236}">
                <a16:creationId xmlns:a16="http://schemas.microsoft.com/office/drawing/2014/main" id="{14D31D5E-5109-482D-BE62-7C2ECB687D87}"/>
              </a:ext>
            </a:extLst>
          </p:cNvPr>
          <p:cNvSpPr>
            <a:spLocks noGrp="1"/>
          </p:cNvSpPr>
          <p:nvPr/>
        </p:nvSpPr>
        <p:spPr>
          <a:xfrm>
            <a:off x="52578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Zeek／DDS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D1–D6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network＋telemetry</a:t>
            </a:r>
          </a:p>
        </p:txBody>
      </p:sp>
      <p:sp>
        <p:nvSpPr>
          <p:cNvPr id="26" name="architecture-node-4">
            <a:extLst>
              <a:ext uri="{FF2B5EF4-FFF2-40B4-BE49-F238E27FC236}">
                <a16:creationId xmlns:a16="http://schemas.microsoft.com/office/drawing/2014/main" id="{03A37CA8-2191-463B-850F-7538A6C5D028}"/>
              </a:ext>
            </a:extLst>
          </p:cNvPr>
          <p:cNvSpPr>
            <a:spLocks noGrp="1"/>
          </p:cNvSpPr>
          <p:nvPr/>
        </p:nvSpPr>
        <p:spPr>
          <a:xfrm>
            <a:off x="72961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architecture-number-4">
            <a:extLst>
              <a:ext uri="{FF2B5EF4-FFF2-40B4-BE49-F238E27FC236}">
                <a16:creationId xmlns:a16="http://schemas.microsoft.com/office/drawing/2014/main" id="{17F7F90C-E59C-4B5D-8C5B-03DF603BA598}"/>
              </a:ext>
            </a:extLst>
          </p:cNvPr>
          <p:cNvSpPr>
            <a:spLocks noGrp="1"/>
          </p:cNvSpPr>
          <p:nvPr/>
        </p:nvSpPr>
        <p:spPr>
          <a:xfrm>
            <a:off x="75057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8" name="architecture-title-4">
            <a:extLst>
              <a:ext uri="{FF2B5EF4-FFF2-40B4-BE49-F238E27FC236}">
                <a16:creationId xmlns:a16="http://schemas.microsoft.com/office/drawing/2014/main" id="{1499A45A-3CDD-429F-8943-5F41A8E18D6C}"/>
              </a:ext>
            </a:extLst>
          </p:cNvPr>
          <p:cNvSpPr>
            <a:spLocks noGrp="1"/>
          </p:cNvSpPr>
          <p:nvPr/>
        </p:nvSpPr>
        <p:spPr>
          <a:xfrm>
            <a:off x="75057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AI 判定</a:t>
            </a:r>
          </a:p>
        </p:txBody>
      </p:sp>
      <p:sp>
        <p:nvSpPr>
          <p:cNvPr id="29" name="architecture-node-rule-4">
            <a:extLst>
              <a:ext uri="{FF2B5EF4-FFF2-40B4-BE49-F238E27FC236}">
                <a16:creationId xmlns:a16="http://schemas.microsoft.com/office/drawing/2014/main" id="{F5C73755-5FCE-4443-B780-4D271BCDC0A5}"/>
              </a:ext>
            </a:extLst>
          </p:cNvPr>
          <p:cNvSpPr>
            <a:spLocks noGrp="1"/>
          </p:cNvSpPr>
          <p:nvPr/>
        </p:nvSpPr>
        <p:spPr>
          <a:xfrm>
            <a:off x="7505700" y="3333750"/>
            <a:ext cx="1543050" cy="9525"/>
          </a:xfrm>
          <a:prstGeom prst="rect">
            <a:avLst/>
          </a:prstGeom>
          <a:solidFill>
            <a:srgbClr val="B9BDB7"/>
          </a:solidFill>
          <a:ln w="9525">
            <a:solidFill>
              <a:srgbClr val="B9BDB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architecture-body-4">
            <a:extLst>
              <a:ext uri="{FF2B5EF4-FFF2-40B4-BE49-F238E27FC236}">
                <a16:creationId xmlns:a16="http://schemas.microsoft.com/office/drawing/2014/main" id="{63A3C993-022D-4273-9784-78B9A010C8D1}"/>
              </a:ext>
            </a:extLst>
          </p:cNvPr>
          <p:cNvSpPr>
            <a:spLocks noGrp="1"/>
          </p:cNvSpPr>
          <p:nvPr/>
        </p:nvSpPr>
        <p:spPr>
          <a:xfrm>
            <a:off x="75057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binary → family</a:t>
            </a:r>
          </a:p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→ leaf</a:t>
            </a:r>
          </a:p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normal／attack OOD</a:t>
            </a:r>
          </a:p>
        </p:txBody>
      </p:sp>
      <p:sp>
        <p:nvSpPr>
          <p:cNvPr id="31" name="architecture-node-5">
            <a:extLst>
              <a:ext uri="{FF2B5EF4-FFF2-40B4-BE49-F238E27FC236}">
                <a16:creationId xmlns:a16="http://schemas.microsoft.com/office/drawing/2014/main" id="{933BC75A-FDCB-44BF-B795-F6277CC3CD2D}"/>
              </a:ext>
            </a:extLst>
          </p:cNvPr>
          <p:cNvSpPr>
            <a:spLocks noGrp="1"/>
          </p:cNvSpPr>
          <p:nvPr/>
        </p:nvSpPr>
        <p:spPr>
          <a:xfrm>
            <a:off x="95440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architecture-number-5">
            <a:extLst>
              <a:ext uri="{FF2B5EF4-FFF2-40B4-BE49-F238E27FC236}">
                <a16:creationId xmlns:a16="http://schemas.microsoft.com/office/drawing/2014/main" id="{7A395725-D53C-4797-9FE4-1713F4F3B225}"/>
              </a:ext>
            </a:extLst>
          </p:cNvPr>
          <p:cNvSpPr>
            <a:spLocks noGrp="1"/>
          </p:cNvSpPr>
          <p:nvPr/>
        </p:nvSpPr>
        <p:spPr>
          <a:xfrm>
            <a:off x="97536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3" name="architecture-title-5">
            <a:extLst>
              <a:ext uri="{FF2B5EF4-FFF2-40B4-BE49-F238E27FC236}">
                <a16:creationId xmlns:a16="http://schemas.microsoft.com/office/drawing/2014/main" id="{971F64B3-58D8-4078-B455-B18BC5A0F77A}"/>
              </a:ext>
            </a:extLst>
          </p:cNvPr>
          <p:cNvSpPr>
            <a:spLocks noGrp="1"/>
          </p:cNvSpPr>
          <p:nvPr/>
        </p:nvSpPr>
        <p:spPr>
          <a:xfrm>
            <a:off x="97536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受限回應</a:t>
            </a:r>
          </a:p>
        </p:txBody>
      </p:sp>
      <p:sp>
        <p:nvSpPr>
          <p:cNvPr id="34" name="architecture-node-rule-5">
            <a:extLst>
              <a:ext uri="{FF2B5EF4-FFF2-40B4-BE49-F238E27FC236}">
                <a16:creationId xmlns:a16="http://schemas.microsoft.com/office/drawing/2014/main" id="{6D8367D4-E24B-43F7-BEE0-35B4DF83FCAA}"/>
              </a:ext>
            </a:extLst>
          </p:cNvPr>
          <p:cNvSpPr>
            <a:spLocks noGrp="1"/>
          </p:cNvSpPr>
          <p:nvPr/>
        </p:nvSpPr>
        <p:spPr>
          <a:xfrm>
            <a:off x="9753600" y="3333750"/>
            <a:ext cx="1543050" cy="9525"/>
          </a:xfrm>
          <a:prstGeom prst="rect">
            <a:avLst/>
          </a:prstGeom>
          <a:solidFill>
            <a:srgbClr val="B9BDB7"/>
          </a:solidFill>
          <a:ln w="9525">
            <a:solidFill>
              <a:srgbClr val="B9BDB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architecture-body-5">
            <a:extLst>
              <a:ext uri="{FF2B5EF4-FFF2-40B4-BE49-F238E27FC236}">
                <a16:creationId xmlns:a16="http://schemas.microsoft.com/office/drawing/2014/main" id="{3DBBB6B1-5388-4F6C-AD00-6B076F72F7B9}"/>
              </a:ext>
            </a:extLst>
          </p:cNvPr>
          <p:cNvSpPr>
            <a:spLocks noGrp="1"/>
          </p:cNvSpPr>
          <p:nvPr/>
        </p:nvSpPr>
        <p:spPr>
          <a:xfrm>
            <a:off x="97536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authorize → ticket</a:t>
            </a:r>
          </a:p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TTL／rollback／log</a:t>
            </a:r>
          </a:p>
        </p:txBody>
      </p:sp>
      <p:sp>
        <p:nvSpPr>
          <p:cNvPr id="36" name="architecture-evidence">
            <a:extLst>
              <a:ext uri="{FF2B5EF4-FFF2-40B4-BE49-F238E27FC236}">
                <a16:creationId xmlns:a16="http://schemas.microsoft.com/office/drawing/2014/main" id="{B314C20C-37A6-4C74-A8AB-47E07AB931B1}"/>
              </a:ext>
            </a:extLst>
          </p:cNvPr>
          <p:cNvSpPr>
            <a:spLocks noGrp="1"/>
          </p:cNvSpPr>
          <p:nvPr/>
        </p:nvSpPr>
        <p:spPr>
          <a:xfrm>
            <a:off x="552450" y="5486400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正式 graph 以 live snapshot 重新核對；final /cmd_vel 只允許 velocity guard 發布。</a:t>
            </a:r>
          </a:p>
        </p:txBody>
      </p:sp>
    </p:spTree>
    <p:extLst>
      <p:ext uri="{BB962C8B-B14F-4D97-AF65-F5344CB8AC3E}">
        <p14:creationId xmlns:p14="http://schemas.microsoft.com/office/powerpoint/2010/main" val="306298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hreat-left">
            <a:extLst>
              <a:ext uri="{FF2B5EF4-FFF2-40B4-BE49-F238E27FC236}">
                <a16:creationId xmlns:a16="http://schemas.microsoft.com/office/drawing/2014/main" id="{7EBB5E65-64EC-4D47-9BC8-868DB3B45E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10375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hreat-divider">
            <a:extLst>
              <a:ext uri="{FF2B5EF4-FFF2-40B4-BE49-F238E27FC236}">
                <a16:creationId xmlns:a16="http://schemas.microsoft.com/office/drawing/2014/main" id="{F9BABD9D-E753-4077-8548-94377483C820}"/>
              </a:ext>
            </a:extLst>
          </p:cNvPr>
          <p:cNvSpPr>
            <a:spLocks noGrp="1"/>
          </p:cNvSpPr>
          <p:nvPr/>
        </p:nvSpPr>
        <p:spPr>
          <a:xfrm>
            <a:off x="6810375" y="0"/>
            <a:ext cx="13335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hreat-title">
            <a:extLst>
              <a:ext uri="{FF2B5EF4-FFF2-40B4-BE49-F238E27FC236}">
                <a16:creationId xmlns:a16="http://schemas.microsoft.com/office/drawing/2014/main" id="{2060D033-4016-4B2C-8F68-E291D873D6D5}"/>
              </a:ext>
            </a:extLst>
          </p:cNvPr>
          <p:cNvSpPr>
            <a:spLocks noGrp="1"/>
          </p:cNvSpPr>
          <p:nvPr/>
        </p:nvSpPr>
        <p:spPr>
          <a:xfrm>
            <a:off x="590550" y="781050"/>
            <a:ext cx="5619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70"/>
          </a:bodyPr>
          <a:lstStyle/>
          <a:p>
            <a:pPr algn="l">
              <a:buNone/>
              <a:defRPr sz="29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約 30 種攻擊與變體，揭露身分、訊息與行為缺口</a:t>
            </a:r>
          </a:p>
        </p:txBody>
      </p:sp>
      <p:sp>
        <p:nvSpPr>
          <p:cNvPr id="5" name="threat-in-label">
            <a:extLst>
              <a:ext uri="{FF2B5EF4-FFF2-40B4-BE49-F238E27FC236}">
                <a16:creationId xmlns:a16="http://schemas.microsoft.com/office/drawing/2014/main" id="{31946D24-5524-42D9-8862-7AE8540D7161}"/>
              </a:ext>
            </a:extLst>
          </p:cNvPr>
          <p:cNvSpPr>
            <a:spLocks noGrp="1"/>
          </p:cNvSpPr>
          <p:nvPr/>
        </p:nvSpPr>
        <p:spPr>
          <a:xfrm>
            <a:off x="590550" y="23622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ATTACK FAMILIES</a:t>
            </a:r>
          </a:p>
        </p:txBody>
      </p:sp>
      <p:sp>
        <p:nvSpPr>
          <p:cNvPr id="6" name="threat-in-title">
            <a:extLst>
              <a:ext uri="{FF2B5EF4-FFF2-40B4-BE49-F238E27FC236}">
                <a16:creationId xmlns:a16="http://schemas.microsoft.com/office/drawing/2014/main" id="{88331D2A-9ADD-41B0-8CE5-D6A1E3213602}"/>
              </a:ext>
            </a:extLst>
          </p:cNvPr>
          <p:cNvSpPr>
            <a:spLocks noGrp="1"/>
          </p:cNvSpPr>
          <p:nvPr/>
        </p:nvSpPr>
        <p:spPr>
          <a:xfrm>
            <a:off x="590550" y="272415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曾納入設計與修補</a:t>
            </a:r>
          </a:p>
        </p:txBody>
      </p:sp>
      <p:sp>
        <p:nvSpPr>
          <p:cNvPr id="7" name="threat-in-body">
            <a:extLst>
              <a:ext uri="{FF2B5EF4-FFF2-40B4-BE49-F238E27FC236}">
                <a16:creationId xmlns:a16="http://schemas.microsoft.com/office/drawing/2014/main" id="{86C08828-8F56-44A2-94C4-26D99A060223}"/>
              </a:ext>
            </a:extLst>
          </p:cNvPr>
          <p:cNvSpPr>
            <a:spLocks noGrp="1"/>
          </p:cNvSpPr>
          <p:nvPr/>
        </p:nvSpPr>
        <p:spPr>
          <a:xfrm>
            <a:off x="590550" y="3333750"/>
            <a:ext cx="5143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未授權 participant／publisher 冒充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偽造、replay、cross-channel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cmd_vel／sensor／parameter 注入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偵察、來源偽造、SPDP 異常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模型／政策置換與 service abuse</a:t>
            </a:r>
          </a:p>
        </p:txBody>
      </p:sp>
      <p:sp>
        <p:nvSpPr>
          <p:cNvPr id="8" name="threat-out-label">
            <a:extLst>
              <a:ext uri="{FF2B5EF4-FFF2-40B4-BE49-F238E27FC236}">
                <a16:creationId xmlns:a16="http://schemas.microsoft.com/office/drawing/2014/main" id="{BFE987FB-26BA-47D1-A447-F95D686D3687}"/>
              </a:ext>
            </a:extLst>
          </p:cNvPr>
          <p:cNvSpPr>
            <a:spLocks noGrp="1"/>
          </p:cNvSpPr>
          <p:nvPr/>
        </p:nvSpPr>
        <p:spPr>
          <a:xfrm>
            <a:off x="7381875" y="7810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HONEST BOUNDARY</a:t>
            </a:r>
          </a:p>
        </p:txBody>
      </p:sp>
      <p:sp>
        <p:nvSpPr>
          <p:cNvPr id="9" name="threat-out-title">
            <a:extLst>
              <a:ext uri="{FF2B5EF4-FFF2-40B4-BE49-F238E27FC236}">
                <a16:creationId xmlns:a16="http://schemas.microsoft.com/office/drawing/2014/main" id="{9DD2171C-7309-42B2-B225-234CF86A2446}"/>
              </a:ext>
            </a:extLst>
          </p:cNvPr>
          <p:cNvSpPr>
            <a:spLocks noGrp="1"/>
          </p:cNvSpPr>
          <p:nvPr/>
        </p:nvSpPr>
        <p:spPr>
          <a:xfrm>
            <a:off x="7381875" y="1200150"/>
            <a:ext cx="3429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不能過度宣稱</a:t>
            </a:r>
          </a:p>
        </p:txBody>
      </p:sp>
      <p:sp>
        <p:nvSpPr>
          <p:cNvPr id="10" name="threat-out-body">
            <a:extLst>
              <a:ext uri="{FF2B5EF4-FFF2-40B4-BE49-F238E27FC236}">
                <a16:creationId xmlns:a16="http://schemas.microsoft.com/office/drawing/2014/main" id="{175E505F-4E37-4848-BE41-8E28BBF56E40}"/>
              </a:ext>
            </a:extLst>
          </p:cNvPr>
          <p:cNvSpPr>
            <a:spLocks noGrp="1"/>
          </p:cNvSpPr>
          <p:nvPr/>
        </p:nvSpPr>
        <p:spPr>
          <a:xfrm>
            <a:off x="7381875" y="1924050"/>
            <a:ext cx="4000500" cy="195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跨版本歷史案例 ≠ 現行版全重跑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Metasploit ≠ DDS/SROS2 模組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同機 ≠ 跨主機防火牆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PCAP 有封包 ≠ subscriber 未收到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功能存在 ≠ 已具部署資格</a:t>
            </a:r>
          </a:p>
        </p:txBody>
      </p:sp>
      <p:sp>
        <p:nvSpPr>
          <p:cNvPr id="11" name="threat-lab-band">
            <a:extLst>
              <a:ext uri="{FF2B5EF4-FFF2-40B4-BE49-F238E27FC236}">
                <a16:creationId xmlns:a16="http://schemas.microsoft.com/office/drawing/2014/main" id="{72D0A695-3720-45A4-A807-74DB0D008393}"/>
              </a:ext>
            </a:extLst>
          </p:cNvPr>
          <p:cNvSpPr>
            <a:spLocks noGrp="1"/>
          </p:cNvSpPr>
          <p:nvPr/>
        </p:nvSpPr>
        <p:spPr>
          <a:xfrm>
            <a:off x="7381875" y="4495800"/>
            <a:ext cx="4000500" cy="129540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hreat-lab-text">
            <a:extLst>
              <a:ext uri="{FF2B5EF4-FFF2-40B4-BE49-F238E27FC236}">
                <a16:creationId xmlns:a16="http://schemas.microsoft.com/office/drawing/2014/main" id="{AB4DD33C-1214-45E9-9715-90D07F2A72F4}"/>
              </a:ext>
            </a:extLst>
          </p:cNvPr>
          <p:cNvSpPr>
            <a:spLocks noGrp="1"/>
          </p:cNvSpPr>
          <p:nvPr/>
        </p:nvSpPr>
        <p:spPr>
          <a:xfrm>
            <a:off x="7667625" y="4705350"/>
            <a:ext cx="3429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每案保存</a:t>
            </a:r>
          </a:p>
          <a:p>
            <a:r>
              <a:t>scope · commands · logs · PCAP</a:t>
            </a:r>
            <a:endParaRPr sz="1350" b="1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  <a:p>
            <a:pPr algn="ctr">
              <a:buNone/>
              <a:def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SHA-256 · observations · rollback</a:t>
            </a:r>
          </a:p>
        </p:txBody>
      </p:sp>
      <p:sp>
        <p:nvSpPr>
          <p:cNvPr id="13" name="threat-page">
            <a:extLst>
              <a:ext uri="{FF2B5EF4-FFF2-40B4-BE49-F238E27FC236}">
                <a16:creationId xmlns:a16="http://schemas.microsoft.com/office/drawing/2014/main" id="{119AB2BE-2A15-42F2-B88E-1502DA8B07E1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7815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ail-5">
            <a:extLst>
              <a:ext uri="{FF2B5EF4-FFF2-40B4-BE49-F238E27FC236}">
                <a16:creationId xmlns:a16="http://schemas.microsoft.com/office/drawing/2014/main" id="{082A4696-33CB-4F87-8408-EB2139304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5">
            <a:extLst>
              <a:ext uri="{FF2B5EF4-FFF2-40B4-BE49-F238E27FC236}">
                <a16:creationId xmlns:a16="http://schemas.microsoft.com/office/drawing/2014/main" id="{95BFBDC1-BCFE-42C8-B055-0AAEC35FFF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五層防禦互補，AI 不是唯一防線</a:t>
            </a:r>
          </a:p>
        </p:txBody>
      </p:sp>
      <p:sp>
        <p:nvSpPr>
          <p:cNvPr id="5" name="page-5">
            <a:extLst>
              <a:ext uri="{FF2B5EF4-FFF2-40B4-BE49-F238E27FC236}">
                <a16:creationId xmlns:a16="http://schemas.microsoft.com/office/drawing/2014/main" id="{D99B0DEA-57BC-42B2-A904-B610B2491FD8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" name="layers-big">
            <a:extLst>
              <a:ext uri="{FF2B5EF4-FFF2-40B4-BE49-F238E27FC236}">
                <a16:creationId xmlns:a16="http://schemas.microsoft.com/office/drawing/2014/main" id="{DC8F0EC9-356F-4688-B5FA-C72DFAB0E5D5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2095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84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4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" name="layers-intro">
            <a:extLst>
              <a:ext uri="{FF2B5EF4-FFF2-40B4-BE49-F238E27FC236}">
                <a16:creationId xmlns:a16="http://schemas.microsoft.com/office/drawing/2014/main" id="{D3D6B639-F279-4CB2-93C9-C03202D00DCA}"/>
              </a:ext>
            </a:extLst>
          </p:cNvPr>
          <p:cNvSpPr>
            <a:spLocks noGrp="1"/>
          </p:cNvSpPr>
          <p:nvPr/>
        </p:nvSpPr>
        <p:spPr>
          <a:xfrm>
            <a:off x="628650" y="3190875"/>
            <a:ext cx="2238375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先減少可攻擊面，</a:t>
            </a:r>
          </a:p>
          <a:p>
            <a:pPr algn="l">
              <a:buNone/>
              <a:def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再辨識剩餘異常，</a:t>
            </a:r>
          </a:p>
          <a:p>
            <a:pPr algn="l">
              <a:buNone/>
              <a:def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最後限制處置權。</a:t>
            </a:r>
          </a:p>
        </p:txBody>
      </p:sp>
      <p:sp>
        <p:nvSpPr>
          <p:cNvPr id="8" name="layers-foot">
            <a:extLst>
              <a:ext uri="{FF2B5EF4-FFF2-40B4-BE49-F238E27FC236}">
                <a16:creationId xmlns:a16="http://schemas.microsoft.com/office/drawing/2014/main" id="{BD05A33B-820B-4380-978D-AF828177ECE3}"/>
              </a:ext>
            </a:extLst>
          </p:cNvPr>
          <p:cNvSpPr>
            <a:spLocks noGrp="1"/>
          </p:cNvSpPr>
          <p:nvPr/>
        </p:nvSpPr>
        <p:spPr>
          <a:xfrm>
            <a:off x="628650" y="49149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buNone/>
              <a:defRPr sz="9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PREVENT → VERIFY → DETECT → AUTHORIZE → RECOVER</a:t>
            </a:r>
          </a:p>
        </p:txBody>
      </p:sp>
      <p:sp>
        <p:nvSpPr>
          <p:cNvPr id="9" name="layer-color-1">
            <a:extLst>
              <a:ext uri="{FF2B5EF4-FFF2-40B4-BE49-F238E27FC236}">
                <a16:creationId xmlns:a16="http://schemas.microsoft.com/office/drawing/2014/main" id="{23994E31-063E-4ACB-85B2-1AF793783367}"/>
              </a:ext>
            </a:extLst>
          </p:cNvPr>
          <p:cNvSpPr>
            <a:spLocks noGrp="1"/>
          </p:cNvSpPr>
          <p:nvPr/>
        </p:nvSpPr>
        <p:spPr>
          <a:xfrm>
            <a:off x="3371850" y="1600200"/>
            <a:ext cx="114300" cy="5905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layer-number-1">
            <a:extLst>
              <a:ext uri="{FF2B5EF4-FFF2-40B4-BE49-F238E27FC236}">
                <a16:creationId xmlns:a16="http://schemas.microsoft.com/office/drawing/2014/main" id="{EA395769-4536-484C-AC98-9A0A4F27D0DA}"/>
              </a:ext>
            </a:extLst>
          </p:cNvPr>
          <p:cNvSpPr>
            <a:spLocks noGrp="1"/>
          </p:cNvSpPr>
          <p:nvPr/>
        </p:nvSpPr>
        <p:spPr>
          <a:xfrm>
            <a:off x="3667125" y="1638300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1" name="layer-title-1">
            <a:extLst>
              <a:ext uri="{FF2B5EF4-FFF2-40B4-BE49-F238E27FC236}">
                <a16:creationId xmlns:a16="http://schemas.microsoft.com/office/drawing/2014/main" id="{7FDDB04E-FFB0-472C-828D-D56D9276FEEB}"/>
              </a:ext>
            </a:extLst>
          </p:cNvPr>
          <p:cNvSpPr>
            <a:spLocks noGrp="1"/>
          </p:cNvSpPr>
          <p:nvPr/>
        </p:nvSpPr>
        <p:spPr>
          <a:xfrm>
            <a:off x="4333875" y="16383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SROS2 預防</a:t>
            </a:r>
          </a:p>
        </p:txBody>
      </p:sp>
      <p:sp>
        <p:nvSpPr>
          <p:cNvPr id="12" name="layer-body-1">
            <a:extLst>
              <a:ext uri="{FF2B5EF4-FFF2-40B4-BE49-F238E27FC236}">
                <a16:creationId xmlns:a16="http://schemas.microsoft.com/office/drawing/2014/main" id="{BEAFB584-BF14-45F7-867D-250A56B924BE}"/>
              </a:ext>
            </a:extLst>
          </p:cNvPr>
          <p:cNvSpPr>
            <a:spLocks noGrp="1"/>
          </p:cNvSpPr>
          <p:nvPr/>
        </p:nvSpPr>
        <p:spPr>
          <a:xfrm>
            <a:off x="6858000" y="1628775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雙 CA、逐 enclave 最小權限、DDS discovery／data 保護</a:t>
            </a:r>
          </a:p>
        </p:txBody>
      </p:sp>
      <p:sp>
        <p:nvSpPr>
          <p:cNvPr id="13" name="layer-rule-1">
            <a:extLst>
              <a:ext uri="{FF2B5EF4-FFF2-40B4-BE49-F238E27FC236}">
                <a16:creationId xmlns:a16="http://schemas.microsoft.com/office/drawing/2014/main" id="{D11DA018-3CCD-49E6-B76B-9B5D617E8004}"/>
              </a:ext>
            </a:extLst>
          </p:cNvPr>
          <p:cNvSpPr>
            <a:spLocks noGrp="1"/>
          </p:cNvSpPr>
          <p:nvPr/>
        </p:nvSpPr>
        <p:spPr>
          <a:xfrm>
            <a:off x="3371850" y="2314575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yer-color-2">
            <a:extLst>
              <a:ext uri="{FF2B5EF4-FFF2-40B4-BE49-F238E27FC236}">
                <a16:creationId xmlns:a16="http://schemas.microsoft.com/office/drawing/2014/main" id="{29A36B8F-8410-467E-8658-AB6B76C170EE}"/>
              </a:ext>
            </a:extLst>
          </p:cNvPr>
          <p:cNvSpPr>
            <a:spLocks noGrp="1"/>
          </p:cNvSpPr>
          <p:nvPr/>
        </p:nvSpPr>
        <p:spPr>
          <a:xfrm>
            <a:off x="3371850" y="2466975"/>
            <a:ext cx="114300" cy="59055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yer-number-2">
            <a:extLst>
              <a:ext uri="{FF2B5EF4-FFF2-40B4-BE49-F238E27FC236}">
                <a16:creationId xmlns:a16="http://schemas.microsoft.com/office/drawing/2014/main" id="{399AC7C3-49EE-4542-91A6-0B0DF86481F8}"/>
              </a:ext>
            </a:extLst>
          </p:cNvPr>
          <p:cNvSpPr>
            <a:spLocks noGrp="1"/>
          </p:cNvSpPr>
          <p:nvPr/>
        </p:nvSpPr>
        <p:spPr>
          <a:xfrm>
            <a:off x="3667125" y="2505075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6" name="layer-title-2">
            <a:extLst>
              <a:ext uri="{FF2B5EF4-FFF2-40B4-BE49-F238E27FC236}">
                <a16:creationId xmlns:a16="http://schemas.microsoft.com/office/drawing/2014/main" id="{51001922-274C-4F70-855F-9DB677C9BED0}"/>
              </a:ext>
            </a:extLst>
          </p:cNvPr>
          <p:cNvSpPr>
            <a:spLocks noGrp="1"/>
          </p:cNvSpPr>
          <p:nvPr/>
        </p:nvSpPr>
        <p:spPr>
          <a:xfrm>
            <a:off x="4333875" y="2505075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HMAC 完整性</a:t>
            </a:r>
          </a:p>
        </p:txBody>
      </p:sp>
      <p:sp>
        <p:nvSpPr>
          <p:cNvPr id="17" name="layer-body-2">
            <a:extLst>
              <a:ext uri="{FF2B5EF4-FFF2-40B4-BE49-F238E27FC236}">
                <a16:creationId xmlns:a16="http://schemas.microsoft.com/office/drawing/2014/main" id="{3289CEFA-F505-4B2A-8B3E-4DEB20A3E1D3}"/>
              </a:ext>
            </a:extLst>
          </p:cNvPr>
          <p:cNvSpPr>
            <a:spLocks noGrp="1"/>
          </p:cNvSpPr>
          <p:nvPr/>
        </p:nvSpPr>
        <p:spPr>
          <a:xfrm>
            <a:off x="6858000" y="2495550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channel、timestamp、nonce、payload 防偽造與重放</a:t>
            </a:r>
          </a:p>
        </p:txBody>
      </p:sp>
      <p:sp>
        <p:nvSpPr>
          <p:cNvPr id="18" name="layer-rule-2">
            <a:extLst>
              <a:ext uri="{FF2B5EF4-FFF2-40B4-BE49-F238E27FC236}">
                <a16:creationId xmlns:a16="http://schemas.microsoft.com/office/drawing/2014/main" id="{341F705A-E0FE-4C04-88C5-C20DAB48E284}"/>
              </a:ext>
            </a:extLst>
          </p:cNvPr>
          <p:cNvSpPr>
            <a:spLocks noGrp="1"/>
          </p:cNvSpPr>
          <p:nvPr/>
        </p:nvSpPr>
        <p:spPr>
          <a:xfrm>
            <a:off x="3371850" y="3181350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yer-color-3">
            <a:extLst>
              <a:ext uri="{FF2B5EF4-FFF2-40B4-BE49-F238E27FC236}">
                <a16:creationId xmlns:a16="http://schemas.microsoft.com/office/drawing/2014/main" id="{3C1A62AA-FF49-4826-96D9-91332C6C5ECD}"/>
              </a:ext>
            </a:extLst>
          </p:cNvPr>
          <p:cNvSpPr>
            <a:spLocks noGrp="1"/>
          </p:cNvSpPr>
          <p:nvPr/>
        </p:nvSpPr>
        <p:spPr>
          <a:xfrm>
            <a:off x="3371850" y="3333750"/>
            <a:ext cx="114300" cy="5905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yer-number-3">
            <a:extLst>
              <a:ext uri="{FF2B5EF4-FFF2-40B4-BE49-F238E27FC236}">
                <a16:creationId xmlns:a16="http://schemas.microsoft.com/office/drawing/2014/main" id="{A2DCAB5F-71D6-45DE-8264-9E1CF397FFF3}"/>
              </a:ext>
            </a:extLst>
          </p:cNvPr>
          <p:cNvSpPr>
            <a:spLocks noGrp="1"/>
          </p:cNvSpPr>
          <p:nvPr/>
        </p:nvSpPr>
        <p:spPr>
          <a:xfrm>
            <a:off x="3667125" y="3371850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1" name="layer-title-3">
            <a:extLst>
              <a:ext uri="{FF2B5EF4-FFF2-40B4-BE49-F238E27FC236}">
                <a16:creationId xmlns:a16="http://schemas.microsoft.com/office/drawing/2014/main" id="{E6B769F8-1EAF-4E5D-91B0-CD0739BFEE0B}"/>
              </a:ext>
            </a:extLst>
          </p:cNvPr>
          <p:cNvSpPr>
            <a:spLocks noGrp="1"/>
          </p:cNvSpPr>
          <p:nvPr/>
        </p:nvSpPr>
        <p:spPr>
          <a:xfrm>
            <a:off x="4333875" y="33718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D1–D6 行為</a:t>
            </a:r>
          </a:p>
        </p:txBody>
      </p:sp>
      <p:sp>
        <p:nvSpPr>
          <p:cNvPr id="22" name="layer-body-3">
            <a:extLst>
              <a:ext uri="{FF2B5EF4-FFF2-40B4-BE49-F238E27FC236}">
                <a16:creationId xmlns:a16="http://schemas.microsoft.com/office/drawing/2014/main" id="{7AC03C09-4223-474C-92E9-B7863686949F}"/>
              </a:ext>
            </a:extLst>
          </p:cNvPr>
          <p:cNvSpPr>
            <a:spLocks noGrp="1"/>
          </p:cNvSpPr>
          <p:nvPr/>
        </p:nvSpPr>
        <p:spPr>
          <a:xfrm>
            <a:off x="6858000" y="3362325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速度、方向、雷射、publisher、heartbeat、一致性</a:t>
            </a:r>
          </a:p>
        </p:txBody>
      </p:sp>
      <p:sp>
        <p:nvSpPr>
          <p:cNvPr id="23" name="layer-rule-3">
            <a:extLst>
              <a:ext uri="{FF2B5EF4-FFF2-40B4-BE49-F238E27FC236}">
                <a16:creationId xmlns:a16="http://schemas.microsoft.com/office/drawing/2014/main" id="{2E6EF79F-BDE2-4BF0-84DF-3E82C71EAE0B}"/>
              </a:ext>
            </a:extLst>
          </p:cNvPr>
          <p:cNvSpPr>
            <a:spLocks noGrp="1"/>
          </p:cNvSpPr>
          <p:nvPr/>
        </p:nvSpPr>
        <p:spPr>
          <a:xfrm>
            <a:off x="3371850" y="4048125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yer-color-4">
            <a:extLst>
              <a:ext uri="{FF2B5EF4-FFF2-40B4-BE49-F238E27FC236}">
                <a16:creationId xmlns:a16="http://schemas.microsoft.com/office/drawing/2014/main" id="{832F1665-CFDB-46B4-9425-E2E02B7C9A3E}"/>
              </a:ext>
            </a:extLst>
          </p:cNvPr>
          <p:cNvSpPr>
            <a:spLocks noGrp="1"/>
          </p:cNvSpPr>
          <p:nvPr/>
        </p:nvSpPr>
        <p:spPr>
          <a:xfrm>
            <a:off x="3371850" y="4200525"/>
            <a:ext cx="114300" cy="590550"/>
          </a:xfrm>
          <a:prstGeom prst="rect">
            <a:avLst/>
          </a:prstGeom>
          <a:solidFill>
            <a:srgbClr val="99988D"/>
          </a:solidFill>
          <a:ln w="9525">
            <a:solidFill>
              <a:srgbClr val="9998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yer-number-4">
            <a:extLst>
              <a:ext uri="{FF2B5EF4-FFF2-40B4-BE49-F238E27FC236}">
                <a16:creationId xmlns:a16="http://schemas.microsoft.com/office/drawing/2014/main" id="{AAF0709C-AD51-49A2-B219-5BC61651CC5C}"/>
              </a:ext>
            </a:extLst>
          </p:cNvPr>
          <p:cNvSpPr>
            <a:spLocks noGrp="1"/>
          </p:cNvSpPr>
          <p:nvPr/>
        </p:nvSpPr>
        <p:spPr>
          <a:xfrm>
            <a:off x="3667125" y="4238625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99988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99988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6" name="layer-title-4">
            <a:extLst>
              <a:ext uri="{FF2B5EF4-FFF2-40B4-BE49-F238E27FC236}">
                <a16:creationId xmlns:a16="http://schemas.microsoft.com/office/drawing/2014/main" id="{A6B4F274-77B8-4F5E-BFDA-7097823FCC94}"/>
              </a:ext>
            </a:extLst>
          </p:cNvPr>
          <p:cNvSpPr>
            <a:spLocks noGrp="1"/>
          </p:cNvSpPr>
          <p:nvPr/>
        </p:nvSpPr>
        <p:spPr>
          <a:xfrm>
            <a:off x="4333875" y="4238625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Zeek＋分層 AI</a:t>
            </a:r>
          </a:p>
        </p:txBody>
      </p:sp>
      <p:sp>
        <p:nvSpPr>
          <p:cNvPr id="27" name="layer-body-4">
            <a:extLst>
              <a:ext uri="{FF2B5EF4-FFF2-40B4-BE49-F238E27FC236}">
                <a16:creationId xmlns:a16="http://schemas.microsoft.com/office/drawing/2014/main" id="{F53856B7-2FFE-401F-B05A-7F0D31D5EBE5}"/>
              </a:ext>
            </a:extLst>
          </p:cNvPr>
          <p:cNvSpPr>
            <a:spLocks noGrp="1"/>
          </p:cNvSpPr>
          <p:nvPr/>
        </p:nvSpPr>
        <p:spPr>
          <a:xfrm>
            <a:off x="6858000" y="4229100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網路與 telemetry 時序融合；未知／低信心降級 alert</a:t>
            </a:r>
          </a:p>
        </p:txBody>
      </p:sp>
      <p:sp>
        <p:nvSpPr>
          <p:cNvPr id="28" name="layer-rule-4">
            <a:extLst>
              <a:ext uri="{FF2B5EF4-FFF2-40B4-BE49-F238E27FC236}">
                <a16:creationId xmlns:a16="http://schemas.microsoft.com/office/drawing/2014/main" id="{BDCE574A-ADE7-467A-95FD-17012828B9FD}"/>
              </a:ext>
            </a:extLst>
          </p:cNvPr>
          <p:cNvSpPr>
            <a:spLocks noGrp="1"/>
          </p:cNvSpPr>
          <p:nvPr/>
        </p:nvSpPr>
        <p:spPr>
          <a:xfrm>
            <a:off x="3371850" y="4914900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layer-color-5">
            <a:extLst>
              <a:ext uri="{FF2B5EF4-FFF2-40B4-BE49-F238E27FC236}">
                <a16:creationId xmlns:a16="http://schemas.microsoft.com/office/drawing/2014/main" id="{ACB8D6D5-7D67-4860-A556-717BF7C092D6}"/>
              </a:ext>
            </a:extLst>
          </p:cNvPr>
          <p:cNvSpPr>
            <a:spLocks noGrp="1"/>
          </p:cNvSpPr>
          <p:nvPr/>
        </p:nvSpPr>
        <p:spPr>
          <a:xfrm>
            <a:off x="3371850" y="5067300"/>
            <a:ext cx="114300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layer-number-5">
            <a:extLst>
              <a:ext uri="{FF2B5EF4-FFF2-40B4-BE49-F238E27FC236}">
                <a16:creationId xmlns:a16="http://schemas.microsoft.com/office/drawing/2014/main" id="{E5F0E37C-9C0D-4941-B96F-3C90660322CC}"/>
              </a:ext>
            </a:extLst>
          </p:cNvPr>
          <p:cNvSpPr>
            <a:spLocks noGrp="1"/>
          </p:cNvSpPr>
          <p:nvPr/>
        </p:nvSpPr>
        <p:spPr>
          <a:xfrm>
            <a:off x="3667125" y="5105400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1" name="layer-title-5">
            <a:extLst>
              <a:ext uri="{FF2B5EF4-FFF2-40B4-BE49-F238E27FC236}">
                <a16:creationId xmlns:a16="http://schemas.microsoft.com/office/drawing/2014/main" id="{507B168A-D95C-4051-A947-A423BC61278F}"/>
              </a:ext>
            </a:extLst>
          </p:cNvPr>
          <p:cNvSpPr>
            <a:spLocks noGrp="1"/>
          </p:cNvSpPr>
          <p:nvPr/>
        </p:nvSpPr>
        <p:spPr>
          <a:xfrm>
            <a:off x="4333875" y="51054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安全回應</a:t>
            </a:r>
          </a:p>
        </p:txBody>
      </p:sp>
      <p:sp>
        <p:nvSpPr>
          <p:cNvPr id="32" name="layer-body-5">
            <a:extLst>
              <a:ext uri="{FF2B5EF4-FFF2-40B4-BE49-F238E27FC236}">
                <a16:creationId xmlns:a16="http://schemas.microsoft.com/office/drawing/2014/main" id="{DB60EB9E-A355-4AA1-B166-0AD10EF5F899}"/>
              </a:ext>
            </a:extLst>
          </p:cNvPr>
          <p:cNvSpPr>
            <a:spLocks noGrp="1"/>
          </p:cNvSpPr>
          <p:nvPr/>
        </p:nvSpPr>
        <p:spPr>
          <a:xfrm>
            <a:off x="6858000" y="5095875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來源驗證、票證、TTL、cooldown、白名單與復原</a:t>
            </a:r>
          </a:p>
        </p:txBody>
      </p:sp>
      <p:sp>
        <p:nvSpPr>
          <p:cNvPr id="33" name="layer-rule-5">
            <a:extLst>
              <a:ext uri="{FF2B5EF4-FFF2-40B4-BE49-F238E27FC236}">
                <a16:creationId xmlns:a16="http://schemas.microsoft.com/office/drawing/2014/main" id="{416FB286-6B7F-4B31-942B-09093FFC1C34}"/>
              </a:ext>
            </a:extLst>
          </p:cNvPr>
          <p:cNvSpPr>
            <a:spLocks noGrp="1"/>
          </p:cNvSpPr>
          <p:nvPr/>
        </p:nvSpPr>
        <p:spPr>
          <a:xfrm>
            <a:off x="3371850" y="5781675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59774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ail-5">
            <a:extLst>
              <a:ext uri="{FF2B5EF4-FFF2-40B4-BE49-F238E27FC236}">
                <a16:creationId xmlns:a16="http://schemas.microsoft.com/office/drawing/2014/main" id="{082A4696-33CB-4F87-8408-EB2139304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5">
            <a:extLst>
              <a:ext uri="{FF2B5EF4-FFF2-40B4-BE49-F238E27FC236}">
                <a16:creationId xmlns:a16="http://schemas.microsoft.com/office/drawing/2014/main" id="{95BFBDC1-BCFE-42C8-B055-0AAEC35FFF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SROS2 Enforce 是主要預防層，而不是 AI 的替代品</a:t>
            </a:r>
          </a:p>
        </p:txBody>
      </p:sp>
      <p:sp>
        <p:nvSpPr>
          <p:cNvPr id="5" name="page-5">
            <a:extLst>
              <a:ext uri="{FF2B5EF4-FFF2-40B4-BE49-F238E27FC236}">
                <a16:creationId xmlns:a16="http://schemas.microsoft.com/office/drawing/2014/main" id="{D99B0DEA-57BC-42B2-A904-B610B2491FD8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" name="layers-big">
            <a:extLst>
              <a:ext uri="{FF2B5EF4-FFF2-40B4-BE49-F238E27FC236}">
                <a16:creationId xmlns:a16="http://schemas.microsoft.com/office/drawing/2014/main" id="{DC8F0EC9-356F-4688-B5FA-C72DFAB0E5D5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2095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84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4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" name="layers-intro">
            <a:extLst>
              <a:ext uri="{FF2B5EF4-FFF2-40B4-BE49-F238E27FC236}">
                <a16:creationId xmlns:a16="http://schemas.microsoft.com/office/drawing/2014/main" id="{D3D6B639-F279-4CB2-93C9-C03202D00DCA}"/>
              </a:ext>
            </a:extLst>
          </p:cNvPr>
          <p:cNvSpPr>
            <a:spLocks noGrp="1"/>
          </p:cNvSpPr>
          <p:nvPr/>
        </p:nvSpPr>
        <p:spPr>
          <a:xfrm>
            <a:off x="628650" y="3190875"/>
            <a:ext cx="2238375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先拒絕未授權 DDS 身分，</a:t>
            </a:r>
          </a:p>
          <a:p>
            <a:pPr algn="l">
              <a:buNone/>
              <a:def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再分析已通過邊界的異常。</a:t>
            </a:r>
          </a:p>
        </p:txBody>
      </p:sp>
      <p:sp>
        <p:nvSpPr>
          <p:cNvPr id="8" name="layers-foot">
            <a:extLst>
              <a:ext uri="{FF2B5EF4-FFF2-40B4-BE49-F238E27FC236}">
                <a16:creationId xmlns:a16="http://schemas.microsoft.com/office/drawing/2014/main" id="{BD05A33B-820B-4380-978D-AF828177ECE3}"/>
              </a:ext>
            </a:extLst>
          </p:cNvPr>
          <p:cNvSpPr>
            <a:spLocks noGrp="1"/>
          </p:cNvSpPr>
          <p:nvPr/>
        </p:nvSpPr>
        <p:spPr>
          <a:xfrm>
            <a:off x="628650" y="49149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buNone/>
              <a:defRPr sz="9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IDENTITY → ACCESS → CRYPTO → AUDIT → DIRECT PROOF</a:t>
            </a:r>
          </a:p>
        </p:txBody>
      </p:sp>
      <p:sp>
        <p:nvSpPr>
          <p:cNvPr id="9" name="layer-color-1">
            <a:extLst>
              <a:ext uri="{FF2B5EF4-FFF2-40B4-BE49-F238E27FC236}">
                <a16:creationId xmlns:a16="http://schemas.microsoft.com/office/drawing/2014/main" id="{23994E31-063E-4ACB-85B2-1AF793783367}"/>
              </a:ext>
            </a:extLst>
          </p:cNvPr>
          <p:cNvSpPr>
            <a:spLocks noGrp="1"/>
          </p:cNvSpPr>
          <p:nvPr/>
        </p:nvSpPr>
        <p:spPr>
          <a:xfrm>
            <a:off x="3371850" y="1600200"/>
            <a:ext cx="114300" cy="5905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layer-number-1">
            <a:extLst>
              <a:ext uri="{FF2B5EF4-FFF2-40B4-BE49-F238E27FC236}">
                <a16:creationId xmlns:a16="http://schemas.microsoft.com/office/drawing/2014/main" id="{EA395769-4536-484C-AC98-9A0A4F27D0DA}"/>
              </a:ext>
            </a:extLst>
          </p:cNvPr>
          <p:cNvSpPr>
            <a:spLocks noGrp="1"/>
          </p:cNvSpPr>
          <p:nvPr/>
        </p:nvSpPr>
        <p:spPr>
          <a:xfrm>
            <a:off x="3667125" y="1638300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1" name="layer-title-1">
            <a:extLst>
              <a:ext uri="{FF2B5EF4-FFF2-40B4-BE49-F238E27FC236}">
                <a16:creationId xmlns:a16="http://schemas.microsoft.com/office/drawing/2014/main" id="{7FDDB04E-FFB0-472C-828D-D56D9276FEEB}"/>
              </a:ext>
            </a:extLst>
          </p:cNvPr>
          <p:cNvSpPr>
            <a:spLocks noGrp="1"/>
          </p:cNvSpPr>
          <p:nvPr/>
        </p:nvSpPr>
        <p:spPr>
          <a:xfrm>
            <a:off x="4333875" y="16383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Identity CA</a:t>
            </a:r>
          </a:p>
        </p:txBody>
      </p:sp>
      <p:sp>
        <p:nvSpPr>
          <p:cNvPr id="12" name="layer-body-1">
            <a:extLst>
              <a:ext uri="{FF2B5EF4-FFF2-40B4-BE49-F238E27FC236}">
                <a16:creationId xmlns:a16="http://schemas.microsoft.com/office/drawing/2014/main" id="{BEAFB584-BF14-45F7-867D-250A56B924BE}"/>
              </a:ext>
            </a:extLst>
          </p:cNvPr>
          <p:cNvSpPr>
            <a:spLocks noGrp="1"/>
          </p:cNvSpPr>
          <p:nvPr/>
        </p:nvSpPr>
        <p:spPr>
          <a:xfrm>
            <a:off x="6858000" y="1628775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節點憑證、受信任身分與 enclave 綁定</a:t>
            </a:r>
          </a:p>
        </p:txBody>
      </p:sp>
      <p:sp>
        <p:nvSpPr>
          <p:cNvPr id="13" name="layer-rule-1">
            <a:extLst>
              <a:ext uri="{FF2B5EF4-FFF2-40B4-BE49-F238E27FC236}">
                <a16:creationId xmlns:a16="http://schemas.microsoft.com/office/drawing/2014/main" id="{D11DA018-3CCD-49E6-B76B-9B5D617E8004}"/>
              </a:ext>
            </a:extLst>
          </p:cNvPr>
          <p:cNvSpPr>
            <a:spLocks noGrp="1"/>
          </p:cNvSpPr>
          <p:nvPr/>
        </p:nvSpPr>
        <p:spPr>
          <a:xfrm>
            <a:off x="3371850" y="2314575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yer-color-2">
            <a:extLst>
              <a:ext uri="{FF2B5EF4-FFF2-40B4-BE49-F238E27FC236}">
                <a16:creationId xmlns:a16="http://schemas.microsoft.com/office/drawing/2014/main" id="{29A36B8F-8410-467E-8658-AB6B76C170EE}"/>
              </a:ext>
            </a:extLst>
          </p:cNvPr>
          <p:cNvSpPr>
            <a:spLocks noGrp="1"/>
          </p:cNvSpPr>
          <p:nvPr/>
        </p:nvSpPr>
        <p:spPr>
          <a:xfrm>
            <a:off x="3371850" y="2466975"/>
            <a:ext cx="114300" cy="59055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yer-number-2">
            <a:extLst>
              <a:ext uri="{FF2B5EF4-FFF2-40B4-BE49-F238E27FC236}">
                <a16:creationId xmlns:a16="http://schemas.microsoft.com/office/drawing/2014/main" id="{399AC7C3-49EE-4542-91A6-0B0DF86481F8}"/>
              </a:ext>
            </a:extLst>
          </p:cNvPr>
          <p:cNvSpPr>
            <a:spLocks noGrp="1"/>
          </p:cNvSpPr>
          <p:nvPr/>
        </p:nvSpPr>
        <p:spPr>
          <a:xfrm>
            <a:off x="3667125" y="2505075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6" name="layer-title-2">
            <a:extLst>
              <a:ext uri="{FF2B5EF4-FFF2-40B4-BE49-F238E27FC236}">
                <a16:creationId xmlns:a16="http://schemas.microsoft.com/office/drawing/2014/main" id="{51001922-274C-4F70-855F-9DB677C9BED0}"/>
              </a:ext>
            </a:extLst>
          </p:cNvPr>
          <p:cNvSpPr>
            <a:spLocks noGrp="1"/>
          </p:cNvSpPr>
          <p:nvPr/>
        </p:nvSpPr>
        <p:spPr>
          <a:xfrm>
            <a:off x="4333875" y="2505075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Permissions CA</a:t>
            </a:r>
          </a:p>
        </p:txBody>
      </p:sp>
      <p:sp>
        <p:nvSpPr>
          <p:cNvPr id="17" name="layer-body-2">
            <a:extLst>
              <a:ext uri="{FF2B5EF4-FFF2-40B4-BE49-F238E27FC236}">
                <a16:creationId xmlns:a16="http://schemas.microsoft.com/office/drawing/2014/main" id="{3289CEFA-F505-4B2A-8B3E-4DEB20A3E1D3}"/>
              </a:ext>
            </a:extLst>
          </p:cNvPr>
          <p:cNvSpPr>
            <a:spLocks noGrp="1"/>
          </p:cNvSpPr>
          <p:nvPr/>
        </p:nvSpPr>
        <p:spPr>
          <a:xfrm>
            <a:off x="6858000" y="2495550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domain 30、topic publish／subscribe 最小權限</a:t>
            </a:r>
          </a:p>
        </p:txBody>
      </p:sp>
      <p:sp>
        <p:nvSpPr>
          <p:cNvPr id="18" name="layer-rule-2">
            <a:extLst>
              <a:ext uri="{FF2B5EF4-FFF2-40B4-BE49-F238E27FC236}">
                <a16:creationId xmlns:a16="http://schemas.microsoft.com/office/drawing/2014/main" id="{341F705A-E0FE-4C04-88C5-C20DAB48E284}"/>
              </a:ext>
            </a:extLst>
          </p:cNvPr>
          <p:cNvSpPr>
            <a:spLocks noGrp="1"/>
          </p:cNvSpPr>
          <p:nvPr/>
        </p:nvSpPr>
        <p:spPr>
          <a:xfrm>
            <a:off x="3371850" y="3181350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yer-color-3">
            <a:extLst>
              <a:ext uri="{FF2B5EF4-FFF2-40B4-BE49-F238E27FC236}">
                <a16:creationId xmlns:a16="http://schemas.microsoft.com/office/drawing/2014/main" id="{3C1A62AA-FF49-4826-96D9-91332C6C5ECD}"/>
              </a:ext>
            </a:extLst>
          </p:cNvPr>
          <p:cNvSpPr>
            <a:spLocks noGrp="1"/>
          </p:cNvSpPr>
          <p:nvPr/>
        </p:nvSpPr>
        <p:spPr>
          <a:xfrm>
            <a:off x="3371850" y="3333750"/>
            <a:ext cx="114300" cy="5905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yer-number-3">
            <a:extLst>
              <a:ext uri="{FF2B5EF4-FFF2-40B4-BE49-F238E27FC236}">
                <a16:creationId xmlns:a16="http://schemas.microsoft.com/office/drawing/2014/main" id="{A2DCAB5F-71D6-45DE-8264-9E1CF397FFF3}"/>
              </a:ext>
            </a:extLst>
          </p:cNvPr>
          <p:cNvSpPr>
            <a:spLocks noGrp="1"/>
          </p:cNvSpPr>
          <p:nvPr/>
        </p:nvSpPr>
        <p:spPr>
          <a:xfrm>
            <a:off x="3667125" y="3371850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1" name="layer-title-3">
            <a:extLst>
              <a:ext uri="{FF2B5EF4-FFF2-40B4-BE49-F238E27FC236}">
                <a16:creationId xmlns:a16="http://schemas.microsoft.com/office/drawing/2014/main" id="{E6B769F8-1EAF-4E5D-91B0-CD0739BFEE0B}"/>
              </a:ext>
            </a:extLst>
          </p:cNvPr>
          <p:cNvSpPr>
            <a:spLocks noGrp="1"/>
          </p:cNvSpPr>
          <p:nvPr/>
        </p:nvSpPr>
        <p:spPr>
          <a:xfrm>
            <a:off x="4333875" y="33718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零 wildcard 政策</a:t>
            </a:r>
          </a:p>
        </p:txBody>
      </p:sp>
      <p:sp>
        <p:nvSpPr>
          <p:cNvPr id="22" name="layer-body-3">
            <a:extLst>
              <a:ext uri="{FF2B5EF4-FFF2-40B4-BE49-F238E27FC236}">
                <a16:creationId xmlns:a16="http://schemas.microsoft.com/office/drawing/2014/main" id="{7AC03C09-4223-474C-92E9-B7863686949F}"/>
              </a:ext>
            </a:extLst>
          </p:cNvPr>
          <p:cNvSpPr>
            <a:spLocks noGrp="1"/>
          </p:cNvSpPr>
          <p:nvPr/>
        </p:nvSpPr>
        <p:spPr>
          <a:xfrm>
            <a:off x="6858000" y="3362325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逐節點允許清單；final cmd_vel 僅 guard</a:t>
            </a:r>
          </a:p>
        </p:txBody>
      </p:sp>
      <p:sp>
        <p:nvSpPr>
          <p:cNvPr id="23" name="layer-rule-3">
            <a:extLst>
              <a:ext uri="{FF2B5EF4-FFF2-40B4-BE49-F238E27FC236}">
                <a16:creationId xmlns:a16="http://schemas.microsoft.com/office/drawing/2014/main" id="{2E6EF79F-BDE2-4BF0-84DF-3E82C71EAE0B}"/>
              </a:ext>
            </a:extLst>
          </p:cNvPr>
          <p:cNvSpPr>
            <a:spLocks noGrp="1"/>
          </p:cNvSpPr>
          <p:nvPr/>
        </p:nvSpPr>
        <p:spPr>
          <a:xfrm>
            <a:off x="3371850" y="4048125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yer-color-4">
            <a:extLst>
              <a:ext uri="{FF2B5EF4-FFF2-40B4-BE49-F238E27FC236}">
                <a16:creationId xmlns:a16="http://schemas.microsoft.com/office/drawing/2014/main" id="{832F1665-CFDB-46B4-9425-E2E02B7C9A3E}"/>
              </a:ext>
            </a:extLst>
          </p:cNvPr>
          <p:cNvSpPr>
            <a:spLocks noGrp="1"/>
          </p:cNvSpPr>
          <p:nvPr/>
        </p:nvSpPr>
        <p:spPr>
          <a:xfrm>
            <a:off x="3371850" y="4200525"/>
            <a:ext cx="114300" cy="590550"/>
          </a:xfrm>
          <a:prstGeom prst="rect">
            <a:avLst/>
          </a:prstGeom>
          <a:solidFill>
            <a:srgbClr val="99988D"/>
          </a:solidFill>
          <a:ln w="9525">
            <a:solidFill>
              <a:srgbClr val="9998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yer-number-4">
            <a:extLst>
              <a:ext uri="{FF2B5EF4-FFF2-40B4-BE49-F238E27FC236}">
                <a16:creationId xmlns:a16="http://schemas.microsoft.com/office/drawing/2014/main" id="{AAF0709C-AD51-49A2-B219-5BC61651CC5C}"/>
              </a:ext>
            </a:extLst>
          </p:cNvPr>
          <p:cNvSpPr>
            <a:spLocks noGrp="1"/>
          </p:cNvSpPr>
          <p:nvPr/>
        </p:nvSpPr>
        <p:spPr>
          <a:xfrm>
            <a:off x="3667125" y="4238625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99988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99988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6" name="layer-title-4">
            <a:extLst>
              <a:ext uri="{FF2B5EF4-FFF2-40B4-BE49-F238E27FC236}">
                <a16:creationId xmlns:a16="http://schemas.microsoft.com/office/drawing/2014/main" id="{A6B4F274-77B8-4F5E-BFDA-7097823FCC94}"/>
              </a:ext>
            </a:extLst>
          </p:cNvPr>
          <p:cNvSpPr>
            <a:spLocks noGrp="1"/>
          </p:cNvSpPr>
          <p:nvPr/>
        </p:nvSpPr>
        <p:spPr>
          <a:xfrm>
            <a:off x="4333875" y="4238625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DDS 加密保護</a:t>
            </a:r>
          </a:p>
        </p:txBody>
      </p:sp>
      <p:sp>
        <p:nvSpPr>
          <p:cNvPr id="27" name="layer-body-4">
            <a:extLst>
              <a:ext uri="{FF2B5EF4-FFF2-40B4-BE49-F238E27FC236}">
                <a16:creationId xmlns:a16="http://schemas.microsoft.com/office/drawing/2014/main" id="{F53856B7-2FFE-401F-B05A-7F0D31D5EBE5}"/>
              </a:ext>
            </a:extLst>
          </p:cNvPr>
          <p:cNvSpPr>
            <a:spLocks noGrp="1"/>
          </p:cNvSpPr>
          <p:nvPr/>
        </p:nvSpPr>
        <p:spPr>
          <a:xfrm>
            <a:off x="6858000" y="4229100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discovery 與 data 保護；ready 報告 5/5 required checks</a:t>
            </a:r>
          </a:p>
        </p:txBody>
      </p:sp>
      <p:sp>
        <p:nvSpPr>
          <p:cNvPr id="28" name="layer-rule-4">
            <a:extLst>
              <a:ext uri="{FF2B5EF4-FFF2-40B4-BE49-F238E27FC236}">
                <a16:creationId xmlns:a16="http://schemas.microsoft.com/office/drawing/2014/main" id="{BDCE574A-ADE7-467A-95FD-17012828B9FD}"/>
              </a:ext>
            </a:extLst>
          </p:cNvPr>
          <p:cNvSpPr>
            <a:spLocks noGrp="1"/>
          </p:cNvSpPr>
          <p:nvPr/>
        </p:nvSpPr>
        <p:spPr>
          <a:xfrm>
            <a:off x="3371850" y="4914900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layer-color-5">
            <a:extLst>
              <a:ext uri="{FF2B5EF4-FFF2-40B4-BE49-F238E27FC236}">
                <a16:creationId xmlns:a16="http://schemas.microsoft.com/office/drawing/2014/main" id="{ACB8D6D5-7D67-4860-A556-717BF7C092D6}"/>
              </a:ext>
            </a:extLst>
          </p:cNvPr>
          <p:cNvSpPr>
            <a:spLocks noGrp="1"/>
          </p:cNvSpPr>
          <p:nvPr/>
        </p:nvSpPr>
        <p:spPr>
          <a:xfrm>
            <a:off x="3371850" y="5067300"/>
            <a:ext cx="114300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layer-number-5">
            <a:extLst>
              <a:ext uri="{FF2B5EF4-FFF2-40B4-BE49-F238E27FC236}">
                <a16:creationId xmlns:a16="http://schemas.microsoft.com/office/drawing/2014/main" id="{E5F0E37C-9C0D-4941-B96F-3C90660322CC}"/>
              </a:ext>
            </a:extLst>
          </p:cNvPr>
          <p:cNvSpPr>
            <a:spLocks noGrp="1"/>
          </p:cNvSpPr>
          <p:nvPr/>
        </p:nvSpPr>
        <p:spPr>
          <a:xfrm>
            <a:off x="3667125" y="5105400"/>
            <a:ext cx="523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1" name="layer-title-5">
            <a:extLst>
              <a:ext uri="{FF2B5EF4-FFF2-40B4-BE49-F238E27FC236}">
                <a16:creationId xmlns:a16="http://schemas.microsoft.com/office/drawing/2014/main" id="{507B168A-D95C-4051-A947-A423BC61278F}"/>
              </a:ext>
            </a:extLst>
          </p:cNvPr>
          <p:cNvSpPr>
            <a:spLocks noGrp="1"/>
          </p:cNvSpPr>
          <p:nvPr/>
        </p:nvSpPr>
        <p:spPr>
          <a:xfrm>
            <a:off x="4333875" y="51054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Direct-delivery 驗證</a:t>
            </a:r>
          </a:p>
        </p:txBody>
      </p:sp>
      <p:sp>
        <p:nvSpPr>
          <p:cNvPr id="32" name="layer-body-5">
            <a:extLst>
              <a:ext uri="{FF2B5EF4-FFF2-40B4-BE49-F238E27FC236}">
                <a16:creationId xmlns:a16="http://schemas.microsoft.com/office/drawing/2014/main" id="{DB60EB9E-A355-4AA1-B166-0AD10EF5F899}"/>
              </a:ext>
            </a:extLst>
          </p:cNvPr>
          <p:cNvSpPr>
            <a:spLocks noGrp="1"/>
          </p:cNvSpPr>
          <p:nvPr/>
        </p:nvSpPr>
        <p:spPr>
          <a:xfrm>
            <a:off x="6858000" y="5095875"/>
            <a:ext cx="4524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attempt／receipt／health；live archive 尚待授權收集</a:t>
            </a:r>
          </a:p>
        </p:txBody>
      </p:sp>
      <p:sp>
        <p:nvSpPr>
          <p:cNvPr id="33" name="layer-rule-5">
            <a:extLst>
              <a:ext uri="{FF2B5EF4-FFF2-40B4-BE49-F238E27FC236}">
                <a16:creationId xmlns:a16="http://schemas.microsoft.com/office/drawing/2014/main" id="{416FB286-6B7F-4B31-942B-09093FFC1C34}"/>
              </a:ext>
            </a:extLst>
          </p:cNvPr>
          <p:cNvSpPr>
            <a:spLocks noGrp="1"/>
          </p:cNvSpPr>
          <p:nvPr/>
        </p:nvSpPr>
        <p:spPr>
          <a:xfrm>
            <a:off x="3371850" y="5781675"/>
            <a:ext cx="80010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59774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ail-3">
            <a:extLst>
              <a:ext uri="{FF2B5EF4-FFF2-40B4-BE49-F238E27FC236}">
                <a16:creationId xmlns:a16="http://schemas.microsoft.com/office/drawing/2014/main" id="{61219FF8-5F24-4FFD-A40E-D3358F1908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3">
            <a:extLst>
              <a:ext uri="{FF2B5EF4-FFF2-40B4-BE49-F238E27FC236}">
                <a16:creationId xmlns:a16="http://schemas.microsoft.com/office/drawing/2014/main" id="{8588356C-D8D0-4162-B3AF-F27C6A24CF6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HMAC envelope v3 為六個 String topic 綁定正確脈絡</a:t>
            </a:r>
          </a:p>
        </p:txBody>
      </p:sp>
      <p:sp>
        <p:nvSpPr>
          <p:cNvPr id="5" name="page-3">
            <a:extLst>
              <a:ext uri="{FF2B5EF4-FFF2-40B4-BE49-F238E27FC236}">
                <a16:creationId xmlns:a16="http://schemas.microsoft.com/office/drawing/2014/main" id="{B88619A1-1E9F-45EF-A87C-8BE988164D27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6" name="rq-number-1">
            <a:extLst>
              <a:ext uri="{FF2B5EF4-FFF2-40B4-BE49-F238E27FC236}">
                <a16:creationId xmlns:a16="http://schemas.microsoft.com/office/drawing/2014/main" id="{CE2060FD-3B38-4ED9-8BF1-F6B917E122BA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7" name="rq-title-1">
            <a:extLst>
              <a:ext uri="{FF2B5EF4-FFF2-40B4-BE49-F238E27FC236}">
                <a16:creationId xmlns:a16="http://schemas.microsoft.com/office/drawing/2014/main" id="{1E94AD40-7099-46A8-8E82-AA806054ABFF}"/>
              </a:ext>
            </a:extLst>
          </p:cNvPr>
          <p:cNvSpPr>
            <a:spLocks noGrp="1"/>
          </p:cNvSpPr>
          <p:nvPr/>
        </p:nvSpPr>
        <p:spPr>
          <a:xfrm>
            <a:off x="1714500" y="160972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綁定頻道</a:t>
            </a:r>
          </a:p>
        </p:txBody>
      </p:sp>
      <p:sp>
        <p:nvSpPr>
          <p:cNvPr id="8" name="rq-body-1">
            <a:extLst>
              <a:ext uri="{FF2B5EF4-FFF2-40B4-BE49-F238E27FC236}">
                <a16:creationId xmlns:a16="http://schemas.microsoft.com/office/drawing/2014/main" id="{2E39D1B8-0028-47EC-8251-C56A78B795E2}"/>
              </a:ext>
            </a:extLst>
          </p:cNvPr>
          <p:cNvSpPr>
            <a:spLocks noGrp="1"/>
          </p:cNvSpPr>
          <p:nvPr/>
        </p:nvSpPr>
        <p:spPr>
          <a:xfrm>
            <a:off x="4810125" y="160972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channel 納入 MAC，阻止同一封包被跨 topic 轉貼。</a:t>
            </a:r>
          </a:p>
        </p:txBody>
      </p:sp>
      <p:sp>
        <p:nvSpPr>
          <p:cNvPr id="9" name="rq-rule-1">
            <a:extLst>
              <a:ext uri="{FF2B5EF4-FFF2-40B4-BE49-F238E27FC236}">
                <a16:creationId xmlns:a16="http://schemas.microsoft.com/office/drawing/2014/main" id="{7707C419-4156-430D-BC42-0E3BB5F40F2B}"/>
              </a:ext>
            </a:extLst>
          </p:cNvPr>
          <p:cNvSpPr>
            <a:spLocks noGrp="1"/>
          </p:cNvSpPr>
          <p:nvPr/>
        </p:nvSpPr>
        <p:spPr>
          <a:xfrm>
            <a:off x="609600" y="241935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q-number-2">
            <a:extLst>
              <a:ext uri="{FF2B5EF4-FFF2-40B4-BE49-F238E27FC236}">
                <a16:creationId xmlns:a16="http://schemas.microsoft.com/office/drawing/2014/main" id="{6E301A82-D1CC-4654-AB22-1080985F781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1" name="rq-title-2">
            <a:extLst>
              <a:ext uri="{FF2B5EF4-FFF2-40B4-BE49-F238E27FC236}">
                <a16:creationId xmlns:a16="http://schemas.microsoft.com/office/drawing/2014/main" id="{9BB8CFD2-8AE9-4A9F-AD7A-5CFC8C2CC11F}"/>
              </a:ext>
            </a:extLst>
          </p:cNvPr>
          <p:cNvSpPr>
            <a:spLocks noGrp="1"/>
          </p:cNvSpPr>
          <p:nvPr/>
        </p:nvSpPr>
        <p:spPr>
          <a:xfrm>
            <a:off x="1714500" y="273367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限制時間</a:t>
            </a:r>
          </a:p>
        </p:txBody>
      </p:sp>
      <p:sp>
        <p:nvSpPr>
          <p:cNvPr id="12" name="rq-body-2">
            <a:extLst>
              <a:ext uri="{FF2B5EF4-FFF2-40B4-BE49-F238E27FC236}">
                <a16:creationId xmlns:a16="http://schemas.microsoft.com/office/drawing/2014/main" id="{43A32F7A-5D7B-48F3-990A-FF8DB833DD21}"/>
              </a:ext>
            </a:extLst>
          </p:cNvPr>
          <p:cNvSpPr>
            <a:spLocks noGrp="1"/>
          </p:cNvSpPr>
          <p:nvPr/>
        </p:nvSpPr>
        <p:spPr>
          <a:xfrm>
            <a:off x="4810125" y="273367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timestamp freshness window 拒絕過期封包。</a:t>
            </a:r>
          </a:p>
        </p:txBody>
      </p:sp>
      <p:sp>
        <p:nvSpPr>
          <p:cNvPr id="13" name="rq-rule-2">
            <a:extLst>
              <a:ext uri="{FF2B5EF4-FFF2-40B4-BE49-F238E27FC236}">
                <a16:creationId xmlns:a16="http://schemas.microsoft.com/office/drawing/2014/main" id="{E43A03D2-9BDC-49AF-8681-1C0DDA281D90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q-number-3">
            <a:extLst>
              <a:ext uri="{FF2B5EF4-FFF2-40B4-BE49-F238E27FC236}">
                <a16:creationId xmlns:a16="http://schemas.microsoft.com/office/drawing/2014/main" id="{C0F60988-00D6-42C2-A5BE-3DF8B983DB76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A18F8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5" name="rq-title-3">
            <a:extLst>
              <a:ext uri="{FF2B5EF4-FFF2-40B4-BE49-F238E27FC236}">
                <a16:creationId xmlns:a16="http://schemas.microsoft.com/office/drawing/2014/main" id="{EF87CBC4-860F-4D3A-8B4F-8DBABE9016AD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原子 nonce</a:t>
            </a:r>
          </a:p>
        </p:txBody>
      </p:sp>
      <p:sp>
        <p:nvSpPr>
          <p:cNvPr id="16" name="rq-body-3">
            <a:extLst>
              <a:ext uri="{FF2B5EF4-FFF2-40B4-BE49-F238E27FC236}">
                <a16:creationId xmlns:a16="http://schemas.microsoft.com/office/drawing/2014/main" id="{3DB901DB-7388-4891-A153-0C82A471FD65}"/>
              </a:ext>
            </a:extLst>
          </p:cNvPr>
          <p:cNvSpPr>
            <a:spLocks noGrp="1"/>
          </p:cNvSpPr>
          <p:nvPr/>
        </p:nvSpPr>
        <p:spPr>
          <a:xfrm>
            <a:off x="4810125" y="385762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ReplayCache fail-closed，重啟與競爭條件不放行重複 nonce。</a:t>
            </a:r>
          </a:p>
        </p:txBody>
      </p:sp>
      <p:sp>
        <p:nvSpPr>
          <p:cNvPr id="17" name="rq-rule-3">
            <a:extLst>
              <a:ext uri="{FF2B5EF4-FFF2-40B4-BE49-F238E27FC236}">
                <a16:creationId xmlns:a16="http://schemas.microsoft.com/office/drawing/2014/main" id="{17298416-7DF4-4932-A23F-6C667EA6E2D2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q-number-4">
            <a:extLst>
              <a:ext uri="{FF2B5EF4-FFF2-40B4-BE49-F238E27FC236}">
                <a16:creationId xmlns:a16="http://schemas.microsoft.com/office/drawing/2014/main" id="{FD723E84-A501-4EBE-AFD2-C9D7BC78CA42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2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9" name="rq-title-4">
            <a:extLst>
              <a:ext uri="{FF2B5EF4-FFF2-40B4-BE49-F238E27FC236}">
                <a16:creationId xmlns:a16="http://schemas.microsoft.com/office/drawing/2014/main" id="{5B5C0B87-F48E-4A00-8F1C-274CF39F62AE}"/>
              </a:ext>
            </a:extLst>
          </p:cNvPr>
          <p:cNvSpPr>
            <a:spLocks noGrp="1"/>
          </p:cNvSpPr>
          <p:nvPr/>
        </p:nvSpPr>
        <p:spPr>
          <a:xfrm>
            <a:off x="1714500" y="498157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驗證 payload</a:t>
            </a:r>
          </a:p>
        </p:txBody>
      </p:sp>
      <p:sp>
        <p:nvSpPr>
          <p:cNvPr id="20" name="rq-body-4">
            <a:extLst>
              <a:ext uri="{FF2B5EF4-FFF2-40B4-BE49-F238E27FC236}">
                <a16:creationId xmlns:a16="http://schemas.microsoft.com/office/drawing/2014/main" id="{EBF401C9-DC13-468B-AED3-C2F98515C26D}"/>
              </a:ext>
            </a:extLst>
          </p:cNvPr>
          <p:cNvSpPr>
            <a:spLocks noGrp="1"/>
          </p:cNvSpPr>
          <p:nvPr/>
        </p:nvSpPr>
        <p:spPr>
          <a:xfrm>
            <a:off x="4810125" y="498157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HMAC-SHA256 保護 alerts、heartbeat、goto、sensor、mission、health。</a:t>
            </a:r>
          </a:p>
        </p:txBody>
      </p:sp>
      <p:sp>
        <p:nvSpPr>
          <p:cNvPr id="21" name="rq-rule-4">
            <a:extLst>
              <a:ext uri="{FF2B5EF4-FFF2-40B4-BE49-F238E27FC236}">
                <a16:creationId xmlns:a16="http://schemas.microsoft.com/office/drawing/2014/main" id="{FF5179CD-AC5F-4185-AC8B-B51B0E6E867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7632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05863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ail-10">
            <a:extLst>
              <a:ext uri="{FF2B5EF4-FFF2-40B4-BE49-F238E27FC236}">
                <a16:creationId xmlns:a16="http://schemas.microsoft.com/office/drawing/2014/main" id="{7652D2E9-03D1-4BE9-9543-8AC684917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B8A8975B-146B-46FD-8933-D4935AB2C4D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D1–D6 將網路入侵轉成可解釋的物理安全判斷</a:t>
            </a:r>
          </a:p>
        </p:txBody>
      </p:sp>
      <p:sp>
        <p:nvSpPr>
          <p:cNvPr id="5" name="page-10">
            <a:extLst>
              <a:ext uri="{FF2B5EF4-FFF2-40B4-BE49-F238E27FC236}">
                <a16:creationId xmlns:a16="http://schemas.microsoft.com/office/drawing/2014/main" id="{1F8A0CEB-BE54-449D-BFDC-5BC796F02700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609600" y="1600200"/>
          <a:ext cx="10972800" cy="4343402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48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Detector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主要訊號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安全意義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目前證據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D1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速度 &gt; 0.23 m/s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超物理控制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程式＋離線測試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D2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方向衝突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控制互斥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正式資料有訊號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D3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LiDAR 重複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感測 spoof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live TP/FP 待驗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D4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非法 publisher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graph 身分異常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proxy 可見；歸因待補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D5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heartbeat &gt; 10s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監控失聯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live outcome 待驗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D6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cmd／odom／scan 不一致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控制與物理矛盾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live outcome 待驗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756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hreat-left">
            <a:extLst>
              <a:ext uri="{FF2B5EF4-FFF2-40B4-BE49-F238E27FC236}">
                <a16:creationId xmlns:a16="http://schemas.microsoft.com/office/drawing/2014/main" id="{7EBB5E65-64EC-4D47-9BC8-868DB3B45E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10375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hreat-divider">
            <a:extLst>
              <a:ext uri="{FF2B5EF4-FFF2-40B4-BE49-F238E27FC236}">
                <a16:creationId xmlns:a16="http://schemas.microsoft.com/office/drawing/2014/main" id="{F9BABD9D-E753-4077-8548-94377483C820}"/>
              </a:ext>
            </a:extLst>
          </p:cNvPr>
          <p:cNvSpPr>
            <a:spLocks noGrp="1"/>
          </p:cNvSpPr>
          <p:nvPr/>
        </p:nvSpPr>
        <p:spPr>
          <a:xfrm>
            <a:off x="6810375" y="0"/>
            <a:ext cx="13335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hreat-title">
            <a:extLst>
              <a:ext uri="{FF2B5EF4-FFF2-40B4-BE49-F238E27FC236}">
                <a16:creationId xmlns:a16="http://schemas.microsoft.com/office/drawing/2014/main" id="{2060D033-4016-4B2C-8F68-E291D873D6D5}"/>
              </a:ext>
            </a:extLst>
          </p:cNvPr>
          <p:cNvSpPr>
            <a:spLocks noGrp="1"/>
          </p:cNvSpPr>
          <p:nvPr/>
        </p:nvSpPr>
        <p:spPr>
          <a:xfrm>
            <a:off x="590550" y="781050"/>
            <a:ext cx="5619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Zeek 補上 DDS 網路層，但永遠不直接取得封鎖權</a:t>
            </a:r>
          </a:p>
        </p:txBody>
      </p:sp>
      <p:sp>
        <p:nvSpPr>
          <p:cNvPr id="5" name="threat-in-label">
            <a:extLst>
              <a:ext uri="{FF2B5EF4-FFF2-40B4-BE49-F238E27FC236}">
                <a16:creationId xmlns:a16="http://schemas.microsoft.com/office/drawing/2014/main" id="{31946D24-5524-42D9-8862-7AE8540D7161}"/>
              </a:ext>
            </a:extLst>
          </p:cNvPr>
          <p:cNvSpPr>
            <a:spLocks noGrp="1"/>
          </p:cNvSpPr>
          <p:nvPr/>
        </p:nvSpPr>
        <p:spPr>
          <a:xfrm>
            <a:off x="590550" y="23622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NETWORK DETECTION</a:t>
            </a:r>
          </a:p>
        </p:txBody>
      </p:sp>
      <p:sp>
        <p:nvSpPr>
          <p:cNvPr id="6" name="threat-in-title">
            <a:extLst>
              <a:ext uri="{FF2B5EF4-FFF2-40B4-BE49-F238E27FC236}">
                <a16:creationId xmlns:a16="http://schemas.microsoft.com/office/drawing/2014/main" id="{88331D2A-9ADD-41B0-8CE5-D6A1E3213602}"/>
              </a:ext>
            </a:extLst>
          </p:cNvPr>
          <p:cNvSpPr>
            <a:spLocks noGrp="1"/>
          </p:cNvSpPr>
          <p:nvPr/>
        </p:nvSpPr>
        <p:spPr>
          <a:xfrm>
            <a:off x="590550" y="272415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五類可解釋告警</a:t>
            </a:r>
          </a:p>
        </p:txBody>
      </p:sp>
      <p:sp>
        <p:nvSpPr>
          <p:cNvPr id="7" name="threat-in-body">
            <a:extLst>
              <a:ext uri="{FF2B5EF4-FFF2-40B4-BE49-F238E27FC236}">
                <a16:creationId xmlns:a16="http://schemas.microsoft.com/office/drawing/2014/main" id="{86C08828-8F56-44A2-94C4-26D99A060223}"/>
              </a:ext>
            </a:extLst>
          </p:cNvPr>
          <p:cNvSpPr>
            <a:spLocks noGrp="1"/>
          </p:cNvSpPr>
          <p:nvPr/>
        </p:nvSpPr>
        <p:spPr>
          <a:xfrm>
            <a:off x="590550" y="3333750"/>
            <a:ext cx="5143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DDS reconnaissance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payload injection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SPDP discovery 異常／DoS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parameter tamper</a:t>
            </a:r>
          </a:p>
          <a:p>
            <a:pPr algn="l">
              <a:buNone/>
              <a:def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source spoof</a:t>
            </a:r>
          </a:p>
        </p:txBody>
      </p:sp>
      <p:sp>
        <p:nvSpPr>
          <p:cNvPr id="8" name="threat-out-label">
            <a:extLst>
              <a:ext uri="{FF2B5EF4-FFF2-40B4-BE49-F238E27FC236}">
                <a16:creationId xmlns:a16="http://schemas.microsoft.com/office/drawing/2014/main" id="{BFE987FB-26BA-47D1-A447-F95D686D3687}"/>
              </a:ext>
            </a:extLst>
          </p:cNvPr>
          <p:cNvSpPr>
            <a:spLocks noGrp="1"/>
          </p:cNvSpPr>
          <p:nvPr/>
        </p:nvSpPr>
        <p:spPr>
          <a:xfrm>
            <a:off x="7381875" y="7810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SAFETY BOUNDARY</a:t>
            </a:r>
          </a:p>
        </p:txBody>
      </p:sp>
      <p:sp>
        <p:nvSpPr>
          <p:cNvPr id="9" name="threat-out-title">
            <a:extLst>
              <a:ext uri="{FF2B5EF4-FFF2-40B4-BE49-F238E27FC236}">
                <a16:creationId xmlns:a16="http://schemas.microsoft.com/office/drawing/2014/main" id="{9DD2171C-7309-42B2-B225-234CF86A2446}"/>
              </a:ext>
            </a:extLst>
          </p:cNvPr>
          <p:cNvSpPr>
            <a:spLocks noGrp="1"/>
          </p:cNvSpPr>
          <p:nvPr/>
        </p:nvSpPr>
        <p:spPr>
          <a:xfrm>
            <a:off x="7381875" y="1200150"/>
            <a:ext cx="3429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偵測不等於執行</a:t>
            </a:r>
          </a:p>
        </p:txBody>
      </p:sp>
      <p:sp>
        <p:nvSpPr>
          <p:cNvPr id="10" name="threat-out-body">
            <a:extLst>
              <a:ext uri="{FF2B5EF4-FFF2-40B4-BE49-F238E27FC236}">
                <a16:creationId xmlns:a16="http://schemas.microsoft.com/office/drawing/2014/main" id="{175E505F-4E37-4848-BE41-8E28BBF56E40}"/>
              </a:ext>
            </a:extLst>
          </p:cNvPr>
          <p:cNvSpPr>
            <a:spLocks noGrp="1"/>
          </p:cNvSpPr>
          <p:nvPr/>
        </p:nvSpPr>
        <p:spPr>
          <a:xfrm>
            <a:off x="7381875" y="1924050"/>
            <a:ext cx="4000500" cy="195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狀態具 TTL／容量上限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fixture 可離線重現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只產生 suppressed response request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不得直接呼叫 privileged helper</a:t>
            </a:r>
          </a:p>
          <a:p>
            <a:pPr algn="l">
              <a:buNone/>
              <a:def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live GUID parser／混淆矩陣待補</a:t>
            </a:r>
          </a:p>
        </p:txBody>
      </p:sp>
      <p:sp>
        <p:nvSpPr>
          <p:cNvPr id="11" name="threat-lab-band">
            <a:extLst>
              <a:ext uri="{FF2B5EF4-FFF2-40B4-BE49-F238E27FC236}">
                <a16:creationId xmlns:a16="http://schemas.microsoft.com/office/drawing/2014/main" id="{72D0A695-3720-45A4-A807-74DB0D008393}"/>
              </a:ext>
            </a:extLst>
          </p:cNvPr>
          <p:cNvSpPr>
            <a:spLocks noGrp="1"/>
          </p:cNvSpPr>
          <p:nvPr/>
        </p:nvSpPr>
        <p:spPr>
          <a:xfrm>
            <a:off x="7381875" y="4495800"/>
            <a:ext cx="4000500" cy="129540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hreat-lab-text">
            <a:extLst>
              <a:ext uri="{FF2B5EF4-FFF2-40B4-BE49-F238E27FC236}">
                <a16:creationId xmlns:a16="http://schemas.microsoft.com/office/drawing/2014/main" id="{AB4DD33C-1214-45E9-9715-90D07F2A72F4}"/>
              </a:ext>
            </a:extLst>
          </p:cNvPr>
          <p:cNvSpPr>
            <a:spLocks noGrp="1"/>
          </p:cNvSpPr>
          <p:nvPr/>
        </p:nvSpPr>
        <p:spPr>
          <a:xfrm>
            <a:off x="7667625" y="4705350"/>
            <a:ext cx="3429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Zeek 只提供網路證據；必須再通過來源歸因、雙訊號、模型與回應授權器</a:t>
            </a:r>
          </a:p>
        </p:txBody>
      </p:sp>
      <p:sp>
        <p:nvSpPr>
          <p:cNvPr id="13" name="threat-page">
            <a:extLst>
              <a:ext uri="{FF2B5EF4-FFF2-40B4-BE49-F238E27FC236}">
                <a16:creationId xmlns:a16="http://schemas.microsoft.com/office/drawing/2014/main" id="{119AB2BE-2A15-42F2-B88E-1502DA8B07E1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78151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ail-11">
            <a:extLst>
              <a:ext uri="{FF2B5EF4-FFF2-40B4-BE49-F238E27FC236}">
                <a16:creationId xmlns:a16="http://schemas.microsoft.com/office/drawing/2014/main" id="{113CC95A-9A37-427E-944E-2A944298C2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1">
            <a:extLst>
              <a:ext uri="{FF2B5EF4-FFF2-40B4-BE49-F238E27FC236}">
                <a16:creationId xmlns:a16="http://schemas.microsoft.com/office/drawing/2014/main" id="{F3DF618F-6F3F-4D18-8F66-2F02FC7DE31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AI 意圖必須通過來源、雙訊號與連續視窗再次授權</a:t>
            </a:r>
          </a:p>
        </p:txBody>
      </p:sp>
      <p:sp>
        <p:nvSpPr>
          <p:cNvPr id="5" name="page-11">
            <a:extLst>
              <a:ext uri="{FF2B5EF4-FFF2-40B4-BE49-F238E27FC236}">
                <a16:creationId xmlns:a16="http://schemas.microsoft.com/office/drawing/2014/main" id="{DE745242-998F-45B0-AAA5-AE71DB7717F7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6" name="response-label">
            <a:extLst>
              <a:ext uri="{FF2B5EF4-FFF2-40B4-BE49-F238E27FC236}">
                <a16:creationId xmlns:a16="http://schemas.microsoft.com/office/drawing/2014/main" id="{BB3E06E3-4654-4019-B5E9-419FADFCDAF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RESPONSE AUTHORIZER</a:t>
            </a:r>
          </a:p>
        </p:txBody>
      </p:sp>
      <p:sp>
        <p:nvSpPr>
          <p:cNvPr id="7" name="response-title">
            <a:extLst>
              <a:ext uri="{FF2B5EF4-FFF2-40B4-BE49-F238E27FC236}">
                <a16:creationId xmlns:a16="http://schemas.microsoft.com/office/drawing/2014/main" id="{E3AC8758-E9E0-4C75-AC72-16AC935460EF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網路動作的五道閘門</a:t>
            </a:r>
          </a:p>
        </p:txBody>
      </p:sp>
      <p:sp>
        <p:nvSpPr>
          <p:cNvPr id="8" name="gate-number-1">
            <a:extLst>
              <a:ext uri="{FF2B5EF4-FFF2-40B4-BE49-F238E27FC236}">
                <a16:creationId xmlns:a16="http://schemas.microsoft.com/office/drawing/2014/main" id="{6E42D0BD-BAE4-494D-8838-A1F3A26FA4AA}"/>
              </a:ext>
            </a:extLst>
          </p:cNvPr>
          <p:cNvSpPr>
            <a:spLocks noGrp="1"/>
          </p:cNvSpPr>
          <p:nvPr/>
        </p:nvSpPr>
        <p:spPr>
          <a:xfrm>
            <a:off x="628650" y="268605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gate-text-1">
            <a:extLst>
              <a:ext uri="{FF2B5EF4-FFF2-40B4-BE49-F238E27FC236}">
                <a16:creationId xmlns:a16="http://schemas.microsoft.com/office/drawing/2014/main" id="{50B50E53-158D-4467-B574-A3FB82CA850A}"/>
              </a:ext>
            </a:extLst>
          </p:cNvPr>
          <p:cNvSpPr>
            <a:spLocks noGrp="1"/>
          </p:cNvSpPr>
          <p:nvPr/>
        </p:nvSpPr>
        <p:spPr>
          <a:xfrm>
            <a:off x="1123950" y="27146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evidence envelope 與 policy hash</a:t>
            </a:r>
          </a:p>
        </p:txBody>
      </p:sp>
      <p:sp>
        <p:nvSpPr>
          <p:cNvPr id="10" name="gate-rule-1">
            <a:extLst>
              <a:ext uri="{FF2B5EF4-FFF2-40B4-BE49-F238E27FC236}">
                <a16:creationId xmlns:a16="http://schemas.microsoft.com/office/drawing/2014/main" id="{016DCD14-75C9-42D5-A5FF-CD350E649BB8}"/>
              </a:ext>
            </a:extLst>
          </p:cNvPr>
          <p:cNvSpPr>
            <a:spLocks noGrp="1"/>
          </p:cNvSpPr>
          <p:nvPr/>
        </p:nvSpPr>
        <p:spPr>
          <a:xfrm>
            <a:off x="1123950" y="31146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gate-number-2">
            <a:extLst>
              <a:ext uri="{FF2B5EF4-FFF2-40B4-BE49-F238E27FC236}">
                <a16:creationId xmlns:a16="http://schemas.microsoft.com/office/drawing/2014/main" id="{7F8D795E-8867-4BA5-A0E7-560F5091C7F6}"/>
              </a:ext>
            </a:extLst>
          </p:cNvPr>
          <p:cNvSpPr>
            <a:spLocks noGrp="1"/>
          </p:cNvSpPr>
          <p:nvPr/>
        </p:nvSpPr>
        <p:spPr>
          <a:xfrm>
            <a:off x="628650" y="327660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gate-text-2">
            <a:extLst>
              <a:ext uri="{FF2B5EF4-FFF2-40B4-BE49-F238E27FC236}">
                <a16:creationId xmlns:a16="http://schemas.microsoft.com/office/drawing/2014/main" id="{7A17991C-9B31-43DC-ADD4-22F5E00FF8DE}"/>
              </a:ext>
            </a:extLst>
          </p:cNvPr>
          <p:cNvSpPr>
            <a:spLocks noGrp="1"/>
          </p:cNvSpPr>
          <p:nvPr/>
        </p:nvSpPr>
        <p:spPr>
          <a:xfrm>
            <a:off x="1123950" y="330517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source／interface／DDS identity 綁定</a:t>
            </a:r>
          </a:p>
        </p:txBody>
      </p:sp>
      <p:sp>
        <p:nvSpPr>
          <p:cNvPr id="13" name="gate-rule-2">
            <a:extLst>
              <a:ext uri="{FF2B5EF4-FFF2-40B4-BE49-F238E27FC236}">
                <a16:creationId xmlns:a16="http://schemas.microsoft.com/office/drawing/2014/main" id="{9B98A44F-1DC9-4DFB-8E99-FFDADF760F00}"/>
              </a:ext>
            </a:extLst>
          </p:cNvPr>
          <p:cNvSpPr>
            <a:spLocks noGrp="1"/>
          </p:cNvSpPr>
          <p:nvPr/>
        </p:nvSpPr>
        <p:spPr>
          <a:xfrm>
            <a:off x="1123950" y="370522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gate-number-3">
            <a:extLst>
              <a:ext uri="{FF2B5EF4-FFF2-40B4-BE49-F238E27FC236}">
                <a16:creationId xmlns:a16="http://schemas.microsoft.com/office/drawing/2014/main" id="{8211B74B-3093-406D-9C61-942DFD91CB6B}"/>
              </a:ext>
            </a:extLst>
          </p:cNvPr>
          <p:cNvSpPr>
            <a:spLocks noGrp="1"/>
          </p:cNvSpPr>
          <p:nvPr/>
        </p:nvSpPr>
        <p:spPr>
          <a:xfrm>
            <a:off x="628650" y="386715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gate-text-3">
            <a:extLst>
              <a:ext uri="{FF2B5EF4-FFF2-40B4-BE49-F238E27FC236}">
                <a16:creationId xmlns:a16="http://schemas.microsoft.com/office/drawing/2014/main" id="{CD77E529-0600-4C3B-A399-4A6AB8E54186}"/>
              </a:ext>
            </a:extLst>
          </p:cNvPr>
          <p:cNvSpPr>
            <a:spLocks noGrp="1"/>
          </p:cNvSpPr>
          <p:nvPr/>
        </p:nvSpPr>
        <p:spPr>
          <a:xfrm>
            <a:off x="1123950" y="38957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至少兩個獨立訊號</a:t>
            </a:r>
          </a:p>
        </p:txBody>
      </p:sp>
      <p:sp>
        <p:nvSpPr>
          <p:cNvPr id="16" name="gate-rule-3">
            <a:extLst>
              <a:ext uri="{FF2B5EF4-FFF2-40B4-BE49-F238E27FC236}">
                <a16:creationId xmlns:a16="http://schemas.microsoft.com/office/drawing/2014/main" id="{4E4E374E-8E9F-4199-8088-108E3D84D538}"/>
              </a:ext>
            </a:extLst>
          </p:cNvPr>
          <p:cNvSpPr>
            <a:spLocks noGrp="1"/>
          </p:cNvSpPr>
          <p:nvPr/>
        </p:nvSpPr>
        <p:spPr>
          <a:xfrm>
            <a:off x="1123950" y="42957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gate-number-4">
            <a:extLst>
              <a:ext uri="{FF2B5EF4-FFF2-40B4-BE49-F238E27FC236}">
                <a16:creationId xmlns:a16="http://schemas.microsoft.com/office/drawing/2014/main" id="{719E8D94-93F1-4B85-9A87-7BAAB9D43520}"/>
              </a:ext>
            </a:extLst>
          </p:cNvPr>
          <p:cNvSpPr>
            <a:spLocks noGrp="1"/>
          </p:cNvSpPr>
          <p:nvPr/>
        </p:nvSpPr>
        <p:spPr>
          <a:xfrm>
            <a:off x="628650" y="445770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gate-text-4">
            <a:extLst>
              <a:ext uri="{FF2B5EF4-FFF2-40B4-BE49-F238E27FC236}">
                <a16:creationId xmlns:a16="http://schemas.microsoft.com/office/drawing/2014/main" id="{AE0E6115-C508-4547-BEBE-3C2203E7750B}"/>
              </a:ext>
            </a:extLst>
          </p:cNvPr>
          <p:cNvSpPr>
            <a:spLocks noGrp="1"/>
          </p:cNvSpPr>
          <p:nvPr/>
        </p:nvSpPr>
        <p:spPr>
          <a:xfrm>
            <a:off x="1123950" y="448627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連續兩視窗＋新鮮度 ≤10s</a:t>
            </a:r>
          </a:p>
        </p:txBody>
      </p:sp>
      <p:sp>
        <p:nvSpPr>
          <p:cNvPr id="19" name="gate-rule-4">
            <a:extLst>
              <a:ext uri="{FF2B5EF4-FFF2-40B4-BE49-F238E27FC236}">
                <a16:creationId xmlns:a16="http://schemas.microsoft.com/office/drawing/2014/main" id="{B5DEE0B4-7C44-4A52-98EA-D5E8A84F3F0F}"/>
              </a:ext>
            </a:extLst>
          </p:cNvPr>
          <p:cNvSpPr>
            <a:spLocks noGrp="1"/>
          </p:cNvSpPr>
          <p:nvPr/>
        </p:nvSpPr>
        <p:spPr>
          <a:xfrm>
            <a:off x="1123950" y="488632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gate-number-5">
            <a:extLst>
              <a:ext uri="{FF2B5EF4-FFF2-40B4-BE49-F238E27FC236}">
                <a16:creationId xmlns:a16="http://schemas.microsoft.com/office/drawing/2014/main" id="{B23B8990-5EC7-46E8-BAA0-33114EFF9614}"/>
              </a:ext>
            </a:extLst>
          </p:cNvPr>
          <p:cNvSpPr>
            <a:spLocks noGrp="1"/>
          </p:cNvSpPr>
          <p:nvPr/>
        </p:nvSpPr>
        <p:spPr>
          <a:xfrm>
            <a:off x="628650" y="5048250"/>
            <a:ext cx="323850" cy="323850"/>
          </a:xfrm>
          <a:prstGeom prst="ellipse">
            <a:avLst/>
          </a:prstGeom>
          <a:solidFill>
            <a:srgbClr val="86605F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1" name="gate-text-5">
            <a:extLst>
              <a:ext uri="{FF2B5EF4-FFF2-40B4-BE49-F238E27FC236}">
                <a16:creationId xmlns:a16="http://schemas.microsoft.com/office/drawing/2014/main" id="{F98F67A9-B12B-46B3-AB9D-C61CA79332CA}"/>
              </a:ext>
            </a:extLst>
          </p:cNvPr>
          <p:cNvSpPr>
            <a:spLocks noGrp="1"/>
          </p:cNvSpPr>
          <p:nvPr/>
        </p:nvSpPr>
        <p:spPr>
          <a:xfrm>
            <a:off x="1123950" y="50768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protected／shared／未授權 IP 拒絕</a:t>
            </a:r>
          </a:p>
        </p:txBody>
      </p:sp>
      <p:sp>
        <p:nvSpPr>
          <p:cNvPr id="22" name="gate-rule-5">
            <a:extLst>
              <a:ext uri="{FF2B5EF4-FFF2-40B4-BE49-F238E27FC236}">
                <a16:creationId xmlns:a16="http://schemas.microsoft.com/office/drawing/2014/main" id="{7D4BECAC-828A-476D-8E55-22B69A6BA594}"/>
              </a:ext>
            </a:extLst>
          </p:cNvPr>
          <p:cNvSpPr>
            <a:spLocks noGrp="1"/>
          </p:cNvSpPr>
          <p:nvPr/>
        </p:nvSpPr>
        <p:spPr>
          <a:xfrm>
            <a:off x="1123950" y="54768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pentest-field">
            <a:extLst>
              <a:ext uri="{FF2B5EF4-FFF2-40B4-BE49-F238E27FC236}">
                <a16:creationId xmlns:a16="http://schemas.microsoft.com/office/drawing/2014/main" id="{7DCA6514-3851-4DDD-B063-057C868C3A92}"/>
              </a:ext>
            </a:extLst>
          </p:cNvPr>
          <p:cNvSpPr>
            <a:spLocks noGrp="1"/>
          </p:cNvSpPr>
          <p:nvPr/>
        </p:nvSpPr>
        <p:spPr>
          <a:xfrm>
            <a:off x="5810250" y="1600200"/>
            <a:ext cx="5772150" cy="44958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pentest-label">
            <a:extLst>
              <a:ext uri="{FF2B5EF4-FFF2-40B4-BE49-F238E27FC236}">
                <a16:creationId xmlns:a16="http://schemas.microsoft.com/office/drawing/2014/main" id="{D92E567D-A03C-422E-8DFF-3EC3CC4836AA}"/>
              </a:ext>
            </a:extLst>
          </p:cNvPr>
          <p:cNvSpPr>
            <a:spLocks noGrp="1"/>
          </p:cNvSpPr>
          <p:nvPr/>
        </p:nvSpPr>
        <p:spPr>
          <a:xfrm>
            <a:off x="6191250" y="19240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DECISION PATH</a:t>
            </a:r>
          </a:p>
        </p:txBody>
      </p:sp>
      <p:sp>
        <p:nvSpPr>
          <p:cNvPr id="25" name="pentest-title">
            <a:extLst>
              <a:ext uri="{FF2B5EF4-FFF2-40B4-BE49-F238E27FC236}">
                <a16:creationId xmlns:a16="http://schemas.microsoft.com/office/drawing/2014/main" id="{6169BA73-4B1A-4E24-9A1E-538E565BAC5D}"/>
              </a:ext>
            </a:extLst>
          </p:cNvPr>
          <p:cNvSpPr>
            <a:spLocks noGrp="1"/>
          </p:cNvSpPr>
          <p:nvPr/>
        </p:nvSpPr>
        <p:spPr>
          <a:xfrm>
            <a:off x="6191250" y="22860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從告警到動作</a:t>
            </a:r>
          </a:p>
        </p:txBody>
      </p:sp>
      <p:sp>
        <p:nvSpPr>
          <p:cNvPr id="26" name="pentest-timeline">
            <a:extLst>
              <a:ext uri="{FF2B5EF4-FFF2-40B4-BE49-F238E27FC236}">
                <a16:creationId xmlns:a16="http://schemas.microsoft.com/office/drawing/2014/main" id="{E7DA95F9-8A32-498B-9A8C-2AB00D7900E6}"/>
              </a:ext>
            </a:extLst>
          </p:cNvPr>
          <p:cNvSpPr>
            <a:spLocks noGrp="1"/>
          </p:cNvSpPr>
          <p:nvPr/>
        </p:nvSpPr>
        <p:spPr>
          <a:xfrm>
            <a:off x="6438900" y="3067050"/>
            <a:ext cx="19050" cy="2095500"/>
          </a:xfrm>
          <a:prstGeom prst="rect">
            <a:avLst/>
          </a:prstGeom>
          <a:solidFill>
            <a:srgbClr val="A9A8A2"/>
          </a:solidFill>
          <a:ln w="9525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pentest-stage-A">
            <a:extLst>
              <a:ext uri="{FF2B5EF4-FFF2-40B4-BE49-F238E27FC236}">
                <a16:creationId xmlns:a16="http://schemas.microsoft.com/office/drawing/2014/main" id="{0C22CBB5-7ECE-4219-B235-A13EE9106395}"/>
              </a:ext>
            </a:extLst>
          </p:cNvPr>
          <p:cNvSpPr>
            <a:spLocks noGrp="1"/>
          </p:cNvSpPr>
          <p:nvPr/>
        </p:nvSpPr>
        <p:spPr>
          <a:xfrm>
            <a:off x="6257925" y="29527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28" name="pentest-stage-text-A">
            <a:extLst>
              <a:ext uri="{FF2B5EF4-FFF2-40B4-BE49-F238E27FC236}">
                <a16:creationId xmlns:a16="http://schemas.microsoft.com/office/drawing/2014/main" id="{1477B7FD-6405-4B60-A61B-99A1E39A4B19}"/>
              </a:ext>
            </a:extLst>
          </p:cNvPr>
          <p:cNvSpPr>
            <a:spLocks noGrp="1"/>
          </p:cNvSpPr>
          <p:nvPr/>
        </p:nvSpPr>
        <p:spPr>
          <a:xfrm>
            <a:off x="6896100" y="29622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模型提出意圖</a:t>
            </a:r>
          </a:p>
        </p:txBody>
      </p:sp>
      <p:sp>
        <p:nvSpPr>
          <p:cNvPr id="29" name="pentest-stage-B">
            <a:extLst>
              <a:ext uri="{FF2B5EF4-FFF2-40B4-BE49-F238E27FC236}">
                <a16:creationId xmlns:a16="http://schemas.microsoft.com/office/drawing/2014/main" id="{EBB94618-215A-413A-B363-B1E814A52F84}"/>
              </a:ext>
            </a:extLst>
          </p:cNvPr>
          <p:cNvSpPr>
            <a:spLocks noGrp="1"/>
          </p:cNvSpPr>
          <p:nvPr/>
        </p:nvSpPr>
        <p:spPr>
          <a:xfrm>
            <a:off x="6257925" y="36385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30" name="pentest-stage-text-B">
            <a:extLst>
              <a:ext uri="{FF2B5EF4-FFF2-40B4-BE49-F238E27FC236}">
                <a16:creationId xmlns:a16="http://schemas.microsoft.com/office/drawing/2014/main" id="{68325BE1-40C0-4D02-93D4-377F90B300F7}"/>
              </a:ext>
            </a:extLst>
          </p:cNvPr>
          <p:cNvSpPr>
            <a:spLocks noGrp="1"/>
          </p:cNvSpPr>
          <p:nvPr/>
        </p:nvSpPr>
        <p:spPr>
          <a:xfrm>
            <a:off x="6896100" y="36480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證據與歸因驗證</a:t>
            </a:r>
          </a:p>
        </p:txBody>
      </p:sp>
      <p:sp>
        <p:nvSpPr>
          <p:cNvPr id="31" name="pentest-stage-C">
            <a:extLst>
              <a:ext uri="{FF2B5EF4-FFF2-40B4-BE49-F238E27FC236}">
                <a16:creationId xmlns:a16="http://schemas.microsoft.com/office/drawing/2014/main" id="{1D3366FC-C3BF-4253-A79A-26F2B27ED5CC}"/>
              </a:ext>
            </a:extLst>
          </p:cNvPr>
          <p:cNvSpPr>
            <a:spLocks noGrp="1"/>
          </p:cNvSpPr>
          <p:nvPr/>
        </p:nvSpPr>
        <p:spPr>
          <a:xfrm>
            <a:off x="6257925" y="43243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32" name="pentest-stage-text-C">
            <a:extLst>
              <a:ext uri="{FF2B5EF4-FFF2-40B4-BE49-F238E27FC236}">
                <a16:creationId xmlns:a16="http://schemas.microsoft.com/office/drawing/2014/main" id="{608CB65A-6B5E-457C-A4E6-6C63A5764477}"/>
              </a:ext>
            </a:extLst>
          </p:cNvPr>
          <p:cNvSpPr>
            <a:spLocks noGrp="1"/>
          </p:cNvSpPr>
          <p:nvPr/>
        </p:nvSpPr>
        <p:spPr>
          <a:xfrm>
            <a:off x="6896100" y="43338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政策與範圍核准</a:t>
            </a:r>
          </a:p>
        </p:txBody>
      </p:sp>
      <p:sp>
        <p:nvSpPr>
          <p:cNvPr id="33" name="pentest-stage-D">
            <a:extLst>
              <a:ext uri="{FF2B5EF4-FFF2-40B4-BE49-F238E27FC236}">
                <a16:creationId xmlns:a16="http://schemas.microsoft.com/office/drawing/2014/main" id="{2BD9EC51-0B66-495C-8BC9-C7F076B3A9C3}"/>
              </a:ext>
            </a:extLst>
          </p:cNvPr>
          <p:cNvSpPr>
            <a:spLocks noGrp="1"/>
          </p:cNvSpPr>
          <p:nvPr/>
        </p:nvSpPr>
        <p:spPr>
          <a:xfrm>
            <a:off x="6257925" y="5010150"/>
            <a:ext cx="381000" cy="381000"/>
          </a:xfrm>
          <a:prstGeom prst="ellipse">
            <a:avLst/>
          </a:prstGeom>
          <a:solidFill>
            <a:srgbClr val="86605F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34" name="pentest-stage-text-D">
            <a:extLst>
              <a:ext uri="{FF2B5EF4-FFF2-40B4-BE49-F238E27FC236}">
                <a16:creationId xmlns:a16="http://schemas.microsoft.com/office/drawing/2014/main" id="{5E3B203C-3E0C-46BB-85DA-409E38C96168}"/>
              </a:ext>
            </a:extLst>
          </p:cNvPr>
          <p:cNvSpPr>
            <a:spLocks noGrp="1"/>
          </p:cNvSpPr>
          <p:nvPr/>
        </p:nvSpPr>
        <p:spPr>
          <a:xfrm>
            <a:off x="6896100" y="50196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簽發短效 ticket</a:t>
            </a:r>
          </a:p>
        </p:txBody>
      </p:sp>
      <p:sp>
        <p:nvSpPr>
          <p:cNvPr id="35" name="pentest-evidence">
            <a:extLst>
              <a:ext uri="{FF2B5EF4-FFF2-40B4-BE49-F238E27FC236}">
                <a16:creationId xmlns:a16="http://schemas.microsoft.com/office/drawing/2014/main" id="{8189D79C-CA4B-4084-83A4-40CBEEFCAD5B}"/>
              </a:ext>
            </a:extLst>
          </p:cNvPr>
          <p:cNvSpPr>
            <a:spLocks noGrp="1"/>
          </p:cNvSpPr>
          <p:nvPr/>
        </p:nvSpPr>
        <p:spPr>
          <a:xfrm>
            <a:off x="6191250" y="552450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現有資料沒有可信 attacker-IP attribution，因此目前所有模型意圖只能 alert。</a:t>
            </a:r>
          </a:p>
        </p:txBody>
      </p:sp>
    </p:spTree>
    <p:extLst>
      <p:ext uri="{BB962C8B-B14F-4D97-AF65-F5344CB8AC3E}">
        <p14:creationId xmlns:p14="http://schemas.microsoft.com/office/powerpoint/2010/main" val="328248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ail-11">
            <a:extLst>
              <a:ext uri="{FF2B5EF4-FFF2-40B4-BE49-F238E27FC236}">
                <a16:creationId xmlns:a16="http://schemas.microsoft.com/office/drawing/2014/main" id="{113CC95A-9A37-427E-944E-2A944298C2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1">
            <a:extLst>
              <a:ext uri="{FF2B5EF4-FFF2-40B4-BE49-F238E27FC236}">
                <a16:creationId xmlns:a16="http://schemas.microsoft.com/office/drawing/2014/main" id="{F3DF618F-6F3F-4D18-8F66-2F02FC7DE31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Ed25519 短效票證讓處置可過期、可稽核、可復原</a:t>
            </a:r>
          </a:p>
        </p:txBody>
      </p:sp>
      <p:sp>
        <p:nvSpPr>
          <p:cNvPr id="5" name="page-11">
            <a:extLst>
              <a:ext uri="{FF2B5EF4-FFF2-40B4-BE49-F238E27FC236}">
                <a16:creationId xmlns:a16="http://schemas.microsoft.com/office/drawing/2014/main" id="{DE745242-998F-45B0-AAA5-AE71DB7717F7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6" name="response-label">
            <a:extLst>
              <a:ext uri="{FF2B5EF4-FFF2-40B4-BE49-F238E27FC236}">
                <a16:creationId xmlns:a16="http://schemas.microsoft.com/office/drawing/2014/main" id="{BB3E06E3-4654-4019-B5E9-419FADFCDAF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BOUNDED BACKEND</a:t>
            </a:r>
          </a:p>
        </p:txBody>
      </p:sp>
      <p:sp>
        <p:nvSpPr>
          <p:cNvPr id="7" name="response-title">
            <a:extLst>
              <a:ext uri="{FF2B5EF4-FFF2-40B4-BE49-F238E27FC236}">
                <a16:creationId xmlns:a16="http://schemas.microsoft.com/office/drawing/2014/main" id="{E3AC8758-E9E0-4C75-AC72-16AC935460EF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執行層的五個安全條件</a:t>
            </a:r>
          </a:p>
        </p:txBody>
      </p:sp>
      <p:sp>
        <p:nvSpPr>
          <p:cNvPr id="8" name="gate-number-1">
            <a:extLst>
              <a:ext uri="{FF2B5EF4-FFF2-40B4-BE49-F238E27FC236}">
                <a16:creationId xmlns:a16="http://schemas.microsoft.com/office/drawing/2014/main" id="{6E42D0BD-BAE4-494D-8838-A1F3A26FA4AA}"/>
              </a:ext>
            </a:extLst>
          </p:cNvPr>
          <p:cNvSpPr>
            <a:spLocks noGrp="1"/>
          </p:cNvSpPr>
          <p:nvPr/>
        </p:nvSpPr>
        <p:spPr>
          <a:xfrm>
            <a:off x="628650" y="268605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gate-text-1">
            <a:extLst>
              <a:ext uri="{FF2B5EF4-FFF2-40B4-BE49-F238E27FC236}">
                <a16:creationId xmlns:a16="http://schemas.microsoft.com/office/drawing/2014/main" id="{50B50E53-158D-4467-B574-A3FB82CA850A}"/>
              </a:ext>
            </a:extLst>
          </p:cNvPr>
          <p:cNvSpPr>
            <a:spLocks noGrp="1"/>
          </p:cNvSpPr>
          <p:nvPr/>
        </p:nvSpPr>
        <p:spPr>
          <a:xfrm>
            <a:off x="1123950" y="27146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Ed25519 v2；ticket 約 5 秒有效</a:t>
            </a:r>
          </a:p>
        </p:txBody>
      </p:sp>
      <p:sp>
        <p:nvSpPr>
          <p:cNvPr id="10" name="gate-rule-1">
            <a:extLst>
              <a:ext uri="{FF2B5EF4-FFF2-40B4-BE49-F238E27FC236}">
                <a16:creationId xmlns:a16="http://schemas.microsoft.com/office/drawing/2014/main" id="{016DCD14-75C9-42D5-A5FF-CD350E649BB8}"/>
              </a:ext>
            </a:extLst>
          </p:cNvPr>
          <p:cNvSpPr>
            <a:spLocks noGrp="1"/>
          </p:cNvSpPr>
          <p:nvPr/>
        </p:nvSpPr>
        <p:spPr>
          <a:xfrm>
            <a:off x="1123950" y="31146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gate-number-2">
            <a:extLst>
              <a:ext uri="{FF2B5EF4-FFF2-40B4-BE49-F238E27FC236}">
                <a16:creationId xmlns:a16="http://schemas.microsoft.com/office/drawing/2014/main" id="{7F8D795E-8867-4BA5-A0E7-560F5091C7F6}"/>
              </a:ext>
            </a:extLst>
          </p:cNvPr>
          <p:cNvSpPr>
            <a:spLocks noGrp="1"/>
          </p:cNvSpPr>
          <p:nvPr/>
        </p:nvSpPr>
        <p:spPr>
          <a:xfrm>
            <a:off x="628650" y="327660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gate-text-2">
            <a:extLst>
              <a:ext uri="{FF2B5EF4-FFF2-40B4-BE49-F238E27FC236}">
                <a16:creationId xmlns:a16="http://schemas.microsoft.com/office/drawing/2014/main" id="{7A17991C-9B31-43DC-ADD4-22F5E00FF8DE}"/>
              </a:ext>
            </a:extLst>
          </p:cNvPr>
          <p:cNvSpPr>
            <a:spLocks noGrp="1"/>
          </p:cNvSpPr>
          <p:nvPr/>
        </p:nvSpPr>
        <p:spPr>
          <a:xfrm>
            <a:off x="1123950" y="330517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SQLite BEGIN IMMEDIATE 原子 nonce</a:t>
            </a:r>
          </a:p>
        </p:txBody>
      </p:sp>
      <p:sp>
        <p:nvSpPr>
          <p:cNvPr id="13" name="gate-rule-2">
            <a:extLst>
              <a:ext uri="{FF2B5EF4-FFF2-40B4-BE49-F238E27FC236}">
                <a16:creationId xmlns:a16="http://schemas.microsoft.com/office/drawing/2014/main" id="{9B98A44F-1DC9-4DFB-8E99-FFDADF760F00}"/>
              </a:ext>
            </a:extLst>
          </p:cNvPr>
          <p:cNvSpPr>
            <a:spLocks noGrp="1"/>
          </p:cNvSpPr>
          <p:nvPr/>
        </p:nvSpPr>
        <p:spPr>
          <a:xfrm>
            <a:off x="1123950" y="370522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gate-number-3">
            <a:extLst>
              <a:ext uri="{FF2B5EF4-FFF2-40B4-BE49-F238E27FC236}">
                <a16:creationId xmlns:a16="http://schemas.microsoft.com/office/drawing/2014/main" id="{8211B74B-3093-406D-9C61-942DFD91CB6B}"/>
              </a:ext>
            </a:extLst>
          </p:cNvPr>
          <p:cNvSpPr>
            <a:spLocks noGrp="1"/>
          </p:cNvSpPr>
          <p:nvPr/>
        </p:nvSpPr>
        <p:spPr>
          <a:xfrm>
            <a:off x="628650" y="386715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gate-text-3">
            <a:extLst>
              <a:ext uri="{FF2B5EF4-FFF2-40B4-BE49-F238E27FC236}">
                <a16:creationId xmlns:a16="http://schemas.microsoft.com/office/drawing/2014/main" id="{CD77E529-0600-4C3B-A399-4A6AB8E54186}"/>
              </a:ext>
            </a:extLst>
          </p:cNvPr>
          <p:cNvSpPr>
            <a:spLocks noGrp="1"/>
          </p:cNvSpPr>
          <p:nvPr/>
        </p:nvSpPr>
        <p:spPr>
          <a:xfrm>
            <a:off x="1123950" y="38957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TTL 1–300 秒；最多 1,024 來源</a:t>
            </a:r>
          </a:p>
        </p:txBody>
      </p:sp>
      <p:sp>
        <p:nvSpPr>
          <p:cNvPr id="16" name="gate-rule-3">
            <a:extLst>
              <a:ext uri="{FF2B5EF4-FFF2-40B4-BE49-F238E27FC236}">
                <a16:creationId xmlns:a16="http://schemas.microsoft.com/office/drawing/2014/main" id="{4E4E374E-8E9F-4199-8088-108E3D84D538}"/>
              </a:ext>
            </a:extLst>
          </p:cNvPr>
          <p:cNvSpPr>
            <a:spLocks noGrp="1"/>
          </p:cNvSpPr>
          <p:nvPr/>
        </p:nvSpPr>
        <p:spPr>
          <a:xfrm>
            <a:off x="1123950" y="42957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gate-number-4">
            <a:extLst>
              <a:ext uri="{FF2B5EF4-FFF2-40B4-BE49-F238E27FC236}">
                <a16:creationId xmlns:a16="http://schemas.microsoft.com/office/drawing/2014/main" id="{719E8D94-93F1-4B85-9A87-7BAAB9D43520}"/>
              </a:ext>
            </a:extLst>
          </p:cNvPr>
          <p:cNvSpPr>
            <a:spLocks noGrp="1"/>
          </p:cNvSpPr>
          <p:nvPr/>
        </p:nvSpPr>
        <p:spPr>
          <a:xfrm>
            <a:off x="628650" y="445770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gate-text-4">
            <a:extLst>
              <a:ext uri="{FF2B5EF4-FFF2-40B4-BE49-F238E27FC236}">
                <a16:creationId xmlns:a16="http://schemas.microsoft.com/office/drawing/2014/main" id="{AE0E6115-C508-4547-BEBE-3C2203E7750B}"/>
              </a:ext>
            </a:extLst>
          </p:cNvPr>
          <p:cNvSpPr>
            <a:spLocks noGrp="1"/>
          </p:cNvSpPr>
          <p:nvPr/>
        </p:nvSpPr>
        <p:spPr>
          <a:xfrm>
            <a:off x="1123950" y="448627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desired state／audit／restart reconcile</a:t>
            </a:r>
          </a:p>
        </p:txBody>
      </p:sp>
      <p:sp>
        <p:nvSpPr>
          <p:cNvPr id="19" name="gate-rule-4">
            <a:extLst>
              <a:ext uri="{FF2B5EF4-FFF2-40B4-BE49-F238E27FC236}">
                <a16:creationId xmlns:a16="http://schemas.microsoft.com/office/drawing/2014/main" id="{B5DEE0B4-7C44-4A52-98EA-D5E8A84F3F0F}"/>
              </a:ext>
            </a:extLst>
          </p:cNvPr>
          <p:cNvSpPr>
            <a:spLocks noGrp="1"/>
          </p:cNvSpPr>
          <p:nvPr/>
        </p:nvSpPr>
        <p:spPr>
          <a:xfrm>
            <a:off x="1123950" y="488632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gate-number-5">
            <a:extLst>
              <a:ext uri="{FF2B5EF4-FFF2-40B4-BE49-F238E27FC236}">
                <a16:creationId xmlns:a16="http://schemas.microsoft.com/office/drawing/2014/main" id="{B23B8990-5EC7-46E8-BAA0-33114EFF9614}"/>
              </a:ext>
            </a:extLst>
          </p:cNvPr>
          <p:cNvSpPr>
            <a:spLocks noGrp="1"/>
          </p:cNvSpPr>
          <p:nvPr/>
        </p:nvSpPr>
        <p:spPr>
          <a:xfrm>
            <a:off x="628650" y="5048250"/>
            <a:ext cx="323850" cy="323850"/>
          </a:xfrm>
          <a:prstGeom prst="ellipse">
            <a:avLst/>
          </a:prstGeom>
          <a:solidFill>
            <a:srgbClr val="86605F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1" name="gate-text-5">
            <a:extLst>
              <a:ext uri="{FF2B5EF4-FFF2-40B4-BE49-F238E27FC236}">
                <a16:creationId xmlns:a16="http://schemas.microsoft.com/office/drawing/2014/main" id="{F98F67A9-B12B-46B3-AB9D-C61CA79332CA}"/>
              </a:ext>
            </a:extLst>
          </p:cNvPr>
          <p:cNvSpPr>
            <a:spLocks noGrp="1"/>
          </p:cNvSpPr>
          <p:nvPr/>
        </p:nvSpPr>
        <p:spPr>
          <a:xfrm>
            <a:off x="1123950" y="50768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stdin ticket；拒絕裸 IP／裸 TTL</a:t>
            </a:r>
          </a:p>
        </p:txBody>
      </p:sp>
      <p:sp>
        <p:nvSpPr>
          <p:cNvPr id="22" name="gate-rule-5">
            <a:extLst>
              <a:ext uri="{FF2B5EF4-FFF2-40B4-BE49-F238E27FC236}">
                <a16:creationId xmlns:a16="http://schemas.microsoft.com/office/drawing/2014/main" id="{7D4BECAC-828A-476D-8E55-22B69A6BA594}"/>
              </a:ext>
            </a:extLst>
          </p:cNvPr>
          <p:cNvSpPr>
            <a:spLocks noGrp="1"/>
          </p:cNvSpPr>
          <p:nvPr/>
        </p:nvSpPr>
        <p:spPr>
          <a:xfrm>
            <a:off x="1123950" y="54768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pentest-field">
            <a:extLst>
              <a:ext uri="{FF2B5EF4-FFF2-40B4-BE49-F238E27FC236}">
                <a16:creationId xmlns:a16="http://schemas.microsoft.com/office/drawing/2014/main" id="{7DCA6514-3851-4DDD-B063-057C868C3A92}"/>
              </a:ext>
            </a:extLst>
          </p:cNvPr>
          <p:cNvSpPr>
            <a:spLocks noGrp="1"/>
          </p:cNvSpPr>
          <p:nvPr/>
        </p:nvSpPr>
        <p:spPr>
          <a:xfrm>
            <a:off x="5810250" y="1600200"/>
            <a:ext cx="5772150" cy="44958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pentest-label">
            <a:extLst>
              <a:ext uri="{FF2B5EF4-FFF2-40B4-BE49-F238E27FC236}">
                <a16:creationId xmlns:a16="http://schemas.microsoft.com/office/drawing/2014/main" id="{D92E567D-A03C-422E-8DFF-3EC3CC4836AA}"/>
              </a:ext>
            </a:extLst>
          </p:cNvPr>
          <p:cNvSpPr>
            <a:spLocks noGrp="1"/>
          </p:cNvSpPr>
          <p:nvPr/>
        </p:nvSpPr>
        <p:spPr>
          <a:xfrm>
            <a:off x="6191250" y="19240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LIFECYCLE</a:t>
            </a:r>
          </a:p>
        </p:txBody>
      </p:sp>
      <p:sp>
        <p:nvSpPr>
          <p:cNvPr id="25" name="pentest-title">
            <a:extLst>
              <a:ext uri="{FF2B5EF4-FFF2-40B4-BE49-F238E27FC236}">
                <a16:creationId xmlns:a16="http://schemas.microsoft.com/office/drawing/2014/main" id="{6169BA73-4B1A-4E24-9A1E-538E565BAC5D}"/>
              </a:ext>
            </a:extLst>
          </p:cNvPr>
          <p:cNvSpPr>
            <a:spLocks noGrp="1"/>
          </p:cNvSpPr>
          <p:nvPr/>
        </p:nvSpPr>
        <p:spPr>
          <a:xfrm>
            <a:off x="6191250" y="22860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可撤銷處置流程</a:t>
            </a:r>
          </a:p>
        </p:txBody>
      </p:sp>
      <p:sp>
        <p:nvSpPr>
          <p:cNvPr id="26" name="pentest-timeline">
            <a:extLst>
              <a:ext uri="{FF2B5EF4-FFF2-40B4-BE49-F238E27FC236}">
                <a16:creationId xmlns:a16="http://schemas.microsoft.com/office/drawing/2014/main" id="{E7DA95F9-8A32-498B-9A8C-2AB00D7900E6}"/>
              </a:ext>
            </a:extLst>
          </p:cNvPr>
          <p:cNvSpPr>
            <a:spLocks noGrp="1"/>
          </p:cNvSpPr>
          <p:nvPr/>
        </p:nvSpPr>
        <p:spPr>
          <a:xfrm>
            <a:off x="6438900" y="3067050"/>
            <a:ext cx="19050" cy="2095500"/>
          </a:xfrm>
          <a:prstGeom prst="rect">
            <a:avLst/>
          </a:prstGeom>
          <a:solidFill>
            <a:srgbClr val="A9A8A2"/>
          </a:solidFill>
          <a:ln w="9525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pentest-stage-A">
            <a:extLst>
              <a:ext uri="{FF2B5EF4-FFF2-40B4-BE49-F238E27FC236}">
                <a16:creationId xmlns:a16="http://schemas.microsoft.com/office/drawing/2014/main" id="{0C22CBB5-7ECE-4219-B235-A13EE9106395}"/>
              </a:ext>
            </a:extLst>
          </p:cNvPr>
          <p:cNvSpPr>
            <a:spLocks noGrp="1"/>
          </p:cNvSpPr>
          <p:nvPr/>
        </p:nvSpPr>
        <p:spPr>
          <a:xfrm>
            <a:off x="6257925" y="29527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28" name="pentest-stage-text-A">
            <a:extLst>
              <a:ext uri="{FF2B5EF4-FFF2-40B4-BE49-F238E27FC236}">
                <a16:creationId xmlns:a16="http://schemas.microsoft.com/office/drawing/2014/main" id="{1477B7FD-6405-4B60-A61B-99A1E39A4B19}"/>
              </a:ext>
            </a:extLst>
          </p:cNvPr>
          <p:cNvSpPr>
            <a:spLocks noGrp="1"/>
          </p:cNvSpPr>
          <p:nvPr/>
        </p:nvSpPr>
        <p:spPr>
          <a:xfrm>
            <a:off x="6896100" y="29622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authorize</a:t>
            </a:r>
          </a:p>
        </p:txBody>
      </p:sp>
      <p:sp>
        <p:nvSpPr>
          <p:cNvPr id="29" name="pentest-stage-B">
            <a:extLst>
              <a:ext uri="{FF2B5EF4-FFF2-40B4-BE49-F238E27FC236}">
                <a16:creationId xmlns:a16="http://schemas.microsoft.com/office/drawing/2014/main" id="{EBB94618-215A-413A-B363-B1E814A52F84}"/>
              </a:ext>
            </a:extLst>
          </p:cNvPr>
          <p:cNvSpPr>
            <a:spLocks noGrp="1"/>
          </p:cNvSpPr>
          <p:nvPr/>
        </p:nvSpPr>
        <p:spPr>
          <a:xfrm>
            <a:off x="6257925" y="36385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30" name="pentest-stage-text-B">
            <a:extLst>
              <a:ext uri="{FF2B5EF4-FFF2-40B4-BE49-F238E27FC236}">
                <a16:creationId xmlns:a16="http://schemas.microsoft.com/office/drawing/2014/main" id="{68325BE1-40C0-4D02-93D4-377F90B300F7}"/>
              </a:ext>
            </a:extLst>
          </p:cNvPr>
          <p:cNvSpPr>
            <a:spLocks noGrp="1"/>
          </p:cNvSpPr>
          <p:nvPr/>
        </p:nvSpPr>
        <p:spPr>
          <a:xfrm>
            <a:off x="6896100" y="36480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signed ticket</a:t>
            </a:r>
          </a:p>
        </p:txBody>
      </p:sp>
      <p:sp>
        <p:nvSpPr>
          <p:cNvPr id="31" name="pentest-stage-C">
            <a:extLst>
              <a:ext uri="{FF2B5EF4-FFF2-40B4-BE49-F238E27FC236}">
                <a16:creationId xmlns:a16="http://schemas.microsoft.com/office/drawing/2014/main" id="{1D3366FC-C3BF-4253-A79A-26F2B27ED5CC}"/>
              </a:ext>
            </a:extLst>
          </p:cNvPr>
          <p:cNvSpPr>
            <a:spLocks noGrp="1"/>
          </p:cNvSpPr>
          <p:nvPr/>
        </p:nvSpPr>
        <p:spPr>
          <a:xfrm>
            <a:off x="6257925" y="43243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32" name="pentest-stage-text-C">
            <a:extLst>
              <a:ext uri="{FF2B5EF4-FFF2-40B4-BE49-F238E27FC236}">
                <a16:creationId xmlns:a16="http://schemas.microsoft.com/office/drawing/2014/main" id="{608CB65A-6B5E-457C-A4E6-6C63A5764477}"/>
              </a:ext>
            </a:extLst>
          </p:cNvPr>
          <p:cNvSpPr>
            <a:spLocks noGrp="1"/>
          </p:cNvSpPr>
          <p:nvPr/>
        </p:nvSpPr>
        <p:spPr>
          <a:xfrm>
            <a:off x="6896100" y="43338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timeout set</a:t>
            </a:r>
          </a:p>
        </p:txBody>
      </p:sp>
      <p:sp>
        <p:nvSpPr>
          <p:cNvPr id="33" name="pentest-stage-D">
            <a:extLst>
              <a:ext uri="{FF2B5EF4-FFF2-40B4-BE49-F238E27FC236}">
                <a16:creationId xmlns:a16="http://schemas.microsoft.com/office/drawing/2014/main" id="{2BD9EC51-0B66-495C-8BC9-C7F076B3A9C3}"/>
              </a:ext>
            </a:extLst>
          </p:cNvPr>
          <p:cNvSpPr>
            <a:spLocks noGrp="1"/>
          </p:cNvSpPr>
          <p:nvPr/>
        </p:nvSpPr>
        <p:spPr>
          <a:xfrm>
            <a:off x="6257925" y="5010150"/>
            <a:ext cx="381000" cy="381000"/>
          </a:xfrm>
          <a:prstGeom prst="ellipse">
            <a:avLst/>
          </a:prstGeom>
          <a:solidFill>
            <a:srgbClr val="86605F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34" name="pentest-stage-text-D">
            <a:extLst>
              <a:ext uri="{FF2B5EF4-FFF2-40B4-BE49-F238E27FC236}">
                <a16:creationId xmlns:a16="http://schemas.microsoft.com/office/drawing/2014/main" id="{5E3B203C-3E0C-46BB-85DA-409E38C96168}"/>
              </a:ext>
            </a:extLst>
          </p:cNvPr>
          <p:cNvSpPr>
            <a:spLocks noGrp="1"/>
          </p:cNvSpPr>
          <p:nvPr/>
        </p:nvSpPr>
        <p:spPr>
          <a:xfrm>
            <a:off x="6896100" y="50196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expire／recover</a:t>
            </a:r>
          </a:p>
        </p:txBody>
      </p:sp>
      <p:sp>
        <p:nvSpPr>
          <p:cNvPr id="35" name="pentest-evidence">
            <a:extLst>
              <a:ext uri="{FF2B5EF4-FFF2-40B4-BE49-F238E27FC236}">
                <a16:creationId xmlns:a16="http://schemas.microsoft.com/office/drawing/2014/main" id="{8189D79C-CA4B-4084-83A4-40CBEEFCAD5B}"/>
              </a:ext>
            </a:extLst>
          </p:cNvPr>
          <p:cNvSpPr>
            <a:spLocks noGrp="1"/>
          </p:cNvSpPr>
          <p:nvPr/>
        </p:nvSpPr>
        <p:spPr>
          <a:xfrm>
            <a:off x="6191250" y="552450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production source gate 仍關閉；live executor、kernel drop 與 restart 驗收尚未完成。</a:t>
            </a:r>
          </a:p>
        </p:txBody>
      </p:sp>
    </p:spTree>
    <p:extLst>
      <p:ext uri="{BB962C8B-B14F-4D97-AF65-F5344CB8AC3E}">
        <p14:creationId xmlns:p14="http://schemas.microsoft.com/office/powerpoint/2010/main" val="328248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ail-7">
            <a:extLst>
              <a:ext uri="{FF2B5EF4-FFF2-40B4-BE49-F238E27FC236}">
                <a16:creationId xmlns:a16="http://schemas.microsoft.com/office/drawing/2014/main" id="{F4C55ED1-A8B7-4E29-9244-4E0643AEE1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7">
            <a:extLst>
              <a:ext uri="{FF2B5EF4-FFF2-40B4-BE49-F238E27FC236}">
                <a16:creationId xmlns:a16="http://schemas.microsoft.com/office/drawing/2014/main" id="{21327D03-913D-4CD7-BFD7-189A4C6CE17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資料工廠：每一場攻防資料都能追溯與隔離</a:t>
            </a:r>
          </a:p>
        </p:txBody>
      </p:sp>
      <p:sp>
        <p:nvSpPr>
          <p:cNvPr id="5" name="page-7">
            <a:extLst>
              <a:ext uri="{FF2B5EF4-FFF2-40B4-BE49-F238E27FC236}">
                <a16:creationId xmlns:a16="http://schemas.microsoft.com/office/drawing/2014/main" id="{C3EB467F-8EBC-4956-AD82-6438171E40E4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6" name="synthetic-sessions-value">
            <a:extLst>
              <a:ext uri="{FF2B5EF4-FFF2-40B4-BE49-F238E27FC236}">
                <a16:creationId xmlns:a16="http://schemas.microsoft.com/office/drawing/2014/main" id="{56F289AD-8CC4-4914-8D30-B69628992AF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266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9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7" name="synthetic-sessions-label">
            <a:extLst>
              <a:ext uri="{FF2B5EF4-FFF2-40B4-BE49-F238E27FC236}">
                <a16:creationId xmlns:a16="http://schemas.microsoft.com/office/drawing/2014/main" id="{7CFF3641-AAF3-461D-B9E7-0CB2BABDFAE4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campaign sessions</a:t>
            </a:r>
          </a:p>
        </p:txBody>
      </p:sp>
      <p:sp>
        <p:nvSpPr>
          <p:cNvPr id="8" name="synthetic-windows-value">
            <a:extLst>
              <a:ext uri="{FF2B5EF4-FFF2-40B4-BE49-F238E27FC236}">
                <a16:creationId xmlns:a16="http://schemas.microsoft.com/office/drawing/2014/main" id="{85001741-B906-42A2-BCEC-B8DB0191D505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2857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9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13,872</a:t>
            </a:r>
          </a:p>
        </p:txBody>
      </p:sp>
      <p:sp>
        <p:nvSpPr>
          <p:cNvPr id="9" name="synthetic-windows-label">
            <a:extLst>
              <a:ext uri="{FF2B5EF4-FFF2-40B4-BE49-F238E27FC236}">
                <a16:creationId xmlns:a16="http://schemas.microsoft.com/office/drawing/2014/main" id="{3F230871-FA5F-459B-8E4B-E76FFB25CFEA}"/>
              </a:ext>
            </a:extLst>
          </p:cNvPr>
          <p:cNvSpPr>
            <a:spLocks noGrp="1"/>
          </p:cNvSpPr>
          <p:nvPr/>
        </p:nvSpPr>
        <p:spPr>
          <a:xfrm>
            <a:off x="4476750" y="22669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fusion rows（raw）</a:t>
            </a:r>
          </a:p>
        </p:txBody>
      </p:sp>
      <p:sp>
        <p:nvSpPr>
          <p:cNvPr id="10" name="synthetic-classes-value">
            <a:extLst>
              <a:ext uri="{FF2B5EF4-FFF2-40B4-BE49-F238E27FC236}">
                <a16:creationId xmlns:a16="http://schemas.microsoft.com/office/drawing/2014/main" id="{D6A4B8C9-09E6-4459-99DD-A824ADDA6163}"/>
              </a:ext>
            </a:extLst>
          </p:cNvPr>
          <p:cNvSpPr>
            <a:spLocks noGrp="1"/>
          </p:cNvSpPr>
          <p:nvPr/>
        </p:nvSpPr>
        <p:spPr>
          <a:xfrm>
            <a:off x="8524875" y="1619250"/>
            <a:ext cx="2857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buNone/>
              <a:defRPr sz="3900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1" name="synthetic-classes-label">
            <a:extLst>
              <a:ext uri="{FF2B5EF4-FFF2-40B4-BE49-F238E27FC236}">
                <a16:creationId xmlns:a16="http://schemas.microsoft.com/office/drawing/2014/main" id="{BAD0D16F-FE38-491D-A6E0-13FD6FD161A3}"/>
              </a:ext>
            </a:extLst>
          </p:cNvPr>
          <p:cNvSpPr>
            <a:spLocks noGrp="1"/>
          </p:cNvSpPr>
          <p:nvPr/>
        </p:nvSpPr>
        <p:spPr>
          <a:xfrm>
            <a:off x="8524875" y="22669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情境（normal＋8 attacks）</a:t>
            </a:r>
          </a:p>
        </p:txBody>
      </p:sp>
      <p:sp>
        <p:nvSpPr>
          <p:cNvPr id="12" name="data-flow-line">
            <a:extLst>
              <a:ext uri="{FF2B5EF4-FFF2-40B4-BE49-F238E27FC236}">
                <a16:creationId xmlns:a16="http://schemas.microsoft.com/office/drawing/2014/main" id="{2646C302-2424-41F0-A0C6-38D01E99E0F5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10477500" cy="19050"/>
          </a:xfrm>
          <a:prstGeom prst="rect">
            <a:avLst/>
          </a:prstGeom>
          <a:solidFill>
            <a:srgbClr val="A9A8A2"/>
          </a:solidFill>
          <a:ln w="9525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data-dot-1">
            <a:extLst>
              <a:ext uri="{FF2B5EF4-FFF2-40B4-BE49-F238E27FC236}">
                <a16:creationId xmlns:a16="http://schemas.microsoft.com/office/drawing/2014/main" id="{E2ACFED4-73BB-4C22-B366-B00CDA9834E9}"/>
              </a:ext>
            </a:extLst>
          </p:cNvPr>
          <p:cNvSpPr>
            <a:spLocks noGrp="1"/>
          </p:cNvSpPr>
          <p:nvPr/>
        </p:nvSpPr>
        <p:spPr>
          <a:xfrm>
            <a:off x="609600" y="3619500"/>
            <a:ext cx="419100" cy="419100"/>
          </a:xfrm>
          <a:prstGeom prst="ellipse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4" name="data-stage-title-1">
            <a:extLst>
              <a:ext uri="{FF2B5EF4-FFF2-40B4-BE49-F238E27FC236}">
                <a16:creationId xmlns:a16="http://schemas.microsoft.com/office/drawing/2014/main" id="{10F24C00-59CC-4B18-8296-C4105886BEAD}"/>
              </a:ext>
            </a:extLst>
          </p:cNvPr>
          <p:cNvSpPr>
            <a:spLocks noGrp="1"/>
          </p:cNvSpPr>
          <p:nvPr/>
        </p:nvSpPr>
        <p:spPr>
          <a:xfrm>
            <a:off x="3429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manifest</a:t>
            </a:r>
          </a:p>
        </p:txBody>
      </p:sp>
      <p:sp>
        <p:nvSpPr>
          <p:cNvPr id="15" name="data-stage-body-1">
            <a:extLst>
              <a:ext uri="{FF2B5EF4-FFF2-40B4-BE49-F238E27FC236}">
                <a16:creationId xmlns:a16="http://schemas.microsoft.com/office/drawing/2014/main" id="{826E9071-4650-4743-8DD3-1A6792F83F4A}"/>
              </a:ext>
            </a:extLst>
          </p:cNvPr>
          <p:cNvSpPr>
            <a:spLocks noGrp="1"/>
          </p:cNvSpPr>
          <p:nvPr/>
        </p:nvSpPr>
        <p:spPr>
          <a:xfrm>
            <a:off x="952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seed · mode · label</a:t>
            </a:r>
          </a:p>
        </p:txBody>
      </p:sp>
      <p:sp>
        <p:nvSpPr>
          <p:cNvPr id="16" name="data-dot-2">
            <a:extLst>
              <a:ext uri="{FF2B5EF4-FFF2-40B4-BE49-F238E27FC236}">
                <a16:creationId xmlns:a16="http://schemas.microsoft.com/office/drawing/2014/main" id="{0582A6C3-A261-4A06-89E2-D395745441E9}"/>
              </a:ext>
            </a:extLst>
          </p:cNvPr>
          <p:cNvSpPr>
            <a:spLocks noGrp="1"/>
          </p:cNvSpPr>
          <p:nvPr/>
        </p:nvSpPr>
        <p:spPr>
          <a:xfrm>
            <a:off x="2362200" y="3619500"/>
            <a:ext cx="419100" cy="419100"/>
          </a:xfrm>
          <a:prstGeom prst="ellipse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data-stage-title-2">
            <a:extLst>
              <a:ext uri="{FF2B5EF4-FFF2-40B4-BE49-F238E27FC236}">
                <a16:creationId xmlns:a16="http://schemas.microsoft.com/office/drawing/2014/main" id="{10FDE371-F7DC-4806-858A-91CBD723007A}"/>
              </a:ext>
            </a:extLst>
          </p:cNvPr>
          <p:cNvSpPr>
            <a:spLocks noGrp="1"/>
          </p:cNvSpPr>
          <p:nvPr/>
        </p:nvSpPr>
        <p:spPr>
          <a:xfrm>
            <a:off x="20955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capture</a:t>
            </a:r>
          </a:p>
        </p:txBody>
      </p:sp>
      <p:sp>
        <p:nvSpPr>
          <p:cNvPr id="18" name="data-stage-body-2">
            <a:extLst>
              <a:ext uri="{FF2B5EF4-FFF2-40B4-BE49-F238E27FC236}">
                <a16:creationId xmlns:a16="http://schemas.microsoft.com/office/drawing/2014/main" id="{7981DF5B-B282-4F10-BF9D-9E69B7FAC004}"/>
              </a:ext>
            </a:extLst>
          </p:cNvPr>
          <p:cNvSpPr>
            <a:spLocks noGrp="1"/>
          </p:cNvSpPr>
          <p:nvPr/>
        </p:nvSpPr>
        <p:spPr>
          <a:xfrm>
            <a:off x="18478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PCAP + telemetry</a:t>
            </a:r>
          </a:p>
        </p:txBody>
      </p:sp>
      <p:sp>
        <p:nvSpPr>
          <p:cNvPr id="19" name="data-dot-3">
            <a:extLst>
              <a:ext uri="{FF2B5EF4-FFF2-40B4-BE49-F238E27FC236}">
                <a16:creationId xmlns:a16="http://schemas.microsoft.com/office/drawing/2014/main" id="{1E2E39FD-FFEC-4B70-BC9C-E22435CD4F85}"/>
              </a:ext>
            </a:extLst>
          </p:cNvPr>
          <p:cNvSpPr>
            <a:spLocks noGrp="1"/>
          </p:cNvSpPr>
          <p:nvPr/>
        </p:nvSpPr>
        <p:spPr>
          <a:xfrm>
            <a:off x="4114800" y="3619500"/>
            <a:ext cx="419100" cy="419100"/>
          </a:xfrm>
          <a:prstGeom prst="ellipse">
            <a:avLst/>
          </a:prstGeom>
          <a:solidFill>
            <a:srgbClr val="99988D"/>
          </a:solidFill>
          <a:ln w="9525">
            <a:solidFill>
              <a:srgbClr val="99988D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0" name="data-stage-title-3">
            <a:extLst>
              <a:ext uri="{FF2B5EF4-FFF2-40B4-BE49-F238E27FC236}">
                <a16:creationId xmlns:a16="http://schemas.microsoft.com/office/drawing/2014/main" id="{53F43E4B-8DD5-467B-9D4D-E579C2A1DF94}"/>
              </a:ext>
            </a:extLst>
          </p:cNvPr>
          <p:cNvSpPr>
            <a:spLocks noGrp="1"/>
          </p:cNvSpPr>
          <p:nvPr/>
        </p:nvSpPr>
        <p:spPr>
          <a:xfrm>
            <a:off x="38481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Zeek</a:t>
            </a:r>
          </a:p>
        </p:txBody>
      </p:sp>
      <p:sp>
        <p:nvSpPr>
          <p:cNvPr id="21" name="data-stage-body-3">
            <a:extLst>
              <a:ext uri="{FF2B5EF4-FFF2-40B4-BE49-F238E27FC236}">
                <a16:creationId xmlns:a16="http://schemas.microsoft.com/office/drawing/2014/main" id="{9E135925-285D-400C-B788-13D725A83F64}"/>
              </a:ext>
            </a:extLst>
          </p:cNvPr>
          <p:cNvSpPr>
            <a:spLocks noGrp="1"/>
          </p:cNvSpPr>
          <p:nvPr/>
        </p:nvSpPr>
        <p:spPr>
          <a:xfrm>
            <a:off x="36004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network events</a:t>
            </a:r>
          </a:p>
        </p:txBody>
      </p:sp>
      <p:sp>
        <p:nvSpPr>
          <p:cNvPr id="22" name="data-dot-4">
            <a:extLst>
              <a:ext uri="{FF2B5EF4-FFF2-40B4-BE49-F238E27FC236}">
                <a16:creationId xmlns:a16="http://schemas.microsoft.com/office/drawing/2014/main" id="{F797B6B1-8AEF-438A-9583-FB52DC495E0A}"/>
              </a:ext>
            </a:extLst>
          </p:cNvPr>
          <p:cNvSpPr>
            <a:spLocks noGrp="1"/>
          </p:cNvSpPr>
          <p:nvPr/>
        </p:nvSpPr>
        <p:spPr>
          <a:xfrm>
            <a:off x="5867400" y="3619500"/>
            <a:ext cx="419100" cy="419100"/>
          </a:xfrm>
          <a:prstGeom prst="ellipse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3" name="data-stage-title-4">
            <a:extLst>
              <a:ext uri="{FF2B5EF4-FFF2-40B4-BE49-F238E27FC236}">
                <a16:creationId xmlns:a16="http://schemas.microsoft.com/office/drawing/2014/main" id="{CAF3D415-B922-4FCB-BB2A-1FDD7145E327}"/>
              </a:ext>
            </a:extLst>
          </p:cNvPr>
          <p:cNvSpPr>
            <a:spLocks noGrp="1"/>
          </p:cNvSpPr>
          <p:nvPr/>
        </p:nvSpPr>
        <p:spPr>
          <a:xfrm>
            <a:off x="56007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align</a:t>
            </a:r>
          </a:p>
        </p:txBody>
      </p:sp>
      <p:sp>
        <p:nvSpPr>
          <p:cNvPr id="24" name="data-stage-body-4">
            <a:extLst>
              <a:ext uri="{FF2B5EF4-FFF2-40B4-BE49-F238E27FC236}">
                <a16:creationId xmlns:a16="http://schemas.microsoft.com/office/drawing/2014/main" id="{BB3923BF-CF47-41D6-ABDE-4EAF926D848A}"/>
              </a:ext>
            </a:extLst>
          </p:cNvPr>
          <p:cNvSpPr>
            <a:spLocks noGrp="1"/>
          </p:cNvSpPr>
          <p:nvPr/>
        </p:nvSpPr>
        <p:spPr>
          <a:xfrm>
            <a:off x="53530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session + window</a:t>
            </a:r>
          </a:p>
        </p:txBody>
      </p:sp>
      <p:sp>
        <p:nvSpPr>
          <p:cNvPr id="25" name="data-dot-5">
            <a:extLst>
              <a:ext uri="{FF2B5EF4-FFF2-40B4-BE49-F238E27FC236}">
                <a16:creationId xmlns:a16="http://schemas.microsoft.com/office/drawing/2014/main" id="{A8FB7A3E-977F-4337-AA78-E6DAC1878FA4}"/>
              </a:ext>
            </a:extLst>
          </p:cNvPr>
          <p:cNvSpPr>
            <a:spLocks noGrp="1"/>
          </p:cNvSpPr>
          <p:nvPr/>
        </p:nvSpPr>
        <p:spPr>
          <a:xfrm>
            <a:off x="7620000" y="3619500"/>
            <a:ext cx="419100" cy="419100"/>
          </a:xfrm>
          <a:prstGeom prst="ellipse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6" name="data-stage-title-5">
            <a:extLst>
              <a:ext uri="{FF2B5EF4-FFF2-40B4-BE49-F238E27FC236}">
                <a16:creationId xmlns:a16="http://schemas.microsoft.com/office/drawing/2014/main" id="{61D0DD25-3D0C-41DF-87BA-1A4447E639EA}"/>
              </a:ext>
            </a:extLst>
          </p:cNvPr>
          <p:cNvSpPr>
            <a:spLocks noGrp="1"/>
          </p:cNvSpPr>
          <p:nvPr/>
        </p:nvSpPr>
        <p:spPr>
          <a:xfrm>
            <a:off x="73533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data-stage-body-5">
            <a:extLst>
              <a:ext uri="{FF2B5EF4-FFF2-40B4-BE49-F238E27FC236}">
                <a16:creationId xmlns:a16="http://schemas.microsoft.com/office/drawing/2014/main" id="{4AE8F904-100B-42A2-B6B8-3706599EAF10}"/>
              </a:ext>
            </a:extLst>
          </p:cNvPr>
          <p:cNvSpPr>
            <a:spLocks noGrp="1"/>
          </p:cNvSpPr>
          <p:nvPr/>
        </p:nvSpPr>
        <p:spPr>
          <a:xfrm>
            <a:off x="71056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network / telemetry / fusion</a:t>
            </a:r>
          </a:p>
        </p:txBody>
      </p:sp>
      <p:sp>
        <p:nvSpPr>
          <p:cNvPr id="28" name="data-dot-6">
            <a:extLst>
              <a:ext uri="{FF2B5EF4-FFF2-40B4-BE49-F238E27FC236}">
                <a16:creationId xmlns:a16="http://schemas.microsoft.com/office/drawing/2014/main" id="{6EA45BE9-17AD-4ED8-B2DC-439D58DEB447}"/>
              </a:ext>
            </a:extLst>
          </p:cNvPr>
          <p:cNvSpPr>
            <a:spLocks noGrp="1"/>
          </p:cNvSpPr>
          <p:nvPr/>
        </p:nvSpPr>
        <p:spPr>
          <a:xfrm>
            <a:off x="9372600" y="3619500"/>
            <a:ext cx="419100" cy="419100"/>
          </a:xfrm>
          <a:prstGeom prst="ellipse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data-stage-title-6">
            <a:extLst>
              <a:ext uri="{FF2B5EF4-FFF2-40B4-BE49-F238E27FC236}">
                <a16:creationId xmlns:a16="http://schemas.microsoft.com/office/drawing/2014/main" id="{3FB0AD03-3007-49D3-B312-8AC906644D1A}"/>
              </a:ext>
            </a:extLst>
          </p:cNvPr>
          <p:cNvSpPr>
            <a:spLocks noGrp="1"/>
          </p:cNvSpPr>
          <p:nvPr/>
        </p:nvSpPr>
        <p:spPr>
          <a:xfrm>
            <a:off x="91059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verify</a:t>
            </a:r>
          </a:p>
        </p:txBody>
      </p:sp>
      <p:sp>
        <p:nvSpPr>
          <p:cNvPr id="30" name="data-stage-body-6">
            <a:extLst>
              <a:ext uri="{FF2B5EF4-FFF2-40B4-BE49-F238E27FC236}">
                <a16:creationId xmlns:a16="http://schemas.microsoft.com/office/drawing/2014/main" id="{10CE57C7-31B1-489A-864F-237A4FE61055}"/>
              </a:ext>
            </a:extLst>
          </p:cNvPr>
          <p:cNvSpPr>
            <a:spLocks noGrp="1"/>
          </p:cNvSpPr>
          <p:nvPr/>
        </p:nvSpPr>
        <p:spPr>
          <a:xfrm>
            <a:off x="88582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bytes / SHA / health</a:t>
            </a:r>
          </a:p>
        </p:txBody>
      </p:sp>
      <p:sp>
        <p:nvSpPr>
          <p:cNvPr id="31" name="data-dot-7">
            <a:extLst>
              <a:ext uri="{FF2B5EF4-FFF2-40B4-BE49-F238E27FC236}">
                <a16:creationId xmlns:a16="http://schemas.microsoft.com/office/drawing/2014/main" id="{7727BAE9-9808-4EF0-8BE5-7AA07BC62F3A}"/>
              </a:ext>
            </a:extLst>
          </p:cNvPr>
          <p:cNvSpPr>
            <a:spLocks noGrp="1"/>
          </p:cNvSpPr>
          <p:nvPr/>
        </p:nvSpPr>
        <p:spPr>
          <a:xfrm>
            <a:off x="11125200" y="3619500"/>
            <a:ext cx="419100" cy="419100"/>
          </a:xfrm>
          <a:prstGeom prst="ellipse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2" name="data-stage-title-7">
            <a:extLst>
              <a:ext uri="{FF2B5EF4-FFF2-40B4-BE49-F238E27FC236}">
                <a16:creationId xmlns:a16="http://schemas.microsoft.com/office/drawing/2014/main" id="{522B5B83-2FB3-436B-B694-0D3D16B1BE0C}"/>
              </a:ext>
            </a:extLst>
          </p:cNvPr>
          <p:cNvSpPr>
            <a:spLocks noGrp="1"/>
          </p:cNvSpPr>
          <p:nvPr/>
        </p:nvSpPr>
        <p:spPr>
          <a:xfrm>
            <a:off x="10858500" y="424815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release</a:t>
            </a:r>
          </a:p>
        </p:txBody>
      </p:sp>
      <p:sp>
        <p:nvSpPr>
          <p:cNvPr id="33" name="data-stage-body-7">
            <a:extLst>
              <a:ext uri="{FF2B5EF4-FFF2-40B4-BE49-F238E27FC236}">
                <a16:creationId xmlns:a16="http://schemas.microsoft.com/office/drawing/2014/main" id="{B708DEA2-F44B-40C1-9999-59CBFCD8A9B8}"/>
              </a:ext>
            </a:extLst>
          </p:cNvPr>
          <p:cNvSpPr>
            <a:spLocks noGrp="1"/>
          </p:cNvSpPr>
          <p:nvPr/>
        </p:nvSpPr>
        <p:spPr>
          <a:xfrm>
            <a:off x="10610850" y="4552950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hash / quarantine</a:t>
            </a:r>
          </a:p>
        </p:txBody>
      </p:sp>
      <p:sp>
        <p:nvSpPr>
          <p:cNvPr id="34" name="data-warning-band">
            <a:extLst>
              <a:ext uri="{FF2B5EF4-FFF2-40B4-BE49-F238E27FC236}">
                <a16:creationId xmlns:a16="http://schemas.microsoft.com/office/drawing/2014/main" id="{0C348408-DFA5-4771-B6F5-236E4FEE27B3}"/>
              </a:ext>
            </a:extLst>
          </p:cNvPr>
          <p:cNvSpPr>
            <a:spLocks noGrp="1"/>
          </p:cNvSpPr>
          <p:nvPr/>
        </p:nvSpPr>
        <p:spPr>
          <a:xfrm>
            <a:off x="1695450" y="5467350"/>
            <a:ext cx="8801100" cy="55245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data-warning">
            <a:extLst>
              <a:ext uri="{FF2B5EF4-FFF2-40B4-BE49-F238E27FC236}">
                <a16:creationId xmlns:a16="http://schemas.microsoft.com/office/drawing/2014/main" id="{207DAB57-0B21-40BA-BAF2-EE02A59FD866}"/>
              </a:ext>
            </a:extLst>
          </p:cNvPr>
          <p:cNvSpPr>
            <a:spLocks noGrp="1"/>
          </p:cNvSpPr>
          <p:nvPr/>
        </p:nvSpPr>
        <p:spPr>
          <a:xfrm>
            <a:off x="1952625" y="5600700"/>
            <a:ext cx="8286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封存後 artifact 若仍變動就 fail-closed；原始資料保留，不用改 manifest 掩蓋問題。</a:t>
            </a:r>
          </a:p>
        </p:txBody>
      </p:sp>
    </p:spTree>
    <p:extLst>
      <p:ext uri="{BB962C8B-B14F-4D97-AF65-F5344CB8AC3E}">
        <p14:creationId xmlns:p14="http://schemas.microsoft.com/office/powerpoint/2010/main" val="14412871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ail-8">
            <a:extLst>
              <a:ext uri="{FF2B5EF4-FFF2-40B4-BE49-F238E27FC236}">
                <a16:creationId xmlns:a16="http://schemas.microsoft.com/office/drawing/2014/main" id="{02C73E74-F270-4BB2-BA39-4A6F29A1F5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C3DEC183-E8ED-4A52-B91D-03541993DA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Campaign 完成 1,100 場，但乾淨候選只使用 1,099 場</a:t>
            </a:r>
          </a:p>
        </p:txBody>
      </p:sp>
      <p:sp>
        <p:nvSpPr>
          <p:cNvPr id="5" name="page-8">
            <a:extLst>
              <a:ext uri="{FF2B5EF4-FFF2-40B4-BE49-F238E27FC236}">
                <a16:creationId xmlns:a16="http://schemas.microsoft.com/office/drawing/2014/main" id="{C3BAA59D-87FF-47F3-B4E6-0645440327B3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6" name="pilot-20">
            <a:extLst>
              <a:ext uri="{FF2B5EF4-FFF2-40B4-BE49-F238E27FC236}">
                <a16:creationId xmlns:a16="http://schemas.microsoft.com/office/drawing/2014/main" id="{5B30C10E-7A36-47FA-9BAC-BA7E52DA2E34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32385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6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1100</a:t>
            </a:r>
          </a:p>
        </p:txBody>
      </p:sp>
      <p:sp>
        <p:nvSpPr>
          <p:cNvPr id="7" name="pilot-label">
            <a:extLst>
              <a:ext uri="{FF2B5EF4-FFF2-40B4-BE49-F238E27FC236}">
                <a16:creationId xmlns:a16="http://schemas.microsoft.com/office/drawing/2014/main" id="{30093C3B-2247-4D76-8CF8-582A8F9F1C74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FORMAL SESSIONS</a:t>
            </a:r>
          </a:p>
        </p:txBody>
      </p:sp>
      <p:sp>
        <p:nvSpPr>
          <p:cNvPr id="8" name="pilot-split">
            <a:extLst>
              <a:ext uri="{FF2B5EF4-FFF2-40B4-BE49-F238E27FC236}">
                <a16:creationId xmlns:a16="http://schemas.microsoft.com/office/drawing/2014/main" id="{E3D1D66B-F79D-40AC-A2FB-92F9F3F9A417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238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550 Permissive / 550 Enforce</a:t>
            </a:r>
          </a:p>
        </p:txBody>
      </p:sp>
      <p:sp>
        <p:nvSpPr>
          <p:cNvPr id="9" name="pilot-metric-1">
            <a:extLst>
              <a:ext uri="{FF2B5EF4-FFF2-40B4-BE49-F238E27FC236}">
                <a16:creationId xmlns:a16="http://schemas.microsoft.com/office/drawing/2014/main" id="{0D27329A-E787-440C-94B6-9100220409DE}"/>
              </a:ext>
            </a:extLst>
          </p:cNvPr>
          <p:cNvSpPr>
            <a:spLocks noGrp="1"/>
          </p:cNvSpPr>
          <p:nvPr/>
        </p:nvSpPr>
        <p:spPr>
          <a:xfrm>
            <a:off x="4095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1,099</a:t>
            </a:r>
          </a:p>
        </p:txBody>
      </p:sp>
      <p:sp>
        <p:nvSpPr>
          <p:cNvPr id="10" name="pilot-metric-label-1">
            <a:extLst>
              <a:ext uri="{FF2B5EF4-FFF2-40B4-BE49-F238E27FC236}">
                <a16:creationId xmlns:a16="http://schemas.microsoft.com/office/drawing/2014/main" id="{70C8DCB3-4D9D-47BF-BD0B-0633E6745D5C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clean candidate sessions</a:t>
            </a:r>
          </a:p>
        </p:txBody>
      </p:sp>
      <p:sp>
        <p:nvSpPr>
          <p:cNvPr id="11" name="pilot-separator-1">
            <a:extLst>
              <a:ext uri="{FF2B5EF4-FFF2-40B4-BE49-F238E27FC236}">
                <a16:creationId xmlns:a16="http://schemas.microsoft.com/office/drawing/2014/main" id="{4CE5B702-1D8E-4A61-9220-E52715CF4830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ilot-metric-2">
            <a:extLst>
              <a:ext uri="{FF2B5EF4-FFF2-40B4-BE49-F238E27FC236}">
                <a16:creationId xmlns:a16="http://schemas.microsoft.com/office/drawing/2014/main" id="{57D28980-F6FC-4C86-A59B-039936070E47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7.1 GB</a:t>
            </a:r>
          </a:p>
        </p:txBody>
      </p:sp>
      <p:sp>
        <p:nvSpPr>
          <p:cNvPr id="13" name="pilot-metric-label-2">
            <a:extLst>
              <a:ext uri="{FF2B5EF4-FFF2-40B4-BE49-F238E27FC236}">
                <a16:creationId xmlns:a16="http://schemas.microsoft.com/office/drawing/2014/main" id="{93BA81E2-FD4F-4393-9482-FF508FDD4B6E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evidence archive</a:t>
            </a:r>
          </a:p>
        </p:txBody>
      </p:sp>
      <p:sp>
        <p:nvSpPr>
          <p:cNvPr id="14" name="pilot-separator-2">
            <a:extLst>
              <a:ext uri="{FF2B5EF4-FFF2-40B4-BE49-F238E27FC236}">
                <a16:creationId xmlns:a16="http://schemas.microsoft.com/office/drawing/2014/main" id="{8294DCB3-F750-4DC4-BA0B-B4AD8DA95D7B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ilot-metric-3">
            <a:extLst>
              <a:ext uri="{FF2B5EF4-FFF2-40B4-BE49-F238E27FC236}">
                <a16:creationId xmlns:a16="http://schemas.microsoft.com/office/drawing/2014/main" id="{8DC3A233-A7BE-4D3F-B813-34C55CEE30A8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6" name="pilot-metric-label-3">
            <a:extLst>
              <a:ext uri="{FF2B5EF4-FFF2-40B4-BE49-F238E27FC236}">
                <a16:creationId xmlns:a16="http://schemas.microsoft.com/office/drawing/2014/main" id="{C44F6613-9A85-4BB3-8E03-648916666754}"/>
              </a:ext>
            </a:extLst>
          </p:cNvPr>
          <p:cNvSpPr>
            <a:spLocks noGrp="1"/>
          </p:cNvSpPr>
          <p:nvPr/>
        </p:nvSpPr>
        <p:spPr>
          <a:xfrm>
            <a:off x="9048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post-manifest mismatch</a:t>
            </a:r>
          </a:p>
        </p:txBody>
      </p:sp>
      <p:sp>
        <p:nvSpPr>
          <p:cNvPr id="17" name="pilot-meaning">
            <a:extLst>
              <a:ext uri="{FF2B5EF4-FFF2-40B4-BE49-F238E27FC236}">
                <a16:creationId xmlns:a16="http://schemas.microsoft.com/office/drawing/2014/main" id="{0DE0BA5D-4C3D-4BC0-AB5F-936703B50076}"/>
              </a:ext>
            </a:extLst>
          </p:cNvPr>
          <p:cNvSpPr>
            <a:spLocks noGrp="1"/>
          </p:cNvSpPr>
          <p:nvPr/>
        </p:nvSpPr>
        <p:spPr>
          <a:xfrm>
            <a:off x="4095750" y="3857625"/>
            <a:ext cx="7000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normal 300；八種攻擊各 100。壞場 stderr 由 3,231 增至 45,206 bytes；以外部 registry 排除，不刪改 raw。</a:t>
            </a:r>
          </a:p>
        </p:txBody>
      </p:sp>
      <p:sp>
        <p:nvSpPr>
          <p:cNvPr id="18" name="pilot-boundary-band">
            <a:extLst>
              <a:ext uri="{FF2B5EF4-FFF2-40B4-BE49-F238E27FC236}">
                <a16:creationId xmlns:a16="http://schemas.microsoft.com/office/drawing/2014/main" id="{B43F88C1-5FBF-43BA-AE7B-48A95A6A5F69}"/>
              </a:ext>
            </a:extLst>
          </p:cNvPr>
          <p:cNvSpPr>
            <a:spLocks noGrp="1"/>
          </p:cNvSpPr>
          <p:nvPr/>
        </p:nvSpPr>
        <p:spPr>
          <a:xfrm>
            <a:off x="4095750" y="5219700"/>
            <a:ext cx="7000875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ilot-boundary">
            <a:extLst>
              <a:ext uri="{FF2B5EF4-FFF2-40B4-BE49-F238E27FC236}">
                <a16:creationId xmlns:a16="http://schemas.microsoft.com/office/drawing/2014/main" id="{4AABAAC1-BC15-4E45-BE34-D8FEDF69EBE3}"/>
              </a:ext>
            </a:extLst>
          </p:cNvPr>
          <p:cNvSpPr>
            <a:spLocks noGrp="1"/>
          </p:cNvSpPr>
          <p:nvPr/>
        </p:nvSpPr>
        <p:spPr>
          <a:xfrm>
            <a:off x="4333875" y="5353050"/>
            <a:ext cx="65246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CAMPAIGN COMPLETE ≠ 1,100 份全部通過現行完整性驗證</a:t>
            </a:r>
          </a:p>
        </p:txBody>
      </p:sp>
    </p:spTree>
    <p:extLst>
      <p:ext uri="{BB962C8B-B14F-4D97-AF65-F5344CB8AC3E}">
        <p14:creationId xmlns:p14="http://schemas.microsoft.com/office/powerpoint/2010/main" val="456440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ail-10">
            <a:extLst>
              <a:ext uri="{FF2B5EF4-FFF2-40B4-BE49-F238E27FC236}">
                <a16:creationId xmlns:a16="http://schemas.microsoft.com/office/drawing/2014/main" id="{7652D2E9-03D1-4BE9-9543-8AC684917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B8A8975B-146B-46FD-8933-D4935AB2C4D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缺少來源不能被包裝成量測到零</a:t>
            </a:r>
          </a:p>
        </p:txBody>
      </p:sp>
      <p:sp>
        <p:nvSpPr>
          <p:cNvPr id="5" name="page-10">
            <a:extLst>
              <a:ext uri="{FF2B5EF4-FFF2-40B4-BE49-F238E27FC236}">
                <a16:creationId xmlns:a16="http://schemas.microsoft.com/office/drawing/2014/main" id="{1F8A0CEB-BE54-449D-BFDC-5BC796F02700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609600" y="1600200"/>
          <a:ext cx="10972800" cy="4343402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48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證據來源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觀察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正確結論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禁止宣稱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SROS2 adapter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249,670 行／0 deny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vendor deny source unavailable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deny recall = 1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Enforce telemetry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 項中 5 項恆零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重跑後由 8 降到 5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事件真的為 0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UA Permissive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50/50 graph 可見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graph isolation proxy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message 已送達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UA Enforce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50/50 graph 不可見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與 isolation 一致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delivery 已證明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PCAP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可見 RTPS／UDP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transport 證據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subscriber outcome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下一步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direct canary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attempt＋receipt＋health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 log 補造結果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756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ail-9">
            <a:extLst>
              <a:ext uri="{FF2B5EF4-FFF2-40B4-BE49-F238E27FC236}">
                <a16:creationId xmlns:a16="http://schemas.microsoft.com/office/drawing/2014/main" id="{E74F51EE-1961-44C0-B2A7-71FE6A03A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9">
            <a:extLst>
              <a:ext uri="{FF2B5EF4-FFF2-40B4-BE49-F238E27FC236}">
                <a16:creationId xmlns:a16="http://schemas.microsoft.com/office/drawing/2014/main" id="{A958235B-C9E6-457F-8C22-5A34122FE52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32 維多模態被展開成 148 維因果時序特徵</a:t>
            </a:r>
          </a:p>
        </p:txBody>
      </p:sp>
      <p:sp>
        <p:nvSpPr>
          <p:cNvPr id="5" name="page-9">
            <a:extLst>
              <a:ext uri="{FF2B5EF4-FFF2-40B4-BE49-F238E27FC236}">
                <a16:creationId xmlns:a16="http://schemas.microsoft.com/office/drawing/2014/main" id="{C349AD79-C29A-4A80-B947-BE56FEC982CB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6" name="ai-network-panel">
            <a:extLst>
              <a:ext uri="{FF2B5EF4-FFF2-40B4-BE49-F238E27FC236}">
                <a16:creationId xmlns:a16="http://schemas.microsoft.com/office/drawing/2014/main" id="{CB1BA9DB-C3A7-4A6A-A407-AEF77A6AB87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4714875" cy="3276600"/>
          </a:xfrm>
          <a:prstGeom prst="rect">
            <a:avLst/>
          </a:prstGeom>
          <a:solidFill>
            <a:srgbClr val="E4E7E8"/>
          </a:solidFill>
          <a:ln w="9525">
            <a:solidFill>
              <a:srgbClr val="E4E7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ai-telemetry-panel">
            <a:extLst>
              <a:ext uri="{FF2B5EF4-FFF2-40B4-BE49-F238E27FC236}">
                <a16:creationId xmlns:a16="http://schemas.microsoft.com/office/drawing/2014/main" id="{EE7298DB-F6D2-465D-AA68-8CDA94B63086}"/>
              </a:ext>
            </a:extLst>
          </p:cNvPr>
          <p:cNvSpPr>
            <a:spLocks noGrp="1"/>
          </p:cNvSpPr>
          <p:nvPr/>
        </p:nvSpPr>
        <p:spPr>
          <a:xfrm>
            <a:off x="6867525" y="1695450"/>
            <a:ext cx="4714875" cy="327660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ai-fusion-panel">
            <a:extLst>
              <a:ext uri="{FF2B5EF4-FFF2-40B4-BE49-F238E27FC236}">
                <a16:creationId xmlns:a16="http://schemas.microsoft.com/office/drawing/2014/main" id="{D9D1D5AD-9072-493F-9E97-28132AB8DA2C}"/>
              </a:ext>
            </a:extLst>
          </p:cNvPr>
          <p:cNvSpPr>
            <a:spLocks noGrp="1"/>
          </p:cNvSpPr>
          <p:nvPr/>
        </p:nvSpPr>
        <p:spPr>
          <a:xfrm>
            <a:off x="5324475" y="2228850"/>
            <a:ext cx="1543050" cy="22288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i-network-number">
            <a:extLst>
              <a:ext uri="{FF2B5EF4-FFF2-40B4-BE49-F238E27FC236}">
                <a16:creationId xmlns:a16="http://schemas.microsoft.com/office/drawing/2014/main" id="{325D7D34-33AB-4F94-A146-FCBEC95851D8}"/>
              </a:ext>
            </a:extLst>
          </p:cNvPr>
          <p:cNvSpPr>
            <a:spLocks noGrp="1"/>
          </p:cNvSpPr>
          <p:nvPr/>
        </p:nvSpPr>
        <p:spPr>
          <a:xfrm>
            <a:off x="971550" y="2095500"/>
            <a:ext cx="1428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" name="ai-network-title">
            <a:extLst>
              <a:ext uri="{FF2B5EF4-FFF2-40B4-BE49-F238E27FC236}">
                <a16:creationId xmlns:a16="http://schemas.microsoft.com/office/drawing/2014/main" id="{58EF713F-A789-43AB-B380-D73C4B71D695}"/>
              </a:ext>
            </a:extLst>
          </p:cNvPr>
          <p:cNvSpPr>
            <a:spLocks noGrp="1"/>
          </p:cNvSpPr>
          <p:nvPr/>
        </p:nvSpPr>
        <p:spPr>
          <a:xfrm>
            <a:off x="971550" y="293370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DDS NETWORK</a:t>
            </a:r>
          </a:p>
        </p:txBody>
      </p:sp>
      <p:sp>
        <p:nvSpPr>
          <p:cNvPr id="11" name="ai-network-body">
            <a:extLst>
              <a:ext uri="{FF2B5EF4-FFF2-40B4-BE49-F238E27FC236}">
                <a16:creationId xmlns:a16="http://schemas.microsoft.com/office/drawing/2014/main" id="{CCF01C69-254D-40E2-ADC9-A994D1185A4F}"/>
              </a:ext>
            </a:extLst>
          </p:cNvPr>
          <p:cNvSpPr>
            <a:spLocks noGrp="1"/>
          </p:cNvSpPr>
          <p:nvPr/>
        </p:nvSpPr>
        <p:spPr>
          <a:xfrm>
            <a:off x="971550" y="3409950"/>
            <a:ext cx="3810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封包／連線／來源／目的／埠／protocol／Zeek 事件。</a:t>
            </a:r>
          </a:p>
          <a:p>
            <a:endParaRPr sz="1350" b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依 (session, source) 保存最多兩個過去視窗。</a:t>
            </a:r>
          </a:p>
        </p:txBody>
      </p:sp>
      <p:sp>
        <p:nvSpPr>
          <p:cNvPr id="12" name="ai-fusion-text">
            <a:extLst>
              <a:ext uri="{FF2B5EF4-FFF2-40B4-BE49-F238E27FC236}">
                <a16:creationId xmlns:a16="http://schemas.microsoft.com/office/drawing/2014/main" id="{23277CB1-FD53-41E6-B9BD-8C69D04B9384}"/>
              </a:ext>
            </a:extLst>
          </p:cNvPr>
          <p:cNvSpPr>
            <a:spLocks noGrp="1"/>
          </p:cNvSpPr>
          <p:nvPr/>
        </p:nvSpPr>
        <p:spPr>
          <a:xfrm>
            <a:off x="5476875" y="2524125"/>
            <a:ext cx="1238250" cy="1666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73643"/>
          </a:bodyPr>
          <a:lstStyle/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CAUSAL FUSION</a:t>
            </a:r>
          </a:p>
          <a:p>
            <a:endParaRPr sz="1650" b="1">
              <a:solidFill>
                <a:srgbClr val="FAF8F3"/>
              </a:solidFill>
              <a:latin typeface="Microsoft JhengHei"/>
              <a:ea typeface="Microsoft JhengHei"/>
              <a:cs typeface="Microsoft JhengHei"/>
            </a:endParaRPr>
          </a:p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32 current</a:t>
            </a:r>
          </a:p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+ 32 delta-1</a:t>
            </a:r>
          </a:p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+ 64 rolling</a:t>
            </a:r>
          </a:p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+ 20 masks</a:t>
            </a:r>
          </a:p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=</a:t>
            </a:r>
          </a:p>
          <a:p>
            <a:pPr algn="ctr">
              <a:buNone/>
              <a:def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148</a:t>
            </a:r>
          </a:p>
        </p:txBody>
      </p:sp>
      <p:sp>
        <p:nvSpPr>
          <p:cNvPr id="13" name="ai-telemetry-number">
            <a:extLst>
              <a:ext uri="{FF2B5EF4-FFF2-40B4-BE49-F238E27FC236}">
                <a16:creationId xmlns:a16="http://schemas.microsoft.com/office/drawing/2014/main" id="{BA147F41-0BA6-4E4A-8F23-CA4EA3D4259B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1428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8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4" name="ai-telemetry-title">
            <a:extLst>
              <a:ext uri="{FF2B5EF4-FFF2-40B4-BE49-F238E27FC236}">
                <a16:creationId xmlns:a16="http://schemas.microsoft.com/office/drawing/2014/main" id="{09C22F3D-1A2B-4284-97E7-AE72B5D8C13A}"/>
              </a:ext>
            </a:extLst>
          </p:cNvPr>
          <p:cNvSpPr>
            <a:spLocks noGrp="1"/>
          </p:cNvSpPr>
          <p:nvPr/>
        </p:nvSpPr>
        <p:spPr>
          <a:xfrm>
            <a:off x="7239000" y="29337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ROS / SROS2 TELEMETRY</a:t>
            </a:r>
          </a:p>
        </p:txBody>
      </p:sp>
      <p:sp>
        <p:nvSpPr>
          <p:cNvPr id="15" name="ai-telemetry-body">
            <a:extLst>
              <a:ext uri="{FF2B5EF4-FFF2-40B4-BE49-F238E27FC236}">
                <a16:creationId xmlns:a16="http://schemas.microsoft.com/office/drawing/2014/main" id="{A31A91D5-F693-478D-9118-90D499B37F37}"/>
              </a:ext>
            </a:extLst>
          </p:cNvPr>
          <p:cNvSpPr>
            <a:spLocks noGrp="1"/>
          </p:cNvSpPr>
          <p:nvPr/>
        </p:nvSpPr>
        <p:spPr>
          <a:xfrm>
            <a:off x="7239000" y="3409950"/>
            <a:ext cx="3810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HMAC／graph／heartbeat／guard</a:t>
            </a:r>
          </a:p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scan／odom／cmd</a:t>
            </a:r>
          </a:p>
          <a:p>
            <a:endParaRPr sz="1350" b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source mask 分開「不可用」與「真實為零」。</a:t>
            </a:r>
          </a:p>
        </p:txBody>
      </p:sp>
      <p:sp>
        <p:nvSpPr>
          <p:cNvPr id="16" name="ai-blocker-band">
            <a:extLst>
              <a:ext uri="{FF2B5EF4-FFF2-40B4-BE49-F238E27FC236}">
                <a16:creationId xmlns:a16="http://schemas.microsoft.com/office/drawing/2014/main" id="{5B0A61CE-4994-4E7F-9153-11CA5C39D089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6096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ai-blocker-text">
            <a:extLst>
              <a:ext uri="{FF2B5EF4-FFF2-40B4-BE49-F238E27FC236}">
                <a16:creationId xmlns:a16="http://schemas.microsoft.com/office/drawing/2014/main" id="{919E45A1-D8DE-4E71-BCD2-E90F1DB1634C}"/>
              </a:ext>
            </a:extLst>
          </p:cNvPr>
          <p:cNvSpPr>
            <a:spLocks noGrp="1"/>
          </p:cNvSpPr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不使用 timestamp、window index 或未來資料；padding 由 history mask 表示。</a:t>
            </a:r>
          </a:p>
        </p:txBody>
      </p:sp>
    </p:spTree>
    <p:extLst>
      <p:ext uri="{BB962C8B-B14F-4D97-AF65-F5344CB8AC3E}">
        <p14:creationId xmlns:p14="http://schemas.microsoft.com/office/powerpoint/2010/main" val="11573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ail-10">
            <a:extLst>
              <a:ext uri="{FF2B5EF4-FFF2-40B4-BE49-F238E27FC236}">
                <a16:creationId xmlns:a16="http://schemas.microsoft.com/office/drawing/2014/main" id="{7652D2E9-03D1-4BE9-9543-8AC684917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B8A8975B-146B-46FD-8933-D4935AB2C4D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SROS2 模式高度可辨識，因此必須分模式訓練</a:t>
            </a:r>
          </a:p>
        </p:txBody>
      </p:sp>
      <p:sp>
        <p:nvSpPr>
          <p:cNvPr id="5" name="page-10">
            <a:extLst>
              <a:ext uri="{FF2B5EF4-FFF2-40B4-BE49-F238E27FC236}">
                <a16:creationId xmlns:a16="http://schemas.microsoft.com/office/drawing/2014/main" id="{1F8A0CEB-BE54-449D-BFDC-5BC796F02700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609600" y="1600200"/>
          <a:ext cx="10972800" cy="4343402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48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風險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設計決定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mode separability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0.9451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模型可能只記模式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分開訓練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單特徵辨識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 中 10 項可辨識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collection bias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逐特徵稽核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8 特徵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仍 0.8568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偏差尚未消失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 mode contract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attack AUC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0.9499 → 0.7482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硬刪會丟攻擊訊號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不粗暴去特徵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跨模式 paired seed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pair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日期／revision 共線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補 AB/BA crossover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目前結論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mode-associated shift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不能做純因果宣稱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final holdout 重驗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756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ail-4">
            <a:extLst>
              <a:ext uri="{FF2B5EF4-FFF2-40B4-BE49-F238E27FC236}">
                <a16:creationId xmlns:a16="http://schemas.microsoft.com/office/drawing/2014/main" id="{B85B79E5-68FD-4521-9C9C-7CB5117C6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4">
            <a:extLst>
              <a:ext uri="{FF2B5EF4-FFF2-40B4-BE49-F238E27FC236}">
                <a16:creationId xmlns:a16="http://schemas.microsoft.com/office/drawing/2014/main" id="{72CFD4E5-8BEB-460D-9C49-0C16FBD1133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分層 AI 先回答有沒有攻擊，再決定家族與診斷類型</a:t>
            </a:r>
          </a:p>
        </p:txBody>
      </p:sp>
      <p:sp>
        <p:nvSpPr>
          <p:cNvPr id="5" name="page-4">
            <a:extLst>
              <a:ext uri="{FF2B5EF4-FFF2-40B4-BE49-F238E27FC236}">
                <a16:creationId xmlns:a16="http://schemas.microsoft.com/office/drawing/2014/main" id="{4AA6B4CF-FC7C-4521-92C4-8736D130192C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" name="architecture-subtitle">
            <a:extLst>
              <a:ext uri="{FF2B5EF4-FFF2-40B4-BE49-F238E27FC236}">
                <a16:creationId xmlns:a16="http://schemas.microsoft.com/office/drawing/2014/main" id="{A824570B-B420-4BDA-8B97-A199CBB738D1}"/>
              </a:ext>
            </a:extLst>
          </p:cNvPr>
          <p:cNvSpPr>
            <a:spLocks noGrp="1"/>
          </p:cNvSpPr>
          <p:nvPr/>
        </p:nvSpPr>
        <p:spPr>
          <a:xfrm>
            <a:off x="552450" y="150495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避免平面九類在未知或低信心情況下硬猜一個可執行動作。</a:t>
            </a:r>
          </a:p>
        </p:txBody>
      </p:sp>
      <p:sp>
        <p:nvSpPr>
          <p:cNvPr id="7" name="architecture-arrow-1">
            <a:extLst>
              <a:ext uri="{FF2B5EF4-FFF2-40B4-BE49-F238E27FC236}">
                <a16:creationId xmlns:a16="http://schemas.microsoft.com/office/drawing/2014/main" id="{BDDF5001-AEAC-4CCE-918F-BF846E7BD8D2}"/>
              </a:ext>
            </a:extLst>
          </p:cNvPr>
          <p:cNvSpPr>
            <a:spLocks noGrp="1"/>
          </p:cNvSpPr>
          <p:nvPr/>
        </p:nvSpPr>
        <p:spPr>
          <a:xfrm>
            <a:off x="24765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architecture-arrow-2">
            <a:extLst>
              <a:ext uri="{FF2B5EF4-FFF2-40B4-BE49-F238E27FC236}">
                <a16:creationId xmlns:a16="http://schemas.microsoft.com/office/drawing/2014/main" id="{D78AC9B7-9E37-465A-9C29-58D286AEC607}"/>
              </a:ext>
            </a:extLst>
          </p:cNvPr>
          <p:cNvSpPr>
            <a:spLocks noGrp="1"/>
          </p:cNvSpPr>
          <p:nvPr/>
        </p:nvSpPr>
        <p:spPr>
          <a:xfrm>
            <a:off x="47244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rchitecture-arrow-3">
            <a:extLst>
              <a:ext uri="{FF2B5EF4-FFF2-40B4-BE49-F238E27FC236}">
                <a16:creationId xmlns:a16="http://schemas.microsoft.com/office/drawing/2014/main" id="{55E014E2-17D1-47CF-A16F-190899CAAB62}"/>
              </a:ext>
            </a:extLst>
          </p:cNvPr>
          <p:cNvSpPr>
            <a:spLocks noGrp="1"/>
          </p:cNvSpPr>
          <p:nvPr/>
        </p:nvSpPr>
        <p:spPr>
          <a:xfrm>
            <a:off x="69723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architecture-arrow-4">
            <a:extLst>
              <a:ext uri="{FF2B5EF4-FFF2-40B4-BE49-F238E27FC236}">
                <a16:creationId xmlns:a16="http://schemas.microsoft.com/office/drawing/2014/main" id="{19FE8BB1-D986-406E-95FB-4D4BF6E0F34F}"/>
              </a:ext>
            </a:extLst>
          </p:cNvPr>
          <p:cNvSpPr>
            <a:spLocks noGrp="1"/>
          </p:cNvSpPr>
          <p:nvPr/>
        </p:nvSpPr>
        <p:spPr>
          <a:xfrm>
            <a:off x="9220200" y="3086100"/>
            <a:ext cx="361950" cy="285750"/>
          </a:xfrm>
          <a:prstGeom prst="rightArrow">
            <a:avLst/>
          </a:prstGeom>
          <a:solidFill>
            <a:srgbClr val="A9A8A2"/>
          </a:solidFill>
          <a:ln w="0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architecture-node-1">
            <a:extLst>
              <a:ext uri="{FF2B5EF4-FFF2-40B4-BE49-F238E27FC236}">
                <a16:creationId xmlns:a16="http://schemas.microsoft.com/office/drawing/2014/main" id="{3C847825-4317-492F-A82B-4EE3E5F5B70E}"/>
              </a:ext>
            </a:extLst>
          </p:cNvPr>
          <p:cNvSpPr>
            <a:spLocks noGrp="1"/>
          </p:cNvSpPr>
          <p:nvPr/>
        </p:nvSpPr>
        <p:spPr>
          <a:xfrm>
            <a:off x="5524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architecture-number-1">
            <a:extLst>
              <a:ext uri="{FF2B5EF4-FFF2-40B4-BE49-F238E27FC236}">
                <a16:creationId xmlns:a16="http://schemas.microsoft.com/office/drawing/2014/main" id="{7507B939-3ADB-49DB-B566-9C77B767588D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3" name="architecture-title-1">
            <a:extLst>
              <a:ext uri="{FF2B5EF4-FFF2-40B4-BE49-F238E27FC236}">
                <a16:creationId xmlns:a16="http://schemas.microsoft.com/office/drawing/2014/main" id="{D104A880-613B-42D7-B1F1-377B0DFFF4FB}"/>
              </a:ext>
            </a:extLst>
          </p:cNvPr>
          <p:cNvSpPr>
            <a:spLocks noGrp="1"/>
          </p:cNvSpPr>
          <p:nvPr/>
        </p:nvSpPr>
        <p:spPr>
          <a:xfrm>
            <a:off x="7620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Binary</a:t>
            </a:r>
          </a:p>
        </p:txBody>
      </p:sp>
      <p:sp>
        <p:nvSpPr>
          <p:cNvPr id="14" name="architecture-node-rule-1">
            <a:extLst>
              <a:ext uri="{FF2B5EF4-FFF2-40B4-BE49-F238E27FC236}">
                <a16:creationId xmlns:a16="http://schemas.microsoft.com/office/drawing/2014/main" id="{5C939F5F-E07B-4BCE-81DF-88E37B07F613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430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architecture-body-1">
            <a:extLst>
              <a:ext uri="{FF2B5EF4-FFF2-40B4-BE49-F238E27FC236}">
                <a16:creationId xmlns:a16="http://schemas.microsoft.com/office/drawing/2014/main" id="{956C3699-913E-4D93-9BB7-D651021B5CC3}"/>
              </a:ext>
            </a:extLst>
          </p:cNvPr>
          <p:cNvSpPr>
            <a:spLocks noGrp="1"/>
          </p:cNvSpPr>
          <p:nvPr/>
        </p:nvSpPr>
        <p:spPr>
          <a:xfrm>
            <a:off x="7620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normal / attack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第一道風險閘門</a:t>
            </a:r>
          </a:p>
        </p:txBody>
      </p:sp>
      <p:sp>
        <p:nvSpPr>
          <p:cNvPr id="16" name="architecture-node-2">
            <a:extLst>
              <a:ext uri="{FF2B5EF4-FFF2-40B4-BE49-F238E27FC236}">
                <a16:creationId xmlns:a16="http://schemas.microsoft.com/office/drawing/2014/main" id="{D86426C2-8403-4C37-9DC9-B6EC436736B0}"/>
              </a:ext>
            </a:extLst>
          </p:cNvPr>
          <p:cNvSpPr>
            <a:spLocks noGrp="1"/>
          </p:cNvSpPr>
          <p:nvPr/>
        </p:nvSpPr>
        <p:spPr>
          <a:xfrm>
            <a:off x="28003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DCD8D1"/>
          </a:solidFill>
          <a:ln w="9525">
            <a:solidFill>
              <a:srgbClr val="DCD8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architecture-number-2">
            <a:extLst>
              <a:ext uri="{FF2B5EF4-FFF2-40B4-BE49-F238E27FC236}">
                <a16:creationId xmlns:a16="http://schemas.microsoft.com/office/drawing/2014/main" id="{685147F4-A59F-49C2-BEAA-6BA153F4618F}"/>
              </a:ext>
            </a:extLst>
          </p:cNvPr>
          <p:cNvSpPr>
            <a:spLocks noGrp="1"/>
          </p:cNvSpPr>
          <p:nvPr/>
        </p:nvSpPr>
        <p:spPr>
          <a:xfrm>
            <a:off x="30099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8" name="architecture-title-2">
            <a:extLst>
              <a:ext uri="{FF2B5EF4-FFF2-40B4-BE49-F238E27FC236}">
                <a16:creationId xmlns:a16="http://schemas.microsoft.com/office/drawing/2014/main" id="{63675792-DF2A-4021-9618-B8F364CCB323}"/>
              </a:ext>
            </a:extLst>
          </p:cNvPr>
          <p:cNvSpPr>
            <a:spLocks noGrp="1"/>
          </p:cNvSpPr>
          <p:nvPr/>
        </p:nvSpPr>
        <p:spPr>
          <a:xfrm>
            <a:off x="30099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Family</a:t>
            </a:r>
          </a:p>
        </p:txBody>
      </p:sp>
      <p:sp>
        <p:nvSpPr>
          <p:cNvPr id="19" name="architecture-node-rule-2">
            <a:extLst>
              <a:ext uri="{FF2B5EF4-FFF2-40B4-BE49-F238E27FC236}">
                <a16:creationId xmlns:a16="http://schemas.microsoft.com/office/drawing/2014/main" id="{12E5AF00-FB45-4C2A-9744-B758CF174534}"/>
              </a:ext>
            </a:extLst>
          </p:cNvPr>
          <p:cNvSpPr>
            <a:spLocks noGrp="1"/>
          </p:cNvSpPr>
          <p:nvPr/>
        </p:nvSpPr>
        <p:spPr>
          <a:xfrm>
            <a:off x="3009900" y="3333750"/>
            <a:ext cx="15430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architecture-body-2">
            <a:extLst>
              <a:ext uri="{FF2B5EF4-FFF2-40B4-BE49-F238E27FC236}">
                <a16:creationId xmlns:a16="http://schemas.microsoft.com/office/drawing/2014/main" id="{DB16A78F-68AF-4F3B-B1D6-3BE1AB7E0C35}"/>
              </a:ext>
            </a:extLst>
          </p:cNvPr>
          <p:cNvSpPr>
            <a:spLocks noGrp="1"/>
          </p:cNvSpPr>
          <p:nvPr/>
        </p:nvSpPr>
        <p:spPr>
          <a:xfrm>
            <a:off x="30099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participant deny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control lock／app drop</a:t>
            </a:r>
          </a:p>
        </p:txBody>
      </p:sp>
      <p:sp>
        <p:nvSpPr>
          <p:cNvPr id="21" name="architecture-node-3">
            <a:extLst>
              <a:ext uri="{FF2B5EF4-FFF2-40B4-BE49-F238E27FC236}">
                <a16:creationId xmlns:a16="http://schemas.microsoft.com/office/drawing/2014/main" id="{A0A432B9-0E35-4EAB-A705-007FFFFFABDB}"/>
              </a:ext>
            </a:extLst>
          </p:cNvPr>
          <p:cNvSpPr>
            <a:spLocks noGrp="1"/>
          </p:cNvSpPr>
          <p:nvPr/>
        </p:nvSpPr>
        <p:spPr>
          <a:xfrm>
            <a:off x="50482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E4E7E8"/>
          </a:solidFill>
          <a:ln w="9525">
            <a:solidFill>
              <a:srgbClr val="E4E7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architecture-number-3">
            <a:extLst>
              <a:ext uri="{FF2B5EF4-FFF2-40B4-BE49-F238E27FC236}">
                <a16:creationId xmlns:a16="http://schemas.microsoft.com/office/drawing/2014/main" id="{8E667195-D36D-46F0-9098-5180B0B4A4F4}"/>
              </a:ext>
            </a:extLst>
          </p:cNvPr>
          <p:cNvSpPr>
            <a:spLocks noGrp="1"/>
          </p:cNvSpPr>
          <p:nvPr/>
        </p:nvSpPr>
        <p:spPr>
          <a:xfrm>
            <a:off x="52578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3" name="architecture-title-3">
            <a:extLst>
              <a:ext uri="{FF2B5EF4-FFF2-40B4-BE49-F238E27FC236}">
                <a16:creationId xmlns:a16="http://schemas.microsoft.com/office/drawing/2014/main" id="{FA534B62-7AB0-4723-82CB-A43FBD577408}"/>
              </a:ext>
            </a:extLst>
          </p:cNvPr>
          <p:cNvSpPr>
            <a:spLocks noGrp="1"/>
          </p:cNvSpPr>
          <p:nvPr/>
        </p:nvSpPr>
        <p:spPr>
          <a:xfrm>
            <a:off x="52578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Leaf</a:t>
            </a:r>
          </a:p>
        </p:txBody>
      </p:sp>
      <p:sp>
        <p:nvSpPr>
          <p:cNvPr id="24" name="architecture-node-rule-3">
            <a:extLst>
              <a:ext uri="{FF2B5EF4-FFF2-40B4-BE49-F238E27FC236}">
                <a16:creationId xmlns:a16="http://schemas.microsoft.com/office/drawing/2014/main" id="{BB1BD410-48D1-42B5-B498-6D2ADD0E6DF7}"/>
              </a:ext>
            </a:extLst>
          </p:cNvPr>
          <p:cNvSpPr>
            <a:spLocks noGrp="1"/>
          </p:cNvSpPr>
          <p:nvPr/>
        </p:nvSpPr>
        <p:spPr>
          <a:xfrm>
            <a:off x="5257800" y="3333750"/>
            <a:ext cx="15430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architecture-body-3">
            <a:extLst>
              <a:ext uri="{FF2B5EF4-FFF2-40B4-BE49-F238E27FC236}">
                <a16:creationId xmlns:a16="http://schemas.microsoft.com/office/drawing/2014/main" id="{14D31D5E-5109-482D-BE62-7C2ECB687D87}"/>
              </a:ext>
            </a:extLst>
          </p:cNvPr>
          <p:cNvSpPr>
            <a:spLocks noGrp="1"/>
          </p:cNvSpPr>
          <p:nvPr/>
        </p:nvSpPr>
        <p:spPr>
          <a:xfrm>
            <a:off x="52578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family 內 subtype</a:t>
            </a:r>
          </a:p>
          <a:p>
            <a:pPr algn="ctr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只供診斷</a:t>
            </a:r>
          </a:p>
        </p:txBody>
      </p:sp>
      <p:sp>
        <p:nvSpPr>
          <p:cNvPr id="26" name="architecture-node-4">
            <a:extLst>
              <a:ext uri="{FF2B5EF4-FFF2-40B4-BE49-F238E27FC236}">
                <a16:creationId xmlns:a16="http://schemas.microsoft.com/office/drawing/2014/main" id="{03A37CA8-2191-463B-850F-7538A6C5D028}"/>
              </a:ext>
            </a:extLst>
          </p:cNvPr>
          <p:cNvSpPr>
            <a:spLocks noGrp="1"/>
          </p:cNvSpPr>
          <p:nvPr/>
        </p:nvSpPr>
        <p:spPr>
          <a:xfrm>
            <a:off x="72961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architecture-number-4">
            <a:extLst>
              <a:ext uri="{FF2B5EF4-FFF2-40B4-BE49-F238E27FC236}">
                <a16:creationId xmlns:a16="http://schemas.microsoft.com/office/drawing/2014/main" id="{17F7F90C-E59C-4B5D-8C5B-03DF603BA598}"/>
              </a:ext>
            </a:extLst>
          </p:cNvPr>
          <p:cNvSpPr>
            <a:spLocks noGrp="1"/>
          </p:cNvSpPr>
          <p:nvPr/>
        </p:nvSpPr>
        <p:spPr>
          <a:xfrm>
            <a:off x="75057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8" name="architecture-title-4">
            <a:extLst>
              <a:ext uri="{FF2B5EF4-FFF2-40B4-BE49-F238E27FC236}">
                <a16:creationId xmlns:a16="http://schemas.microsoft.com/office/drawing/2014/main" id="{1499A45A-3CDD-429F-8943-5F41A8E18D6C}"/>
              </a:ext>
            </a:extLst>
          </p:cNvPr>
          <p:cNvSpPr>
            <a:spLocks noGrp="1"/>
          </p:cNvSpPr>
          <p:nvPr/>
        </p:nvSpPr>
        <p:spPr>
          <a:xfrm>
            <a:off x="75057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Dual OOD</a:t>
            </a:r>
          </a:p>
        </p:txBody>
      </p:sp>
      <p:sp>
        <p:nvSpPr>
          <p:cNvPr id="29" name="architecture-node-rule-4">
            <a:extLst>
              <a:ext uri="{FF2B5EF4-FFF2-40B4-BE49-F238E27FC236}">
                <a16:creationId xmlns:a16="http://schemas.microsoft.com/office/drawing/2014/main" id="{F5C73755-5FCE-4443-B780-4D271BCDC0A5}"/>
              </a:ext>
            </a:extLst>
          </p:cNvPr>
          <p:cNvSpPr>
            <a:spLocks noGrp="1"/>
          </p:cNvSpPr>
          <p:nvPr/>
        </p:nvSpPr>
        <p:spPr>
          <a:xfrm>
            <a:off x="7505700" y="3333750"/>
            <a:ext cx="1543050" cy="9525"/>
          </a:xfrm>
          <a:prstGeom prst="rect">
            <a:avLst/>
          </a:prstGeom>
          <a:solidFill>
            <a:srgbClr val="B9BDB7"/>
          </a:solidFill>
          <a:ln w="9525">
            <a:solidFill>
              <a:srgbClr val="B9BDB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architecture-body-4">
            <a:extLst>
              <a:ext uri="{FF2B5EF4-FFF2-40B4-BE49-F238E27FC236}">
                <a16:creationId xmlns:a16="http://schemas.microsoft.com/office/drawing/2014/main" id="{63A3C993-022D-4273-9784-78B9A010C8D1}"/>
              </a:ext>
            </a:extLst>
          </p:cNvPr>
          <p:cNvSpPr>
            <a:spLocks noGrp="1"/>
          </p:cNvSpPr>
          <p:nvPr/>
        </p:nvSpPr>
        <p:spPr>
          <a:xfrm>
            <a:off x="75057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normality OOD</a:t>
            </a:r>
          </a:p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known-attack OOD</a:t>
            </a:r>
          </a:p>
        </p:txBody>
      </p:sp>
      <p:sp>
        <p:nvSpPr>
          <p:cNvPr id="31" name="architecture-node-5">
            <a:extLst>
              <a:ext uri="{FF2B5EF4-FFF2-40B4-BE49-F238E27FC236}">
                <a16:creationId xmlns:a16="http://schemas.microsoft.com/office/drawing/2014/main" id="{933BC75A-FDCB-44BF-B795-F6277CC3CD2D}"/>
              </a:ext>
            </a:extLst>
          </p:cNvPr>
          <p:cNvSpPr>
            <a:spLocks noGrp="1"/>
          </p:cNvSpPr>
          <p:nvPr/>
        </p:nvSpPr>
        <p:spPr>
          <a:xfrm>
            <a:off x="9544050" y="2152650"/>
            <a:ext cx="1962150" cy="2857500"/>
          </a:xfrm>
          <a:prstGeom prst="roundRect">
            <a:avLst>
              <a:gd name="adj" fmla="val 3883"/>
            </a:avLst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architecture-number-5">
            <a:extLst>
              <a:ext uri="{FF2B5EF4-FFF2-40B4-BE49-F238E27FC236}">
                <a16:creationId xmlns:a16="http://schemas.microsoft.com/office/drawing/2014/main" id="{7A395725-D53C-4797-9FE4-1713F4F3B225}"/>
              </a:ext>
            </a:extLst>
          </p:cNvPr>
          <p:cNvSpPr>
            <a:spLocks noGrp="1"/>
          </p:cNvSpPr>
          <p:nvPr/>
        </p:nvSpPr>
        <p:spPr>
          <a:xfrm>
            <a:off x="9753600" y="23812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3" name="architecture-title-5">
            <a:extLst>
              <a:ext uri="{FF2B5EF4-FFF2-40B4-BE49-F238E27FC236}">
                <a16:creationId xmlns:a16="http://schemas.microsoft.com/office/drawing/2014/main" id="{971F64B3-58D8-4078-B455-B18BC5A0F77A}"/>
              </a:ext>
            </a:extLst>
          </p:cNvPr>
          <p:cNvSpPr>
            <a:spLocks noGrp="1"/>
          </p:cNvSpPr>
          <p:nvPr/>
        </p:nvSpPr>
        <p:spPr>
          <a:xfrm>
            <a:off x="9753600" y="2800350"/>
            <a:ext cx="1543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Safe route</a:t>
            </a:r>
          </a:p>
        </p:txBody>
      </p:sp>
      <p:sp>
        <p:nvSpPr>
          <p:cNvPr id="34" name="architecture-node-rule-5">
            <a:extLst>
              <a:ext uri="{FF2B5EF4-FFF2-40B4-BE49-F238E27FC236}">
                <a16:creationId xmlns:a16="http://schemas.microsoft.com/office/drawing/2014/main" id="{6D8367D4-E24B-43F7-BEE0-35B4DF83FCAA}"/>
              </a:ext>
            </a:extLst>
          </p:cNvPr>
          <p:cNvSpPr>
            <a:spLocks noGrp="1"/>
          </p:cNvSpPr>
          <p:nvPr/>
        </p:nvSpPr>
        <p:spPr>
          <a:xfrm>
            <a:off x="9753600" y="3333750"/>
            <a:ext cx="1543050" cy="9525"/>
          </a:xfrm>
          <a:prstGeom prst="rect">
            <a:avLst/>
          </a:prstGeom>
          <a:solidFill>
            <a:srgbClr val="B9BDB7"/>
          </a:solidFill>
          <a:ln w="9525">
            <a:solidFill>
              <a:srgbClr val="B9BDB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architecture-body-5">
            <a:extLst>
              <a:ext uri="{FF2B5EF4-FFF2-40B4-BE49-F238E27FC236}">
                <a16:creationId xmlns:a16="http://schemas.microsoft.com/office/drawing/2014/main" id="{3DBBB6B1-5388-4F6C-AD00-6B076F72F7B9}"/>
              </a:ext>
            </a:extLst>
          </p:cNvPr>
          <p:cNvSpPr>
            <a:spLocks noGrp="1"/>
          </p:cNvSpPr>
          <p:nvPr/>
        </p:nvSpPr>
        <p:spPr>
          <a:xfrm>
            <a:off x="9753600" y="3581400"/>
            <a:ext cx="1543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unknown／low confidence</a:t>
            </a:r>
          </a:p>
          <a:p>
            <a:pPr algn="ctr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一律 alert</a:t>
            </a:r>
          </a:p>
        </p:txBody>
      </p:sp>
      <p:sp>
        <p:nvSpPr>
          <p:cNvPr id="36" name="architecture-evidence">
            <a:extLst>
              <a:ext uri="{FF2B5EF4-FFF2-40B4-BE49-F238E27FC236}">
                <a16:creationId xmlns:a16="http://schemas.microsoft.com/office/drawing/2014/main" id="{B314C20C-37A6-4C74-A8AB-47E07AB931B1}"/>
              </a:ext>
            </a:extLst>
          </p:cNvPr>
          <p:cNvSpPr>
            <a:spLocks noGrp="1"/>
          </p:cNvSpPr>
          <p:nvPr/>
        </p:nvSpPr>
        <p:spPr>
          <a:xfrm>
            <a:off x="552450" y="5486400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candidate 固定 deployment_eligible=false、executable=false、adapter=none。</a:t>
            </a:r>
          </a:p>
        </p:txBody>
      </p:sp>
    </p:spTree>
    <p:extLst>
      <p:ext uri="{BB962C8B-B14F-4D97-AF65-F5344CB8AC3E}">
        <p14:creationId xmlns:p14="http://schemas.microsoft.com/office/powerpoint/2010/main" val="3062986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ail-10">
            <a:extLst>
              <a:ext uri="{FF2B5EF4-FFF2-40B4-BE49-F238E27FC236}">
                <a16:creationId xmlns:a16="http://schemas.microsoft.com/office/drawing/2014/main" id="{7652D2E9-03D1-4BE9-9543-8AC684917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B8A8975B-146B-46FD-8933-D4935AB2C4D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評估契約刻意不讀歷史 test，只做開發期比較</a:t>
            </a:r>
          </a:p>
        </p:txBody>
      </p:sp>
      <p:sp>
        <p:nvSpPr>
          <p:cNvPr id="5" name="page-10">
            <a:extLst>
              <a:ext uri="{FF2B5EF4-FFF2-40B4-BE49-F238E27FC236}">
                <a16:creationId xmlns:a16="http://schemas.microsoft.com/office/drawing/2014/main" id="{1F8A0CEB-BE54-449D-BFDC-5BC796F02700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609600" y="1600200"/>
          <a:ext cx="10972800" cy="4343402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48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階段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資料責任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隔離條件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輸出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Train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擬合候選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session grouped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sklearn models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Selection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 model／view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與其他組零重疊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75 configs／mode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Calibration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機率校準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獨立 sessions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ECE／Brier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Threshold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開發門檻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另一組 sessions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F1／FPR／CI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Novelty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sensor_spoof＋service_dos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四階段全部排除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true holdout sessions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Historical test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metadata only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label／feature／prediction = 0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final deferred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756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ail-8">
            <a:extLst>
              <a:ext uri="{FF2B5EF4-FFF2-40B4-BE49-F238E27FC236}">
                <a16:creationId xmlns:a16="http://schemas.microsoft.com/office/drawing/2014/main" id="{02C73E74-F270-4BB2-BA39-4A6F29A1F5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C3DEC183-E8ED-4A52-B91D-03541993DA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重跑後分層線：family 覆蓋率由 13% 升到 100%</a:t>
            </a:r>
          </a:p>
        </p:txBody>
      </p:sp>
      <p:sp>
        <p:nvSpPr>
          <p:cNvPr id="5" name="page-8">
            <a:extLst>
              <a:ext uri="{FF2B5EF4-FFF2-40B4-BE49-F238E27FC236}">
                <a16:creationId xmlns:a16="http://schemas.microsoft.com/office/drawing/2014/main" id="{C3BAA59D-87FF-47F3-B4E6-0645440327B3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6" name="pilot-20">
            <a:extLst>
              <a:ext uri="{FF2B5EF4-FFF2-40B4-BE49-F238E27FC236}">
                <a16:creationId xmlns:a16="http://schemas.microsoft.com/office/drawing/2014/main" id="{5B30C10E-7A36-47FA-9BAC-BA7E52DA2E34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32385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6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1,399</a:t>
            </a:r>
          </a:p>
        </p:txBody>
      </p:sp>
      <p:sp>
        <p:nvSpPr>
          <p:cNvPr id="7" name="pilot-label">
            <a:extLst>
              <a:ext uri="{FF2B5EF4-FFF2-40B4-BE49-F238E27FC236}">
                <a16:creationId xmlns:a16="http://schemas.microsoft.com/office/drawing/2014/main" id="{30093C3B-2247-4D76-8CF8-582A8F9F1C74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SESSIONS（含 300 場重跑）</a:t>
            </a:r>
          </a:p>
        </p:txBody>
      </p:sp>
      <p:sp>
        <p:nvSpPr>
          <p:cNvPr id="8" name="pilot-split">
            <a:extLst>
              <a:ext uri="{FF2B5EF4-FFF2-40B4-BE49-F238E27FC236}">
                <a16:creationId xmlns:a16="http://schemas.microsoft.com/office/drawing/2014/main" id="{E3D1D66B-F79D-40AC-A2FB-92F9F3F9A417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238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buNone/>
              <a:def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validation-only / no historical test prediction</a:t>
            </a:r>
          </a:p>
        </p:txBody>
      </p:sp>
      <p:sp>
        <p:nvSpPr>
          <p:cNvPr id="9" name="pilot-metric-1">
            <a:extLst>
              <a:ext uri="{FF2B5EF4-FFF2-40B4-BE49-F238E27FC236}">
                <a16:creationId xmlns:a16="http://schemas.microsoft.com/office/drawing/2014/main" id="{0D27329A-E787-440C-94B6-9100220409DE}"/>
              </a:ext>
            </a:extLst>
          </p:cNvPr>
          <p:cNvSpPr>
            <a:spLocks noGrp="1"/>
          </p:cNvSpPr>
          <p:nvPr/>
        </p:nvSpPr>
        <p:spPr>
          <a:xfrm>
            <a:off x="4095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1.0000</a:t>
            </a:r>
          </a:p>
        </p:txBody>
      </p:sp>
      <p:sp>
        <p:nvSpPr>
          <p:cNvPr id="10" name="pilot-metric-label-1">
            <a:extLst>
              <a:ext uri="{FF2B5EF4-FFF2-40B4-BE49-F238E27FC236}">
                <a16:creationId xmlns:a16="http://schemas.microsoft.com/office/drawing/2014/main" id="{70C8DCB3-4D9D-47BF-BD0B-0633E6745D5C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Permissive binary recall</a:t>
            </a:r>
          </a:p>
        </p:txBody>
      </p:sp>
      <p:sp>
        <p:nvSpPr>
          <p:cNvPr id="11" name="pilot-separator-1">
            <a:extLst>
              <a:ext uri="{FF2B5EF4-FFF2-40B4-BE49-F238E27FC236}">
                <a16:creationId xmlns:a16="http://schemas.microsoft.com/office/drawing/2014/main" id="{4CE5B702-1D8E-4A61-9220-E52715CF4830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ilot-metric-2">
            <a:extLst>
              <a:ext uri="{FF2B5EF4-FFF2-40B4-BE49-F238E27FC236}">
                <a16:creationId xmlns:a16="http://schemas.microsoft.com/office/drawing/2014/main" id="{57D28980-F6FC-4C86-A59B-039936070E47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0.9704</a:t>
            </a:r>
          </a:p>
        </p:txBody>
      </p:sp>
      <p:sp>
        <p:nvSpPr>
          <p:cNvPr id="13" name="pilot-metric-label-2">
            <a:extLst>
              <a:ext uri="{FF2B5EF4-FFF2-40B4-BE49-F238E27FC236}">
                <a16:creationId xmlns:a16="http://schemas.microsoft.com/office/drawing/2014/main" id="{93BA81E2-FD4F-4393-9482-FF508FDD4B6E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Permissive family macro-F1</a:t>
            </a:r>
          </a:p>
        </p:txBody>
      </p:sp>
      <p:sp>
        <p:nvSpPr>
          <p:cNvPr id="14" name="pilot-separator-2">
            <a:extLst>
              <a:ext uri="{FF2B5EF4-FFF2-40B4-BE49-F238E27FC236}">
                <a16:creationId xmlns:a16="http://schemas.microsoft.com/office/drawing/2014/main" id="{8294DCB3-F750-4DC4-BA0B-B4AD8DA95D7B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ilot-metric-3">
            <a:extLst>
              <a:ext uri="{FF2B5EF4-FFF2-40B4-BE49-F238E27FC236}">
                <a16:creationId xmlns:a16="http://schemas.microsoft.com/office/drawing/2014/main" id="{8DC3A233-A7BE-4D3F-B813-34C55CEE30A8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16" name="pilot-metric-label-3">
            <a:extLst>
              <a:ext uri="{FF2B5EF4-FFF2-40B4-BE49-F238E27FC236}">
                <a16:creationId xmlns:a16="http://schemas.microsoft.com/office/drawing/2014/main" id="{C44F6613-9A85-4BB3-8E03-648916666754}"/>
              </a:ext>
            </a:extLst>
          </p:cNvPr>
          <p:cNvSpPr>
            <a:spLocks noGrp="1"/>
          </p:cNvSpPr>
          <p:nvPr/>
        </p:nvSpPr>
        <p:spPr>
          <a:xfrm>
            <a:off x="9048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Permissive family coverage</a:t>
            </a:r>
          </a:p>
        </p:txBody>
      </p:sp>
      <p:sp>
        <p:nvSpPr>
          <p:cNvPr id="17" name="pilot-meaning">
            <a:extLst>
              <a:ext uri="{FF2B5EF4-FFF2-40B4-BE49-F238E27FC236}">
                <a16:creationId xmlns:a16="http://schemas.microsoft.com/office/drawing/2014/main" id="{0DE0BA5D-4C3D-4BC0-AB5F-936703B50076}"/>
              </a:ext>
            </a:extLst>
          </p:cNvPr>
          <p:cNvSpPr>
            <a:spLocks noGrp="1"/>
          </p:cNvSpPr>
          <p:nvPr/>
        </p:nvSpPr>
        <p:spPr>
          <a:xfrm>
            <a:off x="4095750" y="3857625"/>
            <a:ext cx="7000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novelty 協定四個計數全為零：train／calibration／selection／threshold 都沒看過 holdout。leaf macro-F1 0.9861。</a:t>
            </a:r>
          </a:p>
        </p:txBody>
      </p:sp>
      <p:sp>
        <p:nvSpPr>
          <p:cNvPr id="18" name="pilot-boundary-band">
            <a:extLst>
              <a:ext uri="{FF2B5EF4-FFF2-40B4-BE49-F238E27FC236}">
                <a16:creationId xmlns:a16="http://schemas.microsoft.com/office/drawing/2014/main" id="{B43F88C1-5FBF-43BA-AE7B-48A95A6A5F69}"/>
              </a:ext>
            </a:extLst>
          </p:cNvPr>
          <p:cNvSpPr>
            <a:spLocks noGrp="1"/>
          </p:cNvSpPr>
          <p:nvPr/>
        </p:nvSpPr>
        <p:spPr>
          <a:xfrm>
            <a:off x="4095750" y="5219700"/>
            <a:ext cx="7000875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ilot-boundary">
            <a:extLst>
              <a:ext uri="{FF2B5EF4-FFF2-40B4-BE49-F238E27FC236}">
                <a16:creationId xmlns:a16="http://schemas.microsoft.com/office/drawing/2014/main" id="{4AABAAC1-BC15-4E45-BE34-D8FEDF69EBE3}"/>
              </a:ext>
            </a:extLst>
          </p:cNvPr>
          <p:cNvSpPr>
            <a:spLocks noGrp="1"/>
          </p:cNvSpPr>
          <p:nvPr/>
        </p:nvSpPr>
        <p:spPr>
          <a:xfrm>
            <a:off x="4333875" y="5353050"/>
            <a:ext cx="65246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VALIDATION-ONLY｜二元偵測 ≠ 可安全選擇封鎖動作</a:t>
            </a:r>
          </a:p>
        </p:txBody>
      </p:sp>
    </p:spTree>
    <p:extLst>
      <p:ext uri="{BB962C8B-B14F-4D97-AF65-F5344CB8AC3E}">
        <p14:creationId xmlns:p14="http://schemas.microsoft.com/office/powerpoint/2010/main" val="45644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ail-8">
            <a:extLst>
              <a:ext uri="{FF2B5EF4-FFF2-40B4-BE49-F238E27FC236}">
                <a16:creationId xmlns:a16="http://schemas.microsoft.com/office/drawing/2014/main" id="{02C73E74-F270-4BB2-BA39-4A6F29A1F5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C3DEC183-E8ED-4A52-B91D-03541993DA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300 場重跑是一個可否證的實驗，不是再收資料</a:t>
            </a:r>
          </a:p>
        </p:txBody>
      </p:sp>
      <p:sp>
        <p:nvSpPr>
          <p:cNvPr id="5" name="page-8">
            <a:extLst>
              <a:ext uri="{FF2B5EF4-FFF2-40B4-BE49-F238E27FC236}">
                <a16:creationId xmlns:a16="http://schemas.microsoft.com/office/drawing/2014/main" id="{C3BAA59D-87FF-47F3-B4E6-0645440327B3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6" name="pilot-20">
            <a:extLst>
              <a:ext uri="{FF2B5EF4-FFF2-40B4-BE49-F238E27FC236}">
                <a16:creationId xmlns:a16="http://schemas.microsoft.com/office/drawing/2014/main" id="{5B30C10E-7A36-47FA-9BAC-BA7E52DA2E34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32385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6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300</a:t>
            </a:r>
          </a:p>
        </p:txBody>
      </p:sp>
      <p:sp>
        <p:nvSpPr>
          <p:cNvPr id="7" name="pilot-label">
            <a:extLst>
              <a:ext uri="{FF2B5EF4-FFF2-40B4-BE49-F238E27FC236}">
                <a16:creationId xmlns:a16="http://schemas.microsoft.com/office/drawing/2014/main" id="{30093C3B-2247-4D76-8CF8-582A8F9F1C74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場次重跑（Permissive 150／Enforce 150）</a:t>
            </a:r>
          </a:p>
        </p:txBody>
      </p:sp>
      <p:sp>
        <p:nvSpPr>
          <p:cNvPr id="8" name="pilot-split">
            <a:extLst>
              <a:ext uri="{FF2B5EF4-FFF2-40B4-BE49-F238E27FC236}">
                <a16:creationId xmlns:a16="http://schemas.microsoft.com/office/drawing/2014/main" id="{E3D1D66B-F79D-40AC-A2FB-92F9F3F9A417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238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buNone/>
              <a:def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沿用原 seed／scenario／mode：唯一變因是兩個修正</a:t>
            </a:r>
          </a:p>
        </p:txBody>
      </p:sp>
      <p:sp>
        <p:nvSpPr>
          <p:cNvPr id="9" name="pilot-metric-1">
            <a:extLst>
              <a:ext uri="{FF2B5EF4-FFF2-40B4-BE49-F238E27FC236}">
                <a16:creationId xmlns:a16="http://schemas.microsoft.com/office/drawing/2014/main" id="{0D27329A-E787-440C-94B6-9100220409DE}"/>
              </a:ext>
            </a:extLst>
          </p:cNvPr>
          <p:cNvSpPr>
            <a:spLocks noGrp="1"/>
          </p:cNvSpPr>
          <p:nvPr/>
        </p:nvSpPr>
        <p:spPr>
          <a:xfrm>
            <a:off x="4095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210,614</a:t>
            </a:r>
          </a:p>
        </p:txBody>
      </p:sp>
      <p:sp>
        <p:nvSpPr>
          <p:cNvPr id="10" name="pilot-metric-label-1">
            <a:extLst>
              <a:ext uri="{FF2B5EF4-FFF2-40B4-BE49-F238E27FC236}">
                <a16:creationId xmlns:a16="http://schemas.microsoft.com/office/drawing/2014/main" id="{70C8DCB3-4D9D-47BF-BD0B-0633E6745D5C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parameter_call　0 →（預測 1 成立）</a:t>
            </a:r>
          </a:p>
        </p:txBody>
      </p:sp>
      <p:sp>
        <p:nvSpPr>
          <p:cNvPr id="11" name="pilot-separator-1">
            <a:extLst>
              <a:ext uri="{FF2B5EF4-FFF2-40B4-BE49-F238E27FC236}">
                <a16:creationId xmlns:a16="http://schemas.microsoft.com/office/drawing/2014/main" id="{4CE5B702-1D8E-4A61-9220-E52715CF4830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ilot-metric-2">
            <a:extLst>
              <a:ext uri="{FF2B5EF4-FFF2-40B4-BE49-F238E27FC236}">
                <a16:creationId xmlns:a16="http://schemas.microsoft.com/office/drawing/2014/main" id="{57D28980-F6FC-4C86-A59B-039936070E47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312</a:t>
            </a:r>
          </a:p>
        </p:txBody>
      </p:sp>
      <p:sp>
        <p:nvSpPr>
          <p:cNvPr id="13" name="pilot-metric-label-2">
            <a:extLst>
              <a:ext uri="{FF2B5EF4-FFF2-40B4-BE49-F238E27FC236}">
                <a16:creationId xmlns:a16="http://schemas.microsoft.com/office/drawing/2014/main" id="{93BA81E2-FD4F-4393-9482-FF508FDD4B6E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nonce 重用　0 →（預測 2 成立）</a:t>
            </a:r>
          </a:p>
        </p:txBody>
      </p:sp>
      <p:sp>
        <p:nvSpPr>
          <p:cNvPr id="14" name="pilot-separator-2">
            <a:extLst>
              <a:ext uri="{FF2B5EF4-FFF2-40B4-BE49-F238E27FC236}">
                <a16:creationId xmlns:a16="http://schemas.microsoft.com/office/drawing/2014/main" id="{8294DCB3-F750-4DC4-BA0B-B4AD8DA95D7B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ilot-metric-3">
            <a:extLst>
              <a:ext uri="{FF2B5EF4-FFF2-40B4-BE49-F238E27FC236}">
                <a16:creationId xmlns:a16="http://schemas.microsoft.com/office/drawing/2014/main" id="{8DC3A233-A7BE-4D3F-B813-34C55CEE30A8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6" name="pilot-metric-label-3">
            <a:extLst>
              <a:ext uri="{FF2B5EF4-FFF2-40B4-BE49-F238E27FC236}">
                <a16:creationId xmlns:a16="http://schemas.microsoft.com/office/drawing/2014/main" id="{C44F6613-9A85-4BB3-8E03-648916666754}"/>
              </a:ext>
            </a:extLst>
          </p:cNvPr>
          <p:cNvSpPr>
            <a:spLocks noGrp="1"/>
          </p:cNvSpPr>
          <p:nvPr/>
        </p:nvSpPr>
        <p:spPr>
          <a:xfrm>
            <a:off x="9048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sros2_deny 對照組維持 0（預測 3）</a:t>
            </a:r>
          </a:p>
        </p:txBody>
      </p:sp>
      <p:sp>
        <p:nvSpPr>
          <p:cNvPr id="17" name="pilot-meaning">
            <a:extLst>
              <a:ext uri="{FF2B5EF4-FFF2-40B4-BE49-F238E27FC236}">
                <a16:creationId xmlns:a16="http://schemas.microsoft.com/office/drawing/2014/main" id="{0DE0BA5D-4C3D-4BC0-AB5F-936703B50076}"/>
              </a:ext>
            </a:extLst>
          </p:cNvPr>
          <p:cNvSpPr>
            <a:spLocks noGrp="1"/>
          </p:cNvSpPr>
          <p:nvPr/>
        </p:nvSpPr>
        <p:spPr>
          <a:xfrm>
            <a:off x="4095750" y="3857625"/>
            <a:ext cx="7000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第 3 項是刻意設的對照：它沒有被修，所以不該動。它確實沒動，因此前兩項可歸因於修正，而不是環境漂移。檢核器先在未重跑的舊資料上自我驗證，當時正確報出前兩項「被推翻」。</a:t>
            </a:r>
          </a:p>
        </p:txBody>
      </p:sp>
      <p:sp>
        <p:nvSpPr>
          <p:cNvPr id="18" name="pilot-boundary-band">
            <a:extLst>
              <a:ext uri="{FF2B5EF4-FFF2-40B4-BE49-F238E27FC236}">
                <a16:creationId xmlns:a16="http://schemas.microsoft.com/office/drawing/2014/main" id="{B43F88C1-5FBF-43BA-AE7B-48A95A6A5F69}"/>
              </a:ext>
            </a:extLst>
          </p:cNvPr>
          <p:cNvSpPr>
            <a:spLocks noGrp="1"/>
          </p:cNvSpPr>
          <p:nvPr/>
        </p:nvSpPr>
        <p:spPr>
          <a:xfrm>
            <a:off x="4095750" y="5219700"/>
            <a:ext cx="7000875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ilot-boundary">
            <a:extLst>
              <a:ext uri="{FF2B5EF4-FFF2-40B4-BE49-F238E27FC236}">
                <a16:creationId xmlns:a16="http://schemas.microsoft.com/office/drawing/2014/main" id="{4AABAAC1-BC15-4E45-BE34-D8FEDF69EBE3}"/>
              </a:ext>
            </a:extLst>
          </p:cNvPr>
          <p:cNvSpPr>
            <a:spLocks noGrp="1"/>
          </p:cNvSpPr>
          <p:nvPr/>
        </p:nvSpPr>
        <p:spPr>
          <a:xfrm>
            <a:off x="4333875" y="5353050"/>
            <a:ext cx="65246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預測寫在跑之前｜對照組不動，才能把改善歸因於修正</a:t>
            </a:r>
          </a:p>
        </p:txBody>
      </p:sp>
    </p:spTree>
    <p:extLst>
      <p:ext uri="{BB962C8B-B14F-4D97-AF65-F5344CB8AC3E}">
        <p14:creationId xmlns:p14="http://schemas.microsoft.com/office/powerpoint/2010/main" val="456440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ail-8">
            <a:extLst>
              <a:ext uri="{FF2B5EF4-FFF2-40B4-BE49-F238E27FC236}">
                <a16:creationId xmlns:a16="http://schemas.microsoft.com/office/drawing/2014/main" id="{02C73E74-F270-4BB2-BA39-4A6F29A1F5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C3DEC183-E8ED-4A52-B91D-03541993DA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封存的 test 開啟一次：Permissive 首次通過三道 gate</a:t>
            </a:r>
          </a:p>
        </p:txBody>
      </p:sp>
      <p:sp>
        <p:nvSpPr>
          <p:cNvPr id="5" name="page-8">
            <a:extLst>
              <a:ext uri="{FF2B5EF4-FFF2-40B4-BE49-F238E27FC236}">
                <a16:creationId xmlns:a16="http://schemas.microsoft.com/office/drawing/2014/main" id="{C3BAA59D-87FF-47F3-B4E6-0645440327B3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6" name="pilot-20">
            <a:extLst>
              <a:ext uri="{FF2B5EF4-FFF2-40B4-BE49-F238E27FC236}">
                <a16:creationId xmlns:a16="http://schemas.microsoft.com/office/drawing/2014/main" id="{5B30C10E-7A36-47FA-9BAC-BA7E52DA2E34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32385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6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0.8619</a:t>
            </a:r>
          </a:p>
        </p:txBody>
      </p:sp>
      <p:sp>
        <p:nvSpPr>
          <p:cNvPr id="7" name="pilot-label">
            <a:extLst>
              <a:ext uri="{FF2B5EF4-FFF2-40B4-BE49-F238E27FC236}">
                <a16:creationId xmlns:a16="http://schemas.microsoft.com/office/drawing/2014/main" id="{30093C3B-2247-4D76-8CF8-582A8F9F1C74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Permissive balanced accuracy（舊 0.5587）</a:t>
            </a:r>
          </a:p>
        </p:txBody>
      </p:sp>
      <p:sp>
        <p:nvSpPr>
          <p:cNvPr id="8" name="pilot-split">
            <a:extLst>
              <a:ext uri="{FF2B5EF4-FFF2-40B4-BE49-F238E27FC236}">
                <a16:creationId xmlns:a16="http://schemas.microsoft.com/office/drawing/2014/main" id="{E3D1D66B-F79D-40AC-A2FB-92F9F3F9A417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238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buNone/>
              <a:def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validation 0.8823 對 test 0.8619，差距 0.02，未過擬合</a:t>
            </a:r>
          </a:p>
        </p:txBody>
      </p:sp>
      <p:sp>
        <p:nvSpPr>
          <p:cNvPr id="9" name="pilot-metric-1">
            <a:extLst>
              <a:ext uri="{FF2B5EF4-FFF2-40B4-BE49-F238E27FC236}">
                <a16:creationId xmlns:a16="http://schemas.microsoft.com/office/drawing/2014/main" id="{0D27329A-E787-440C-94B6-9100220409DE}"/>
              </a:ext>
            </a:extLst>
          </p:cNvPr>
          <p:cNvSpPr>
            <a:spLocks noGrp="1"/>
          </p:cNvSpPr>
          <p:nvPr/>
        </p:nvSpPr>
        <p:spPr>
          <a:xfrm>
            <a:off x="4095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0.9900</a:t>
            </a:r>
          </a:p>
        </p:txBody>
      </p:sp>
      <p:sp>
        <p:nvSpPr>
          <p:cNvPr id="10" name="pilot-metric-label-1">
            <a:extLst>
              <a:ext uri="{FF2B5EF4-FFF2-40B4-BE49-F238E27FC236}">
                <a16:creationId xmlns:a16="http://schemas.microsoft.com/office/drawing/2014/main" id="{70C8DCB3-4D9D-47BF-BD0B-0633E6745D5C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binary PR-AUC（舊 0.9436）</a:t>
            </a:r>
          </a:p>
        </p:txBody>
      </p:sp>
      <p:sp>
        <p:nvSpPr>
          <p:cNvPr id="11" name="pilot-separator-1">
            <a:extLst>
              <a:ext uri="{FF2B5EF4-FFF2-40B4-BE49-F238E27FC236}">
                <a16:creationId xmlns:a16="http://schemas.microsoft.com/office/drawing/2014/main" id="{4CE5B702-1D8E-4A61-9220-E52715CF4830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ilot-metric-2">
            <a:extLst>
              <a:ext uri="{FF2B5EF4-FFF2-40B4-BE49-F238E27FC236}">
                <a16:creationId xmlns:a16="http://schemas.microsoft.com/office/drawing/2014/main" id="{57D28980-F6FC-4C86-A59B-039936070E47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0.7627</a:t>
            </a:r>
          </a:p>
        </p:txBody>
      </p:sp>
      <p:sp>
        <p:nvSpPr>
          <p:cNvPr id="13" name="pilot-metric-label-2">
            <a:extLst>
              <a:ext uri="{FF2B5EF4-FFF2-40B4-BE49-F238E27FC236}">
                <a16:creationId xmlns:a16="http://schemas.microsoft.com/office/drawing/2014/main" id="{93BA81E2-FD4F-4393-9482-FF508FDD4B6E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未知攻擊 recall・異常頭（舊 0.6164）</a:t>
            </a:r>
          </a:p>
        </p:txBody>
      </p:sp>
      <p:sp>
        <p:nvSpPr>
          <p:cNvPr id="14" name="pilot-separator-2">
            <a:extLst>
              <a:ext uri="{FF2B5EF4-FFF2-40B4-BE49-F238E27FC236}">
                <a16:creationId xmlns:a16="http://schemas.microsoft.com/office/drawing/2014/main" id="{8294DCB3-F750-4DC4-BA0B-B4AD8DA95D7B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ilot-metric-3">
            <a:extLst>
              <a:ext uri="{FF2B5EF4-FFF2-40B4-BE49-F238E27FC236}">
                <a16:creationId xmlns:a16="http://schemas.microsoft.com/office/drawing/2014/main" id="{8DC3A233-A7BE-4D3F-B813-34C55CEE30A8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0.4155</a:t>
            </a:r>
          </a:p>
        </p:txBody>
      </p:sp>
      <p:sp>
        <p:nvSpPr>
          <p:cNvPr id="16" name="pilot-metric-label-3">
            <a:extLst>
              <a:ext uri="{FF2B5EF4-FFF2-40B4-BE49-F238E27FC236}">
                <a16:creationId xmlns:a16="http://schemas.microsoft.com/office/drawing/2014/main" id="{C44F6613-9A85-4BB3-8E03-648916666754}"/>
              </a:ext>
            </a:extLst>
          </p:cNvPr>
          <p:cNvSpPr>
            <a:spLocks noGrp="1"/>
          </p:cNvSpPr>
          <p:nvPr/>
        </p:nvSpPr>
        <p:spPr>
          <a:xfrm>
            <a:off x="9048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Enforce balanced accuracy</a:t>
            </a:r>
          </a:p>
        </p:txBody>
      </p:sp>
      <p:sp>
        <p:nvSpPr>
          <p:cNvPr id="17" name="pilot-meaning">
            <a:extLst>
              <a:ext uri="{FF2B5EF4-FFF2-40B4-BE49-F238E27FC236}">
                <a16:creationId xmlns:a16="http://schemas.microsoft.com/office/drawing/2014/main" id="{0DE0BA5D-4C3D-4BC0-AB5F-936703B50076}"/>
              </a:ext>
            </a:extLst>
          </p:cNvPr>
          <p:cNvSpPr>
            <a:spLocks noGrp="1"/>
          </p:cNvSpPr>
          <p:nvPr/>
        </p:nvSpPr>
        <p:spPr>
          <a:xfrm>
            <a:off x="4095750" y="3857625"/>
            <a:ext cx="7000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Enforce 只升到 0.4155，但 binary PR-AUC 0.9774：SROS2 在 handshake 就擋掉攻擊，應用層證據不存在，能判斷「這是攻擊」卻判斷不出「是哪一種」。</a:t>
            </a:r>
          </a:p>
        </p:txBody>
      </p:sp>
      <p:sp>
        <p:nvSpPr>
          <p:cNvPr id="18" name="pilot-boundary-band">
            <a:extLst>
              <a:ext uri="{FF2B5EF4-FFF2-40B4-BE49-F238E27FC236}">
                <a16:creationId xmlns:a16="http://schemas.microsoft.com/office/drawing/2014/main" id="{B43F88C1-5FBF-43BA-AE7B-48A95A6A5F69}"/>
              </a:ext>
            </a:extLst>
          </p:cNvPr>
          <p:cNvSpPr>
            <a:spLocks noGrp="1"/>
          </p:cNvSpPr>
          <p:nvPr/>
        </p:nvSpPr>
        <p:spPr>
          <a:xfrm>
            <a:off x="4095750" y="5219700"/>
            <a:ext cx="7000875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ilot-boundary">
            <a:extLst>
              <a:ext uri="{FF2B5EF4-FFF2-40B4-BE49-F238E27FC236}">
                <a16:creationId xmlns:a16="http://schemas.microsoft.com/office/drawing/2014/main" id="{4AABAAC1-BC15-4E45-BE34-D8FEDF69EBE3}"/>
              </a:ext>
            </a:extLst>
          </p:cNvPr>
          <p:cNvSpPr>
            <a:spLocks noGrp="1"/>
          </p:cNvSpPr>
          <p:nvPr/>
        </p:nvSpPr>
        <p:spPr>
          <a:xfrm>
            <a:off x="4333875" y="5353050"/>
            <a:ext cx="65246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deployment_eligible 仍為 false｜卡在三道與模型品質無關的 gate</a:t>
            </a:r>
          </a:p>
        </p:txBody>
      </p:sp>
    </p:spTree>
    <p:extLst>
      <p:ext uri="{BB962C8B-B14F-4D97-AF65-F5344CB8AC3E}">
        <p14:creationId xmlns:p14="http://schemas.microsoft.com/office/powerpoint/2010/main" val="4564409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ail-8">
            <a:extLst>
              <a:ext uri="{FF2B5EF4-FFF2-40B4-BE49-F238E27FC236}">
                <a16:creationId xmlns:a16="http://schemas.microsoft.com/office/drawing/2014/main" id="{02C73E74-F270-4BB2-BA39-4A6F29A1F5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8">
            <a:extLst>
              <a:ext uri="{FF2B5EF4-FFF2-40B4-BE49-F238E27FC236}">
                <a16:creationId xmlns:a16="http://schemas.microsoft.com/office/drawing/2014/main" id="{C3DEC183-E8ED-4A52-B91D-03541993DA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識別率由證據排他性決定，不是模型容量</a:t>
            </a:r>
          </a:p>
        </p:txBody>
      </p:sp>
      <p:sp>
        <p:nvSpPr>
          <p:cNvPr id="5" name="page-8">
            <a:extLst>
              <a:ext uri="{FF2B5EF4-FFF2-40B4-BE49-F238E27FC236}">
                <a16:creationId xmlns:a16="http://schemas.microsoft.com/office/drawing/2014/main" id="{C3BAA59D-87FF-47F3-B4E6-0645440327B3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6" name="pilot-20">
            <a:extLst>
              <a:ext uri="{FF2B5EF4-FFF2-40B4-BE49-F238E27FC236}">
                <a16:creationId xmlns:a16="http://schemas.microsoft.com/office/drawing/2014/main" id="{5B30C10E-7A36-47FA-9BAC-BA7E52DA2E34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32385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6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1.000</a:t>
            </a:r>
          </a:p>
        </p:txBody>
      </p:sp>
      <p:sp>
        <p:nvSpPr>
          <p:cNvPr id="7" name="pilot-label">
            <a:extLst>
              <a:ext uri="{FF2B5EF4-FFF2-40B4-BE49-F238E27FC236}">
                <a16:creationId xmlns:a16="http://schemas.microsoft.com/office/drawing/2014/main" id="{30093C3B-2247-4D76-8CF8-582A8F9F1C74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replay test recall（舊 0.375・已重跑）</a:t>
            </a:r>
          </a:p>
        </p:txBody>
      </p:sp>
      <p:sp>
        <p:nvSpPr>
          <p:cNvPr id="8" name="pilot-split">
            <a:extLst>
              <a:ext uri="{FF2B5EF4-FFF2-40B4-BE49-F238E27FC236}">
                <a16:creationId xmlns:a16="http://schemas.microsoft.com/office/drawing/2014/main" id="{E3D1D66B-F79D-40AC-A2FB-92F9F3F9A417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238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buNone/>
              <a:def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補上專屬證據的類別全部接近滿分；沒有的仍然最差</a:t>
            </a:r>
          </a:p>
        </p:txBody>
      </p:sp>
      <p:sp>
        <p:nvSpPr>
          <p:cNvPr id="9" name="pilot-metric-1">
            <a:extLst>
              <a:ext uri="{FF2B5EF4-FFF2-40B4-BE49-F238E27FC236}">
                <a16:creationId xmlns:a16="http://schemas.microsoft.com/office/drawing/2014/main" id="{0D27329A-E787-440C-94B6-9100220409DE}"/>
              </a:ext>
            </a:extLst>
          </p:cNvPr>
          <p:cNvSpPr>
            <a:spLocks noGrp="1"/>
          </p:cNvSpPr>
          <p:nvPr/>
        </p:nvSpPr>
        <p:spPr>
          <a:xfrm>
            <a:off x="4095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0.988</a:t>
            </a:r>
          </a:p>
        </p:txBody>
      </p:sp>
      <p:sp>
        <p:nvSpPr>
          <p:cNvPr id="10" name="pilot-metric-label-1">
            <a:extLst>
              <a:ext uri="{FF2B5EF4-FFF2-40B4-BE49-F238E27FC236}">
                <a16:creationId xmlns:a16="http://schemas.microsoft.com/office/drawing/2014/main" id="{70C8DCB3-4D9D-47BF-BD0B-0633E6745D5C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parameter_tamper（舊 0.429・已重跑）</a:t>
            </a:r>
          </a:p>
        </p:txBody>
      </p:sp>
      <p:sp>
        <p:nvSpPr>
          <p:cNvPr id="11" name="pilot-separator-1">
            <a:extLst>
              <a:ext uri="{FF2B5EF4-FFF2-40B4-BE49-F238E27FC236}">
                <a16:creationId xmlns:a16="http://schemas.microsoft.com/office/drawing/2014/main" id="{4CE5B702-1D8E-4A61-9220-E52715CF4830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ilot-metric-2">
            <a:extLst>
              <a:ext uri="{FF2B5EF4-FFF2-40B4-BE49-F238E27FC236}">
                <a16:creationId xmlns:a16="http://schemas.microsoft.com/office/drawing/2014/main" id="{57D28980-F6FC-4C86-A59B-039936070E47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0.467</a:t>
            </a:r>
          </a:p>
        </p:txBody>
      </p:sp>
      <p:sp>
        <p:nvSpPr>
          <p:cNvPr id="13" name="pilot-metric-label-2">
            <a:extLst>
              <a:ext uri="{FF2B5EF4-FFF2-40B4-BE49-F238E27FC236}">
                <a16:creationId xmlns:a16="http://schemas.microsoft.com/office/drawing/2014/main" id="{93BA81E2-FD4F-4393-9482-FF508FDD4B6E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identity_abuse（未重跑・無專屬證據）</a:t>
            </a:r>
          </a:p>
        </p:txBody>
      </p:sp>
      <p:sp>
        <p:nvSpPr>
          <p:cNvPr id="14" name="pilot-separator-2">
            <a:extLst>
              <a:ext uri="{FF2B5EF4-FFF2-40B4-BE49-F238E27FC236}">
                <a16:creationId xmlns:a16="http://schemas.microsoft.com/office/drawing/2014/main" id="{8294DCB3-F750-4DC4-BA0B-B4AD8DA95D7B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9525" cy="15716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ilot-metric-3">
            <a:extLst>
              <a:ext uri="{FF2B5EF4-FFF2-40B4-BE49-F238E27FC236}">
                <a16:creationId xmlns:a16="http://schemas.microsoft.com/office/drawing/2014/main" id="{8DC3A233-A7BE-4D3F-B813-34C55CEE30A8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0.5499</a:t>
            </a:r>
          </a:p>
        </p:txBody>
      </p:sp>
      <p:sp>
        <p:nvSpPr>
          <p:cNvPr id="16" name="pilot-metric-label-3">
            <a:extLst>
              <a:ext uri="{FF2B5EF4-FFF2-40B4-BE49-F238E27FC236}">
                <a16:creationId xmlns:a16="http://schemas.microsoft.com/office/drawing/2014/main" id="{C44F6613-9A85-4BB3-8E03-648916666754}"/>
              </a:ext>
            </a:extLst>
          </p:cNvPr>
          <p:cNvSpPr>
            <a:spLocks noGrp="1"/>
          </p:cNvSpPr>
          <p:nvPr/>
        </p:nvSpPr>
        <p:spPr>
          <a:xfrm>
            <a:off x="9048750" y="28575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整個模型 open-set recall（乾淨協定）</a:t>
            </a:r>
          </a:p>
        </p:txBody>
      </p:sp>
      <p:sp>
        <p:nvSpPr>
          <p:cNvPr id="17" name="pilot-meaning">
            <a:extLst>
              <a:ext uri="{FF2B5EF4-FFF2-40B4-BE49-F238E27FC236}">
                <a16:creationId xmlns:a16="http://schemas.microsoft.com/office/drawing/2014/main" id="{0DE0BA5D-4C3D-4BC0-AB5F-936703B50076}"/>
              </a:ext>
            </a:extLst>
          </p:cNvPr>
          <p:cNvSpPr>
            <a:spLocks noGrp="1"/>
          </p:cNvSpPr>
          <p:nvPr/>
        </p:nvSpPr>
        <p:spPr>
          <a:xfrm>
            <a:off x="4095750" y="3857625"/>
            <a:ext cx="7000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0.5499 比異常頭的 0.7627 低，而它才是可宣稱的數字：722 列 holdout 中 397 判為未知、231 被誤填成已知類別。拒絕把未知套進已知，是更難的一半。</a:t>
            </a:r>
          </a:p>
        </p:txBody>
      </p:sp>
      <p:sp>
        <p:nvSpPr>
          <p:cNvPr id="18" name="pilot-boundary-band">
            <a:extLst>
              <a:ext uri="{FF2B5EF4-FFF2-40B4-BE49-F238E27FC236}">
                <a16:creationId xmlns:a16="http://schemas.microsoft.com/office/drawing/2014/main" id="{B43F88C1-5FBF-43BA-AE7B-48A95A6A5F69}"/>
              </a:ext>
            </a:extLst>
          </p:cNvPr>
          <p:cNvSpPr>
            <a:spLocks noGrp="1"/>
          </p:cNvSpPr>
          <p:nvPr/>
        </p:nvSpPr>
        <p:spPr>
          <a:xfrm>
            <a:off x="4095750" y="5219700"/>
            <a:ext cx="7000875" cy="5905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ilot-boundary">
            <a:extLst>
              <a:ext uri="{FF2B5EF4-FFF2-40B4-BE49-F238E27FC236}">
                <a16:creationId xmlns:a16="http://schemas.microsoft.com/office/drawing/2014/main" id="{4AABAAC1-BC15-4E45-BE34-D8FEDF69EBE3}"/>
              </a:ext>
            </a:extLst>
          </p:cNvPr>
          <p:cNvSpPr>
            <a:spLocks noGrp="1"/>
          </p:cNvSpPr>
          <p:nvPr/>
        </p:nvSpPr>
        <p:spPr>
          <a:xfrm>
            <a:off x="4333875" y="5353050"/>
            <a:ext cx="65246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未達 0.70 門檻｜這是明確可改進的目標，不是含糊的限制</a:t>
            </a:r>
          </a:p>
        </p:txBody>
      </p:sp>
    </p:spTree>
    <p:extLst>
      <p:ext uri="{BB962C8B-B14F-4D97-AF65-F5344CB8AC3E}">
        <p14:creationId xmlns:p14="http://schemas.microsoft.com/office/powerpoint/2010/main" val="456440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ail-10">
            <a:extLst>
              <a:ext uri="{FF2B5EF4-FFF2-40B4-BE49-F238E27FC236}">
                <a16:creationId xmlns:a16="http://schemas.microsoft.com/office/drawing/2014/main" id="{7652D2E9-03D1-4BE9-9543-8AC684917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B8A8975B-146B-46FD-8933-D4935AB2C4D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公平比較支持因果時序特徵，但不是 sealed final test</a:t>
            </a:r>
          </a:p>
        </p:txBody>
      </p:sp>
      <p:sp>
        <p:nvSpPr>
          <p:cNvPr id="5" name="page-10">
            <a:extLst>
              <a:ext uri="{FF2B5EF4-FFF2-40B4-BE49-F238E27FC236}">
                <a16:creationId xmlns:a16="http://schemas.microsoft.com/office/drawing/2014/main" id="{1F8A0CEB-BE54-449D-BFDC-5BC796F02700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609600" y="1600200"/>
          <a:ext cx="10972800" cy="4343402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48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Mode／Task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Causal best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95% session CI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限制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P／Binary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Logistic F1 0.9822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0.9560–1.0000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P95 0.686 ms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P／Family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ExtraTrees 0.8386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0.6741–0.9470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仍需 final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P／Leaf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HistGB 0.7478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0.6495–0.8223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診斷用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E／Binary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HistGB 0.9708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0.9413–0.9948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P95 1.555 ms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E／Family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RF 0.6124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0.4816–0.7064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signal 不足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E／Leaf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ExtraTrees 0.3803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0.2412–0.4547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不可執行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7567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ail-11">
            <a:extLst>
              <a:ext uri="{FF2B5EF4-FFF2-40B4-BE49-F238E27FC236}">
                <a16:creationId xmlns:a16="http://schemas.microsoft.com/office/drawing/2014/main" id="{113CC95A-9A37-427E-944E-2A944298C2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1">
            <a:extLst>
              <a:ext uri="{FF2B5EF4-FFF2-40B4-BE49-F238E27FC236}">
                <a16:creationId xmlns:a16="http://schemas.microsoft.com/office/drawing/2014/main" id="{F3DF618F-6F3F-4D18-8F66-2F02FC7DE31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Direct delivery 與九項本機 outcome 是部署前的事實閘門</a:t>
            </a:r>
          </a:p>
        </p:txBody>
      </p:sp>
      <p:sp>
        <p:nvSpPr>
          <p:cNvPr id="5" name="page-11">
            <a:extLst>
              <a:ext uri="{FF2B5EF4-FFF2-40B4-BE49-F238E27FC236}">
                <a16:creationId xmlns:a16="http://schemas.microsoft.com/office/drawing/2014/main" id="{DE745242-998F-45B0-AAA5-AE71DB7717F7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6" name="response-label">
            <a:extLst>
              <a:ext uri="{FF2B5EF4-FFF2-40B4-BE49-F238E27FC236}">
                <a16:creationId xmlns:a16="http://schemas.microsoft.com/office/drawing/2014/main" id="{BB3E06E3-4654-4019-B5E9-419FADFCDAF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EVIDENCE CONTRACT</a:t>
            </a:r>
          </a:p>
        </p:txBody>
      </p:sp>
      <p:sp>
        <p:nvSpPr>
          <p:cNvPr id="7" name="response-title">
            <a:extLst>
              <a:ext uri="{FF2B5EF4-FFF2-40B4-BE49-F238E27FC236}">
                <a16:creationId xmlns:a16="http://schemas.microsoft.com/office/drawing/2014/main" id="{E3AC8758-E9E0-4C75-AC72-16AC935460EF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Direct-delivery 驗票五步</a:t>
            </a:r>
          </a:p>
        </p:txBody>
      </p:sp>
      <p:sp>
        <p:nvSpPr>
          <p:cNvPr id="8" name="gate-number-1">
            <a:extLst>
              <a:ext uri="{FF2B5EF4-FFF2-40B4-BE49-F238E27FC236}">
                <a16:creationId xmlns:a16="http://schemas.microsoft.com/office/drawing/2014/main" id="{6E42D0BD-BAE4-494D-8838-A1F3A26FA4AA}"/>
              </a:ext>
            </a:extLst>
          </p:cNvPr>
          <p:cNvSpPr>
            <a:spLocks noGrp="1"/>
          </p:cNvSpPr>
          <p:nvPr/>
        </p:nvSpPr>
        <p:spPr>
          <a:xfrm>
            <a:off x="628650" y="268605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gate-text-1">
            <a:extLst>
              <a:ext uri="{FF2B5EF4-FFF2-40B4-BE49-F238E27FC236}">
                <a16:creationId xmlns:a16="http://schemas.microsoft.com/office/drawing/2014/main" id="{50B50E53-158D-4467-B574-A3FB82CA850A}"/>
              </a:ext>
            </a:extLst>
          </p:cNvPr>
          <p:cNvSpPr>
            <a:spLocks noGrp="1"/>
          </p:cNvSpPr>
          <p:nvPr/>
        </p:nvSpPr>
        <p:spPr>
          <a:xfrm>
            <a:off x="1123950" y="27146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綁定 session／mode／policy／topic／enclave</a:t>
            </a:r>
          </a:p>
        </p:txBody>
      </p:sp>
      <p:sp>
        <p:nvSpPr>
          <p:cNvPr id="10" name="gate-rule-1">
            <a:extLst>
              <a:ext uri="{FF2B5EF4-FFF2-40B4-BE49-F238E27FC236}">
                <a16:creationId xmlns:a16="http://schemas.microsoft.com/office/drawing/2014/main" id="{016DCD14-75C9-42D5-A5FF-CD350E649BB8}"/>
              </a:ext>
            </a:extLst>
          </p:cNvPr>
          <p:cNvSpPr>
            <a:spLocks noGrp="1"/>
          </p:cNvSpPr>
          <p:nvPr/>
        </p:nvSpPr>
        <p:spPr>
          <a:xfrm>
            <a:off x="1123950" y="31146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gate-number-2">
            <a:extLst>
              <a:ext uri="{FF2B5EF4-FFF2-40B4-BE49-F238E27FC236}">
                <a16:creationId xmlns:a16="http://schemas.microsoft.com/office/drawing/2014/main" id="{7F8D795E-8867-4BA5-A0E7-560F5091C7F6}"/>
              </a:ext>
            </a:extLst>
          </p:cNvPr>
          <p:cNvSpPr>
            <a:spLocks noGrp="1"/>
          </p:cNvSpPr>
          <p:nvPr/>
        </p:nvSpPr>
        <p:spPr>
          <a:xfrm>
            <a:off x="628650" y="327660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gate-text-2">
            <a:extLst>
              <a:ext uri="{FF2B5EF4-FFF2-40B4-BE49-F238E27FC236}">
                <a16:creationId xmlns:a16="http://schemas.microsoft.com/office/drawing/2014/main" id="{7A17991C-9B31-43DC-ADD4-22F5E00FF8DE}"/>
              </a:ext>
            </a:extLst>
          </p:cNvPr>
          <p:cNvSpPr>
            <a:spLocks noGrp="1"/>
          </p:cNvSpPr>
          <p:nvPr/>
        </p:nvSpPr>
        <p:spPr>
          <a:xfrm>
            <a:off x="1123950" y="330517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attempted sequence 連續且完整</a:t>
            </a:r>
          </a:p>
        </p:txBody>
      </p:sp>
      <p:sp>
        <p:nvSpPr>
          <p:cNvPr id="13" name="gate-rule-2">
            <a:extLst>
              <a:ext uri="{FF2B5EF4-FFF2-40B4-BE49-F238E27FC236}">
                <a16:creationId xmlns:a16="http://schemas.microsoft.com/office/drawing/2014/main" id="{9B98A44F-1DC9-4DFB-8E99-FFDADF760F00}"/>
              </a:ext>
            </a:extLst>
          </p:cNvPr>
          <p:cNvSpPr>
            <a:spLocks noGrp="1"/>
          </p:cNvSpPr>
          <p:nvPr/>
        </p:nvSpPr>
        <p:spPr>
          <a:xfrm>
            <a:off x="1123950" y="370522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gate-number-3">
            <a:extLst>
              <a:ext uri="{FF2B5EF4-FFF2-40B4-BE49-F238E27FC236}">
                <a16:creationId xmlns:a16="http://schemas.microsoft.com/office/drawing/2014/main" id="{8211B74B-3093-406D-9C61-942DFD91CB6B}"/>
              </a:ext>
            </a:extLst>
          </p:cNvPr>
          <p:cNvSpPr>
            <a:spLocks noGrp="1"/>
          </p:cNvSpPr>
          <p:nvPr/>
        </p:nvSpPr>
        <p:spPr>
          <a:xfrm>
            <a:off x="628650" y="386715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gate-text-3">
            <a:extLst>
              <a:ext uri="{FF2B5EF4-FFF2-40B4-BE49-F238E27FC236}">
                <a16:creationId xmlns:a16="http://schemas.microsoft.com/office/drawing/2014/main" id="{CD77E529-0600-4C3B-A399-4A6AB8E54186}"/>
              </a:ext>
            </a:extLst>
          </p:cNvPr>
          <p:cNvSpPr>
            <a:spLocks noGrp="1"/>
          </p:cNvSpPr>
          <p:nvPr/>
        </p:nvSpPr>
        <p:spPr>
          <a:xfrm>
            <a:off x="1123950" y="38957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received sequence 只能是 attempt 子集</a:t>
            </a:r>
          </a:p>
        </p:txBody>
      </p:sp>
      <p:sp>
        <p:nvSpPr>
          <p:cNvPr id="16" name="gate-rule-3">
            <a:extLst>
              <a:ext uri="{FF2B5EF4-FFF2-40B4-BE49-F238E27FC236}">
                <a16:creationId xmlns:a16="http://schemas.microsoft.com/office/drawing/2014/main" id="{4E4E374E-8E9F-4199-8088-108E3D84D538}"/>
              </a:ext>
            </a:extLst>
          </p:cNvPr>
          <p:cNvSpPr>
            <a:spLocks noGrp="1"/>
          </p:cNvSpPr>
          <p:nvPr/>
        </p:nvSpPr>
        <p:spPr>
          <a:xfrm>
            <a:off x="1123950" y="42957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gate-number-4">
            <a:extLst>
              <a:ext uri="{FF2B5EF4-FFF2-40B4-BE49-F238E27FC236}">
                <a16:creationId xmlns:a16="http://schemas.microsoft.com/office/drawing/2014/main" id="{719E8D94-93F1-4B85-9A87-7BAAB9D43520}"/>
              </a:ext>
            </a:extLst>
          </p:cNvPr>
          <p:cNvSpPr>
            <a:spLocks noGrp="1"/>
          </p:cNvSpPr>
          <p:nvPr/>
        </p:nvSpPr>
        <p:spPr>
          <a:xfrm>
            <a:off x="628650" y="4457700"/>
            <a:ext cx="323850" cy="323850"/>
          </a:xfrm>
          <a:prstGeom prst="ellipse">
            <a:avLst/>
          </a:prstGeom>
          <a:solidFill>
            <a:srgbClr val="657065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gate-text-4">
            <a:extLst>
              <a:ext uri="{FF2B5EF4-FFF2-40B4-BE49-F238E27FC236}">
                <a16:creationId xmlns:a16="http://schemas.microsoft.com/office/drawing/2014/main" id="{AE0E6115-C508-4547-BEBE-3C2203E7750B}"/>
              </a:ext>
            </a:extLst>
          </p:cNvPr>
          <p:cNvSpPr>
            <a:spLocks noGrp="1"/>
          </p:cNvSpPr>
          <p:nvPr/>
        </p:nvSpPr>
        <p:spPr>
          <a:xfrm>
            <a:off x="1123950" y="448627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雙 collector heartbeat 與 clean shutdown</a:t>
            </a:r>
          </a:p>
        </p:txBody>
      </p:sp>
      <p:sp>
        <p:nvSpPr>
          <p:cNvPr id="19" name="gate-rule-4">
            <a:extLst>
              <a:ext uri="{FF2B5EF4-FFF2-40B4-BE49-F238E27FC236}">
                <a16:creationId xmlns:a16="http://schemas.microsoft.com/office/drawing/2014/main" id="{B5DEE0B4-7C44-4A52-98EA-D5E8A84F3F0F}"/>
              </a:ext>
            </a:extLst>
          </p:cNvPr>
          <p:cNvSpPr>
            <a:spLocks noGrp="1"/>
          </p:cNvSpPr>
          <p:nvPr/>
        </p:nvSpPr>
        <p:spPr>
          <a:xfrm>
            <a:off x="1123950" y="488632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gate-number-5">
            <a:extLst>
              <a:ext uri="{FF2B5EF4-FFF2-40B4-BE49-F238E27FC236}">
                <a16:creationId xmlns:a16="http://schemas.microsoft.com/office/drawing/2014/main" id="{B23B8990-5EC7-46E8-BAA0-33114EFF9614}"/>
              </a:ext>
            </a:extLst>
          </p:cNvPr>
          <p:cNvSpPr>
            <a:spLocks noGrp="1"/>
          </p:cNvSpPr>
          <p:nvPr/>
        </p:nvSpPr>
        <p:spPr>
          <a:xfrm>
            <a:off x="628650" y="5048250"/>
            <a:ext cx="323850" cy="323850"/>
          </a:xfrm>
          <a:prstGeom prst="ellipse">
            <a:avLst/>
          </a:prstGeom>
          <a:solidFill>
            <a:srgbClr val="86605F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 fontScale="95486"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1" name="gate-text-5">
            <a:extLst>
              <a:ext uri="{FF2B5EF4-FFF2-40B4-BE49-F238E27FC236}">
                <a16:creationId xmlns:a16="http://schemas.microsoft.com/office/drawing/2014/main" id="{F98F67A9-B12B-46B3-AB9D-C61CA79332CA}"/>
              </a:ext>
            </a:extLst>
          </p:cNvPr>
          <p:cNvSpPr>
            <a:spLocks noGrp="1"/>
          </p:cNvSpPr>
          <p:nvPr/>
        </p:nvSpPr>
        <p:spPr>
          <a:xfrm>
            <a:off x="1123950" y="50768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重算 TP／FN／FP／TN；拒絕補造</a:t>
            </a:r>
          </a:p>
        </p:txBody>
      </p:sp>
      <p:sp>
        <p:nvSpPr>
          <p:cNvPr id="22" name="gate-rule-5">
            <a:extLst>
              <a:ext uri="{FF2B5EF4-FFF2-40B4-BE49-F238E27FC236}">
                <a16:creationId xmlns:a16="http://schemas.microsoft.com/office/drawing/2014/main" id="{7D4BECAC-828A-476D-8E55-22B69A6BA594}"/>
              </a:ext>
            </a:extLst>
          </p:cNvPr>
          <p:cNvSpPr>
            <a:spLocks noGrp="1"/>
          </p:cNvSpPr>
          <p:nvPr/>
        </p:nvSpPr>
        <p:spPr>
          <a:xfrm>
            <a:off x="1123950" y="5476875"/>
            <a:ext cx="400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pentest-field">
            <a:extLst>
              <a:ext uri="{FF2B5EF4-FFF2-40B4-BE49-F238E27FC236}">
                <a16:creationId xmlns:a16="http://schemas.microsoft.com/office/drawing/2014/main" id="{7DCA6514-3851-4DDD-B063-057C868C3A92}"/>
              </a:ext>
            </a:extLst>
          </p:cNvPr>
          <p:cNvSpPr>
            <a:spLocks noGrp="1"/>
          </p:cNvSpPr>
          <p:nvPr/>
        </p:nvSpPr>
        <p:spPr>
          <a:xfrm>
            <a:off x="5810250" y="1600200"/>
            <a:ext cx="5772150" cy="44958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pentest-label">
            <a:extLst>
              <a:ext uri="{FF2B5EF4-FFF2-40B4-BE49-F238E27FC236}">
                <a16:creationId xmlns:a16="http://schemas.microsoft.com/office/drawing/2014/main" id="{D92E567D-A03C-422E-8DFF-3EC3CC4836AA}"/>
              </a:ext>
            </a:extLst>
          </p:cNvPr>
          <p:cNvSpPr>
            <a:spLocks noGrp="1"/>
          </p:cNvSpPr>
          <p:nvPr/>
        </p:nvSpPr>
        <p:spPr>
          <a:xfrm>
            <a:off x="6191250" y="19240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LOCAL OUTCOMES</a:t>
            </a:r>
          </a:p>
        </p:txBody>
      </p:sp>
      <p:sp>
        <p:nvSpPr>
          <p:cNvPr id="25" name="pentest-title">
            <a:extLst>
              <a:ext uri="{FF2B5EF4-FFF2-40B4-BE49-F238E27FC236}">
                <a16:creationId xmlns:a16="http://schemas.microsoft.com/office/drawing/2014/main" id="{6169BA73-4B1A-4E24-9A1E-538E565BAC5D}"/>
              </a:ext>
            </a:extLst>
          </p:cNvPr>
          <p:cNvSpPr>
            <a:spLocks noGrp="1"/>
          </p:cNvSpPr>
          <p:nvPr/>
        </p:nvSpPr>
        <p:spPr>
          <a:xfrm>
            <a:off x="6191250" y="22860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九項驗收群組</a:t>
            </a:r>
          </a:p>
        </p:txBody>
      </p:sp>
      <p:sp>
        <p:nvSpPr>
          <p:cNvPr id="26" name="pentest-timeline">
            <a:extLst>
              <a:ext uri="{FF2B5EF4-FFF2-40B4-BE49-F238E27FC236}">
                <a16:creationId xmlns:a16="http://schemas.microsoft.com/office/drawing/2014/main" id="{E7DA95F9-8A32-498B-9A8C-2AB00D7900E6}"/>
              </a:ext>
            </a:extLst>
          </p:cNvPr>
          <p:cNvSpPr>
            <a:spLocks noGrp="1"/>
          </p:cNvSpPr>
          <p:nvPr/>
        </p:nvSpPr>
        <p:spPr>
          <a:xfrm>
            <a:off x="6438900" y="3067050"/>
            <a:ext cx="19050" cy="2095500"/>
          </a:xfrm>
          <a:prstGeom prst="rect">
            <a:avLst/>
          </a:prstGeom>
          <a:solidFill>
            <a:srgbClr val="A9A8A2"/>
          </a:solidFill>
          <a:ln w="9525">
            <a:solidFill>
              <a:srgbClr val="A9A8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pentest-stage-A">
            <a:extLst>
              <a:ext uri="{FF2B5EF4-FFF2-40B4-BE49-F238E27FC236}">
                <a16:creationId xmlns:a16="http://schemas.microsoft.com/office/drawing/2014/main" id="{0C22CBB5-7ECE-4219-B235-A13EE9106395}"/>
              </a:ext>
            </a:extLst>
          </p:cNvPr>
          <p:cNvSpPr>
            <a:spLocks noGrp="1"/>
          </p:cNvSpPr>
          <p:nvPr/>
        </p:nvSpPr>
        <p:spPr>
          <a:xfrm>
            <a:off x="6257925" y="29527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28" name="pentest-stage-text-A">
            <a:extLst>
              <a:ext uri="{FF2B5EF4-FFF2-40B4-BE49-F238E27FC236}">
                <a16:creationId xmlns:a16="http://schemas.microsoft.com/office/drawing/2014/main" id="{1477B7FD-6405-4B60-A61B-99A1E39A4B19}"/>
              </a:ext>
            </a:extLst>
          </p:cNvPr>
          <p:cNvSpPr>
            <a:spLocks noGrp="1"/>
          </p:cNvSpPr>
          <p:nvPr/>
        </p:nvSpPr>
        <p:spPr>
          <a:xfrm>
            <a:off x="6896100" y="29622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正常保留／SROS2</a:t>
            </a:r>
          </a:p>
        </p:txBody>
      </p:sp>
      <p:sp>
        <p:nvSpPr>
          <p:cNvPr id="29" name="pentest-stage-B">
            <a:extLst>
              <a:ext uri="{FF2B5EF4-FFF2-40B4-BE49-F238E27FC236}">
                <a16:creationId xmlns:a16="http://schemas.microsoft.com/office/drawing/2014/main" id="{EBB94618-215A-413A-B363-B1E814A52F84}"/>
              </a:ext>
            </a:extLst>
          </p:cNvPr>
          <p:cNvSpPr>
            <a:spLocks noGrp="1"/>
          </p:cNvSpPr>
          <p:nvPr/>
        </p:nvSpPr>
        <p:spPr>
          <a:xfrm>
            <a:off x="6257925" y="36385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30" name="pentest-stage-text-B">
            <a:extLst>
              <a:ext uri="{FF2B5EF4-FFF2-40B4-BE49-F238E27FC236}">
                <a16:creationId xmlns:a16="http://schemas.microsoft.com/office/drawing/2014/main" id="{68325BE1-40C0-4D02-93D4-377F90B300F7}"/>
              </a:ext>
            </a:extLst>
          </p:cNvPr>
          <p:cNvSpPr>
            <a:spLocks noGrp="1"/>
          </p:cNvSpPr>
          <p:nvPr/>
        </p:nvSpPr>
        <p:spPr>
          <a:xfrm>
            <a:off x="6896100" y="36480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HMAC／replay／oversize</a:t>
            </a:r>
          </a:p>
        </p:txBody>
      </p:sp>
      <p:sp>
        <p:nvSpPr>
          <p:cNvPr id="31" name="pentest-stage-C">
            <a:extLst>
              <a:ext uri="{FF2B5EF4-FFF2-40B4-BE49-F238E27FC236}">
                <a16:creationId xmlns:a16="http://schemas.microsoft.com/office/drawing/2014/main" id="{1D3366FC-C3BF-4253-A79A-26F2B27ED5CC}"/>
              </a:ext>
            </a:extLst>
          </p:cNvPr>
          <p:cNvSpPr>
            <a:spLocks noGrp="1"/>
          </p:cNvSpPr>
          <p:nvPr/>
        </p:nvSpPr>
        <p:spPr>
          <a:xfrm>
            <a:off x="6257925" y="4324350"/>
            <a:ext cx="381000" cy="381000"/>
          </a:xfrm>
          <a:prstGeom prst="ellipse">
            <a:avLst/>
          </a:prstGeom>
          <a:solidFill>
            <a:srgbClr val="A18F83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32" name="pentest-stage-text-C">
            <a:extLst>
              <a:ext uri="{FF2B5EF4-FFF2-40B4-BE49-F238E27FC236}">
                <a16:creationId xmlns:a16="http://schemas.microsoft.com/office/drawing/2014/main" id="{608CB65A-6B5E-457C-A4E6-6C63A5764477}"/>
              </a:ext>
            </a:extLst>
          </p:cNvPr>
          <p:cNvSpPr>
            <a:spLocks noGrp="1"/>
          </p:cNvSpPr>
          <p:nvPr/>
        </p:nvSpPr>
        <p:spPr>
          <a:xfrm>
            <a:off x="6896100" y="43338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parameter／guard zero</a:t>
            </a:r>
          </a:p>
        </p:txBody>
      </p:sp>
      <p:sp>
        <p:nvSpPr>
          <p:cNvPr id="33" name="pentest-stage-D">
            <a:extLst>
              <a:ext uri="{FF2B5EF4-FFF2-40B4-BE49-F238E27FC236}">
                <a16:creationId xmlns:a16="http://schemas.microsoft.com/office/drawing/2014/main" id="{2BD9EC51-0B66-495C-8BC9-C7F076B3A9C3}"/>
              </a:ext>
            </a:extLst>
          </p:cNvPr>
          <p:cNvSpPr>
            <a:spLocks noGrp="1"/>
          </p:cNvSpPr>
          <p:nvPr/>
        </p:nvSpPr>
        <p:spPr>
          <a:xfrm>
            <a:off x="6257925" y="5010150"/>
            <a:ext cx="381000" cy="381000"/>
          </a:xfrm>
          <a:prstGeom prst="ellipse">
            <a:avLst/>
          </a:prstGeom>
          <a:solidFill>
            <a:srgbClr val="86605F"/>
          </a:solidFill>
          <a:ln w="0">
            <a:noFill/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34" name="pentest-stage-text-D">
            <a:extLst>
              <a:ext uri="{FF2B5EF4-FFF2-40B4-BE49-F238E27FC236}">
                <a16:creationId xmlns:a16="http://schemas.microsoft.com/office/drawing/2014/main" id="{5E3B203C-3E0C-46BB-85DA-409E38C96168}"/>
              </a:ext>
            </a:extLst>
          </p:cNvPr>
          <p:cNvSpPr>
            <a:spLocks noGrp="1"/>
          </p:cNvSpPr>
          <p:nvPr/>
        </p:nvSpPr>
        <p:spPr>
          <a:xfrm>
            <a:off x="6896100" y="5019675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recover／graph fail-safe</a:t>
            </a:r>
          </a:p>
        </p:txBody>
      </p:sp>
      <p:sp>
        <p:nvSpPr>
          <p:cNvPr id="35" name="pentest-evidence">
            <a:extLst>
              <a:ext uri="{FF2B5EF4-FFF2-40B4-BE49-F238E27FC236}">
                <a16:creationId xmlns:a16="http://schemas.microsoft.com/office/drawing/2014/main" id="{8189D79C-CA4B-4084-83A4-40CBEEFCAD5B}"/>
              </a:ext>
            </a:extLst>
          </p:cNvPr>
          <p:cNvSpPr>
            <a:spLocks noGrp="1"/>
          </p:cNvSpPr>
          <p:nvPr/>
        </p:nvSpPr>
        <p:spPr>
          <a:xfrm>
            <a:off x="6191250" y="552450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BC1CA"/>
                </a:solidFill>
                <a:latin typeface="Microsoft JhengHei"/>
                <a:ea typeface="Microsoft JhengHei"/>
                <a:cs typeface="Microsoft JhengHei"/>
              </a:rPr>
              <a:t>九項本機 outcome 目前 5／9 有單場完整 live 證據；聚合報告要求九項全齊，刻意 fail-closed 未產出。</a:t>
            </a:r>
          </a:p>
        </p:txBody>
      </p:sp>
    </p:spTree>
    <p:extLst>
      <p:ext uri="{BB962C8B-B14F-4D97-AF65-F5344CB8AC3E}">
        <p14:creationId xmlns:p14="http://schemas.microsoft.com/office/powerpoint/2010/main" val="32824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ail-10">
            <a:extLst>
              <a:ext uri="{FF2B5EF4-FFF2-40B4-BE49-F238E27FC236}">
                <a16:creationId xmlns:a16="http://schemas.microsoft.com/office/drawing/2014/main" id="{7652D2E9-03D1-4BE9-9543-8AC684917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27870"/>
          </a:solidFill>
          <a:ln w="9525">
            <a:solidFill>
              <a:srgbClr val="8278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0">
            <a:extLst>
              <a:ext uri="{FF2B5EF4-FFF2-40B4-BE49-F238E27FC236}">
                <a16:creationId xmlns:a16="http://schemas.microsoft.com/office/drawing/2014/main" id="{B8A8975B-146B-46FD-8933-D4935AB2C4D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證據總帳與可重現性稽核讓每個主張都能追到檔案</a:t>
            </a:r>
          </a:p>
        </p:txBody>
      </p:sp>
      <p:sp>
        <p:nvSpPr>
          <p:cNvPr id="5" name="page-10">
            <a:extLst>
              <a:ext uri="{FF2B5EF4-FFF2-40B4-BE49-F238E27FC236}">
                <a16:creationId xmlns:a16="http://schemas.microsoft.com/office/drawing/2014/main" id="{1F8A0CEB-BE54-449D-BFDC-5BC796F02700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609600" y="1600200"/>
          <a:ext cx="10972800" cy="4343402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48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層級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本輪結果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必要證據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AF8F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安全邊界</a:t>
                      </a:r>
                    </a:p>
                  </a:txBody>
                  <a:tcPr marL="76200" marR="76200" marT="76200" marB="76200" anchor="ctr">
                    <a:solidFill>
                      <a:srgbClr val="6570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Verified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 claims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非空檔＋bytes＋SHA-256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可重驗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Provisional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claims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方法已完成／live 待補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不可當 pass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Blocked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 claim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明確 blocker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房間級封鎖未部署</a:t>
                      </a:r>
                    </a:p>
                  </a:txBody>
                  <a:tcPr marL="76200" marR="76200" marT="76200" marB="76200" anchor="ctr">
                    <a:solidFill>
                      <a:srgbClr val="F4F1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Repro audit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12/12 verified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Python／ROS 檔／pins／hash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未啟 ROS</a:t>
                      </a:r>
                    </a:p>
                  </a:txBody>
                  <a:tcPr marL="76200" marR="76200" marT="76200" marB="76200" anchor="ctr">
                    <a:solidFill>
                      <a:srgbClr val="E4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Regression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583 passed／0 failed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完整測試 runner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268 warnings 已分類</a:t>
                      </a:r>
                    </a:p>
                  </a:txBody>
                  <a:tcPr marL="76200" marR="76200" marT="76200" marB="76200" anchor="ctr">
                    <a:solidFill>
                      <a:srgbClr val="DED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Authorization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永久 false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ledger 不是部署票證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F302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不得自行開門</a:t>
                      </a:r>
                    </a:p>
                  </a:txBody>
                  <a:tcPr marL="76200" marR="76200" marT="76200" marB="76200" anchor="ctr">
                    <a:solidFill>
                      <a:srgbClr val="EAE6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756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ail-12">
            <a:extLst>
              <a:ext uri="{FF2B5EF4-FFF2-40B4-BE49-F238E27FC236}">
                <a16:creationId xmlns:a16="http://schemas.microsoft.com/office/drawing/2014/main" id="{C3B156F7-2D0B-4E96-9EA0-EF2B6C4B43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2">
            <a:extLst>
              <a:ext uri="{FF2B5EF4-FFF2-40B4-BE49-F238E27FC236}">
                <a16:creationId xmlns:a16="http://schemas.microsoft.com/office/drawing/2014/main" id="{05B57784-7151-4E76-9A71-91522AB4C00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工程與 AI 已成形；剩餘工作集中在真實部署驗收</a:t>
            </a:r>
          </a:p>
        </p:txBody>
      </p:sp>
      <p:sp>
        <p:nvSpPr>
          <p:cNvPr id="5" name="progress-engineering-label">
            <a:extLst>
              <a:ext uri="{FF2B5EF4-FFF2-40B4-BE49-F238E27FC236}">
                <a16:creationId xmlns:a16="http://schemas.microsoft.com/office/drawing/2014/main" id="{620417A9-ADC6-4D51-A19B-5B39CDC0EDD0}"/>
              </a:ext>
            </a:extLst>
          </p:cNvPr>
          <p:cNvSpPr>
            <a:spLocks noGrp="1"/>
          </p:cNvSpPr>
          <p:nvPr/>
        </p:nvSpPr>
        <p:spPr>
          <a:xfrm>
            <a:off x="609600" y="17526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工程原型完成度</a:t>
            </a:r>
          </a:p>
        </p:txBody>
      </p:sp>
      <p:sp>
        <p:nvSpPr>
          <p:cNvPr id="6" name="progress-engineering-track">
            <a:extLst>
              <a:ext uri="{FF2B5EF4-FFF2-40B4-BE49-F238E27FC236}">
                <a16:creationId xmlns:a16="http://schemas.microsoft.com/office/drawing/2014/main" id="{E1B58CF9-B1EB-4A99-A421-BD02FE966798}"/>
              </a:ext>
            </a:extLst>
          </p:cNvPr>
          <p:cNvSpPr>
            <a:spLocks noGrp="1"/>
          </p:cNvSpPr>
          <p:nvPr/>
        </p:nvSpPr>
        <p:spPr>
          <a:xfrm>
            <a:off x="609600" y="2152650"/>
            <a:ext cx="4762500" cy="30480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progress-engineering-value">
            <a:extLst>
              <a:ext uri="{FF2B5EF4-FFF2-40B4-BE49-F238E27FC236}">
                <a16:creationId xmlns:a16="http://schemas.microsoft.com/office/drawing/2014/main" id="{E07946E8-240A-4DF7-AF44-5FBEFA1D8A5B}"/>
              </a:ext>
            </a:extLst>
          </p:cNvPr>
          <p:cNvSpPr>
            <a:spLocks noGrp="1"/>
          </p:cNvSpPr>
          <p:nvPr/>
        </p:nvSpPr>
        <p:spPr>
          <a:xfrm>
            <a:off x="609600" y="2152650"/>
            <a:ext cx="4048125" cy="3048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progress-engineering-number">
            <a:extLst>
              <a:ext uri="{FF2B5EF4-FFF2-40B4-BE49-F238E27FC236}">
                <a16:creationId xmlns:a16="http://schemas.microsoft.com/office/drawing/2014/main" id="{5CA884AA-5D06-4A54-A38B-26EB0F8E7EE4}"/>
              </a:ext>
            </a:extLst>
          </p:cNvPr>
          <p:cNvSpPr>
            <a:spLocks noGrp="1"/>
          </p:cNvSpPr>
          <p:nvPr/>
        </p:nvSpPr>
        <p:spPr>
          <a:xfrm>
            <a:off x="3981450" y="2057400"/>
            <a:ext cx="133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9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85%</a:t>
            </a:r>
          </a:p>
        </p:txBody>
      </p:sp>
      <p:sp>
        <p:nvSpPr>
          <p:cNvPr id="9" name="progress-ai-label">
            <a:extLst>
              <a:ext uri="{FF2B5EF4-FFF2-40B4-BE49-F238E27FC236}">
                <a16:creationId xmlns:a16="http://schemas.microsoft.com/office/drawing/2014/main" id="{DA4B4131-6F64-4DF1-BD66-238B057F3004}"/>
              </a:ext>
            </a:extLst>
          </p:cNvPr>
          <p:cNvSpPr>
            <a:spLocks noGrp="1"/>
          </p:cNvSpPr>
          <p:nvPr/>
        </p:nvSpPr>
        <p:spPr>
          <a:xfrm>
            <a:off x="609600" y="30099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AI 評審成熟度</a:t>
            </a:r>
          </a:p>
        </p:txBody>
      </p:sp>
      <p:sp>
        <p:nvSpPr>
          <p:cNvPr id="10" name="progress-ai-track">
            <a:extLst>
              <a:ext uri="{FF2B5EF4-FFF2-40B4-BE49-F238E27FC236}">
                <a16:creationId xmlns:a16="http://schemas.microsoft.com/office/drawing/2014/main" id="{B244D555-4BFE-4E5A-B3AA-5E225848CCC9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4762500" cy="304800"/>
          </a:xfrm>
          <a:prstGeom prst="rect">
            <a:avLst/>
          </a:prstGeom>
          <a:solidFill>
            <a:srgbClr val="EAE6DF"/>
          </a:solidFill>
          <a:ln w="9525">
            <a:solidFill>
              <a:srgbClr val="EAE6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progress-ai-value">
            <a:extLst>
              <a:ext uri="{FF2B5EF4-FFF2-40B4-BE49-F238E27FC236}">
                <a16:creationId xmlns:a16="http://schemas.microsoft.com/office/drawing/2014/main" id="{A816A113-D7B0-4F3A-BEE1-7ECDA0D36446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3762375" cy="3048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rogress-ai-number">
            <a:extLst>
              <a:ext uri="{FF2B5EF4-FFF2-40B4-BE49-F238E27FC236}">
                <a16:creationId xmlns:a16="http://schemas.microsoft.com/office/drawing/2014/main" id="{94240EE5-0D71-4CC9-9D80-AECB0ABBF85E}"/>
              </a:ext>
            </a:extLst>
          </p:cNvPr>
          <p:cNvSpPr>
            <a:spLocks noGrp="1"/>
          </p:cNvSpPr>
          <p:nvPr/>
        </p:nvSpPr>
        <p:spPr>
          <a:xfrm>
            <a:off x="3981450" y="3314700"/>
            <a:ext cx="133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9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79%</a:t>
            </a:r>
          </a:p>
        </p:txBody>
      </p:sp>
      <p:sp>
        <p:nvSpPr>
          <p:cNvPr id="13" name="progress-explanation">
            <a:extLst>
              <a:ext uri="{FF2B5EF4-FFF2-40B4-BE49-F238E27FC236}">
                <a16:creationId xmlns:a16="http://schemas.microsoft.com/office/drawing/2014/main" id="{18E05E60-31B4-4355-A80E-5F257CC9A93F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762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百分比是工作包估計，不是模型準確率。房間級自動封鎖部署成熟度目前只有 38%。</a:t>
            </a:r>
          </a:p>
        </p:txBody>
      </p:sp>
      <p:sp>
        <p:nvSpPr>
          <p:cNvPr id="14" name="progress-grid-v">
            <a:extLst>
              <a:ext uri="{FF2B5EF4-FFF2-40B4-BE49-F238E27FC236}">
                <a16:creationId xmlns:a16="http://schemas.microsoft.com/office/drawing/2014/main" id="{BB5E7D10-E6F8-4DE4-B23F-916CBD81819F}"/>
              </a:ext>
            </a:extLst>
          </p:cNvPr>
          <p:cNvSpPr>
            <a:spLocks noGrp="1"/>
          </p:cNvSpPr>
          <p:nvPr/>
        </p:nvSpPr>
        <p:spPr>
          <a:xfrm>
            <a:off x="8458200" y="1752600"/>
            <a:ext cx="9525" cy="3619500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rogress-grid-h">
            <a:extLst>
              <a:ext uri="{FF2B5EF4-FFF2-40B4-BE49-F238E27FC236}">
                <a16:creationId xmlns:a16="http://schemas.microsoft.com/office/drawing/2014/main" id="{772BD7AE-D664-45B4-B5FA-FB31924DC15E}"/>
              </a:ext>
            </a:extLst>
          </p:cNvPr>
          <p:cNvSpPr>
            <a:spLocks noGrp="1"/>
          </p:cNvSpPr>
          <p:nvPr/>
        </p:nvSpPr>
        <p:spPr>
          <a:xfrm>
            <a:off x="6191250" y="3562350"/>
            <a:ext cx="523875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quality-number-1">
            <a:extLst>
              <a:ext uri="{FF2B5EF4-FFF2-40B4-BE49-F238E27FC236}">
                <a16:creationId xmlns:a16="http://schemas.microsoft.com/office/drawing/2014/main" id="{6445B160-33AD-48A0-8D45-33D9413DF9FB}"/>
              </a:ext>
            </a:extLst>
          </p:cNvPr>
          <p:cNvSpPr>
            <a:spLocks noGrp="1"/>
          </p:cNvSpPr>
          <p:nvPr/>
        </p:nvSpPr>
        <p:spPr>
          <a:xfrm>
            <a:off x="6191250" y="188595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6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583 / 0</a:t>
            </a:r>
          </a:p>
        </p:txBody>
      </p:sp>
      <p:sp>
        <p:nvSpPr>
          <p:cNvPr id="17" name="quality-label-1">
            <a:extLst>
              <a:ext uri="{FF2B5EF4-FFF2-40B4-BE49-F238E27FC236}">
                <a16:creationId xmlns:a16="http://schemas.microsoft.com/office/drawing/2014/main" id="{491841CB-BB2D-4EBF-A4CC-0414948D69F1}"/>
              </a:ext>
            </a:extLst>
          </p:cNvPr>
          <p:cNvSpPr>
            <a:spLocks noGrp="1"/>
          </p:cNvSpPr>
          <p:nvPr/>
        </p:nvSpPr>
        <p:spPr>
          <a:xfrm>
            <a:off x="6191250" y="2571750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tests passed / failed</a:t>
            </a:r>
          </a:p>
        </p:txBody>
      </p:sp>
      <p:sp>
        <p:nvSpPr>
          <p:cNvPr id="18" name="quality-number-2">
            <a:extLst>
              <a:ext uri="{FF2B5EF4-FFF2-40B4-BE49-F238E27FC236}">
                <a16:creationId xmlns:a16="http://schemas.microsoft.com/office/drawing/2014/main" id="{CF75C31F-A05F-45B0-B242-AC613A51F66F}"/>
              </a:ext>
            </a:extLst>
          </p:cNvPr>
          <p:cNvSpPr>
            <a:spLocks noGrp="1"/>
          </p:cNvSpPr>
          <p:nvPr/>
        </p:nvSpPr>
        <p:spPr>
          <a:xfrm>
            <a:off x="8763000" y="188595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6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86605F"/>
                </a:solidFill>
                <a:latin typeface="Microsoft JhengHei"/>
                <a:ea typeface="Microsoft JhengHei"/>
                <a:cs typeface="Microsoft JhengHei"/>
              </a:rPr>
              <a:t>12 / 12</a:t>
            </a:r>
          </a:p>
        </p:txBody>
      </p:sp>
      <p:sp>
        <p:nvSpPr>
          <p:cNvPr id="19" name="quality-label-2">
            <a:extLst>
              <a:ext uri="{FF2B5EF4-FFF2-40B4-BE49-F238E27FC236}">
                <a16:creationId xmlns:a16="http://schemas.microsoft.com/office/drawing/2014/main" id="{473D11B4-A529-47F8-AD29-5663B054D921}"/>
              </a:ext>
            </a:extLst>
          </p:cNvPr>
          <p:cNvSpPr>
            <a:spLocks noGrp="1"/>
          </p:cNvSpPr>
          <p:nvPr/>
        </p:nvSpPr>
        <p:spPr>
          <a:xfrm>
            <a:off x="8763000" y="2571750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repro checks verified</a:t>
            </a:r>
          </a:p>
        </p:txBody>
      </p:sp>
      <p:sp>
        <p:nvSpPr>
          <p:cNvPr id="20" name="quality-number-3">
            <a:extLst>
              <a:ext uri="{FF2B5EF4-FFF2-40B4-BE49-F238E27FC236}">
                <a16:creationId xmlns:a16="http://schemas.microsoft.com/office/drawing/2014/main" id="{99A32CD0-2E9C-4BFF-85EB-A066F1720672}"/>
              </a:ext>
            </a:extLst>
          </p:cNvPr>
          <p:cNvSpPr>
            <a:spLocks noGrp="1"/>
          </p:cNvSpPr>
          <p:nvPr/>
        </p:nvSpPr>
        <p:spPr>
          <a:xfrm>
            <a:off x="6191250" y="3857625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6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827870"/>
                </a:solidFill>
                <a:latin typeface="Microsoft JhengHei"/>
                <a:ea typeface="Microsoft JhengHei"/>
                <a:cs typeface="Microsoft JhengHei"/>
              </a:rPr>
              <a:t>1,099</a:t>
            </a:r>
          </a:p>
        </p:txBody>
      </p:sp>
      <p:sp>
        <p:nvSpPr>
          <p:cNvPr id="21" name="quality-label-3">
            <a:extLst>
              <a:ext uri="{FF2B5EF4-FFF2-40B4-BE49-F238E27FC236}">
                <a16:creationId xmlns:a16="http://schemas.microsoft.com/office/drawing/2014/main" id="{810BAF14-EA01-40D2-BBD4-F140DF4A0260}"/>
              </a:ext>
            </a:extLst>
          </p:cNvPr>
          <p:cNvSpPr>
            <a:spLocks noGrp="1"/>
          </p:cNvSpPr>
          <p:nvPr/>
        </p:nvSpPr>
        <p:spPr>
          <a:xfrm>
            <a:off x="6191250" y="4543425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clean candidate sessions</a:t>
            </a:r>
          </a:p>
        </p:txBody>
      </p:sp>
      <p:sp>
        <p:nvSpPr>
          <p:cNvPr id="22" name="quality-number-4">
            <a:extLst>
              <a:ext uri="{FF2B5EF4-FFF2-40B4-BE49-F238E27FC236}">
                <a16:creationId xmlns:a16="http://schemas.microsoft.com/office/drawing/2014/main" id="{4BD27898-6F89-4942-A57C-42DE3A3EC28C}"/>
              </a:ext>
            </a:extLst>
          </p:cNvPr>
          <p:cNvSpPr>
            <a:spLocks noGrp="1"/>
          </p:cNvSpPr>
          <p:nvPr/>
        </p:nvSpPr>
        <p:spPr>
          <a:xfrm>
            <a:off x="8763000" y="3857625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6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657065"/>
                </a:solidFill>
                <a:latin typeface="Microsoft JhengHei"/>
                <a:ea typeface="Microsoft JhengHei"/>
                <a:cs typeface="Microsoft JhengHei"/>
              </a:rPr>
              <a:t>76%</a:t>
            </a:r>
          </a:p>
        </p:txBody>
      </p:sp>
      <p:sp>
        <p:nvSpPr>
          <p:cNvPr id="23" name="quality-label-4">
            <a:extLst>
              <a:ext uri="{FF2B5EF4-FFF2-40B4-BE49-F238E27FC236}">
                <a16:creationId xmlns:a16="http://schemas.microsoft.com/office/drawing/2014/main" id="{04612333-5B66-4093-A06B-184610A4182D}"/>
              </a:ext>
            </a:extLst>
          </p:cNvPr>
          <p:cNvSpPr>
            <a:spLocks noGrp="1"/>
          </p:cNvSpPr>
          <p:nvPr/>
        </p:nvSpPr>
        <p:spPr>
          <a:xfrm>
            <a:off x="8763000" y="4543425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專題整體完成度</a:t>
            </a:r>
          </a:p>
        </p:txBody>
      </p:sp>
    </p:spTree>
    <p:extLst>
      <p:ext uri="{BB962C8B-B14F-4D97-AF65-F5344CB8AC3E}">
        <p14:creationId xmlns:p14="http://schemas.microsoft.com/office/powerpoint/2010/main" val="12399425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ail-14">
            <a:extLst>
              <a:ext uri="{FF2B5EF4-FFF2-40B4-BE49-F238E27FC236}">
                <a16:creationId xmlns:a16="http://schemas.microsoft.com/office/drawing/2014/main" id="{85E10557-FE19-4B0B-85A0-B8F0120393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4">
            <a:extLst>
              <a:ext uri="{FF2B5EF4-FFF2-40B4-BE49-F238E27FC236}">
                <a16:creationId xmlns:a16="http://schemas.microsoft.com/office/drawing/2014/main" id="{BCE46ED8-C6FB-4DE2-8CAE-81F7ADECDFC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五項評分能力都有工程證據，但外部加分仍需本人完成</a:t>
            </a:r>
          </a:p>
        </p:txBody>
      </p:sp>
      <p:sp>
        <p:nvSpPr>
          <p:cNvPr id="5" name="page-14">
            <a:extLst>
              <a:ext uri="{FF2B5EF4-FFF2-40B4-BE49-F238E27FC236}">
                <a16:creationId xmlns:a16="http://schemas.microsoft.com/office/drawing/2014/main" id="{92E673F2-3CC5-444D-8DD1-A84147CF3BE6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6" name="rubric-label-bg-1">
            <a:extLst>
              <a:ext uri="{FF2B5EF4-FFF2-40B4-BE49-F238E27FC236}">
                <a16:creationId xmlns:a16="http://schemas.microsoft.com/office/drawing/2014/main" id="{E59EB4FE-8ECA-4423-9EE5-AA921339A094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2571750" cy="6667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ubric-label-1">
            <a:extLst>
              <a:ext uri="{FF2B5EF4-FFF2-40B4-BE49-F238E27FC236}">
                <a16:creationId xmlns:a16="http://schemas.microsoft.com/office/drawing/2014/main" id="{99576606-23EB-4D90-808F-E805344C1017}"/>
              </a:ext>
            </a:extLst>
          </p:cNvPr>
          <p:cNvSpPr>
            <a:spLocks noGrp="1"/>
          </p:cNvSpPr>
          <p:nvPr/>
        </p:nvSpPr>
        <p:spPr>
          <a:xfrm>
            <a:off x="800100" y="1704975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AI 工程軟硬體</a:t>
            </a:r>
          </a:p>
        </p:txBody>
      </p:sp>
      <p:sp>
        <p:nvSpPr>
          <p:cNvPr id="8" name="rubric-evidence-1">
            <a:extLst>
              <a:ext uri="{FF2B5EF4-FFF2-40B4-BE49-F238E27FC236}">
                <a16:creationId xmlns:a16="http://schemas.microsoft.com/office/drawing/2014/main" id="{C25B173E-7562-4C25-AF24-E5106264C141}"/>
              </a:ext>
            </a:extLst>
          </p:cNvPr>
          <p:cNvSpPr>
            <a:spLocks noGrp="1"/>
          </p:cNvSpPr>
          <p:nvPr/>
        </p:nvSpPr>
        <p:spPr>
          <a:xfrm>
            <a:off x="3581400" y="16573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Gazebo／SROS2／分層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AI／Pi</a:t>
            </a: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 5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目標；Pi</a:t>
            </a: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實測待硬體到齊</a:t>
            </a:r>
            <a:endParaRPr sz="1350" b="0" dirty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9" name="rubric-rule-1">
            <a:extLst>
              <a:ext uri="{FF2B5EF4-FFF2-40B4-BE49-F238E27FC236}">
                <a16:creationId xmlns:a16="http://schemas.microsoft.com/office/drawing/2014/main" id="{28079F14-2983-404C-B647-9E83FCCC4DD7}"/>
              </a:ext>
            </a:extLst>
          </p:cNvPr>
          <p:cNvSpPr>
            <a:spLocks noGrp="1"/>
          </p:cNvSpPr>
          <p:nvPr/>
        </p:nvSpPr>
        <p:spPr>
          <a:xfrm>
            <a:off x="3581400" y="2247900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ubric-label-bg-2">
            <a:extLst>
              <a:ext uri="{FF2B5EF4-FFF2-40B4-BE49-F238E27FC236}">
                <a16:creationId xmlns:a16="http://schemas.microsoft.com/office/drawing/2014/main" id="{9E49499C-27B8-4BA2-BD74-0A23392519B6}"/>
              </a:ext>
            </a:extLst>
          </p:cNvPr>
          <p:cNvSpPr>
            <a:spLocks noGrp="1"/>
          </p:cNvSpPr>
          <p:nvPr/>
        </p:nvSpPr>
        <p:spPr>
          <a:xfrm>
            <a:off x="609600" y="2447925"/>
            <a:ext cx="2571750" cy="66675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ubric-label-2">
            <a:extLst>
              <a:ext uri="{FF2B5EF4-FFF2-40B4-BE49-F238E27FC236}">
                <a16:creationId xmlns:a16="http://schemas.microsoft.com/office/drawing/2014/main" id="{D3E9370A-3682-4FBF-BE08-0BADE46F4DCA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dirty="0" err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數據分析與數理</a:t>
            </a:r>
            <a:endParaRPr sz="1425" b="1" dirty="0">
              <a:solidFill>
                <a:srgbClr val="FAF8F3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2" name="rubric-evidence-2">
            <a:extLst>
              <a:ext uri="{FF2B5EF4-FFF2-40B4-BE49-F238E27FC236}">
                <a16:creationId xmlns:a16="http://schemas.microsoft.com/office/drawing/2014/main" id="{B6A33A3D-C3B0-4E89-89E1-E7744EEC79E8}"/>
              </a:ext>
            </a:extLst>
          </p:cNvPr>
          <p:cNvSpPr>
            <a:spLocks noGrp="1"/>
          </p:cNvSpPr>
          <p:nvPr/>
        </p:nvSpPr>
        <p:spPr>
          <a:xfrm>
            <a:off x="3581400" y="2524125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1,100 campaign、1,099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clean、grouped</a:t>
            </a: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split、消融、CI、PR-AUC</a:t>
            </a:r>
            <a:endParaRPr sz="1350" b="0" dirty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3" name="rubric-rule-2">
            <a:extLst>
              <a:ext uri="{FF2B5EF4-FFF2-40B4-BE49-F238E27FC236}">
                <a16:creationId xmlns:a16="http://schemas.microsoft.com/office/drawing/2014/main" id="{95E15F38-9549-4EC9-B6AD-3B8D975AE6AC}"/>
              </a:ext>
            </a:extLst>
          </p:cNvPr>
          <p:cNvSpPr>
            <a:spLocks noGrp="1"/>
          </p:cNvSpPr>
          <p:nvPr/>
        </p:nvSpPr>
        <p:spPr>
          <a:xfrm>
            <a:off x="3581400" y="3114675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ubric-label-bg-3">
            <a:extLst>
              <a:ext uri="{FF2B5EF4-FFF2-40B4-BE49-F238E27FC236}">
                <a16:creationId xmlns:a16="http://schemas.microsoft.com/office/drawing/2014/main" id="{0B97F51A-99B0-48D8-B99C-B893D710A6CE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2571750" cy="666750"/>
          </a:xfrm>
          <a:prstGeom prst="rect">
            <a:avLst/>
          </a:prstGeom>
          <a:solidFill>
            <a:srgbClr val="99988D"/>
          </a:solidFill>
          <a:ln w="9525">
            <a:solidFill>
              <a:srgbClr val="9998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ubric-label-3">
            <a:extLst>
              <a:ext uri="{FF2B5EF4-FFF2-40B4-BE49-F238E27FC236}">
                <a16:creationId xmlns:a16="http://schemas.microsoft.com/office/drawing/2014/main" id="{21A762DF-7A06-44C5-8D17-10960831513E}"/>
              </a:ext>
            </a:extLst>
          </p:cNvPr>
          <p:cNvSpPr>
            <a:spLocks noGrp="1"/>
          </p:cNvSpPr>
          <p:nvPr/>
        </p:nvSpPr>
        <p:spPr>
          <a:xfrm>
            <a:off x="800100" y="3438525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專案執行與報告</a:t>
            </a:r>
          </a:p>
        </p:txBody>
      </p:sp>
      <p:sp>
        <p:nvSpPr>
          <p:cNvPr id="16" name="rubric-evidence-3">
            <a:extLst>
              <a:ext uri="{FF2B5EF4-FFF2-40B4-BE49-F238E27FC236}">
                <a16:creationId xmlns:a16="http://schemas.microsoft.com/office/drawing/2014/main" id="{A0485945-94BE-4BA9-AE69-DC5FC2093741}"/>
              </a:ext>
            </a:extLst>
          </p:cNvPr>
          <p:cNvSpPr>
            <a:spLocks noGrp="1"/>
          </p:cNvSpPr>
          <p:nvPr/>
        </p:nvSpPr>
        <p:spPr>
          <a:xfrm>
            <a:off x="3581400" y="339090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WBS、風險矩陣、evidence</a:t>
            </a: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ledger、版本與可重現稽核</a:t>
            </a:r>
            <a:endParaRPr sz="1350" b="0" dirty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7" name="rubric-rule-3">
            <a:extLst>
              <a:ext uri="{FF2B5EF4-FFF2-40B4-BE49-F238E27FC236}">
                <a16:creationId xmlns:a16="http://schemas.microsoft.com/office/drawing/2014/main" id="{C8BD6BA4-AA38-49EF-B150-23115A988C5B}"/>
              </a:ext>
            </a:extLst>
          </p:cNvPr>
          <p:cNvSpPr>
            <a:spLocks noGrp="1"/>
          </p:cNvSpPr>
          <p:nvPr/>
        </p:nvSpPr>
        <p:spPr>
          <a:xfrm>
            <a:off x="3581400" y="3981450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ubric-label-bg-4">
            <a:extLst>
              <a:ext uri="{FF2B5EF4-FFF2-40B4-BE49-F238E27FC236}">
                <a16:creationId xmlns:a16="http://schemas.microsoft.com/office/drawing/2014/main" id="{9DE0A6F3-227A-42DB-948D-DF860BE0CBF0}"/>
              </a:ext>
            </a:extLst>
          </p:cNvPr>
          <p:cNvSpPr>
            <a:spLocks noGrp="1"/>
          </p:cNvSpPr>
          <p:nvPr/>
        </p:nvSpPr>
        <p:spPr>
          <a:xfrm>
            <a:off x="609600" y="4181475"/>
            <a:ext cx="2571750" cy="6667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ubric-label-4">
            <a:extLst>
              <a:ext uri="{FF2B5EF4-FFF2-40B4-BE49-F238E27FC236}">
                <a16:creationId xmlns:a16="http://schemas.microsoft.com/office/drawing/2014/main" id="{51487417-9D25-4197-977B-55CC9A6ACD7A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溝通與跨領域</a:t>
            </a:r>
            <a:endParaRPr sz="1425" b="1" dirty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0" name="rubric-evidence-4">
            <a:extLst>
              <a:ext uri="{FF2B5EF4-FFF2-40B4-BE49-F238E27FC236}">
                <a16:creationId xmlns:a16="http://schemas.microsoft.com/office/drawing/2014/main" id="{0A832A47-DEC6-4772-9AEA-1558CCC1C540}"/>
              </a:ext>
            </a:extLst>
          </p:cNvPr>
          <p:cNvSpPr>
            <a:spLocks noGrp="1"/>
          </p:cNvSpPr>
          <p:nvPr/>
        </p:nvSpPr>
        <p:spPr>
          <a:xfrm>
            <a:off x="3581400" y="4257675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雙語摘要、答辯腳本、ROS／DDS／AI／資安整合與協作紀錄</a:t>
            </a:r>
            <a:endParaRPr sz="1350" b="0" dirty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1" name="rubric-rule-4">
            <a:extLst>
              <a:ext uri="{FF2B5EF4-FFF2-40B4-BE49-F238E27FC236}">
                <a16:creationId xmlns:a16="http://schemas.microsoft.com/office/drawing/2014/main" id="{EC3D8955-85CB-4247-8FC6-ABCB3E04D500}"/>
              </a:ext>
            </a:extLst>
          </p:cNvPr>
          <p:cNvSpPr>
            <a:spLocks noGrp="1"/>
          </p:cNvSpPr>
          <p:nvPr/>
        </p:nvSpPr>
        <p:spPr>
          <a:xfrm>
            <a:off x="3581400" y="4848225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ubric-label-bg-5">
            <a:extLst>
              <a:ext uri="{FF2B5EF4-FFF2-40B4-BE49-F238E27FC236}">
                <a16:creationId xmlns:a16="http://schemas.microsoft.com/office/drawing/2014/main" id="{7A4B1414-4F6E-47A9-B777-C28E9522D29B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2571750" cy="6667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ubric-label-5">
            <a:extLst>
              <a:ext uri="{FF2B5EF4-FFF2-40B4-BE49-F238E27FC236}">
                <a16:creationId xmlns:a16="http://schemas.microsoft.com/office/drawing/2014/main" id="{70320B54-E3B2-4B9F-9991-20B4C39DD830}"/>
              </a:ext>
            </a:extLst>
          </p:cNvPr>
          <p:cNvSpPr>
            <a:spLocks noGrp="1"/>
          </p:cNvSpPr>
          <p:nvPr/>
        </p:nvSpPr>
        <p:spPr>
          <a:xfrm>
            <a:off x="800100" y="5172075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國際與社會關懷</a:t>
            </a:r>
          </a:p>
        </p:txBody>
      </p:sp>
      <p:sp>
        <p:nvSpPr>
          <p:cNvPr id="24" name="rubric-evidence-5">
            <a:extLst>
              <a:ext uri="{FF2B5EF4-FFF2-40B4-BE49-F238E27FC236}">
                <a16:creationId xmlns:a16="http://schemas.microsoft.com/office/drawing/2014/main" id="{51F26FAE-A974-4B68-8BA9-4E3C6899ADA1}"/>
              </a:ext>
            </a:extLst>
          </p:cNvPr>
          <p:cNvSpPr>
            <a:spLocks noGrp="1"/>
          </p:cNvSpPr>
          <p:nvPr/>
        </p:nvSpPr>
        <p:spPr>
          <a:xfrm>
            <a:off x="3581400" y="51244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dirty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OMG／ROS／NIST／IEC </a:t>
            </a:r>
            <a:r>
              <a:rPr sz="1350" b="0" dirty="0" err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對照；誤封、人身安全與可撤銷治理</a:t>
            </a:r>
            <a:endParaRPr sz="1350" b="0" dirty="0">
              <a:solidFill>
                <a:srgbClr val="2F302D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5" name="rubric-rule-5">
            <a:extLst>
              <a:ext uri="{FF2B5EF4-FFF2-40B4-BE49-F238E27FC236}">
                <a16:creationId xmlns:a16="http://schemas.microsoft.com/office/drawing/2014/main" id="{FD24AA4F-CCF7-46F3-888F-A0D3475BE804}"/>
              </a:ext>
            </a:extLst>
          </p:cNvPr>
          <p:cNvSpPr>
            <a:spLocks noGrp="1"/>
          </p:cNvSpPr>
          <p:nvPr/>
        </p:nvSpPr>
        <p:spPr>
          <a:xfrm>
            <a:off x="3581400" y="5715000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54087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ail-14">
            <a:extLst>
              <a:ext uri="{FF2B5EF4-FFF2-40B4-BE49-F238E27FC236}">
                <a16:creationId xmlns:a16="http://schemas.microsoft.com/office/drawing/2014/main" id="{85E10557-FE19-4B0B-85A0-B8F0120393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-14">
            <a:extLst>
              <a:ext uri="{FF2B5EF4-FFF2-40B4-BE49-F238E27FC236}">
                <a16:creationId xmlns:a16="http://schemas.microsoft.com/office/drawing/2014/main" id="{BCE46ED8-C6FB-4DE2-8CAE-81F7ADECDFC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國際規範與工程倫理決定何時可以打開封鎖</a:t>
            </a:r>
          </a:p>
        </p:txBody>
      </p:sp>
      <p:sp>
        <p:nvSpPr>
          <p:cNvPr id="5" name="page-14">
            <a:extLst>
              <a:ext uri="{FF2B5EF4-FFF2-40B4-BE49-F238E27FC236}">
                <a16:creationId xmlns:a16="http://schemas.microsoft.com/office/drawing/2014/main" id="{92E673F2-3CC5-444D-8DD1-A84147CF3BE6}"/>
              </a:ext>
            </a:extLst>
          </p:cNvPr>
          <p:cNvSpPr>
            <a:spLocks noGrp="1"/>
          </p:cNvSpPr>
          <p:nvPr/>
        </p:nvSpPr>
        <p:spPr>
          <a:xfrm>
            <a:off x="11277600" y="64293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66665F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  <p:sp>
        <p:nvSpPr>
          <p:cNvPr id="6" name="rubric-label-bg-1">
            <a:extLst>
              <a:ext uri="{FF2B5EF4-FFF2-40B4-BE49-F238E27FC236}">
                <a16:creationId xmlns:a16="http://schemas.microsoft.com/office/drawing/2014/main" id="{E59EB4FE-8ECA-4423-9EE5-AA921339A094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2571750" cy="66675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ubric-label-1">
            <a:extLst>
              <a:ext uri="{FF2B5EF4-FFF2-40B4-BE49-F238E27FC236}">
                <a16:creationId xmlns:a16="http://schemas.microsoft.com/office/drawing/2014/main" id="{99576606-23EB-4D90-808F-E805344C1017}"/>
              </a:ext>
            </a:extLst>
          </p:cNvPr>
          <p:cNvSpPr>
            <a:spLocks noGrp="1"/>
          </p:cNvSpPr>
          <p:nvPr/>
        </p:nvSpPr>
        <p:spPr>
          <a:xfrm>
            <a:off x="800100" y="1704975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OMG DDS Security 1.2</a:t>
            </a:r>
          </a:p>
        </p:txBody>
      </p:sp>
      <p:sp>
        <p:nvSpPr>
          <p:cNvPr id="8" name="rubric-evidence-1">
            <a:extLst>
              <a:ext uri="{FF2B5EF4-FFF2-40B4-BE49-F238E27FC236}">
                <a16:creationId xmlns:a16="http://schemas.microsoft.com/office/drawing/2014/main" id="{C25B173E-7562-4C25-AF24-E5106264C141}"/>
              </a:ext>
            </a:extLst>
          </p:cNvPr>
          <p:cNvSpPr>
            <a:spLocks noGrp="1"/>
          </p:cNvSpPr>
          <p:nvPr/>
        </p:nvSpPr>
        <p:spPr>
          <a:xfrm>
            <a:off x="3581400" y="16573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認證、存取控制、加密與 logging 的標準能力模型</a:t>
            </a:r>
          </a:p>
        </p:txBody>
      </p:sp>
      <p:sp>
        <p:nvSpPr>
          <p:cNvPr id="9" name="rubric-rule-1">
            <a:extLst>
              <a:ext uri="{FF2B5EF4-FFF2-40B4-BE49-F238E27FC236}">
                <a16:creationId xmlns:a16="http://schemas.microsoft.com/office/drawing/2014/main" id="{28079F14-2983-404C-B647-9E83FCCC4DD7}"/>
              </a:ext>
            </a:extLst>
          </p:cNvPr>
          <p:cNvSpPr>
            <a:spLocks noGrp="1"/>
          </p:cNvSpPr>
          <p:nvPr/>
        </p:nvSpPr>
        <p:spPr>
          <a:xfrm>
            <a:off x="3581400" y="2247900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ubric-label-bg-2">
            <a:extLst>
              <a:ext uri="{FF2B5EF4-FFF2-40B4-BE49-F238E27FC236}">
                <a16:creationId xmlns:a16="http://schemas.microsoft.com/office/drawing/2014/main" id="{9E49499C-27B8-4BA2-BD74-0A23392519B6}"/>
              </a:ext>
            </a:extLst>
          </p:cNvPr>
          <p:cNvSpPr>
            <a:spLocks noGrp="1"/>
          </p:cNvSpPr>
          <p:nvPr/>
        </p:nvSpPr>
        <p:spPr>
          <a:xfrm>
            <a:off x="609600" y="2447925"/>
            <a:ext cx="2571750" cy="666750"/>
          </a:xfrm>
          <a:prstGeom prst="rect">
            <a:avLst/>
          </a:prstGeom>
          <a:solidFill>
            <a:srgbClr val="A18F83"/>
          </a:solidFill>
          <a:ln w="9525">
            <a:solidFill>
              <a:srgbClr val="A18F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ubric-label-2">
            <a:extLst>
              <a:ext uri="{FF2B5EF4-FFF2-40B4-BE49-F238E27FC236}">
                <a16:creationId xmlns:a16="http://schemas.microsoft.com/office/drawing/2014/main" id="{D3E9370A-3682-4FBF-BE08-0BADE46F4DCA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ROS 2／SROS2</a:t>
            </a:r>
          </a:p>
        </p:txBody>
      </p:sp>
      <p:sp>
        <p:nvSpPr>
          <p:cNvPr id="12" name="rubric-evidence-2">
            <a:extLst>
              <a:ext uri="{FF2B5EF4-FFF2-40B4-BE49-F238E27FC236}">
                <a16:creationId xmlns:a16="http://schemas.microsoft.com/office/drawing/2014/main" id="{B6A33A3D-C3B0-4E89-89E1-E7744EEC79E8}"/>
              </a:ext>
            </a:extLst>
          </p:cNvPr>
          <p:cNvSpPr>
            <a:spLocks noGrp="1"/>
          </p:cNvSpPr>
          <p:nvPr/>
        </p:nvSpPr>
        <p:spPr>
          <a:xfrm>
            <a:off x="3581400" y="2524125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keystore、enclave、security strategy 與 Enforce 實作路徑</a:t>
            </a:r>
          </a:p>
        </p:txBody>
      </p:sp>
      <p:sp>
        <p:nvSpPr>
          <p:cNvPr id="13" name="rubric-rule-2">
            <a:extLst>
              <a:ext uri="{FF2B5EF4-FFF2-40B4-BE49-F238E27FC236}">
                <a16:creationId xmlns:a16="http://schemas.microsoft.com/office/drawing/2014/main" id="{95E15F38-9549-4EC9-B6AD-3B8D975AE6AC}"/>
              </a:ext>
            </a:extLst>
          </p:cNvPr>
          <p:cNvSpPr>
            <a:spLocks noGrp="1"/>
          </p:cNvSpPr>
          <p:nvPr/>
        </p:nvSpPr>
        <p:spPr>
          <a:xfrm>
            <a:off x="3581400" y="3114675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ubric-label-bg-3">
            <a:extLst>
              <a:ext uri="{FF2B5EF4-FFF2-40B4-BE49-F238E27FC236}">
                <a16:creationId xmlns:a16="http://schemas.microsoft.com/office/drawing/2014/main" id="{0B97F51A-99B0-48D8-B99C-B893D710A6CE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2571750" cy="666750"/>
          </a:xfrm>
          <a:prstGeom prst="rect">
            <a:avLst/>
          </a:prstGeom>
          <a:solidFill>
            <a:srgbClr val="99988D"/>
          </a:solidFill>
          <a:ln w="9525">
            <a:solidFill>
              <a:srgbClr val="9998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ubric-label-3">
            <a:extLst>
              <a:ext uri="{FF2B5EF4-FFF2-40B4-BE49-F238E27FC236}">
                <a16:creationId xmlns:a16="http://schemas.microsoft.com/office/drawing/2014/main" id="{21A762DF-7A06-44C5-8D17-10960831513E}"/>
              </a:ext>
            </a:extLst>
          </p:cNvPr>
          <p:cNvSpPr>
            <a:spLocks noGrp="1"/>
          </p:cNvSpPr>
          <p:nvPr/>
        </p:nvSpPr>
        <p:spPr>
          <a:xfrm>
            <a:off x="800100" y="3438525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NIST AI RMF</a:t>
            </a:r>
          </a:p>
        </p:txBody>
      </p:sp>
      <p:sp>
        <p:nvSpPr>
          <p:cNvPr id="16" name="rubric-evidence-3">
            <a:extLst>
              <a:ext uri="{FF2B5EF4-FFF2-40B4-BE49-F238E27FC236}">
                <a16:creationId xmlns:a16="http://schemas.microsoft.com/office/drawing/2014/main" id="{A0485945-94BE-4BA9-AE69-DC5FC2093741}"/>
              </a:ext>
            </a:extLst>
          </p:cNvPr>
          <p:cNvSpPr>
            <a:spLocks noGrp="1"/>
          </p:cNvSpPr>
          <p:nvPr/>
        </p:nvSpPr>
        <p:spPr>
          <a:xfrm>
            <a:off x="3581400" y="339090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Govern／Map／Measure／Manage；把模型風險納入治理</a:t>
            </a:r>
          </a:p>
        </p:txBody>
      </p:sp>
      <p:sp>
        <p:nvSpPr>
          <p:cNvPr id="17" name="rubric-rule-3">
            <a:extLst>
              <a:ext uri="{FF2B5EF4-FFF2-40B4-BE49-F238E27FC236}">
                <a16:creationId xmlns:a16="http://schemas.microsoft.com/office/drawing/2014/main" id="{C8BD6BA4-AA38-49EF-B150-23115A988C5B}"/>
              </a:ext>
            </a:extLst>
          </p:cNvPr>
          <p:cNvSpPr>
            <a:spLocks noGrp="1"/>
          </p:cNvSpPr>
          <p:nvPr/>
        </p:nvSpPr>
        <p:spPr>
          <a:xfrm>
            <a:off x="3581400" y="3981450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ubric-label-bg-4">
            <a:extLst>
              <a:ext uri="{FF2B5EF4-FFF2-40B4-BE49-F238E27FC236}">
                <a16:creationId xmlns:a16="http://schemas.microsoft.com/office/drawing/2014/main" id="{9DE0A6F3-227A-42DB-948D-DF860BE0CBF0}"/>
              </a:ext>
            </a:extLst>
          </p:cNvPr>
          <p:cNvSpPr>
            <a:spLocks noGrp="1"/>
          </p:cNvSpPr>
          <p:nvPr/>
        </p:nvSpPr>
        <p:spPr>
          <a:xfrm>
            <a:off x="609600" y="4181475"/>
            <a:ext cx="2571750" cy="6667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ubric-label-4">
            <a:extLst>
              <a:ext uri="{FF2B5EF4-FFF2-40B4-BE49-F238E27FC236}">
                <a16:creationId xmlns:a16="http://schemas.microsoft.com/office/drawing/2014/main" id="{51487417-9D25-4197-977B-55CC9A6ACD7A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IEC 62443</a:t>
            </a:r>
          </a:p>
        </p:txBody>
      </p:sp>
      <p:sp>
        <p:nvSpPr>
          <p:cNvPr id="20" name="rubric-evidence-4">
            <a:extLst>
              <a:ext uri="{FF2B5EF4-FFF2-40B4-BE49-F238E27FC236}">
                <a16:creationId xmlns:a16="http://schemas.microsoft.com/office/drawing/2014/main" id="{0A832A47-DEC6-4772-9AEA-1558CCC1C540}"/>
              </a:ext>
            </a:extLst>
          </p:cNvPr>
          <p:cNvSpPr>
            <a:spLocks noGrp="1"/>
          </p:cNvSpPr>
          <p:nvPr/>
        </p:nvSpPr>
        <p:spPr>
          <a:xfrm>
            <a:off x="3581400" y="4257675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zones、conduits、gateway 與分層防禦的工控安全觀點</a:t>
            </a:r>
          </a:p>
        </p:txBody>
      </p:sp>
      <p:sp>
        <p:nvSpPr>
          <p:cNvPr id="21" name="rubric-rule-4">
            <a:extLst>
              <a:ext uri="{FF2B5EF4-FFF2-40B4-BE49-F238E27FC236}">
                <a16:creationId xmlns:a16="http://schemas.microsoft.com/office/drawing/2014/main" id="{EC3D8955-85CB-4247-8FC6-ABCB3E04D500}"/>
              </a:ext>
            </a:extLst>
          </p:cNvPr>
          <p:cNvSpPr>
            <a:spLocks noGrp="1"/>
          </p:cNvSpPr>
          <p:nvPr/>
        </p:nvSpPr>
        <p:spPr>
          <a:xfrm>
            <a:off x="3581400" y="4848225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ubric-label-bg-5">
            <a:extLst>
              <a:ext uri="{FF2B5EF4-FFF2-40B4-BE49-F238E27FC236}">
                <a16:creationId xmlns:a16="http://schemas.microsoft.com/office/drawing/2014/main" id="{7A4B1414-4F6E-47A9-B777-C28E9522D29B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2571750" cy="666750"/>
          </a:xfrm>
          <a:prstGeom prst="rect">
            <a:avLst/>
          </a:prstGeom>
          <a:solidFill>
            <a:srgbClr val="86605F"/>
          </a:solidFill>
          <a:ln w="9525">
            <a:solidFill>
              <a:srgbClr val="8660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ubric-label-5">
            <a:extLst>
              <a:ext uri="{FF2B5EF4-FFF2-40B4-BE49-F238E27FC236}">
                <a16:creationId xmlns:a16="http://schemas.microsoft.com/office/drawing/2014/main" id="{70320B54-E3B2-4B9F-9991-20B4C39DD830}"/>
              </a:ext>
            </a:extLst>
          </p:cNvPr>
          <p:cNvSpPr>
            <a:spLocks noGrp="1"/>
          </p:cNvSpPr>
          <p:nvPr/>
        </p:nvSpPr>
        <p:spPr>
          <a:xfrm>
            <a:off x="800100" y="5172075"/>
            <a:ext cx="219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工程倫理</a:t>
            </a:r>
          </a:p>
        </p:txBody>
      </p:sp>
      <p:sp>
        <p:nvSpPr>
          <p:cNvPr id="24" name="rubric-evidence-5">
            <a:extLst>
              <a:ext uri="{FF2B5EF4-FFF2-40B4-BE49-F238E27FC236}">
                <a16:creationId xmlns:a16="http://schemas.microsoft.com/office/drawing/2014/main" id="{51F26FAE-A974-4B68-8BA9-4E3C6899ADA1}"/>
              </a:ext>
            </a:extLst>
          </p:cNvPr>
          <p:cNvSpPr>
            <a:spLocks noGrp="1"/>
          </p:cNvSpPr>
          <p:nvPr/>
        </p:nvSpPr>
        <p:spPr>
          <a:xfrm>
            <a:off x="3581400" y="51244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低信心只告警、protected source、TTL、自動解除、人工覆寫、最小蒐集</a:t>
            </a:r>
          </a:p>
        </p:txBody>
      </p:sp>
      <p:sp>
        <p:nvSpPr>
          <p:cNvPr id="25" name="rubric-rule-5">
            <a:extLst>
              <a:ext uri="{FF2B5EF4-FFF2-40B4-BE49-F238E27FC236}">
                <a16:creationId xmlns:a16="http://schemas.microsoft.com/office/drawing/2014/main" id="{FD24AA4F-CCF7-46F3-888F-A0D3475BE804}"/>
              </a:ext>
            </a:extLst>
          </p:cNvPr>
          <p:cNvSpPr>
            <a:spLocks noGrp="1"/>
          </p:cNvSpPr>
          <p:nvPr/>
        </p:nvSpPr>
        <p:spPr>
          <a:xfrm>
            <a:off x="3581400" y="5715000"/>
            <a:ext cx="7810500" cy="9525"/>
          </a:xfrm>
          <a:prstGeom prst="rect">
            <a:avLst/>
          </a:prstGeom>
          <a:solidFill>
            <a:srgbClr val="D1CCC4"/>
          </a:solidFill>
          <a:ln w="9525">
            <a:solidFill>
              <a:srgbClr val="D1CCC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54087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66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lose-right-field">
            <a:extLst>
              <a:ext uri="{FF2B5EF4-FFF2-40B4-BE49-F238E27FC236}">
                <a16:creationId xmlns:a16="http://schemas.microsoft.com/office/drawing/2014/main" id="{34D901BE-B057-4A4D-9FEE-388D91B14F59}"/>
              </a:ext>
            </a:extLst>
          </p:cNvPr>
          <p:cNvSpPr>
            <a:spLocks noGrp="1"/>
          </p:cNvSpPr>
          <p:nvPr/>
        </p:nvSpPr>
        <p:spPr>
          <a:xfrm>
            <a:off x="8896350" y="0"/>
            <a:ext cx="3295650" cy="6858000"/>
          </a:xfrm>
          <a:prstGeom prst="rect">
            <a:avLst/>
          </a:prstGeom>
          <a:solidFill>
            <a:srgbClr val="657065"/>
          </a:solidFill>
          <a:ln w="9525">
            <a:solidFill>
              <a:srgbClr val="6570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close-title">
            <a:extLst>
              <a:ext uri="{FF2B5EF4-FFF2-40B4-BE49-F238E27FC236}">
                <a16:creationId xmlns:a16="http://schemas.microsoft.com/office/drawing/2014/main" id="{EC6B931A-4CF3-4307-9032-6451F8874B27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7429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681"/>
          </a:bodyPr>
          <a:lstStyle/>
          <a:p>
            <a:pPr algn="l">
              <a:buNone/>
              <a:def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目前交付的是可驗證、可追溯、預設安全的研究原型</a:t>
            </a:r>
          </a:p>
          <a:p>
            <a:pPr algn="l">
              <a:buNone/>
              <a:def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不是已取得 production 資格的房間防火牆</a:t>
            </a:r>
          </a:p>
        </p:txBody>
      </p:sp>
      <p:sp>
        <p:nvSpPr>
          <p:cNvPr id="5" name="close-principles">
            <a:extLst>
              <a:ext uri="{FF2B5EF4-FFF2-40B4-BE49-F238E27FC236}">
                <a16:creationId xmlns:a16="http://schemas.microsoft.com/office/drawing/2014/main" id="{69F469C2-B1BF-4F93-9601-5B04F8DD8020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4953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證據 &gt; 宣稱</a:t>
            </a:r>
          </a:p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安全 &gt; 激進</a:t>
            </a:r>
          </a:p>
          <a:p>
            <a:pPr algn="l">
              <a:buNone/>
              <a:def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可重現 &gt; 一次展示</a:t>
            </a:r>
          </a:p>
        </p:txBody>
      </p:sp>
      <p:sp>
        <p:nvSpPr>
          <p:cNvPr id="6" name="close-right">
            <a:extLst>
              <a:ext uri="{FF2B5EF4-FFF2-40B4-BE49-F238E27FC236}">
                <a16:creationId xmlns:a16="http://schemas.microsoft.com/office/drawing/2014/main" id="{586514EF-3365-49DA-A7D2-E3DC951788C8}"/>
              </a:ext>
            </a:extLst>
          </p:cNvPr>
          <p:cNvSpPr>
            <a:spLocks noGrp="1"/>
          </p:cNvSpPr>
          <p:nvPr/>
        </p:nvSpPr>
        <p:spPr>
          <a:xfrm>
            <a:off x="9258300" y="1828800"/>
            <a:ext cx="25717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SROS2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MULTIMODAL AI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+</a:t>
            </a:r>
          </a:p>
          <a:p>
            <a:pPr algn="ctr">
              <a:buNone/>
              <a:def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FAF8F3"/>
                </a:solidFill>
                <a:latin typeface="Microsoft JhengHei"/>
                <a:ea typeface="Microsoft JhengHei"/>
                <a:cs typeface="Microsoft JhengHei"/>
              </a:rPr>
              <a:t>BOUNDED RESPONSE</a:t>
            </a:r>
          </a:p>
        </p:txBody>
      </p:sp>
      <p:sp>
        <p:nvSpPr>
          <p:cNvPr id="7" name="close-next-band">
            <a:extLst>
              <a:ext uri="{FF2B5EF4-FFF2-40B4-BE49-F238E27FC236}">
                <a16:creationId xmlns:a16="http://schemas.microsoft.com/office/drawing/2014/main" id="{96396B0D-42D7-46DA-957A-89405A944E1A}"/>
              </a:ext>
            </a:extLst>
          </p:cNvPr>
          <p:cNvSpPr>
            <a:spLocks noGrp="1"/>
          </p:cNvSpPr>
          <p:nvPr/>
        </p:nvSpPr>
        <p:spPr>
          <a:xfrm>
            <a:off x="9258300" y="5219700"/>
            <a:ext cx="2571750" cy="819150"/>
          </a:xfrm>
          <a:prstGeom prst="rect">
            <a:avLst/>
          </a:prstGeom>
          <a:solidFill>
            <a:srgbClr val="BBC1CA"/>
          </a:solidFill>
          <a:ln w="9525">
            <a:solidFill>
              <a:srgbClr val="BBC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close-next">
            <a:extLst>
              <a:ext uri="{FF2B5EF4-FFF2-40B4-BE49-F238E27FC236}">
                <a16:creationId xmlns:a16="http://schemas.microsoft.com/office/drawing/2014/main" id="{09CC2951-E130-4DD7-A8B2-C9029E15DFFD}"/>
              </a:ext>
            </a:extLst>
          </p:cNvPr>
          <p:cNvSpPr>
            <a:spLocks noGrp="1"/>
          </p:cNvSpPr>
          <p:nvPr/>
        </p:nvSpPr>
        <p:spPr>
          <a:xfrm>
            <a:off x="9429750" y="5362575"/>
            <a:ext cx="2228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3797"/>
          </a:bodyPr>
          <a:lstStyle/>
          <a:p>
            <a:pPr algn="ctr">
              <a:buNone/>
              <a:defRPr sz="12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2F302D"/>
                </a:solidFill>
                <a:latin typeface="Microsoft JhengHei"/>
                <a:ea typeface="Microsoft JhengHei"/>
                <a:cs typeface="Microsoft JhengHei"/>
              </a:rPr>
              <a:t>下一個關鍵交付｜direct delivery＋9/9 local outcomes＋paired crossover＋isolated gateway</a:t>
            </a:r>
          </a:p>
        </p:txBody>
      </p:sp>
    </p:spTree>
    <p:extLst>
      <p:ext uri="{BB962C8B-B14F-4D97-AF65-F5344CB8AC3E}">
        <p14:creationId xmlns:p14="http://schemas.microsoft.com/office/powerpoint/2010/main" val="209571903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4477</Words>
  <Application>Microsoft Office PowerPoint</Application>
  <DocSecurity>0</DocSecurity>
  <PresentationFormat>寬螢幕</PresentationFormat>
  <Paragraphs>827</Paragraphs>
  <Slides>32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5" baseType="lpstr">
      <vt:lpstr>Microsoft JhengHei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希杰 朱</cp:lastModifiedBy>
  <cp:revision>1</cp:revision>
  <dcterms:created xsi:type="dcterms:W3CDTF">2026-08-17T09:21:12Z</dcterms:created>
  <dcterms:modified xsi:type="dcterms:W3CDTF">2026-08-21T09:41:11Z</dcterms:modified>
</cp:coreProperties>
</file>